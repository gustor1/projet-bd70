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4.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0" r:id="rId4"/>
  </p:sldMasterIdLst>
  <p:notesMasterIdLst>
    <p:notesMasterId r:id="rId266"/>
  </p:notesMasterIdLst>
  <p:sldIdLst>
    <p:sldId id="256" r:id="rId5"/>
    <p:sldId id="276" r:id="rId6"/>
    <p:sldId id="303" r:id="rId7"/>
    <p:sldId id="275" r:id="rId8"/>
    <p:sldId id="257" r:id="rId9"/>
    <p:sldId id="258" r:id="rId10"/>
    <p:sldId id="260" r:id="rId11"/>
    <p:sldId id="262" r:id="rId12"/>
    <p:sldId id="549" r:id="rId13"/>
    <p:sldId id="425" r:id="rId14"/>
    <p:sldId id="427" r:id="rId15"/>
    <p:sldId id="265" r:id="rId16"/>
    <p:sldId id="419" r:id="rId17"/>
    <p:sldId id="420" r:id="rId18"/>
    <p:sldId id="421" r:id="rId19"/>
    <p:sldId id="422" r:id="rId20"/>
    <p:sldId id="423" r:id="rId21"/>
    <p:sldId id="424" r:id="rId22"/>
    <p:sldId id="418" r:id="rId23"/>
    <p:sldId id="269" r:id="rId24"/>
    <p:sldId id="274" r:id="rId25"/>
    <p:sldId id="270" r:id="rId26"/>
    <p:sldId id="271" r:id="rId27"/>
    <p:sldId id="272" r:id="rId28"/>
    <p:sldId id="273" r:id="rId29"/>
    <p:sldId id="266" r:id="rId30"/>
    <p:sldId id="277" r:id="rId31"/>
    <p:sldId id="280" r:id="rId32"/>
    <p:sldId id="281" r:id="rId33"/>
    <p:sldId id="307" r:id="rId34"/>
    <p:sldId id="329" r:id="rId35"/>
    <p:sldId id="396" r:id="rId36"/>
    <p:sldId id="306" r:id="rId37"/>
    <p:sldId id="383" r:id="rId38"/>
    <p:sldId id="385" r:id="rId39"/>
    <p:sldId id="387" r:id="rId40"/>
    <p:sldId id="384" r:id="rId41"/>
    <p:sldId id="397" r:id="rId42"/>
    <p:sldId id="282" r:id="rId43"/>
    <p:sldId id="404" r:id="rId44"/>
    <p:sldId id="286" r:id="rId45"/>
    <p:sldId id="311" r:id="rId46"/>
    <p:sldId id="312" r:id="rId47"/>
    <p:sldId id="313" r:id="rId48"/>
    <p:sldId id="320" r:id="rId49"/>
    <p:sldId id="321" r:id="rId50"/>
    <p:sldId id="322" r:id="rId51"/>
    <p:sldId id="323" r:id="rId52"/>
    <p:sldId id="325" r:id="rId53"/>
    <p:sldId id="324" r:id="rId54"/>
    <p:sldId id="326" r:id="rId55"/>
    <p:sldId id="327" r:id="rId56"/>
    <p:sldId id="267" r:id="rId57"/>
    <p:sldId id="513" r:id="rId58"/>
    <p:sldId id="515" r:id="rId59"/>
    <p:sldId id="516" r:id="rId60"/>
    <p:sldId id="517" r:id="rId61"/>
    <p:sldId id="518" r:id="rId62"/>
    <p:sldId id="519" r:id="rId63"/>
    <p:sldId id="520" r:id="rId64"/>
    <p:sldId id="521" r:id="rId65"/>
    <p:sldId id="514" r:id="rId66"/>
    <p:sldId id="287" r:id="rId67"/>
    <p:sldId id="524" r:id="rId68"/>
    <p:sldId id="415" r:id="rId69"/>
    <p:sldId id="288" r:id="rId70"/>
    <p:sldId id="341" r:id="rId71"/>
    <p:sldId id="344" r:id="rId72"/>
    <p:sldId id="478" r:id="rId73"/>
    <p:sldId id="293" r:id="rId74"/>
    <p:sldId id="388" r:id="rId75"/>
    <p:sldId id="354" r:id="rId76"/>
    <p:sldId id="416" r:id="rId77"/>
    <p:sldId id="417" r:id="rId78"/>
    <p:sldId id="309" r:id="rId79"/>
    <p:sldId id="310" r:id="rId80"/>
    <p:sldId id="410" r:id="rId81"/>
    <p:sldId id="308" r:id="rId82"/>
    <p:sldId id="411" r:id="rId83"/>
    <p:sldId id="412" r:id="rId84"/>
    <p:sldId id="405" r:id="rId85"/>
    <p:sldId id="406" r:id="rId86"/>
    <p:sldId id="289" r:id="rId87"/>
    <p:sldId id="331" r:id="rId88"/>
    <p:sldId id="332" r:id="rId89"/>
    <p:sldId id="290" r:id="rId90"/>
    <p:sldId id="335" r:id="rId91"/>
    <p:sldId id="291" r:id="rId92"/>
    <p:sldId id="407" r:id="rId93"/>
    <p:sldId id="408" r:id="rId94"/>
    <p:sldId id="413" r:id="rId95"/>
    <p:sldId id="304" r:id="rId96"/>
    <p:sldId id="328" r:id="rId97"/>
    <p:sldId id="336" r:id="rId98"/>
    <p:sldId id="337" r:id="rId99"/>
    <p:sldId id="339" r:id="rId100"/>
    <p:sldId id="340" r:id="rId101"/>
    <p:sldId id="338" r:id="rId102"/>
    <p:sldId id="349" r:id="rId103"/>
    <p:sldId id="350" r:id="rId104"/>
    <p:sldId id="351" r:id="rId105"/>
    <p:sldId id="352" r:id="rId106"/>
    <p:sldId id="353" r:id="rId107"/>
    <p:sldId id="342" r:id="rId108"/>
    <p:sldId id="356" r:id="rId109"/>
    <p:sldId id="355" r:id="rId110"/>
    <p:sldId id="345" r:id="rId111"/>
    <p:sldId id="346" r:id="rId112"/>
    <p:sldId id="348" r:id="rId113"/>
    <p:sldId id="343" r:id="rId114"/>
    <p:sldId id="357" r:id="rId115"/>
    <p:sldId id="550" r:id="rId116"/>
    <p:sldId id="552" r:id="rId117"/>
    <p:sldId id="268" r:id="rId118"/>
    <p:sldId id="373" r:id="rId119"/>
    <p:sldId id="374" r:id="rId120"/>
    <p:sldId id="375" r:id="rId121"/>
    <p:sldId id="376" r:id="rId122"/>
    <p:sldId id="377" r:id="rId123"/>
    <p:sldId id="479" r:id="rId124"/>
    <p:sldId id="480" r:id="rId125"/>
    <p:sldId id="481" r:id="rId126"/>
    <p:sldId id="490" r:id="rId127"/>
    <p:sldId id="536" r:id="rId128"/>
    <p:sldId id="537" r:id="rId129"/>
    <p:sldId id="538" r:id="rId130"/>
    <p:sldId id="540" r:id="rId131"/>
    <p:sldId id="541" r:id="rId132"/>
    <p:sldId id="542" r:id="rId133"/>
    <p:sldId id="544" r:id="rId134"/>
    <p:sldId id="545" r:id="rId135"/>
    <p:sldId id="546" r:id="rId136"/>
    <p:sldId id="547" r:id="rId137"/>
    <p:sldId id="548" r:id="rId138"/>
    <p:sldId id="535" r:id="rId139"/>
    <p:sldId id="491" r:id="rId140"/>
    <p:sldId id="492" r:id="rId141"/>
    <p:sldId id="493" r:id="rId142"/>
    <p:sldId id="494" r:id="rId143"/>
    <p:sldId id="495" r:id="rId144"/>
    <p:sldId id="498" r:id="rId145"/>
    <p:sldId id="496" r:id="rId146"/>
    <p:sldId id="497" r:id="rId147"/>
    <p:sldId id="499" r:id="rId148"/>
    <p:sldId id="543" r:id="rId149"/>
    <p:sldId id="500" r:id="rId150"/>
    <p:sldId id="501" r:id="rId151"/>
    <p:sldId id="502" r:id="rId152"/>
    <p:sldId id="503" r:id="rId153"/>
    <p:sldId id="551" r:id="rId154"/>
    <p:sldId id="553" r:id="rId155"/>
    <p:sldId id="554" r:id="rId156"/>
    <p:sldId id="555" r:id="rId157"/>
    <p:sldId id="556" r:id="rId158"/>
    <p:sldId id="525" r:id="rId159"/>
    <p:sldId id="526" r:id="rId160"/>
    <p:sldId id="528" r:id="rId161"/>
    <p:sldId id="529" r:id="rId162"/>
    <p:sldId id="523" r:id="rId163"/>
    <p:sldId id="522" r:id="rId164"/>
    <p:sldId id="532" r:id="rId165"/>
    <p:sldId id="530" r:id="rId166"/>
    <p:sldId id="531" r:id="rId167"/>
    <p:sldId id="533" r:id="rId168"/>
    <p:sldId id="534" r:id="rId169"/>
    <p:sldId id="333" r:id="rId170"/>
    <p:sldId id="371" r:id="rId171"/>
    <p:sldId id="283" r:id="rId172"/>
    <p:sldId id="295" r:id="rId173"/>
    <p:sldId id="305" r:id="rId174"/>
    <p:sldId id="298" r:id="rId175"/>
    <p:sldId id="369" r:id="rId176"/>
    <p:sldId id="372" r:id="rId177"/>
    <p:sldId id="285" r:id="rId178"/>
    <p:sldId id="368" r:id="rId179"/>
    <p:sldId id="370" r:id="rId180"/>
    <p:sldId id="367" r:id="rId181"/>
    <p:sldId id="398" r:id="rId182"/>
    <p:sldId id="399" r:id="rId183"/>
    <p:sldId id="296" r:id="rId184"/>
    <p:sldId id="400" r:id="rId185"/>
    <p:sldId id="401" r:id="rId186"/>
    <p:sldId id="297" r:id="rId187"/>
    <p:sldId id="402" r:id="rId188"/>
    <p:sldId id="403" r:id="rId189"/>
    <p:sldId id="301" r:id="rId190"/>
    <p:sldId id="299" r:id="rId191"/>
    <p:sldId id="358" r:id="rId192"/>
    <p:sldId id="359" r:id="rId193"/>
    <p:sldId id="360" r:id="rId194"/>
    <p:sldId id="361" r:id="rId195"/>
    <p:sldId id="362" r:id="rId196"/>
    <p:sldId id="363" r:id="rId197"/>
    <p:sldId id="364" r:id="rId198"/>
    <p:sldId id="365" r:id="rId199"/>
    <p:sldId id="366" r:id="rId200"/>
    <p:sldId id="334" r:id="rId201"/>
    <p:sldId id="314" r:id="rId202"/>
    <p:sldId id="316" r:id="rId203"/>
    <p:sldId id="381" r:id="rId204"/>
    <p:sldId id="505" r:id="rId205"/>
    <p:sldId id="378" r:id="rId206"/>
    <p:sldId id="380" r:id="rId207"/>
    <p:sldId id="506" r:id="rId208"/>
    <p:sldId id="317" r:id="rId209"/>
    <p:sldId id="509" r:id="rId210"/>
    <p:sldId id="428" r:id="rId211"/>
    <p:sldId id="510" r:id="rId212"/>
    <p:sldId id="511" r:id="rId213"/>
    <p:sldId id="512" r:id="rId214"/>
    <p:sldId id="318" r:id="rId215"/>
    <p:sldId id="429" r:id="rId216"/>
    <p:sldId id="382" r:id="rId217"/>
    <p:sldId id="390" r:id="rId218"/>
    <p:sldId id="392" r:id="rId219"/>
    <p:sldId id="330" r:id="rId220"/>
    <p:sldId id="391" r:id="rId221"/>
    <p:sldId id="393" r:id="rId222"/>
    <p:sldId id="394" r:id="rId223"/>
    <p:sldId id="450" r:id="rId224"/>
    <p:sldId id="451" r:id="rId225"/>
    <p:sldId id="452" r:id="rId226"/>
    <p:sldId id="430" r:id="rId227"/>
    <p:sldId id="431" r:id="rId228"/>
    <p:sldId id="449" r:id="rId229"/>
    <p:sldId id="438" r:id="rId230"/>
    <p:sldId id="507" r:id="rId231"/>
    <p:sldId id="508" r:id="rId232"/>
    <p:sldId id="395" r:id="rId233"/>
    <p:sldId id="482" r:id="rId234"/>
    <p:sldId id="483" r:id="rId235"/>
    <p:sldId id="557" r:id="rId236"/>
    <p:sldId id="465" r:id="rId237"/>
    <p:sldId id="463" r:id="rId238"/>
    <p:sldId id="464" r:id="rId239"/>
    <p:sldId id="466" r:id="rId240"/>
    <p:sldId id="467" r:id="rId241"/>
    <p:sldId id="468" r:id="rId242"/>
    <p:sldId id="469" r:id="rId243"/>
    <p:sldId id="487" r:id="rId244"/>
    <p:sldId id="470" r:id="rId245"/>
    <p:sldId id="471" r:id="rId246"/>
    <p:sldId id="472" r:id="rId247"/>
    <p:sldId id="488" r:id="rId248"/>
    <p:sldId id="489" r:id="rId249"/>
    <p:sldId id="473" r:id="rId250"/>
    <p:sldId id="474" r:id="rId251"/>
    <p:sldId id="475" r:id="rId252"/>
    <p:sldId id="476" r:id="rId253"/>
    <p:sldId id="477" r:id="rId254"/>
    <p:sldId id="453" r:id="rId255"/>
    <p:sldId id="454" r:id="rId256"/>
    <p:sldId id="455" r:id="rId257"/>
    <p:sldId id="460" r:id="rId258"/>
    <p:sldId id="461" r:id="rId259"/>
    <p:sldId id="504" r:id="rId260"/>
    <p:sldId id="462" r:id="rId261"/>
    <p:sldId id="456" r:id="rId262"/>
    <p:sldId id="457" r:id="rId263"/>
    <p:sldId id="458" r:id="rId264"/>
    <p:sldId id="459" r:id="rId2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 de l'UV" id="{31B76B01-CABD-49F3-90D4-1F02F5DBB027}">
          <p14:sldIdLst>
            <p14:sldId id="256"/>
            <p14:sldId id="276"/>
            <p14:sldId id="303"/>
            <p14:sldId id="275"/>
            <p14:sldId id="257"/>
            <p14:sldId id="258"/>
            <p14:sldId id="260"/>
            <p14:sldId id="262"/>
            <p14:sldId id="549"/>
            <p14:sldId id="425"/>
            <p14:sldId id="427"/>
          </p14:sldIdLst>
        </p14:section>
        <p14:section name="Introduction" id="{E305B366-A63B-4D4C-906A-6DF5250FD6D1}">
          <p14:sldIdLst>
            <p14:sldId id="265"/>
            <p14:sldId id="419"/>
            <p14:sldId id="420"/>
            <p14:sldId id="421"/>
            <p14:sldId id="422"/>
            <p14:sldId id="423"/>
            <p14:sldId id="424"/>
            <p14:sldId id="418"/>
            <p14:sldId id="269"/>
            <p14:sldId id="274"/>
            <p14:sldId id="270"/>
            <p14:sldId id="271"/>
            <p14:sldId id="272"/>
            <p14:sldId id="273"/>
          </p14:sldIdLst>
        </p14:section>
        <p14:section name="Principes des bases de données relationnelles" id="{6E6305C5-C9C0-4B54-BA14-0B4EBD2AC33B}">
          <p14:sldIdLst>
            <p14:sldId id="266"/>
            <p14:sldId id="277"/>
            <p14:sldId id="280"/>
            <p14:sldId id="281"/>
            <p14:sldId id="307"/>
            <p14:sldId id="329"/>
            <p14:sldId id="396"/>
            <p14:sldId id="306"/>
            <p14:sldId id="383"/>
            <p14:sldId id="385"/>
            <p14:sldId id="387"/>
            <p14:sldId id="384"/>
            <p14:sldId id="397"/>
            <p14:sldId id="282"/>
            <p14:sldId id="404"/>
            <p14:sldId id="286"/>
            <p14:sldId id="311"/>
            <p14:sldId id="312"/>
            <p14:sldId id="313"/>
            <p14:sldId id="320"/>
            <p14:sldId id="321"/>
            <p14:sldId id="322"/>
            <p14:sldId id="323"/>
            <p14:sldId id="325"/>
            <p14:sldId id="324"/>
            <p14:sldId id="326"/>
            <p14:sldId id="327"/>
          </p14:sldIdLst>
        </p14:section>
        <p14:section name="Architecture d'un SGBDR" id="{6B875A7A-4C27-47B0-8754-A6E50C985651}">
          <p14:sldIdLst>
            <p14:sldId id="267"/>
            <p14:sldId id="513"/>
            <p14:sldId id="515"/>
            <p14:sldId id="516"/>
            <p14:sldId id="517"/>
            <p14:sldId id="518"/>
            <p14:sldId id="519"/>
            <p14:sldId id="520"/>
            <p14:sldId id="521"/>
          </p14:sldIdLst>
        </p14:section>
        <p14:section name="Langage SQL" id="{18027835-D4C1-4696-BEA9-106A9888C772}">
          <p14:sldIdLst>
            <p14:sldId id="514"/>
            <p14:sldId id="287"/>
            <p14:sldId id="524"/>
            <p14:sldId id="415"/>
          </p14:sldIdLst>
        </p14:section>
        <p14:section name="Data Manipulation Language" id="{C0CF29B9-BD64-468A-9236-77F18B88FB29}">
          <p14:sldIdLst>
            <p14:sldId id="288"/>
            <p14:sldId id="341"/>
            <p14:sldId id="344"/>
            <p14:sldId id="478"/>
            <p14:sldId id="293"/>
            <p14:sldId id="388"/>
            <p14:sldId id="354"/>
            <p14:sldId id="416"/>
            <p14:sldId id="417"/>
            <p14:sldId id="309"/>
            <p14:sldId id="310"/>
            <p14:sldId id="410"/>
            <p14:sldId id="308"/>
            <p14:sldId id="411"/>
            <p14:sldId id="412"/>
            <p14:sldId id="405"/>
            <p14:sldId id="406"/>
            <p14:sldId id="289"/>
            <p14:sldId id="331"/>
            <p14:sldId id="332"/>
            <p14:sldId id="290"/>
            <p14:sldId id="335"/>
            <p14:sldId id="291"/>
            <p14:sldId id="407"/>
            <p14:sldId id="408"/>
            <p14:sldId id="413"/>
            <p14:sldId id="304"/>
            <p14:sldId id="328"/>
            <p14:sldId id="336"/>
            <p14:sldId id="337"/>
            <p14:sldId id="339"/>
            <p14:sldId id="340"/>
            <p14:sldId id="338"/>
            <p14:sldId id="349"/>
            <p14:sldId id="350"/>
            <p14:sldId id="351"/>
            <p14:sldId id="352"/>
            <p14:sldId id="353"/>
          </p14:sldIdLst>
        </p14:section>
        <p14:section name="Data Definition Language" id="{56FA1109-CD4C-4C15-8104-B316B1540C94}">
          <p14:sldIdLst>
            <p14:sldId id="342"/>
            <p14:sldId id="356"/>
            <p14:sldId id="355"/>
            <p14:sldId id="345"/>
            <p14:sldId id="346"/>
            <p14:sldId id="348"/>
            <p14:sldId id="343"/>
            <p14:sldId id="357"/>
            <p14:sldId id="550"/>
            <p14:sldId id="552"/>
          </p14:sldIdLst>
        </p14:section>
        <p14:section name="Contraintes d'intégrité" id="{3A039B8D-C120-4BEF-8649-9415DB0B301D}">
          <p14:sldIdLst>
            <p14:sldId id="268"/>
            <p14:sldId id="373"/>
            <p14:sldId id="374"/>
            <p14:sldId id="375"/>
            <p14:sldId id="376"/>
            <p14:sldId id="377"/>
            <p14:sldId id="479"/>
            <p14:sldId id="480"/>
            <p14:sldId id="481"/>
            <p14:sldId id="490"/>
            <p14:sldId id="536"/>
            <p14:sldId id="537"/>
            <p14:sldId id="538"/>
            <p14:sldId id="540"/>
            <p14:sldId id="541"/>
            <p14:sldId id="542"/>
            <p14:sldId id="544"/>
            <p14:sldId id="545"/>
            <p14:sldId id="546"/>
            <p14:sldId id="547"/>
            <p14:sldId id="548"/>
            <p14:sldId id="535"/>
            <p14:sldId id="491"/>
            <p14:sldId id="492"/>
            <p14:sldId id="493"/>
            <p14:sldId id="494"/>
            <p14:sldId id="495"/>
            <p14:sldId id="498"/>
            <p14:sldId id="496"/>
            <p14:sldId id="497"/>
            <p14:sldId id="499"/>
            <p14:sldId id="543"/>
            <p14:sldId id="500"/>
            <p14:sldId id="501"/>
            <p14:sldId id="502"/>
            <p14:sldId id="503"/>
            <p14:sldId id="551"/>
            <p14:sldId id="553"/>
            <p14:sldId id="554"/>
            <p14:sldId id="555"/>
            <p14:sldId id="556"/>
            <p14:sldId id="525"/>
            <p14:sldId id="526"/>
            <p14:sldId id="528"/>
            <p14:sldId id="529"/>
            <p14:sldId id="523"/>
            <p14:sldId id="522"/>
            <p14:sldId id="532"/>
            <p14:sldId id="530"/>
            <p14:sldId id="531"/>
            <p14:sldId id="533"/>
            <p14:sldId id="534"/>
          </p14:sldIdLst>
        </p14:section>
        <p14:section name="Règles de conception" id="{C40734C6-CF95-4626-AEC0-661FB1E6C565}">
          <p14:sldIdLst>
            <p14:sldId id="333"/>
            <p14:sldId id="371"/>
            <p14:sldId id="283"/>
            <p14:sldId id="295"/>
            <p14:sldId id="305"/>
            <p14:sldId id="298"/>
            <p14:sldId id="369"/>
            <p14:sldId id="372"/>
            <p14:sldId id="285"/>
            <p14:sldId id="368"/>
            <p14:sldId id="370"/>
            <p14:sldId id="367"/>
            <p14:sldId id="398"/>
            <p14:sldId id="399"/>
            <p14:sldId id="296"/>
            <p14:sldId id="400"/>
            <p14:sldId id="401"/>
            <p14:sldId id="297"/>
            <p14:sldId id="402"/>
            <p14:sldId id="403"/>
            <p14:sldId id="301"/>
            <p14:sldId id="299"/>
            <p14:sldId id="358"/>
            <p14:sldId id="359"/>
            <p14:sldId id="360"/>
            <p14:sldId id="361"/>
            <p14:sldId id="362"/>
            <p14:sldId id="363"/>
            <p14:sldId id="364"/>
            <p14:sldId id="365"/>
            <p14:sldId id="366"/>
          </p14:sldIdLst>
        </p14:section>
        <p14:section name="Méthodologie de conception" id="{744CA845-7ACC-47C4-B6FE-8C83D15463DD}">
          <p14:sldIdLst>
            <p14:sldId id="334"/>
            <p14:sldId id="314"/>
            <p14:sldId id="316"/>
            <p14:sldId id="381"/>
            <p14:sldId id="505"/>
            <p14:sldId id="378"/>
            <p14:sldId id="380"/>
            <p14:sldId id="506"/>
            <p14:sldId id="317"/>
            <p14:sldId id="509"/>
            <p14:sldId id="428"/>
            <p14:sldId id="510"/>
            <p14:sldId id="511"/>
            <p14:sldId id="512"/>
            <p14:sldId id="318"/>
            <p14:sldId id="429"/>
            <p14:sldId id="382"/>
            <p14:sldId id="390"/>
            <p14:sldId id="392"/>
            <p14:sldId id="330"/>
            <p14:sldId id="391"/>
            <p14:sldId id="393"/>
            <p14:sldId id="394"/>
            <p14:sldId id="450"/>
            <p14:sldId id="451"/>
            <p14:sldId id="452"/>
            <p14:sldId id="430"/>
            <p14:sldId id="431"/>
            <p14:sldId id="449"/>
            <p14:sldId id="438"/>
            <p14:sldId id="507"/>
            <p14:sldId id="508"/>
            <p14:sldId id="395"/>
            <p14:sldId id="482"/>
            <p14:sldId id="483"/>
            <p14:sldId id="557"/>
          </p14:sldIdLst>
        </p14:section>
        <p14:section name="Administration des bases de données" id="{861A2137-49B0-475D-849A-B608B24EFE15}">
          <p14:sldIdLst>
            <p14:sldId id="465"/>
            <p14:sldId id="463"/>
            <p14:sldId id="464"/>
            <p14:sldId id="466"/>
            <p14:sldId id="467"/>
            <p14:sldId id="468"/>
            <p14:sldId id="469"/>
            <p14:sldId id="487"/>
            <p14:sldId id="470"/>
            <p14:sldId id="471"/>
            <p14:sldId id="472"/>
            <p14:sldId id="488"/>
            <p14:sldId id="489"/>
            <p14:sldId id="473"/>
            <p14:sldId id="474"/>
            <p14:sldId id="475"/>
            <p14:sldId id="476"/>
            <p14:sldId id="477"/>
          </p14:sldIdLst>
        </p14:section>
        <p14:section name="Frameworks modernes pour les SI" id="{28F10B67-04F0-496C-96B2-28CBC6B83A73}">
          <p14:sldIdLst>
            <p14:sldId id="453"/>
            <p14:sldId id="454"/>
            <p14:sldId id="455"/>
            <p14:sldId id="460"/>
            <p14:sldId id="461"/>
            <p14:sldId id="504"/>
            <p14:sldId id="462"/>
            <p14:sldId id="456"/>
            <p14:sldId id="457"/>
            <p14:sldId id="458"/>
            <p14:sldId id="45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Lombard" initials="AL" lastIdx="1" clrIdx="0">
    <p:extLst>
      <p:ext uri="{19B8F6BF-5375-455C-9EA6-DF929625EA0E}">
        <p15:presenceInfo xmlns:p15="http://schemas.microsoft.com/office/powerpoint/2012/main" userId="Alexandre Lombar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6BB"/>
    <a:srgbClr val="E7F5F3"/>
    <a:srgbClr val="CBEA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5652" autoAdjust="0"/>
  </p:normalViewPr>
  <p:slideViewPr>
    <p:cSldViewPr snapToGrid="0">
      <p:cViewPr varScale="1">
        <p:scale>
          <a:sx n="121" d="100"/>
          <a:sy n="121" d="100"/>
        </p:scale>
        <p:origin x="33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63" Type="http://schemas.openxmlformats.org/officeDocument/2006/relationships/slide" Target="slides/slide59.xml"/><Relationship Id="rId159" Type="http://schemas.openxmlformats.org/officeDocument/2006/relationships/slide" Target="slides/slide155.xml"/><Relationship Id="rId170" Type="http://schemas.openxmlformats.org/officeDocument/2006/relationships/slide" Target="slides/slide166.xml"/><Relationship Id="rId226" Type="http://schemas.openxmlformats.org/officeDocument/2006/relationships/slide" Target="slides/slide222.xml"/><Relationship Id="rId268" Type="http://schemas.openxmlformats.org/officeDocument/2006/relationships/presProps" Target="presProps.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16" Type="http://schemas.openxmlformats.org/officeDocument/2006/relationships/slide" Target="slides/slide212.xml"/><Relationship Id="rId237" Type="http://schemas.openxmlformats.org/officeDocument/2006/relationships/slide" Target="slides/slide233.xml"/><Relationship Id="rId258" Type="http://schemas.openxmlformats.org/officeDocument/2006/relationships/slide" Target="slides/slide254.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slide" Target="slides/slide202.xml"/><Relationship Id="rId227" Type="http://schemas.openxmlformats.org/officeDocument/2006/relationships/slide" Target="slides/slide223.xml"/><Relationship Id="rId248" Type="http://schemas.openxmlformats.org/officeDocument/2006/relationships/slide" Target="slides/slide244.xml"/><Relationship Id="rId269" Type="http://schemas.openxmlformats.org/officeDocument/2006/relationships/viewProps" Target="viewProps.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217" Type="http://schemas.openxmlformats.org/officeDocument/2006/relationships/slide" Target="slides/slide213.xml"/><Relationship Id="rId6" Type="http://schemas.openxmlformats.org/officeDocument/2006/relationships/slide" Target="slides/slide2.xml"/><Relationship Id="rId238" Type="http://schemas.openxmlformats.org/officeDocument/2006/relationships/slide" Target="slides/slide234.xml"/><Relationship Id="rId259" Type="http://schemas.openxmlformats.org/officeDocument/2006/relationships/slide" Target="slides/slide255.xml"/><Relationship Id="rId23" Type="http://schemas.openxmlformats.org/officeDocument/2006/relationships/slide" Target="slides/slide19.xml"/><Relationship Id="rId119" Type="http://schemas.openxmlformats.org/officeDocument/2006/relationships/slide" Target="slides/slide115.xml"/><Relationship Id="rId270" Type="http://schemas.openxmlformats.org/officeDocument/2006/relationships/theme" Target="theme/theme1.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228" Type="http://schemas.openxmlformats.org/officeDocument/2006/relationships/slide" Target="slides/slide224.xml"/><Relationship Id="rId249" Type="http://schemas.openxmlformats.org/officeDocument/2006/relationships/slide" Target="slides/slide245.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18" Type="http://schemas.openxmlformats.org/officeDocument/2006/relationships/slide" Target="slides/slide214.xml"/><Relationship Id="rId239" Type="http://schemas.openxmlformats.org/officeDocument/2006/relationships/slide" Target="slides/slide235.xml"/><Relationship Id="rId250" Type="http://schemas.openxmlformats.org/officeDocument/2006/relationships/slide" Target="slides/slide246.xml"/><Relationship Id="rId271" Type="http://schemas.openxmlformats.org/officeDocument/2006/relationships/tableStyles" Target="tableStyles.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slide" Target="slides/slide236.xml"/><Relationship Id="rId261" Type="http://schemas.openxmlformats.org/officeDocument/2006/relationships/slide" Target="slides/slide257.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1" Type="http://schemas.openxmlformats.org/officeDocument/2006/relationships/slide" Target="slides/slide247.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72" Type="http://schemas.microsoft.com/office/2016/11/relationships/changesInfo" Target="changesInfos/changesInfo1.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95" Type="http://schemas.openxmlformats.org/officeDocument/2006/relationships/slide" Target="slides/slide191.xml"/><Relationship Id="rId209" Type="http://schemas.openxmlformats.org/officeDocument/2006/relationships/slide" Target="slides/slide205.xml"/><Relationship Id="rId220" Type="http://schemas.openxmlformats.org/officeDocument/2006/relationships/slide" Target="slides/slide216.xml"/><Relationship Id="rId241" Type="http://schemas.openxmlformats.org/officeDocument/2006/relationships/slide" Target="slides/slide23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262" Type="http://schemas.openxmlformats.org/officeDocument/2006/relationships/slide" Target="slides/slide258.xml"/><Relationship Id="rId78" Type="http://schemas.openxmlformats.org/officeDocument/2006/relationships/slide" Target="slides/slide74.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64" Type="http://schemas.openxmlformats.org/officeDocument/2006/relationships/slide" Target="slides/slide160.xml"/><Relationship Id="rId185" Type="http://schemas.openxmlformats.org/officeDocument/2006/relationships/slide" Target="slides/slide181.xml"/><Relationship Id="rId9" Type="http://schemas.openxmlformats.org/officeDocument/2006/relationships/slide" Target="slides/slide5.xml"/><Relationship Id="rId210" Type="http://schemas.openxmlformats.org/officeDocument/2006/relationships/slide" Target="slides/slide206.xml"/><Relationship Id="rId26" Type="http://schemas.openxmlformats.org/officeDocument/2006/relationships/slide" Target="slides/slide22.xml"/><Relationship Id="rId231" Type="http://schemas.openxmlformats.org/officeDocument/2006/relationships/slide" Target="slides/slide227.xml"/><Relationship Id="rId252" Type="http://schemas.openxmlformats.org/officeDocument/2006/relationships/slide" Target="slides/slide248.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slide" Target="slides/slide238.xml"/><Relationship Id="rId263" Type="http://schemas.openxmlformats.org/officeDocument/2006/relationships/slide" Target="slides/slide259.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32" Type="http://schemas.openxmlformats.org/officeDocument/2006/relationships/slide" Target="slides/slide228.xml"/><Relationship Id="rId253" Type="http://schemas.openxmlformats.org/officeDocument/2006/relationships/slide" Target="slides/slide249.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slide" Target="slides/slide239.xml"/><Relationship Id="rId264" Type="http://schemas.openxmlformats.org/officeDocument/2006/relationships/slide" Target="slides/slide260.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openxmlformats.org/officeDocument/2006/relationships/slide" Target="slides/slide208.xml"/><Relationship Id="rId233" Type="http://schemas.openxmlformats.org/officeDocument/2006/relationships/slide" Target="slides/slide229.xml"/><Relationship Id="rId254" Type="http://schemas.openxmlformats.org/officeDocument/2006/relationships/slide" Target="slides/slide250.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slide" Target="slides/slide240.xml"/><Relationship Id="rId18" Type="http://schemas.openxmlformats.org/officeDocument/2006/relationships/slide" Target="slides/slide14.xml"/><Relationship Id="rId39" Type="http://schemas.openxmlformats.org/officeDocument/2006/relationships/slide" Target="slides/slide35.xml"/><Relationship Id="rId265" Type="http://schemas.openxmlformats.org/officeDocument/2006/relationships/slide" Target="slides/slide261.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255" Type="http://schemas.openxmlformats.org/officeDocument/2006/relationships/slide" Target="slides/slide251.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266" Type="http://schemas.openxmlformats.org/officeDocument/2006/relationships/notesMaster" Target="notesMasters/notesMaster1.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slide" Target="slides/slide252.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 Id="rId246" Type="http://schemas.openxmlformats.org/officeDocument/2006/relationships/slide" Target="slides/slide242.xml"/><Relationship Id="rId267" Type="http://schemas.openxmlformats.org/officeDocument/2006/relationships/commentAuthors" Target="commentAuthors.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94" Type="http://schemas.openxmlformats.org/officeDocument/2006/relationships/slide" Target="slides/slide90.xml"/><Relationship Id="rId148" Type="http://schemas.openxmlformats.org/officeDocument/2006/relationships/slide" Target="slides/slide144.xml"/><Relationship Id="rId169" Type="http://schemas.openxmlformats.org/officeDocument/2006/relationships/slide" Target="slides/slide165.xml"/><Relationship Id="rId4" Type="http://schemas.openxmlformats.org/officeDocument/2006/relationships/slideMaster" Target="slideMasters/slideMaster1.xml"/><Relationship Id="rId180" Type="http://schemas.openxmlformats.org/officeDocument/2006/relationships/slide" Target="slides/slide17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slide" Target="slides/slide253.xml"/><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 Id="rId191" Type="http://schemas.openxmlformats.org/officeDocument/2006/relationships/slide" Target="slides/slide187.xml"/><Relationship Id="rId205" Type="http://schemas.openxmlformats.org/officeDocument/2006/relationships/slide" Target="slides/slide201.xml"/><Relationship Id="rId247" Type="http://schemas.openxmlformats.org/officeDocument/2006/relationships/slide" Target="slides/slide243.xml"/><Relationship Id="rId107" Type="http://schemas.openxmlformats.org/officeDocument/2006/relationships/slide" Target="slides/slide10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LOMBARD" userId="d7c5578e-63c7-432d-a7d2-f1c9f6140c18" providerId="ADAL" clId="{FF35E4E9-2D07-4F34-A86D-32680879F0BE}"/>
    <pc:docChg chg="addSld modSld">
      <pc:chgData name="Alexandre LOMBARD" userId="d7c5578e-63c7-432d-a7d2-f1c9f6140c18" providerId="ADAL" clId="{FF35E4E9-2D07-4F34-A86D-32680879F0BE}" dt="2024-09-19T13:00:52.806" v="196" actId="20577"/>
      <pc:docMkLst>
        <pc:docMk/>
      </pc:docMkLst>
    </pc:docChg>
  </pc:docChgLst>
  <pc:docChgLst>
    <pc:chgData name="Alexandre LOMBARD" userId="d7c5578e-63c7-432d-a7d2-f1c9f6140c18" providerId="ADAL" clId="{B7B0A639-07D5-432C-9E68-EF00C3EE8597}"/>
    <pc:docChg chg="custSel delSld modSld modSection">
      <pc:chgData name="Alexandre LOMBARD" userId="d7c5578e-63c7-432d-a7d2-f1c9f6140c18" providerId="ADAL" clId="{B7B0A639-07D5-432C-9E68-EF00C3EE8597}" dt="2024-10-10T07:37:33.954" v="305" actId="20578"/>
      <pc:docMkLst>
        <pc:docMk/>
      </pc:docMkLst>
      <pc:sldChg chg="modSp">
        <pc:chgData name="Alexandre LOMBARD" userId="d7c5578e-63c7-432d-a7d2-f1c9f6140c18" providerId="ADAL" clId="{B7B0A639-07D5-432C-9E68-EF00C3EE8597}" dt="2024-09-24T09:13:45.755" v="87" actId="20577"/>
        <pc:sldMkLst>
          <pc:docMk/>
          <pc:sldMk cId="1983212649" sldId="258"/>
        </pc:sldMkLst>
      </pc:sldChg>
      <pc:sldChg chg="modSp">
        <pc:chgData name="Alexandre LOMBARD" userId="d7c5578e-63c7-432d-a7d2-f1c9f6140c18" providerId="ADAL" clId="{B7B0A639-07D5-432C-9E68-EF00C3EE8597}" dt="2024-09-26T07:24:48.864" v="171" actId="20577"/>
        <pc:sldMkLst>
          <pc:docMk/>
          <pc:sldMk cId="3723271114" sldId="312"/>
        </pc:sldMkLst>
      </pc:sldChg>
      <pc:sldChg chg="modSp">
        <pc:chgData name="Alexandre LOMBARD" userId="d7c5578e-63c7-432d-a7d2-f1c9f6140c18" providerId="ADAL" clId="{B7B0A639-07D5-432C-9E68-EF00C3EE8597}" dt="2024-10-02T12:11:50.637" v="175" actId="6549"/>
        <pc:sldMkLst>
          <pc:docMk/>
          <pc:sldMk cId="94106753" sldId="344"/>
        </pc:sldMkLst>
      </pc:sldChg>
      <pc:sldChg chg="modSp">
        <pc:chgData name="Alexandre LOMBARD" userId="d7c5578e-63c7-432d-a7d2-f1c9f6140c18" providerId="ADAL" clId="{B7B0A639-07D5-432C-9E68-EF00C3EE8597}" dt="2024-10-02T13:22:10.516" v="247" actId="20577"/>
        <pc:sldMkLst>
          <pc:docMk/>
          <pc:sldMk cId="806431541" sldId="348"/>
        </pc:sldMkLst>
      </pc:sldChg>
      <pc:sldChg chg="modSp">
        <pc:chgData name="Alexandre LOMBARD" userId="d7c5578e-63c7-432d-a7d2-f1c9f6140c18" providerId="ADAL" clId="{B7B0A639-07D5-432C-9E68-EF00C3EE8597}" dt="2024-10-02T12:56:55.936" v="243" actId="20577"/>
        <pc:sldMkLst>
          <pc:docMk/>
          <pc:sldMk cId="3732982966" sldId="350"/>
        </pc:sldMkLst>
      </pc:sldChg>
      <pc:sldChg chg="modSp">
        <pc:chgData name="Alexandre LOMBARD" userId="d7c5578e-63c7-432d-a7d2-f1c9f6140c18" providerId="ADAL" clId="{B7B0A639-07D5-432C-9E68-EF00C3EE8597}" dt="2024-10-02T13:23:25.625" v="255" actId="20577"/>
        <pc:sldMkLst>
          <pc:docMk/>
          <pc:sldMk cId="645135243" sldId="357"/>
        </pc:sldMkLst>
      </pc:sldChg>
      <pc:sldChg chg="modSp">
        <pc:chgData name="Alexandre LOMBARD" userId="d7c5578e-63c7-432d-a7d2-f1c9f6140c18" providerId="ADAL" clId="{B7B0A639-07D5-432C-9E68-EF00C3EE8597}" dt="2024-09-26T07:21:06.908" v="138" actId="20577"/>
        <pc:sldMkLst>
          <pc:docMk/>
          <pc:sldMk cId="671922880" sldId="404"/>
        </pc:sldMkLst>
      </pc:sldChg>
      <pc:sldChg chg="modSp">
        <pc:chgData name="Alexandre LOMBARD" userId="d7c5578e-63c7-432d-a7d2-f1c9f6140c18" providerId="ADAL" clId="{B7B0A639-07D5-432C-9E68-EF00C3EE8597}" dt="2024-09-24T09:14:21.075" v="136" actId="20577"/>
        <pc:sldMkLst>
          <pc:docMk/>
          <pc:sldMk cId="3668584977" sldId="425"/>
        </pc:sldMkLst>
      </pc:sldChg>
      <pc:sldChg chg="modSp">
        <pc:chgData name="Alexandre LOMBARD" userId="d7c5578e-63c7-432d-a7d2-f1c9f6140c18" providerId="ADAL" clId="{B7B0A639-07D5-432C-9E68-EF00C3EE8597}" dt="2024-09-24T09:14:15.165" v="134" actId="20577"/>
        <pc:sldMkLst>
          <pc:docMk/>
          <pc:sldMk cId="2880758165" sldId="427"/>
        </pc:sldMkLst>
      </pc:sldChg>
      <pc:sldChg chg="modSp">
        <pc:chgData name="Alexandre LOMBARD" userId="d7c5578e-63c7-432d-a7d2-f1c9f6140c18" providerId="ADAL" clId="{B7B0A639-07D5-432C-9E68-EF00C3EE8597}" dt="2024-10-02T13:26:24.762" v="303" actId="20577"/>
        <pc:sldMkLst>
          <pc:docMk/>
          <pc:sldMk cId="511576728" sldId="550"/>
        </pc:sldMkLst>
      </pc:sldChg>
      <pc:sldChg chg="modSp">
        <pc:chgData name="Alexandre LOMBARD" userId="d7c5578e-63c7-432d-a7d2-f1c9f6140c18" providerId="ADAL" clId="{B7B0A639-07D5-432C-9E68-EF00C3EE8597}" dt="2024-10-10T07:37:33.954" v="305" actId="20578"/>
        <pc:sldMkLst>
          <pc:docMk/>
          <pc:sldMk cId="2625317380" sldId="556"/>
        </pc:sldMkLst>
      </pc:sldChg>
    </pc:docChg>
  </pc:docChgLst>
  <pc:docChgLst>
    <pc:chgData name="Alexandre LOMBARD" userId="d7c5578e-63c7-432d-a7d2-f1c9f6140c18" providerId="ADAL" clId="{2B4D50A8-2C1D-43EF-8669-6F60156EC6B8}"/>
    <pc:docChg chg="addSld modSld sldOrd">
      <pc:chgData name="Alexandre LOMBARD" userId="d7c5578e-63c7-432d-a7d2-f1c9f6140c18" providerId="ADAL" clId="{2B4D50A8-2C1D-43EF-8669-6F60156EC6B8}" dt="2025-10-23T06:35:09.413" v="213" actId="20577"/>
      <pc:docMkLst>
        <pc:docMk/>
      </pc:docMkLst>
      <pc:sldChg chg="modSp mod">
        <pc:chgData name="Alexandre LOMBARD" userId="d7c5578e-63c7-432d-a7d2-f1c9f6140c18" providerId="ADAL" clId="{2B4D50A8-2C1D-43EF-8669-6F60156EC6B8}" dt="2025-09-24T08:55:44.090" v="52" actId="20577"/>
        <pc:sldMkLst>
          <pc:docMk/>
          <pc:sldMk cId="1983212649" sldId="258"/>
        </pc:sldMkLst>
        <pc:spChg chg="mod">
          <ac:chgData name="Alexandre LOMBARD" userId="d7c5578e-63c7-432d-a7d2-f1c9f6140c18" providerId="ADAL" clId="{2B4D50A8-2C1D-43EF-8669-6F60156EC6B8}" dt="2025-09-24T08:55:44.090" v="52" actId="20577"/>
          <ac:spMkLst>
            <pc:docMk/>
            <pc:sldMk cId="1983212649" sldId="258"/>
            <ac:spMk id="3" creationId="{FA48B2EC-BBE5-4343-A11D-09AB7BD1BA69}"/>
          </ac:spMkLst>
        </pc:spChg>
      </pc:sldChg>
      <pc:sldChg chg="modSp mod">
        <pc:chgData name="Alexandre LOMBARD" userId="d7c5578e-63c7-432d-a7d2-f1c9f6140c18" providerId="ADAL" clId="{2B4D50A8-2C1D-43EF-8669-6F60156EC6B8}" dt="2025-10-01T12:20:56.464" v="81" actId="1076"/>
        <pc:sldMkLst>
          <pc:docMk/>
          <pc:sldMk cId="1320973673" sldId="339"/>
        </pc:sldMkLst>
        <pc:graphicFrameChg chg="mod">
          <ac:chgData name="Alexandre LOMBARD" userId="d7c5578e-63c7-432d-a7d2-f1c9f6140c18" providerId="ADAL" clId="{2B4D50A8-2C1D-43EF-8669-6F60156EC6B8}" dt="2025-10-01T12:20:56.464" v="81" actId="1076"/>
          <ac:graphicFrameMkLst>
            <pc:docMk/>
            <pc:sldMk cId="1320973673" sldId="339"/>
            <ac:graphicFrameMk id="9" creationId="{C6E8F6AB-6973-4713-A680-B6B88101C864}"/>
          </ac:graphicFrameMkLst>
        </pc:graphicFrameChg>
      </pc:sldChg>
      <pc:sldChg chg="modSp mod">
        <pc:chgData name="Alexandre LOMBARD" userId="d7c5578e-63c7-432d-a7d2-f1c9f6140c18" providerId="ADAL" clId="{2B4D50A8-2C1D-43EF-8669-6F60156EC6B8}" dt="2025-10-01T12:23:12.405" v="82" actId="115"/>
        <pc:sldMkLst>
          <pc:docMk/>
          <pc:sldMk cId="3732982966" sldId="350"/>
        </pc:sldMkLst>
        <pc:graphicFrameChg chg="modGraphic">
          <ac:chgData name="Alexandre LOMBARD" userId="d7c5578e-63c7-432d-a7d2-f1c9f6140c18" providerId="ADAL" clId="{2B4D50A8-2C1D-43EF-8669-6F60156EC6B8}" dt="2025-10-01T12:23:12.405" v="82" actId="115"/>
          <ac:graphicFrameMkLst>
            <pc:docMk/>
            <pc:sldMk cId="3732982966" sldId="350"/>
            <ac:graphicFrameMk id="5" creationId="{F69F04B0-EC7C-4EE1-A84F-F3B1460F115B}"/>
          </ac:graphicFrameMkLst>
        </pc:graphicFrameChg>
      </pc:sldChg>
      <pc:sldChg chg="modSp mod">
        <pc:chgData name="Alexandre LOMBARD" userId="d7c5578e-63c7-432d-a7d2-f1c9f6140c18" providerId="ADAL" clId="{2B4D50A8-2C1D-43EF-8669-6F60156EC6B8}" dt="2025-10-01T12:33:07.838" v="84" actId="115"/>
        <pc:sldMkLst>
          <pc:docMk/>
          <pc:sldMk cId="698366739" sldId="352"/>
        </pc:sldMkLst>
        <pc:graphicFrameChg chg="modGraphic">
          <ac:chgData name="Alexandre LOMBARD" userId="d7c5578e-63c7-432d-a7d2-f1c9f6140c18" providerId="ADAL" clId="{2B4D50A8-2C1D-43EF-8669-6F60156EC6B8}" dt="2025-10-01T12:33:02.286" v="83" actId="115"/>
          <ac:graphicFrameMkLst>
            <pc:docMk/>
            <pc:sldMk cId="698366739" sldId="352"/>
            <ac:graphicFrameMk id="5" creationId="{F69F04B0-EC7C-4EE1-A84F-F3B1460F115B}"/>
          </ac:graphicFrameMkLst>
        </pc:graphicFrameChg>
        <pc:graphicFrameChg chg="modGraphic">
          <ac:chgData name="Alexandre LOMBARD" userId="d7c5578e-63c7-432d-a7d2-f1c9f6140c18" providerId="ADAL" clId="{2B4D50A8-2C1D-43EF-8669-6F60156EC6B8}" dt="2025-10-01T12:33:07.838" v="84" actId="115"/>
          <ac:graphicFrameMkLst>
            <pc:docMk/>
            <pc:sldMk cId="698366739" sldId="352"/>
            <ac:graphicFrameMk id="6" creationId="{93CFDA8B-3A12-4BB4-BFF2-6EE669785B34}"/>
          </ac:graphicFrameMkLst>
        </pc:graphicFrameChg>
      </pc:sldChg>
      <pc:sldChg chg="modSp mod">
        <pc:chgData name="Alexandre LOMBARD" userId="d7c5578e-63c7-432d-a7d2-f1c9f6140c18" providerId="ADAL" clId="{2B4D50A8-2C1D-43EF-8669-6F60156EC6B8}" dt="2025-10-16T06:41:07.924" v="92" actId="1076"/>
        <pc:sldMkLst>
          <pc:docMk/>
          <pc:sldMk cId="453637689" sldId="358"/>
        </pc:sldMkLst>
        <pc:graphicFrameChg chg="mod">
          <ac:chgData name="Alexandre LOMBARD" userId="d7c5578e-63c7-432d-a7d2-f1c9f6140c18" providerId="ADAL" clId="{2B4D50A8-2C1D-43EF-8669-6F60156EC6B8}" dt="2025-10-16T06:41:07.924" v="92" actId="1076"/>
          <ac:graphicFrameMkLst>
            <pc:docMk/>
            <pc:sldMk cId="453637689" sldId="358"/>
            <ac:graphicFrameMk id="4" creationId="{9A10ADD4-D33A-4205-A450-1DED12B20DC1}"/>
          </ac:graphicFrameMkLst>
        </pc:graphicFrameChg>
      </pc:sldChg>
      <pc:sldChg chg="modSp mod">
        <pc:chgData name="Alexandre LOMBARD" userId="d7c5578e-63c7-432d-a7d2-f1c9f6140c18" providerId="ADAL" clId="{2B4D50A8-2C1D-43EF-8669-6F60156EC6B8}" dt="2025-10-16T06:46:40.625" v="110" actId="20577"/>
        <pc:sldMkLst>
          <pc:docMk/>
          <pc:sldMk cId="2268720684" sldId="363"/>
        </pc:sldMkLst>
        <pc:spChg chg="mod">
          <ac:chgData name="Alexandre LOMBARD" userId="d7c5578e-63c7-432d-a7d2-f1c9f6140c18" providerId="ADAL" clId="{2B4D50A8-2C1D-43EF-8669-6F60156EC6B8}" dt="2025-10-16T06:46:40.625" v="110" actId="20577"/>
          <ac:spMkLst>
            <pc:docMk/>
            <pc:sldMk cId="2268720684" sldId="363"/>
            <ac:spMk id="8" creationId="{83AB5530-8FAD-42F3-AF32-B6238588DBD9}"/>
          </ac:spMkLst>
        </pc:spChg>
      </pc:sldChg>
      <pc:sldChg chg="modSp mod">
        <pc:chgData name="Alexandre LOMBARD" userId="d7c5578e-63c7-432d-a7d2-f1c9f6140c18" providerId="ADAL" clId="{2B4D50A8-2C1D-43EF-8669-6F60156EC6B8}" dt="2025-10-16T07:07:34.877" v="128" actId="1076"/>
        <pc:sldMkLst>
          <pc:docMk/>
          <pc:sldMk cId="3535559086" sldId="390"/>
        </pc:sldMkLst>
        <pc:spChg chg="mod">
          <ac:chgData name="Alexandre LOMBARD" userId="d7c5578e-63c7-432d-a7d2-f1c9f6140c18" providerId="ADAL" clId="{2B4D50A8-2C1D-43EF-8669-6F60156EC6B8}" dt="2025-10-16T07:07:10.532" v="120" actId="20577"/>
          <ac:spMkLst>
            <pc:docMk/>
            <pc:sldMk cId="3535559086" sldId="390"/>
            <ac:spMk id="15" creationId="{B0E5C52D-BDBC-4F6C-A3AE-D92E0DEE9E5C}"/>
          </ac:spMkLst>
        </pc:spChg>
        <pc:spChg chg="mod">
          <ac:chgData name="Alexandre LOMBARD" userId="d7c5578e-63c7-432d-a7d2-f1c9f6140c18" providerId="ADAL" clId="{2B4D50A8-2C1D-43EF-8669-6F60156EC6B8}" dt="2025-10-16T07:07:34.877" v="128" actId="1076"/>
          <ac:spMkLst>
            <pc:docMk/>
            <pc:sldMk cId="3535559086" sldId="390"/>
            <ac:spMk id="23" creationId="{90DB03A6-392D-4423-8DF4-AD66ED1FD1BA}"/>
          </ac:spMkLst>
        </pc:spChg>
        <pc:spChg chg="mod">
          <ac:chgData name="Alexandre LOMBARD" userId="d7c5578e-63c7-432d-a7d2-f1c9f6140c18" providerId="ADAL" clId="{2B4D50A8-2C1D-43EF-8669-6F60156EC6B8}" dt="2025-10-16T07:07:27.947" v="124" actId="1076"/>
          <ac:spMkLst>
            <pc:docMk/>
            <pc:sldMk cId="3535559086" sldId="390"/>
            <ac:spMk id="24" creationId="{42809922-1B31-4802-A8B8-60530E49463E}"/>
          </ac:spMkLst>
        </pc:spChg>
      </pc:sldChg>
      <pc:sldChg chg="modSp mod">
        <pc:chgData name="Alexandre LOMBARD" userId="d7c5578e-63c7-432d-a7d2-f1c9f6140c18" providerId="ADAL" clId="{2B4D50A8-2C1D-43EF-8669-6F60156EC6B8}" dt="2025-10-16T07:08:17.988" v="143" actId="20577"/>
        <pc:sldMkLst>
          <pc:docMk/>
          <pc:sldMk cId="500988967" sldId="392"/>
        </pc:sldMkLst>
        <pc:spChg chg="mod">
          <ac:chgData name="Alexandre LOMBARD" userId="d7c5578e-63c7-432d-a7d2-f1c9f6140c18" providerId="ADAL" clId="{2B4D50A8-2C1D-43EF-8669-6F60156EC6B8}" dt="2025-10-16T07:08:15.240" v="140" actId="1076"/>
          <ac:spMkLst>
            <pc:docMk/>
            <pc:sldMk cId="500988967" sldId="392"/>
            <ac:spMk id="7" creationId="{A65F88A3-1A1B-4022-871E-225EF076C9A6}"/>
          </ac:spMkLst>
        </pc:spChg>
        <pc:spChg chg="mod">
          <ac:chgData name="Alexandre LOMBARD" userId="d7c5578e-63c7-432d-a7d2-f1c9f6140c18" providerId="ADAL" clId="{2B4D50A8-2C1D-43EF-8669-6F60156EC6B8}" dt="2025-10-16T07:08:09.211" v="136" actId="1076"/>
          <ac:spMkLst>
            <pc:docMk/>
            <pc:sldMk cId="500988967" sldId="392"/>
            <ac:spMk id="8" creationId="{B1FD8D5A-A125-4295-B68B-7CD86606D961}"/>
          </ac:spMkLst>
        </pc:spChg>
        <pc:spChg chg="mod">
          <ac:chgData name="Alexandre LOMBARD" userId="d7c5578e-63c7-432d-a7d2-f1c9f6140c18" providerId="ADAL" clId="{2B4D50A8-2C1D-43EF-8669-6F60156EC6B8}" dt="2025-10-16T07:08:17.988" v="143" actId="20577"/>
          <ac:spMkLst>
            <pc:docMk/>
            <pc:sldMk cId="500988967" sldId="392"/>
            <ac:spMk id="26" creationId="{3CA5E1A2-049F-48C6-81A8-18DB4336833D}"/>
          </ac:spMkLst>
        </pc:spChg>
      </pc:sldChg>
      <pc:sldChg chg="modSp mod">
        <pc:chgData name="Alexandre LOMBARD" userId="d7c5578e-63c7-432d-a7d2-f1c9f6140c18" providerId="ADAL" clId="{2B4D50A8-2C1D-43EF-8669-6F60156EC6B8}" dt="2025-09-24T08:56:04.784" v="80" actId="14100"/>
        <pc:sldMkLst>
          <pc:docMk/>
          <pc:sldMk cId="2880758165" sldId="427"/>
        </pc:sldMkLst>
        <pc:spChg chg="mod">
          <ac:chgData name="Alexandre LOMBARD" userId="d7c5578e-63c7-432d-a7d2-f1c9f6140c18" providerId="ADAL" clId="{2B4D50A8-2C1D-43EF-8669-6F60156EC6B8}" dt="2025-09-24T08:56:04.784" v="80" actId="14100"/>
          <ac:spMkLst>
            <pc:docMk/>
            <pc:sldMk cId="2880758165" sldId="427"/>
            <ac:spMk id="2" creationId="{239A703D-B4A6-4B52-B05C-DFBD95D837B8}"/>
          </ac:spMkLst>
        </pc:spChg>
      </pc:sldChg>
      <pc:sldChg chg="modSp mod">
        <pc:chgData name="Alexandre LOMBARD" userId="d7c5578e-63c7-432d-a7d2-f1c9f6140c18" providerId="ADAL" clId="{2B4D50A8-2C1D-43EF-8669-6F60156EC6B8}" dt="2025-10-02T06:53:37.226" v="87" actId="14100"/>
        <pc:sldMkLst>
          <pc:docMk/>
          <pc:sldMk cId="456987440" sldId="455"/>
        </pc:sldMkLst>
        <pc:spChg chg="mod">
          <ac:chgData name="Alexandre LOMBARD" userId="d7c5578e-63c7-432d-a7d2-f1c9f6140c18" providerId="ADAL" clId="{2B4D50A8-2C1D-43EF-8669-6F60156EC6B8}" dt="2025-10-02T06:53:37.226" v="87" actId="14100"/>
          <ac:spMkLst>
            <pc:docMk/>
            <pc:sldMk cId="456987440" sldId="455"/>
            <ac:spMk id="3" creationId="{2BF12D7A-F4CC-46E9-BE2D-FE1D588CBD87}"/>
          </ac:spMkLst>
        </pc:spChg>
      </pc:sldChg>
      <pc:sldChg chg="modSp mod">
        <pc:chgData name="Alexandre LOMBARD" userId="d7c5578e-63c7-432d-a7d2-f1c9f6140c18" providerId="ADAL" clId="{2B4D50A8-2C1D-43EF-8669-6F60156EC6B8}" dt="2025-10-16T07:21:20.349" v="148" actId="20577"/>
        <pc:sldMkLst>
          <pc:docMk/>
          <pc:sldMk cId="3876010119" sldId="482"/>
        </pc:sldMkLst>
        <pc:spChg chg="mod">
          <ac:chgData name="Alexandre LOMBARD" userId="d7c5578e-63c7-432d-a7d2-f1c9f6140c18" providerId="ADAL" clId="{2B4D50A8-2C1D-43EF-8669-6F60156EC6B8}" dt="2025-10-16T07:21:20.349" v="148" actId="20577"/>
          <ac:spMkLst>
            <pc:docMk/>
            <pc:sldMk cId="3876010119" sldId="482"/>
            <ac:spMk id="3" creationId="{7EA9826B-BB09-4358-975F-76D6AE9F5A4B}"/>
          </ac:spMkLst>
        </pc:spChg>
      </pc:sldChg>
      <pc:sldChg chg="modSp mod">
        <pc:chgData name="Alexandre LOMBARD" userId="d7c5578e-63c7-432d-a7d2-f1c9f6140c18" providerId="ADAL" clId="{2B4D50A8-2C1D-43EF-8669-6F60156EC6B8}" dt="2025-10-23T06:35:09.413" v="213" actId="20577"/>
        <pc:sldMkLst>
          <pc:docMk/>
          <pc:sldMk cId="3941142584" sldId="488"/>
        </pc:sldMkLst>
        <pc:spChg chg="mod">
          <ac:chgData name="Alexandre LOMBARD" userId="d7c5578e-63c7-432d-a7d2-f1c9f6140c18" providerId="ADAL" clId="{2B4D50A8-2C1D-43EF-8669-6F60156EC6B8}" dt="2025-10-23T06:35:09.413" v="213" actId="20577"/>
          <ac:spMkLst>
            <pc:docMk/>
            <pc:sldMk cId="3941142584" sldId="488"/>
            <ac:spMk id="3" creationId="{A1BCFC58-082B-4967-AFC2-5CF78E27691B}"/>
          </ac:spMkLst>
        </pc:spChg>
      </pc:sldChg>
      <pc:sldChg chg="modSp mod">
        <pc:chgData name="Alexandre LOMBARD" userId="d7c5578e-63c7-432d-a7d2-f1c9f6140c18" providerId="ADAL" clId="{2B4D50A8-2C1D-43EF-8669-6F60156EC6B8}" dt="2025-10-08T13:49:40.031" v="90" actId="1076"/>
        <pc:sldMkLst>
          <pc:docMk/>
          <pc:sldMk cId="3198534352" sldId="502"/>
        </pc:sldMkLst>
        <pc:spChg chg="mod">
          <ac:chgData name="Alexandre LOMBARD" userId="d7c5578e-63c7-432d-a7d2-f1c9f6140c18" providerId="ADAL" clId="{2B4D50A8-2C1D-43EF-8669-6F60156EC6B8}" dt="2025-10-08T13:49:40.031" v="90" actId="1076"/>
          <ac:spMkLst>
            <pc:docMk/>
            <pc:sldMk cId="3198534352" sldId="502"/>
            <ac:spMk id="5" creationId="{AC35A100-AD6A-4CBC-8ACD-1A8A42D53D53}"/>
          </ac:spMkLst>
        </pc:spChg>
      </pc:sldChg>
      <pc:sldChg chg="modSp mod">
        <pc:chgData name="Alexandre LOMBARD" userId="d7c5578e-63c7-432d-a7d2-f1c9f6140c18" providerId="ADAL" clId="{2B4D50A8-2C1D-43EF-8669-6F60156EC6B8}" dt="2025-10-08T13:49:47.502" v="91" actId="14100"/>
        <pc:sldMkLst>
          <pc:docMk/>
          <pc:sldMk cId="2703012869" sldId="503"/>
        </pc:sldMkLst>
        <pc:spChg chg="mod">
          <ac:chgData name="Alexandre LOMBARD" userId="d7c5578e-63c7-432d-a7d2-f1c9f6140c18" providerId="ADAL" clId="{2B4D50A8-2C1D-43EF-8669-6F60156EC6B8}" dt="2025-10-08T13:49:47.502" v="91" actId="14100"/>
          <ac:spMkLst>
            <pc:docMk/>
            <pc:sldMk cId="2703012869" sldId="503"/>
            <ac:spMk id="3" creationId="{C1036FDE-C58B-4335-909F-E44526F63CBF}"/>
          </ac:spMkLst>
        </pc:spChg>
      </pc:sldChg>
      <pc:sldChg chg="modSp mod">
        <pc:chgData name="Alexandre LOMBARD" userId="d7c5578e-63c7-432d-a7d2-f1c9f6140c18" providerId="ADAL" clId="{2B4D50A8-2C1D-43EF-8669-6F60156EC6B8}" dt="2025-10-02T06:51:53.332" v="85" actId="20577"/>
        <pc:sldMkLst>
          <pc:docMk/>
          <pc:sldMk cId="1689661033" sldId="540"/>
        </pc:sldMkLst>
        <pc:spChg chg="mod">
          <ac:chgData name="Alexandre LOMBARD" userId="d7c5578e-63c7-432d-a7d2-f1c9f6140c18" providerId="ADAL" clId="{2B4D50A8-2C1D-43EF-8669-6F60156EC6B8}" dt="2025-10-02T06:51:53.332" v="85" actId="20577"/>
          <ac:spMkLst>
            <pc:docMk/>
            <pc:sldMk cId="1689661033" sldId="540"/>
            <ac:spMk id="3" creationId="{0B93457B-6EB6-47A9-A05E-803E270FDDC2}"/>
          </ac:spMkLst>
        </pc:spChg>
      </pc:sldChg>
      <pc:sldChg chg="modSp mod">
        <pc:chgData name="Alexandre LOMBARD" userId="d7c5578e-63c7-432d-a7d2-f1c9f6140c18" providerId="ADAL" clId="{2B4D50A8-2C1D-43EF-8669-6F60156EC6B8}" dt="2025-10-08T11:56:50.446" v="89" actId="20577"/>
        <pc:sldMkLst>
          <pc:docMk/>
          <pc:sldMk cId="1910150655" sldId="546"/>
        </pc:sldMkLst>
        <pc:spChg chg="mod">
          <ac:chgData name="Alexandre LOMBARD" userId="d7c5578e-63c7-432d-a7d2-f1c9f6140c18" providerId="ADAL" clId="{2B4D50A8-2C1D-43EF-8669-6F60156EC6B8}" dt="2025-10-08T11:56:50.446" v="89" actId="20577"/>
          <ac:spMkLst>
            <pc:docMk/>
            <pc:sldMk cId="1910150655" sldId="546"/>
            <ac:spMk id="3" creationId="{BDB2F3FF-FE3D-49B5-8C16-6E7FA2043308}"/>
          </ac:spMkLst>
        </pc:spChg>
      </pc:sldChg>
      <pc:sldChg chg="modSp add mod ord">
        <pc:chgData name="Alexandre LOMBARD" userId="d7c5578e-63c7-432d-a7d2-f1c9f6140c18" providerId="ADAL" clId="{2B4D50A8-2C1D-43EF-8669-6F60156EC6B8}" dt="2025-10-16T07:50:26.236" v="173" actId="13926"/>
        <pc:sldMkLst>
          <pc:docMk/>
          <pc:sldMk cId="2687708276" sldId="557"/>
        </pc:sldMkLst>
        <pc:spChg chg="mod">
          <ac:chgData name="Alexandre LOMBARD" userId="d7c5578e-63c7-432d-a7d2-f1c9f6140c18" providerId="ADAL" clId="{2B4D50A8-2C1D-43EF-8669-6F60156EC6B8}" dt="2025-10-16T07:50:26.236" v="173" actId="13926"/>
          <ac:spMkLst>
            <pc:docMk/>
            <pc:sldMk cId="2687708276" sldId="557"/>
            <ac:spMk id="3" creationId="{FC5D7811-B630-81BC-E001-267158147F8D}"/>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ata4.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4.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svg"/><Relationship Id="rId1" Type="http://schemas.openxmlformats.org/officeDocument/2006/relationships/image" Target="../media/image14.png"/><Relationship Id="rId4" Type="http://schemas.openxmlformats.org/officeDocument/2006/relationships/image" Target="../media/image26.svg"/></Relationships>
</file>

<file path=ppt/diagrams/_rels/data6.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4" Type="http://schemas.openxmlformats.org/officeDocument/2006/relationships/image" Target="../media/image38.svg"/></Relationships>
</file>

<file path=ppt/diagrams/_rels/data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43.svg"/></Relationships>
</file>

<file path=ppt/diagrams/_rels/data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diagrams/_rels/data1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8.svg"/><Relationship Id="rId1" Type="http://schemas.openxmlformats.org/officeDocument/2006/relationships/image" Target="../media/image14.png"/><Relationship Id="rId4" Type="http://schemas.openxmlformats.org/officeDocument/2006/relationships/image" Target="../media/image50.svg"/></Relationships>
</file>

<file path=ppt/diagrams/_rels/data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2.svg"/></Relationships>
</file>

<file path=ppt/diagrams/_rels/data1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svg"/><Relationship Id="rId1" Type="http://schemas.openxmlformats.org/officeDocument/2006/relationships/image" Target="../media/image53.png"/><Relationship Id="rId4" Type="http://schemas.openxmlformats.org/officeDocument/2006/relationships/image" Target="../media/image56.svg"/></Relationships>
</file>

<file path=ppt/diagrams/_rels/data14.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9.png"/><Relationship Id="rId7" Type="http://schemas.openxmlformats.org/officeDocument/2006/relationships/image" Target="../media/image46.pn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60.svg"/></Relationships>
</file>

<file path=ppt/diagrams/_rels/data1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svg"/><Relationship Id="rId1" Type="http://schemas.openxmlformats.org/officeDocument/2006/relationships/image" Target="../media/image67.png"/><Relationship Id="rId4" Type="http://schemas.openxmlformats.org/officeDocument/2006/relationships/image" Target="../media/image7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4.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svg"/><Relationship Id="rId1" Type="http://schemas.openxmlformats.org/officeDocument/2006/relationships/image" Target="../media/image14.png"/><Relationship Id="rId4" Type="http://schemas.openxmlformats.org/officeDocument/2006/relationships/image" Target="../media/image26.svg"/></Relationships>
</file>

<file path=ppt/diagrams/_rels/drawing6.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4" Type="http://schemas.openxmlformats.org/officeDocument/2006/relationships/image" Target="../media/image38.svg"/></Relationships>
</file>

<file path=ppt/diagrams/_rels/drawing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43.svg"/></Relationships>
</file>

<file path=ppt/diagrams/_rels/drawing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8.svg"/><Relationship Id="rId1" Type="http://schemas.openxmlformats.org/officeDocument/2006/relationships/image" Target="../media/image14.png"/><Relationship Id="rId4" Type="http://schemas.openxmlformats.org/officeDocument/2006/relationships/image" Target="../media/image50.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2.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svg"/><Relationship Id="rId1" Type="http://schemas.openxmlformats.org/officeDocument/2006/relationships/image" Target="../media/image53.png"/><Relationship Id="rId4" Type="http://schemas.openxmlformats.org/officeDocument/2006/relationships/image" Target="../media/image56.svg"/></Relationships>
</file>

<file path=ppt/diagrams/_rels/drawing14.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9.png"/><Relationship Id="rId7" Type="http://schemas.openxmlformats.org/officeDocument/2006/relationships/image" Target="../media/image46.pn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60.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svg"/><Relationship Id="rId1" Type="http://schemas.openxmlformats.org/officeDocument/2006/relationships/image" Target="../media/image67.png"/><Relationship Id="rId4" Type="http://schemas.openxmlformats.org/officeDocument/2006/relationships/image" Target="../media/image7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icontext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6FB406-E1D6-4019-87F8-22672A0A8B6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0AD3C25-9FBA-46EF-B46E-F90E2EB84CA6}">
      <dgm:prSet/>
      <dgm:spPr/>
      <dgm:t>
        <a:bodyPr/>
        <a:lstStyle/>
        <a:p>
          <a:pPr>
            <a:lnSpc>
              <a:spcPct val="100000"/>
            </a:lnSpc>
          </a:pPr>
          <a:r>
            <a:rPr lang="fr-FR" dirty="0"/>
            <a:t>Introduction aux bases de données</a:t>
          </a:r>
          <a:endParaRPr lang="en-US" dirty="0"/>
        </a:p>
      </dgm:t>
    </dgm:pt>
    <dgm:pt modelId="{5AAF03FF-D262-44FE-8F89-32300601164C}" type="parTrans" cxnId="{B675065B-6324-4191-B065-96276804B57E}">
      <dgm:prSet/>
      <dgm:spPr/>
      <dgm:t>
        <a:bodyPr/>
        <a:lstStyle/>
        <a:p>
          <a:endParaRPr lang="en-US"/>
        </a:p>
      </dgm:t>
    </dgm:pt>
    <dgm:pt modelId="{E4B73C71-6091-4AFB-9570-833C84A26F5C}" type="sibTrans" cxnId="{B675065B-6324-4191-B065-96276804B57E}">
      <dgm:prSet/>
      <dgm:spPr/>
      <dgm:t>
        <a:bodyPr/>
        <a:lstStyle/>
        <a:p>
          <a:endParaRPr lang="en-US"/>
        </a:p>
      </dgm:t>
    </dgm:pt>
    <dgm:pt modelId="{5F5610A2-3016-4A34-84AC-1FA54F0ACE3A}">
      <dgm:prSet/>
      <dgm:spPr/>
      <dgm:t>
        <a:bodyPr/>
        <a:lstStyle/>
        <a:p>
          <a:pPr>
            <a:lnSpc>
              <a:spcPct val="100000"/>
            </a:lnSpc>
          </a:pPr>
          <a:r>
            <a:rPr lang="fr-FR" dirty="0"/>
            <a:t>Principes des bases de données relationnelles</a:t>
          </a:r>
          <a:endParaRPr lang="en-US" dirty="0"/>
        </a:p>
      </dgm:t>
    </dgm:pt>
    <dgm:pt modelId="{C462F11C-F446-4D82-9ECC-67C892DFC06A}" type="parTrans" cxnId="{2DF0648B-12B3-4250-B03E-A2DD8C9D33A7}">
      <dgm:prSet/>
      <dgm:spPr/>
      <dgm:t>
        <a:bodyPr/>
        <a:lstStyle/>
        <a:p>
          <a:endParaRPr lang="en-US"/>
        </a:p>
      </dgm:t>
    </dgm:pt>
    <dgm:pt modelId="{F515F3BE-382A-42CA-AA04-BF1405140A92}" type="sibTrans" cxnId="{2DF0648B-12B3-4250-B03E-A2DD8C9D33A7}">
      <dgm:prSet/>
      <dgm:spPr/>
      <dgm:t>
        <a:bodyPr/>
        <a:lstStyle/>
        <a:p>
          <a:endParaRPr lang="en-US"/>
        </a:p>
      </dgm:t>
    </dgm:pt>
    <dgm:pt modelId="{FC4E41C1-4E2F-4B6E-9DA9-35E1EC803CCA}">
      <dgm:prSet/>
      <dgm:spPr/>
      <dgm:t>
        <a:bodyPr/>
        <a:lstStyle/>
        <a:p>
          <a:pPr>
            <a:lnSpc>
              <a:spcPct val="100000"/>
            </a:lnSpc>
          </a:pPr>
          <a:r>
            <a:rPr lang="fr-FR" dirty="0"/>
            <a:t>Langage SQL et principes avancés des bases de données relationnelles</a:t>
          </a:r>
          <a:endParaRPr lang="en-US" dirty="0"/>
        </a:p>
      </dgm:t>
    </dgm:pt>
    <dgm:pt modelId="{81F28831-2DF9-4B32-83FE-2EE2E9B142C5}" type="parTrans" cxnId="{96EA3B78-A26E-45F0-B331-AE12935BC268}">
      <dgm:prSet/>
      <dgm:spPr/>
      <dgm:t>
        <a:bodyPr/>
        <a:lstStyle/>
        <a:p>
          <a:endParaRPr lang="en-US"/>
        </a:p>
      </dgm:t>
    </dgm:pt>
    <dgm:pt modelId="{036EC399-D5AC-4E1E-8D33-6429592DE8AA}" type="sibTrans" cxnId="{96EA3B78-A26E-45F0-B331-AE12935BC268}">
      <dgm:prSet/>
      <dgm:spPr/>
      <dgm:t>
        <a:bodyPr/>
        <a:lstStyle/>
        <a:p>
          <a:endParaRPr lang="en-US"/>
        </a:p>
      </dgm:t>
    </dgm:pt>
    <dgm:pt modelId="{5F099C3F-C677-48E2-B67A-B5756C52CC9B}">
      <dgm:prSet/>
      <dgm:spPr/>
      <dgm:t>
        <a:bodyPr/>
        <a:lstStyle/>
        <a:p>
          <a:pPr>
            <a:lnSpc>
              <a:spcPct val="100000"/>
            </a:lnSpc>
          </a:pPr>
          <a:r>
            <a:rPr lang="fr-FR" dirty="0"/>
            <a:t>Méthodologie de conception d’une base de </a:t>
          </a:r>
          <a:r>
            <a:rPr lang="fr-FR" dirty="0">
              <a:latin typeface="Century Gothic" panose="020B0502020202020204"/>
            </a:rPr>
            <a:t>données</a:t>
          </a:r>
          <a:r>
            <a:rPr lang="fr-FR" dirty="0"/>
            <a:t> de relationnelle</a:t>
          </a:r>
          <a:endParaRPr lang="en-US" dirty="0"/>
        </a:p>
      </dgm:t>
    </dgm:pt>
    <dgm:pt modelId="{CF4FEED8-207F-4756-A697-12E7082BF837}" type="parTrans" cxnId="{77E4A2F9-C3EC-4903-A010-4373466D8753}">
      <dgm:prSet/>
      <dgm:spPr/>
      <dgm:t>
        <a:bodyPr/>
        <a:lstStyle/>
        <a:p>
          <a:endParaRPr lang="en-US"/>
        </a:p>
      </dgm:t>
    </dgm:pt>
    <dgm:pt modelId="{A22F48FF-7ECF-4210-AE81-56FA74AFF075}" type="sibTrans" cxnId="{77E4A2F9-C3EC-4903-A010-4373466D8753}">
      <dgm:prSet/>
      <dgm:spPr/>
      <dgm:t>
        <a:bodyPr/>
        <a:lstStyle/>
        <a:p>
          <a:endParaRPr lang="en-US"/>
        </a:p>
      </dgm:t>
    </dgm:pt>
    <dgm:pt modelId="{DCA02559-BB46-4481-96FC-EEA03B2DBF31}">
      <dgm:prSet/>
      <dgm:spPr/>
      <dgm:t>
        <a:bodyPr/>
        <a:lstStyle/>
        <a:p>
          <a:pPr>
            <a:lnSpc>
              <a:spcPct val="100000"/>
            </a:lnSpc>
          </a:pPr>
          <a:r>
            <a:rPr lang="en-US" dirty="0"/>
            <a:t>Introduction au Web, frameworks </a:t>
          </a:r>
          <a:r>
            <a:rPr lang="en-US" dirty="0" err="1"/>
            <a:t>dédiés</a:t>
          </a:r>
          <a:endParaRPr lang="en-US" dirty="0"/>
        </a:p>
      </dgm:t>
    </dgm:pt>
    <dgm:pt modelId="{6D2181D8-9349-497F-A0FC-2C930D13CD1E}" type="parTrans" cxnId="{E1EAF62B-3CF5-4347-A566-AE464798683C}">
      <dgm:prSet/>
      <dgm:spPr/>
      <dgm:t>
        <a:bodyPr/>
        <a:lstStyle/>
        <a:p>
          <a:endParaRPr lang="fr-FR"/>
        </a:p>
      </dgm:t>
    </dgm:pt>
    <dgm:pt modelId="{9E4080B1-0D30-4F9A-A823-DB3AAB6937E5}" type="sibTrans" cxnId="{E1EAF62B-3CF5-4347-A566-AE464798683C}">
      <dgm:prSet/>
      <dgm:spPr/>
      <dgm:t>
        <a:bodyPr/>
        <a:lstStyle/>
        <a:p>
          <a:endParaRPr lang="fr-FR"/>
        </a:p>
      </dgm:t>
    </dgm:pt>
    <dgm:pt modelId="{08782A65-A44B-470A-953D-7FF024D87163}">
      <dgm:prSet/>
      <dgm:spPr/>
      <dgm:t>
        <a:bodyPr/>
        <a:lstStyle/>
        <a:p>
          <a:pPr>
            <a:lnSpc>
              <a:spcPct val="100000"/>
            </a:lnSpc>
          </a:pPr>
          <a:r>
            <a:rPr lang="en-US" dirty="0"/>
            <a:t>Administration des bases de </a:t>
          </a:r>
          <a:r>
            <a:rPr lang="en-US" dirty="0" err="1"/>
            <a:t>données</a:t>
          </a:r>
          <a:r>
            <a:rPr lang="en-US" dirty="0"/>
            <a:t> et </a:t>
          </a:r>
          <a:r>
            <a:rPr lang="en-US" dirty="0" err="1"/>
            <a:t>optimisations</a:t>
          </a:r>
          <a:endParaRPr lang="en-US" dirty="0"/>
        </a:p>
      </dgm:t>
    </dgm:pt>
    <dgm:pt modelId="{C78B8AF7-1A31-4AE6-80A0-273C7CC1C313}" type="parTrans" cxnId="{9F2F5C54-C50C-4E2A-912A-402F3D4ABD67}">
      <dgm:prSet/>
      <dgm:spPr/>
      <dgm:t>
        <a:bodyPr/>
        <a:lstStyle/>
        <a:p>
          <a:endParaRPr lang="fr-FR"/>
        </a:p>
      </dgm:t>
    </dgm:pt>
    <dgm:pt modelId="{F37A4D5E-FA16-4D01-8832-E9B450097E73}" type="sibTrans" cxnId="{9F2F5C54-C50C-4E2A-912A-402F3D4ABD67}">
      <dgm:prSet/>
      <dgm:spPr/>
      <dgm:t>
        <a:bodyPr/>
        <a:lstStyle/>
        <a:p>
          <a:endParaRPr lang="fr-FR"/>
        </a:p>
      </dgm:t>
    </dgm:pt>
    <dgm:pt modelId="{EC4F8AC0-3F46-4D62-874A-6009D0297B27}" type="pres">
      <dgm:prSet presAssocID="{956FB406-E1D6-4019-87F8-22672A0A8B61}" presName="root" presStyleCnt="0">
        <dgm:presLayoutVars>
          <dgm:dir/>
          <dgm:resizeHandles val="exact"/>
        </dgm:presLayoutVars>
      </dgm:prSet>
      <dgm:spPr/>
    </dgm:pt>
    <dgm:pt modelId="{C9BC7B51-D786-453B-A451-EF4F03E8BA3C}" type="pres">
      <dgm:prSet presAssocID="{00AD3C25-9FBA-46EF-B46E-F90E2EB84CA6}" presName="compNode" presStyleCnt="0"/>
      <dgm:spPr/>
    </dgm:pt>
    <dgm:pt modelId="{C4711F06-49E3-48C3-8722-3507D678350B}" type="pres">
      <dgm:prSet presAssocID="{00AD3C25-9FBA-46EF-B46E-F90E2EB84CA6}" presName="bgRect" presStyleLbl="bgShp" presStyleIdx="0" presStyleCnt="6"/>
      <dgm:spPr/>
    </dgm:pt>
    <dgm:pt modelId="{6EB3F7D3-AB6F-4B4F-8E8F-5B11AC62D1CA}" type="pres">
      <dgm:prSet presAssocID="{00AD3C25-9FBA-46EF-B46E-F90E2EB84CA6}"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99244B71-6FA5-4564-99C9-2558EFF88C0C}" type="pres">
      <dgm:prSet presAssocID="{00AD3C25-9FBA-46EF-B46E-F90E2EB84CA6}" presName="spaceRect" presStyleCnt="0"/>
      <dgm:spPr/>
    </dgm:pt>
    <dgm:pt modelId="{F42A8689-D6F1-47CC-8605-9A6B7C0DF25B}" type="pres">
      <dgm:prSet presAssocID="{00AD3C25-9FBA-46EF-B46E-F90E2EB84CA6}" presName="parTx" presStyleLbl="revTx" presStyleIdx="0" presStyleCnt="6">
        <dgm:presLayoutVars>
          <dgm:chMax val="0"/>
          <dgm:chPref val="0"/>
        </dgm:presLayoutVars>
      </dgm:prSet>
      <dgm:spPr/>
    </dgm:pt>
    <dgm:pt modelId="{C6888DC3-C0A7-45CD-85D3-25292229BBF9}" type="pres">
      <dgm:prSet presAssocID="{E4B73C71-6091-4AFB-9570-833C84A26F5C}" presName="sibTrans" presStyleCnt="0"/>
      <dgm:spPr/>
    </dgm:pt>
    <dgm:pt modelId="{282B9B4E-673F-4B61-8F4E-3FA4BB26983E}" type="pres">
      <dgm:prSet presAssocID="{5F5610A2-3016-4A34-84AC-1FA54F0ACE3A}" presName="compNode" presStyleCnt="0"/>
      <dgm:spPr/>
    </dgm:pt>
    <dgm:pt modelId="{7C3FC018-227F-410E-BD5E-A1AF8504FD75}" type="pres">
      <dgm:prSet presAssocID="{5F5610A2-3016-4A34-84AC-1FA54F0ACE3A}" presName="bgRect" presStyleLbl="bgShp" presStyleIdx="1" presStyleCnt="6"/>
      <dgm:spPr/>
    </dgm:pt>
    <dgm:pt modelId="{F5102668-AD82-496A-BD56-BA10139EECC1}" type="pres">
      <dgm:prSet presAssocID="{5F5610A2-3016-4A34-84AC-1FA54F0ACE3A}"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ble"/>
        </a:ext>
      </dgm:extLst>
    </dgm:pt>
    <dgm:pt modelId="{99B38697-908E-47CB-829D-94BDF100B08F}" type="pres">
      <dgm:prSet presAssocID="{5F5610A2-3016-4A34-84AC-1FA54F0ACE3A}" presName="spaceRect" presStyleCnt="0"/>
      <dgm:spPr/>
    </dgm:pt>
    <dgm:pt modelId="{156E4283-8559-455C-AEFB-A9331E43A687}" type="pres">
      <dgm:prSet presAssocID="{5F5610A2-3016-4A34-84AC-1FA54F0ACE3A}" presName="parTx" presStyleLbl="revTx" presStyleIdx="1" presStyleCnt="6">
        <dgm:presLayoutVars>
          <dgm:chMax val="0"/>
          <dgm:chPref val="0"/>
        </dgm:presLayoutVars>
      </dgm:prSet>
      <dgm:spPr/>
    </dgm:pt>
    <dgm:pt modelId="{0FCC3CD6-1FDF-4452-AB18-800EE811FFB1}" type="pres">
      <dgm:prSet presAssocID="{F515F3BE-382A-42CA-AA04-BF1405140A92}" presName="sibTrans" presStyleCnt="0"/>
      <dgm:spPr/>
    </dgm:pt>
    <dgm:pt modelId="{F82729B0-0067-446F-BBEE-354FAF181BFE}" type="pres">
      <dgm:prSet presAssocID="{FC4E41C1-4E2F-4B6E-9DA9-35E1EC803CCA}" presName="compNode" presStyleCnt="0"/>
      <dgm:spPr/>
    </dgm:pt>
    <dgm:pt modelId="{996DD2C0-E96F-4D97-AFF9-E1BC13135550}" type="pres">
      <dgm:prSet presAssocID="{FC4E41C1-4E2F-4B6E-9DA9-35E1EC803CCA}" presName="bgRect" presStyleLbl="bgShp" presStyleIdx="2" presStyleCnt="6"/>
      <dgm:spPr/>
    </dgm:pt>
    <dgm:pt modelId="{76994590-9250-4E46-ABA1-AD5EBFCE1577}" type="pres">
      <dgm:prSet presAssocID="{FC4E41C1-4E2F-4B6E-9DA9-35E1EC803CCA}"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27850CAD-90BD-417F-AA08-47C05C8977CF}" type="pres">
      <dgm:prSet presAssocID="{FC4E41C1-4E2F-4B6E-9DA9-35E1EC803CCA}" presName="spaceRect" presStyleCnt="0"/>
      <dgm:spPr/>
    </dgm:pt>
    <dgm:pt modelId="{4FEA222B-2C35-4A94-BA8E-14699D6B2B3C}" type="pres">
      <dgm:prSet presAssocID="{FC4E41C1-4E2F-4B6E-9DA9-35E1EC803CCA}" presName="parTx" presStyleLbl="revTx" presStyleIdx="2" presStyleCnt="6">
        <dgm:presLayoutVars>
          <dgm:chMax val="0"/>
          <dgm:chPref val="0"/>
        </dgm:presLayoutVars>
      </dgm:prSet>
      <dgm:spPr/>
    </dgm:pt>
    <dgm:pt modelId="{5F5E8EFB-CF57-44FA-8AC6-9ED0D945079E}" type="pres">
      <dgm:prSet presAssocID="{036EC399-D5AC-4E1E-8D33-6429592DE8AA}" presName="sibTrans" presStyleCnt="0"/>
      <dgm:spPr/>
    </dgm:pt>
    <dgm:pt modelId="{4CCB7BE9-3350-4F44-93E4-81C891685CF6}" type="pres">
      <dgm:prSet presAssocID="{5F099C3F-C677-48E2-B67A-B5756C52CC9B}" presName="compNode" presStyleCnt="0"/>
      <dgm:spPr/>
    </dgm:pt>
    <dgm:pt modelId="{85BF1BC8-489B-4A92-9B82-563A408832AE}" type="pres">
      <dgm:prSet presAssocID="{5F099C3F-C677-48E2-B67A-B5756C52CC9B}" presName="bgRect" presStyleLbl="bgShp" presStyleIdx="3" presStyleCnt="6"/>
      <dgm:spPr/>
    </dgm:pt>
    <dgm:pt modelId="{C7231992-00FC-4D8F-9872-642AD5CB2656}" type="pres">
      <dgm:prSet presAssocID="{5F099C3F-C677-48E2-B67A-B5756C52CC9B}"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6011123A-73D5-452A-BBD1-16371783DFCE}" type="pres">
      <dgm:prSet presAssocID="{5F099C3F-C677-48E2-B67A-B5756C52CC9B}" presName="spaceRect" presStyleCnt="0"/>
      <dgm:spPr/>
    </dgm:pt>
    <dgm:pt modelId="{985D0BEB-67B6-4E58-92C3-463EA5DD0AB1}" type="pres">
      <dgm:prSet presAssocID="{5F099C3F-C677-48E2-B67A-B5756C52CC9B}" presName="parTx" presStyleLbl="revTx" presStyleIdx="3" presStyleCnt="6">
        <dgm:presLayoutVars>
          <dgm:chMax val="0"/>
          <dgm:chPref val="0"/>
        </dgm:presLayoutVars>
      </dgm:prSet>
      <dgm:spPr/>
    </dgm:pt>
    <dgm:pt modelId="{EE96FB30-1008-4A14-A4F7-F757706B36A8}" type="pres">
      <dgm:prSet presAssocID="{A22F48FF-7ECF-4210-AE81-56FA74AFF075}" presName="sibTrans" presStyleCnt="0"/>
      <dgm:spPr/>
    </dgm:pt>
    <dgm:pt modelId="{76424F7E-7F19-4314-87EC-374AC5692265}" type="pres">
      <dgm:prSet presAssocID="{DCA02559-BB46-4481-96FC-EEA03B2DBF31}" presName="compNode" presStyleCnt="0"/>
      <dgm:spPr/>
    </dgm:pt>
    <dgm:pt modelId="{B0A67922-5A14-49A1-BC21-7FED2645E12C}" type="pres">
      <dgm:prSet presAssocID="{DCA02559-BB46-4481-96FC-EEA03B2DBF31}" presName="bgRect" presStyleLbl="bgShp" presStyleIdx="4" presStyleCnt="6"/>
      <dgm:spPr/>
    </dgm:pt>
    <dgm:pt modelId="{671358ED-4A3C-4942-BEBA-86DDAEBB498A}" type="pres">
      <dgm:prSet presAssocID="{DCA02559-BB46-4481-96FC-EEA03B2DBF31}" presName="iconRect" presStyleLbl="node1" presStyleIdx="4" presStyleCnt="6"/>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Internet"/>
        </a:ext>
      </dgm:extLst>
    </dgm:pt>
    <dgm:pt modelId="{F3ED03B9-A54D-438B-B82F-F034DF4011A1}" type="pres">
      <dgm:prSet presAssocID="{DCA02559-BB46-4481-96FC-EEA03B2DBF31}" presName="spaceRect" presStyleCnt="0"/>
      <dgm:spPr/>
    </dgm:pt>
    <dgm:pt modelId="{F68C75B6-DACD-40F2-947F-94C259D7EB34}" type="pres">
      <dgm:prSet presAssocID="{DCA02559-BB46-4481-96FC-EEA03B2DBF31}" presName="parTx" presStyleLbl="revTx" presStyleIdx="4" presStyleCnt="6">
        <dgm:presLayoutVars>
          <dgm:chMax val="0"/>
          <dgm:chPref val="0"/>
        </dgm:presLayoutVars>
      </dgm:prSet>
      <dgm:spPr/>
    </dgm:pt>
    <dgm:pt modelId="{A8706F54-FFF6-483B-9E14-7E24C26638B0}" type="pres">
      <dgm:prSet presAssocID="{9E4080B1-0D30-4F9A-A823-DB3AAB6937E5}" presName="sibTrans" presStyleCnt="0"/>
      <dgm:spPr/>
    </dgm:pt>
    <dgm:pt modelId="{8181D4E6-849F-4946-B9CD-8DE68ACD4551}" type="pres">
      <dgm:prSet presAssocID="{08782A65-A44B-470A-953D-7FF024D87163}" presName="compNode" presStyleCnt="0"/>
      <dgm:spPr/>
    </dgm:pt>
    <dgm:pt modelId="{0AB89DCA-195F-454E-8D7F-B4A6B01277C6}" type="pres">
      <dgm:prSet presAssocID="{08782A65-A44B-470A-953D-7FF024D87163}" presName="bgRect" presStyleLbl="bgShp" presStyleIdx="5" presStyleCnt="6"/>
      <dgm:spPr/>
    </dgm:pt>
    <dgm:pt modelId="{127B05BF-98EC-4AE3-8FE1-3D3C43C1B1D4}" type="pres">
      <dgm:prSet presAssocID="{08782A65-A44B-470A-953D-7FF024D87163}" presName="iconRect" presStyleLbl="node1" presStyleIdx="5" presStyleCnt="6"/>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dgm:spPr>
      <dgm:extLst>
        <a:ext uri="{E40237B7-FDA0-4F09-8148-C483321AD2D9}">
          <dgm14:cNvPr xmlns:dgm14="http://schemas.microsoft.com/office/drawing/2010/diagram" id="0" name="" descr="Calculatrice"/>
        </a:ext>
      </dgm:extLst>
    </dgm:pt>
    <dgm:pt modelId="{868C6B33-C57E-4A6F-BFF6-483AFBD15C4F}" type="pres">
      <dgm:prSet presAssocID="{08782A65-A44B-470A-953D-7FF024D87163}" presName="spaceRect" presStyleCnt="0"/>
      <dgm:spPr/>
    </dgm:pt>
    <dgm:pt modelId="{F7735ABA-0461-4078-BEBA-457D2B152607}" type="pres">
      <dgm:prSet presAssocID="{08782A65-A44B-470A-953D-7FF024D87163}" presName="parTx" presStyleLbl="revTx" presStyleIdx="5" presStyleCnt="6">
        <dgm:presLayoutVars>
          <dgm:chMax val="0"/>
          <dgm:chPref val="0"/>
        </dgm:presLayoutVars>
      </dgm:prSet>
      <dgm:spPr/>
    </dgm:pt>
  </dgm:ptLst>
  <dgm:cxnLst>
    <dgm:cxn modelId="{E1EAF62B-3CF5-4347-A566-AE464798683C}" srcId="{956FB406-E1D6-4019-87F8-22672A0A8B61}" destId="{DCA02559-BB46-4481-96FC-EEA03B2DBF31}" srcOrd="4" destOrd="0" parTransId="{6D2181D8-9349-497F-A0FC-2C930D13CD1E}" sibTransId="{9E4080B1-0D30-4F9A-A823-DB3AAB6937E5}"/>
    <dgm:cxn modelId="{DE6EA93F-40C3-4DF9-99DA-60AE6E629571}" type="presOf" srcId="{08782A65-A44B-470A-953D-7FF024D87163}" destId="{F7735ABA-0461-4078-BEBA-457D2B152607}" srcOrd="0" destOrd="0" presId="urn:microsoft.com/office/officeart/2018/2/layout/IconVerticalSolidList"/>
    <dgm:cxn modelId="{B675065B-6324-4191-B065-96276804B57E}" srcId="{956FB406-E1D6-4019-87F8-22672A0A8B61}" destId="{00AD3C25-9FBA-46EF-B46E-F90E2EB84CA6}" srcOrd="0" destOrd="0" parTransId="{5AAF03FF-D262-44FE-8F89-32300601164C}" sibTransId="{E4B73C71-6091-4AFB-9570-833C84A26F5C}"/>
    <dgm:cxn modelId="{6FA04262-2416-4C6C-B854-5D2DE5E278F0}" type="presOf" srcId="{FC4E41C1-4E2F-4B6E-9DA9-35E1EC803CCA}" destId="{4FEA222B-2C35-4A94-BA8E-14699D6B2B3C}" srcOrd="0" destOrd="0" presId="urn:microsoft.com/office/officeart/2018/2/layout/IconVerticalSolidList"/>
    <dgm:cxn modelId="{6218E44D-4FB5-41C2-AF81-DF6C212CA10A}" type="presOf" srcId="{956FB406-E1D6-4019-87F8-22672A0A8B61}" destId="{EC4F8AC0-3F46-4D62-874A-6009D0297B27}" srcOrd="0" destOrd="0" presId="urn:microsoft.com/office/officeart/2018/2/layout/IconVerticalSolidList"/>
    <dgm:cxn modelId="{9F2F5C54-C50C-4E2A-912A-402F3D4ABD67}" srcId="{956FB406-E1D6-4019-87F8-22672A0A8B61}" destId="{08782A65-A44B-470A-953D-7FF024D87163}" srcOrd="5" destOrd="0" parTransId="{C78B8AF7-1A31-4AE6-80A0-273C7CC1C313}" sibTransId="{F37A4D5E-FA16-4D01-8832-E9B450097E73}"/>
    <dgm:cxn modelId="{96EA3B78-A26E-45F0-B331-AE12935BC268}" srcId="{956FB406-E1D6-4019-87F8-22672A0A8B61}" destId="{FC4E41C1-4E2F-4B6E-9DA9-35E1EC803CCA}" srcOrd="2" destOrd="0" parTransId="{81F28831-2DF9-4B32-83FE-2EE2E9B142C5}" sibTransId="{036EC399-D5AC-4E1E-8D33-6429592DE8AA}"/>
    <dgm:cxn modelId="{2DF0648B-12B3-4250-B03E-A2DD8C9D33A7}" srcId="{956FB406-E1D6-4019-87F8-22672A0A8B61}" destId="{5F5610A2-3016-4A34-84AC-1FA54F0ACE3A}" srcOrd="1" destOrd="0" parTransId="{C462F11C-F446-4D82-9ECC-67C892DFC06A}" sibTransId="{F515F3BE-382A-42CA-AA04-BF1405140A92}"/>
    <dgm:cxn modelId="{309711A6-A590-44E7-9E64-B31BEA7BB02A}" type="presOf" srcId="{5F099C3F-C677-48E2-B67A-B5756C52CC9B}" destId="{985D0BEB-67B6-4E58-92C3-463EA5DD0AB1}" srcOrd="0" destOrd="0" presId="urn:microsoft.com/office/officeart/2018/2/layout/IconVerticalSolidList"/>
    <dgm:cxn modelId="{A1402BC5-C2DF-4077-88E1-C531F97F2816}" type="presOf" srcId="{DCA02559-BB46-4481-96FC-EEA03B2DBF31}" destId="{F68C75B6-DACD-40F2-947F-94C259D7EB34}" srcOrd="0" destOrd="0" presId="urn:microsoft.com/office/officeart/2018/2/layout/IconVerticalSolidList"/>
    <dgm:cxn modelId="{C4E5C4C5-8F04-4875-82B9-EF0516A9212C}" type="presOf" srcId="{00AD3C25-9FBA-46EF-B46E-F90E2EB84CA6}" destId="{F42A8689-D6F1-47CC-8605-9A6B7C0DF25B}" srcOrd="0" destOrd="0" presId="urn:microsoft.com/office/officeart/2018/2/layout/IconVerticalSolidList"/>
    <dgm:cxn modelId="{D2728FF1-CD6D-4DDE-B51D-4CCE83382E27}" type="presOf" srcId="{5F5610A2-3016-4A34-84AC-1FA54F0ACE3A}" destId="{156E4283-8559-455C-AEFB-A9331E43A687}" srcOrd="0" destOrd="0" presId="urn:microsoft.com/office/officeart/2018/2/layout/IconVerticalSolidList"/>
    <dgm:cxn modelId="{77E4A2F9-C3EC-4903-A010-4373466D8753}" srcId="{956FB406-E1D6-4019-87F8-22672A0A8B61}" destId="{5F099C3F-C677-48E2-B67A-B5756C52CC9B}" srcOrd="3" destOrd="0" parTransId="{CF4FEED8-207F-4756-A697-12E7082BF837}" sibTransId="{A22F48FF-7ECF-4210-AE81-56FA74AFF075}"/>
    <dgm:cxn modelId="{D2DE7AD4-5EE9-4B7B-975B-A04B22844CD9}" type="presParOf" srcId="{EC4F8AC0-3F46-4D62-874A-6009D0297B27}" destId="{C9BC7B51-D786-453B-A451-EF4F03E8BA3C}" srcOrd="0" destOrd="0" presId="urn:microsoft.com/office/officeart/2018/2/layout/IconVerticalSolidList"/>
    <dgm:cxn modelId="{B02C9F9F-E7BA-46F8-856A-A3CC229660B4}" type="presParOf" srcId="{C9BC7B51-D786-453B-A451-EF4F03E8BA3C}" destId="{C4711F06-49E3-48C3-8722-3507D678350B}" srcOrd="0" destOrd="0" presId="urn:microsoft.com/office/officeart/2018/2/layout/IconVerticalSolidList"/>
    <dgm:cxn modelId="{9691B8D9-8E89-4321-9F40-EEF0C229B461}" type="presParOf" srcId="{C9BC7B51-D786-453B-A451-EF4F03E8BA3C}" destId="{6EB3F7D3-AB6F-4B4F-8E8F-5B11AC62D1CA}" srcOrd="1" destOrd="0" presId="urn:microsoft.com/office/officeart/2018/2/layout/IconVerticalSolidList"/>
    <dgm:cxn modelId="{E076B8AE-FA7B-4050-A5B0-B9ACBE42EC07}" type="presParOf" srcId="{C9BC7B51-D786-453B-A451-EF4F03E8BA3C}" destId="{99244B71-6FA5-4564-99C9-2558EFF88C0C}" srcOrd="2" destOrd="0" presId="urn:microsoft.com/office/officeart/2018/2/layout/IconVerticalSolidList"/>
    <dgm:cxn modelId="{1FFC488B-6C54-4230-9180-F10840E5AF69}" type="presParOf" srcId="{C9BC7B51-D786-453B-A451-EF4F03E8BA3C}" destId="{F42A8689-D6F1-47CC-8605-9A6B7C0DF25B}" srcOrd="3" destOrd="0" presId="urn:microsoft.com/office/officeart/2018/2/layout/IconVerticalSolidList"/>
    <dgm:cxn modelId="{9487C17C-1528-4672-B71B-F09BFEB4C334}" type="presParOf" srcId="{EC4F8AC0-3F46-4D62-874A-6009D0297B27}" destId="{C6888DC3-C0A7-45CD-85D3-25292229BBF9}" srcOrd="1" destOrd="0" presId="urn:microsoft.com/office/officeart/2018/2/layout/IconVerticalSolidList"/>
    <dgm:cxn modelId="{E0E378BB-32F0-456A-9D25-42219010C9CE}" type="presParOf" srcId="{EC4F8AC0-3F46-4D62-874A-6009D0297B27}" destId="{282B9B4E-673F-4B61-8F4E-3FA4BB26983E}" srcOrd="2" destOrd="0" presId="urn:microsoft.com/office/officeart/2018/2/layout/IconVerticalSolidList"/>
    <dgm:cxn modelId="{83D6B4E3-DF52-4951-B89B-5CEB92D58CF9}" type="presParOf" srcId="{282B9B4E-673F-4B61-8F4E-3FA4BB26983E}" destId="{7C3FC018-227F-410E-BD5E-A1AF8504FD75}" srcOrd="0" destOrd="0" presId="urn:microsoft.com/office/officeart/2018/2/layout/IconVerticalSolidList"/>
    <dgm:cxn modelId="{52FBAFEF-AA2E-496B-B23B-3172C4065E23}" type="presParOf" srcId="{282B9B4E-673F-4B61-8F4E-3FA4BB26983E}" destId="{F5102668-AD82-496A-BD56-BA10139EECC1}" srcOrd="1" destOrd="0" presId="urn:microsoft.com/office/officeart/2018/2/layout/IconVerticalSolidList"/>
    <dgm:cxn modelId="{DB403A7B-7D12-4526-B5A0-C9DA357E03DE}" type="presParOf" srcId="{282B9B4E-673F-4B61-8F4E-3FA4BB26983E}" destId="{99B38697-908E-47CB-829D-94BDF100B08F}" srcOrd="2" destOrd="0" presId="urn:microsoft.com/office/officeart/2018/2/layout/IconVerticalSolidList"/>
    <dgm:cxn modelId="{02893441-3861-4D53-B24A-A8A9978F8C9E}" type="presParOf" srcId="{282B9B4E-673F-4B61-8F4E-3FA4BB26983E}" destId="{156E4283-8559-455C-AEFB-A9331E43A687}" srcOrd="3" destOrd="0" presId="urn:microsoft.com/office/officeart/2018/2/layout/IconVerticalSolidList"/>
    <dgm:cxn modelId="{21FE3FE9-A1CD-4345-8F0A-26A4B2BA5B79}" type="presParOf" srcId="{EC4F8AC0-3F46-4D62-874A-6009D0297B27}" destId="{0FCC3CD6-1FDF-4452-AB18-800EE811FFB1}" srcOrd="3" destOrd="0" presId="urn:microsoft.com/office/officeart/2018/2/layout/IconVerticalSolidList"/>
    <dgm:cxn modelId="{C7CAB506-9B02-4387-B257-98A3204CD258}" type="presParOf" srcId="{EC4F8AC0-3F46-4D62-874A-6009D0297B27}" destId="{F82729B0-0067-446F-BBEE-354FAF181BFE}" srcOrd="4" destOrd="0" presId="urn:microsoft.com/office/officeart/2018/2/layout/IconVerticalSolidList"/>
    <dgm:cxn modelId="{741E03CA-5857-46A6-8B7C-E04C7F7F5A31}" type="presParOf" srcId="{F82729B0-0067-446F-BBEE-354FAF181BFE}" destId="{996DD2C0-E96F-4D97-AFF9-E1BC13135550}" srcOrd="0" destOrd="0" presId="urn:microsoft.com/office/officeart/2018/2/layout/IconVerticalSolidList"/>
    <dgm:cxn modelId="{3071AC27-CA30-4E30-BF0F-DD70DAED8BFB}" type="presParOf" srcId="{F82729B0-0067-446F-BBEE-354FAF181BFE}" destId="{76994590-9250-4E46-ABA1-AD5EBFCE1577}" srcOrd="1" destOrd="0" presId="urn:microsoft.com/office/officeart/2018/2/layout/IconVerticalSolidList"/>
    <dgm:cxn modelId="{651062E1-8FC4-47D9-9093-DEB3C581AE2D}" type="presParOf" srcId="{F82729B0-0067-446F-BBEE-354FAF181BFE}" destId="{27850CAD-90BD-417F-AA08-47C05C8977CF}" srcOrd="2" destOrd="0" presId="urn:microsoft.com/office/officeart/2018/2/layout/IconVerticalSolidList"/>
    <dgm:cxn modelId="{77B6E09E-3F15-440D-8E3C-A1B19515F34A}" type="presParOf" srcId="{F82729B0-0067-446F-BBEE-354FAF181BFE}" destId="{4FEA222B-2C35-4A94-BA8E-14699D6B2B3C}" srcOrd="3" destOrd="0" presId="urn:microsoft.com/office/officeart/2018/2/layout/IconVerticalSolidList"/>
    <dgm:cxn modelId="{B0DD6986-B048-4C1A-9FAB-767DB04C00F8}" type="presParOf" srcId="{EC4F8AC0-3F46-4D62-874A-6009D0297B27}" destId="{5F5E8EFB-CF57-44FA-8AC6-9ED0D945079E}" srcOrd="5" destOrd="0" presId="urn:microsoft.com/office/officeart/2018/2/layout/IconVerticalSolidList"/>
    <dgm:cxn modelId="{DA7FA185-7332-42DB-B8E2-AEA96414552D}" type="presParOf" srcId="{EC4F8AC0-3F46-4D62-874A-6009D0297B27}" destId="{4CCB7BE9-3350-4F44-93E4-81C891685CF6}" srcOrd="6" destOrd="0" presId="urn:microsoft.com/office/officeart/2018/2/layout/IconVerticalSolidList"/>
    <dgm:cxn modelId="{4E8F1ECE-2CE8-4CD0-9ED3-B5270430DF2A}" type="presParOf" srcId="{4CCB7BE9-3350-4F44-93E4-81C891685CF6}" destId="{85BF1BC8-489B-4A92-9B82-563A408832AE}" srcOrd="0" destOrd="0" presId="urn:microsoft.com/office/officeart/2018/2/layout/IconVerticalSolidList"/>
    <dgm:cxn modelId="{B932D0E1-2383-4F8A-8079-EFDDAC312CD2}" type="presParOf" srcId="{4CCB7BE9-3350-4F44-93E4-81C891685CF6}" destId="{C7231992-00FC-4D8F-9872-642AD5CB2656}" srcOrd="1" destOrd="0" presId="urn:microsoft.com/office/officeart/2018/2/layout/IconVerticalSolidList"/>
    <dgm:cxn modelId="{7DBB1FFB-50D3-483A-A81B-734A0A4D72FB}" type="presParOf" srcId="{4CCB7BE9-3350-4F44-93E4-81C891685CF6}" destId="{6011123A-73D5-452A-BBD1-16371783DFCE}" srcOrd="2" destOrd="0" presId="urn:microsoft.com/office/officeart/2018/2/layout/IconVerticalSolidList"/>
    <dgm:cxn modelId="{BBE6766D-8F51-498B-817D-CFB2D33C746A}" type="presParOf" srcId="{4CCB7BE9-3350-4F44-93E4-81C891685CF6}" destId="{985D0BEB-67B6-4E58-92C3-463EA5DD0AB1}" srcOrd="3" destOrd="0" presId="urn:microsoft.com/office/officeart/2018/2/layout/IconVerticalSolidList"/>
    <dgm:cxn modelId="{91D75648-B920-4E93-B428-439C8C45AA72}" type="presParOf" srcId="{EC4F8AC0-3F46-4D62-874A-6009D0297B27}" destId="{EE96FB30-1008-4A14-A4F7-F757706B36A8}" srcOrd="7" destOrd="0" presId="urn:microsoft.com/office/officeart/2018/2/layout/IconVerticalSolidList"/>
    <dgm:cxn modelId="{B71C1175-0F3B-41C0-A601-584199A3BDC2}" type="presParOf" srcId="{EC4F8AC0-3F46-4D62-874A-6009D0297B27}" destId="{76424F7E-7F19-4314-87EC-374AC5692265}" srcOrd="8" destOrd="0" presId="urn:microsoft.com/office/officeart/2018/2/layout/IconVerticalSolidList"/>
    <dgm:cxn modelId="{2F59C130-D575-4943-90B1-B7333A9E7344}" type="presParOf" srcId="{76424F7E-7F19-4314-87EC-374AC5692265}" destId="{B0A67922-5A14-49A1-BC21-7FED2645E12C}" srcOrd="0" destOrd="0" presId="urn:microsoft.com/office/officeart/2018/2/layout/IconVerticalSolidList"/>
    <dgm:cxn modelId="{EC9F6879-8AD4-41C0-80E2-38A1ADE29D62}" type="presParOf" srcId="{76424F7E-7F19-4314-87EC-374AC5692265}" destId="{671358ED-4A3C-4942-BEBA-86DDAEBB498A}" srcOrd="1" destOrd="0" presId="urn:microsoft.com/office/officeart/2018/2/layout/IconVerticalSolidList"/>
    <dgm:cxn modelId="{D9A66A44-105F-4B79-8D27-28CE306873E5}" type="presParOf" srcId="{76424F7E-7F19-4314-87EC-374AC5692265}" destId="{F3ED03B9-A54D-438B-B82F-F034DF4011A1}" srcOrd="2" destOrd="0" presId="urn:microsoft.com/office/officeart/2018/2/layout/IconVerticalSolidList"/>
    <dgm:cxn modelId="{25F66CFE-BE7E-4AEF-A644-2D8347AE7484}" type="presParOf" srcId="{76424F7E-7F19-4314-87EC-374AC5692265}" destId="{F68C75B6-DACD-40F2-947F-94C259D7EB34}" srcOrd="3" destOrd="0" presId="urn:microsoft.com/office/officeart/2018/2/layout/IconVerticalSolidList"/>
    <dgm:cxn modelId="{CD02EC74-6531-4B88-B9F6-B57338590408}" type="presParOf" srcId="{EC4F8AC0-3F46-4D62-874A-6009D0297B27}" destId="{A8706F54-FFF6-483B-9E14-7E24C26638B0}" srcOrd="9" destOrd="0" presId="urn:microsoft.com/office/officeart/2018/2/layout/IconVerticalSolidList"/>
    <dgm:cxn modelId="{0B2FCB15-E7FE-45A8-9998-BCE16EC07602}" type="presParOf" srcId="{EC4F8AC0-3F46-4D62-874A-6009D0297B27}" destId="{8181D4E6-849F-4946-B9CD-8DE68ACD4551}" srcOrd="10" destOrd="0" presId="urn:microsoft.com/office/officeart/2018/2/layout/IconVerticalSolidList"/>
    <dgm:cxn modelId="{0DC3B2B8-7FE8-4975-BB97-3A24DEDE5FA6}" type="presParOf" srcId="{8181D4E6-849F-4946-B9CD-8DE68ACD4551}" destId="{0AB89DCA-195F-454E-8D7F-B4A6B01277C6}" srcOrd="0" destOrd="0" presId="urn:microsoft.com/office/officeart/2018/2/layout/IconVerticalSolidList"/>
    <dgm:cxn modelId="{2709051A-E5AE-49C0-8267-413228C6762B}" type="presParOf" srcId="{8181D4E6-849F-4946-B9CD-8DE68ACD4551}" destId="{127B05BF-98EC-4AE3-8FE1-3D3C43C1B1D4}" srcOrd="1" destOrd="0" presId="urn:microsoft.com/office/officeart/2018/2/layout/IconVerticalSolidList"/>
    <dgm:cxn modelId="{D74B2C37-86AC-42D3-989E-92A8C77394DD}" type="presParOf" srcId="{8181D4E6-849F-4946-B9CD-8DE68ACD4551}" destId="{868C6B33-C57E-4A6F-BFF6-483AFBD15C4F}" srcOrd="2" destOrd="0" presId="urn:microsoft.com/office/officeart/2018/2/layout/IconVerticalSolidList"/>
    <dgm:cxn modelId="{8E9A4923-767B-4F04-A658-94FED0115738}" type="presParOf" srcId="{8181D4E6-849F-4946-B9CD-8DE68ACD4551}" destId="{F7735ABA-0461-4078-BEBA-457D2B15260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910B52-AD93-4CF5-B9C0-0BEA34558E03}" type="doc">
      <dgm:prSet loTypeId="urn:microsoft.com/office/officeart/2005/8/layout/hierarchy1" loCatId="hierarchy" qsTypeId="urn:microsoft.com/office/officeart/2005/8/quickstyle/simple2" qsCatId="simple" csTypeId="urn:microsoft.com/office/officeart/2005/8/colors/colorful1" csCatId="colorful" phldr="1"/>
      <dgm:spPr/>
      <dgm:t>
        <a:bodyPr/>
        <a:lstStyle/>
        <a:p>
          <a:endParaRPr lang="en-US"/>
        </a:p>
      </dgm:t>
    </dgm:pt>
    <dgm:pt modelId="{C2D4DC22-7689-424C-A75E-B8314EF34EE1}">
      <dgm:prSet/>
      <dgm:spPr/>
      <dgm:t>
        <a:bodyPr/>
        <a:lstStyle/>
        <a:p>
          <a:r>
            <a:rPr lang="fr-FR" dirty="0"/>
            <a:t>1 examen sur table (50%)</a:t>
          </a:r>
          <a:endParaRPr lang="en-US" dirty="0"/>
        </a:p>
      </dgm:t>
    </dgm:pt>
    <dgm:pt modelId="{5924CC08-731F-41CD-BB1A-38DC1EFC6996}" type="parTrans" cxnId="{EA7407A1-0782-43F8-9BD1-4450123C5B82}">
      <dgm:prSet/>
      <dgm:spPr/>
      <dgm:t>
        <a:bodyPr/>
        <a:lstStyle/>
        <a:p>
          <a:endParaRPr lang="en-US"/>
        </a:p>
      </dgm:t>
    </dgm:pt>
    <dgm:pt modelId="{6B76C9A1-23C4-4C82-B0C4-92C0AA73499D}" type="sibTrans" cxnId="{EA7407A1-0782-43F8-9BD1-4450123C5B82}">
      <dgm:prSet/>
      <dgm:spPr/>
      <dgm:t>
        <a:bodyPr/>
        <a:lstStyle/>
        <a:p>
          <a:endParaRPr lang="en-US"/>
        </a:p>
      </dgm:t>
    </dgm:pt>
    <dgm:pt modelId="{CB2AB8B2-886A-43A0-A26B-10B83BBBE5A5}">
      <dgm:prSet/>
      <dgm:spPr/>
      <dgm:t>
        <a:bodyPr/>
        <a:lstStyle/>
        <a:p>
          <a:r>
            <a:rPr lang="fr-FR" dirty="0"/>
            <a:t>1 projet (50%)</a:t>
          </a:r>
          <a:endParaRPr lang="en-US" dirty="0"/>
        </a:p>
      </dgm:t>
    </dgm:pt>
    <dgm:pt modelId="{9F78CF7F-B748-4E7B-840A-CABD44BC6C7E}" type="parTrans" cxnId="{38531662-C0CE-44B6-843E-52389E1BDF40}">
      <dgm:prSet/>
      <dgm:spPr/>
      <dgm:t>
        <a:bodyPr/>
        <a:lstStyle/>
        <a:p>
          <a:endParaRPr lang="en-US"/>
        </a:p>
      </dgm:t>
    </dgm:pt>
    <dgm:pt modelId="{68E66D1F-31CE-4067-9261-7A029936592C}" type="sibTrans" cxnId="{38531662-C0CE-44B6-843E-52389E1BDF40}">
      <dgm:prSet/>
      <dgm:spPr/>
      <dgm:t>
        <a:bodyPr/>
        <a:lstStyle/>
        <a:p>
          <a:endParaRPr lang="en-US"/>
        </a:p>
      </dgm:t>
    </dgm:pt>
    <dgm:pt modelId="{7117D906-6B62-4691-A71A-226B58C6F152}" type="pres">
      <dgm:prSet presAssocID="{18910B52-AD93-4CF5-B9C0-0BEA34558E03}" presName="hierChild1" presStyleCnt="0">
        <dgm:presLayoutVars>
          <dgm:chPref val="1"/>
          <dgm:dir/>
          <dgm:animOne val="branch"/>
          <dgm:animLvl val="lvl"/>
          <dgm:resizeHandles/>
        </dgm:presLayoutVars>
      </dgm:prSet>
      <dgm:spPr/>
    </dgm:pt>
    <dgm:pt modelId="{A5686DF2-F649-4CC2-9C5A-87A67B97165D}" type="pres">
      <dgm:prSet presAssocID="{C2D4DC22-7689-424C-A75E-B8314EF34EE1}" presName="hierRoot1" presStyleCnt="0"/>
      <dgm:spPr/>
    </dgm:pt>
    <dgm:pt modelId="{1BAA1ED0-EA24-4CBE-91FA-E192229821D1}" type="pres">
      <dgm:prSet presAssocID="{C2D4DC22-7689-424C-A75E-B8314EF34EE1}" presName="composite" presStyleCnt="0"/>
      <dgm:spPr/>
    </dgm:pt>
    <dgm:pt modelId="{7B59A6C2-0243-41F4-84E6-F62C82BDC0D9}" type="pres">
      <dgm:prSet presAssocID="{C2D4DC22-7689-424C-A75E-B8314EF34EE1}" presName="background" presStyleLbl="node0" presStyleIdx="0" presStyleCnt="2"/>
      <dgm:spPr/>
    </dgm:pt>
    <dgm:pt modelId="{5FB88E19-9473-42D8-97DD-E4D7F1204946}" type="pres">
      <dgm:prSet presAssocID="{C2D4DC22-7689-424C-A75E-B8314EF34EE1}" presName="text" presStyleLbl="fgAcc0" presStyleIdx="0" presStyleCnt="2">
        <dgm:presLayoutVars>
          <dgm:chPref val="3"/>
        </dgm:presLayoutVars>
      </dgm:prSet>
      <dgm:spPr/>
    </dgm:pt>
    <dgm:pt modelId="{748F9B62-E233-4A5D-AE6A-ABA147741303}" type="pres">
      <dgm:prSet presAssocID="{C2D4DC22-7689-424C-A75E-B8314EF34EE1}" presName="hierChild2" presStyleCnt="0"/>
      <dgm:spPr/>
    </dgm:pt>
    <dgm:pt modelId="{D135DB1A-789C-4616-90B3-3B1A1C60DA65}" type="pres">
      <dgm:prSet presAssocID="{CB2AB8B2-886A-43A0-A26B-10B83BBBE5A5}" presName="hierRoot1" presStyleCnt="0"/>
      <dgm:spPr/>
    </dgm:pt>
    <dgm:pt modelId="{6B1EC72F-F0D5-4566-B5DF-F426840F4A63}" type="pres">
      <dgm:prSet presAssocID="{CB2AB8B2-886A-43A0-A26B-10B83BBBE5A5}" presName="composite" presStyleCnt="0"/>
      <dgm:spPr/>
    </dgm:pt>
    <dgm:pt modelId="{159C751B-C6DB-46A9-9206-4CB8FBD73894}" type="pres">
      <dgm:prSet presAssocID="{CB2AB8B2-886A-43A0-A26B-10B83BBBE5A5}" presName="background" presStyleLbl="node0" presStyleIdx="1" presStyleCnt="2"/>
      <dgm:spPr/>
    </dgm:pt>
    <dgm:pt modelId="{4E69858B-6AEA-4CBF-9D52-70147D64CB7C}" type="pres">
      <dgm:prSet presAssocID="{CB2AB8B2-886A-43A0-A26B-10B83BBBE5A5}" presName="text" presStyleLbl="fgAcc0" presStyleIdx="1" presStyleCnt="2">
        <dgm:presLayoutVars>
          <dgm:chPref val="3"/>
        </dgm:presLayoutVars>
      </dgm:prSet>
      <dgm:spPr/>
    </dgm:pt>
    <dgm:pt modelId="{6B8D249B-A9DF-4D35-AC06-B4D8B4608D24}" type="pres">
      <dgm:prSet presAssocID="{CB2AB8B2-886A-43A0-A26B-10B83BBBE5A5}" presName="hierChild2" presStyleCnt="0"/>
      <dgm:spPr/>
    </dgm:pt>
  </dgm:ptLst>
  <dgm:cxnLst>
    <dgm:cxn modelId="{38531662-C0CE-44B6-843E-52389E1BDF40}" srcId="{18910B52-AD93-4CF5-B9C0-0BEA34558E03}" destId="{CB2AB8B2-886A-43A0-A26B-10B83BBBE5A5}" srcOrd="1" destOrd="0" parTransId="{9F78CF7F-B748-4E7B-840A-CABD44BC6C7E}" sibTransId="{68E66D1F-31CE-4067-9261-7A029936592C}"/>
    <dgm:cxn modelId="{EA7407A1-0782-43F8-9BD1-4450123C5B82}" srcId="{18910B52-AD93-4CF5-B9C0-0BEA34558E03}" destId="{C2D4DC22-7689-424C-A75E-B8314EF34EE1}" srcOrd="0" destOrd="0" parTransId="{5924CC08-731F-41CD-BB1A-38DC1EFC6996}" sibTransId="{6B76C9A1-23C4-4C82-B0C4-92C0AA73499D}"/>
    <dgm:cxn modelId="{3EA895B1-90AF-4AB0-BB13-52E187CC73B0}" type="presOf" srcId="{C2D4DC22-7689-424C-A75E-B8314EF34EE1}" destId="{5FB88E19-9473-42D8-97DD-E4D7F1204946}" srcOrd="0" destOrd="0" presId="urn:microsoft.com/office/officeart/2005/8/layout/hierarchy1"/>
    <dgm:cxn modelId="{2CC307B7-158D-4537-94B5-5F1F77ADEEC2}" type="presOf" srcId="{CB2AB8B2-886A-43A0-A26B-10B83BBBE5A5}" destId="{4E69858B-6AEA-4CBF-9D52-70147D64CB7C}" srcOrd="0" destOrd="0" presId="urn:microsoft.com/office/officeart/2005/8/layout/hierarchy1"/>
    <dgm:cxn modelId="{56D112B8-192C-4F34-BDD6-A38C69677386}" type="presOf" srcId="{18910B52-AD93-4CF5-B9C0-0BEA34558E03}" destId="{7117D906-6B62-4691-A71A-226B58C6F152}" srcOrd="0" destOrd="0" presId="urn:microsoft.com/office/officeart/2005/8/layout/hierarchy1"/>
    <dgm:cxn modelId="{A5061D6D-DE1A-4078-AD27-CF0E5C239EF5}" type="presParOf" srcId="{7117D906-6B62-4691-A71A-226B58C6F152}" destId="{A5686DF2-F649-4CC2-9C5A-87A67B97165D}" srcOrd="0" destOrd="0" presId="urn:microsoft.com/office/officeart/2005/8/layout/hierarchy1"/>
    <dgm:cxn modelId="{570BF550-8F48-4BB3-8048-CF7D261F460C}" type="presParOf" srcId="{A5686DF2-F649-4CC2-9C5A-87A67B97165D}" destId="{1BAA1ED0-EA24-4CBE-91FA-E192229821D1}" srcOrd="0" destOrd="0" presId="urn:microsoft.com/office/officeart/2005/8/layout/hierarchy1"/>
    <dgm:cxn modelId="{E511840F-9C46-4983-92BF-A0020C5319C5}" type="presParOf" srcId="{1BAA1ED0-EA24-4CBE-91FA-E192229821D1}" destId="{7B59A6C2-0243-41F4-84E6-F62C82BDC0D9}" srcOrd="0" destOrd="0" presId="urn:microsoft.com/office/officeart/2005/8/layout/hierarchy1"/>
    <dgm:cxn modelId="{18AB257C-954A-4E1A-B383-CC9CBFFE2BE5}" type="presParOf" srcId="{1BAA1ED0-EA24-4CBE-91FA-E192229821D1}" destId="{5FB88E19-9473-42D8-97DD-E4D7F1204946}" srcOrd="1" destOrd="0" presId="urn:microsoft.com/office/officeart/2005/8/layout/hierarchy1"/>
    <dgm:cxn modelId="{D436B675-8D0F-4D19-A44B-5B941B96C880}" type="presParOf" srcId="{A5686DF2-F649-4CC2-9C5A-87A67B97165D}" destId="{748F9B62-E233-4A5D-AE6A-ABA147741303}" srcOrd="1" destOrd="0" presId="urn:microsoft.com/office/officeart/2005/8/layout/hierarchy1"/>
    <dgm:cxn modelId="{3BE0BE0E-7912-492A-98D8-AD090A7A8AA2}" type="presParOf" srcId="{7117D906-6B62-4691-A71A-226B58C6F152}" destId="{D135DB1A-789C-4616-90B3-3B1A1C60DA65}" srcOrd="1" destOrd="0" presId="urn:microsoft.com/office/officeart/2005/8/layout/hierarchy1"/>
    <dgm:cxn modelId="{A95AC8DC-B8EF-4384-A06F-91321F92C9B3}" type="presParOf" srcId="{D135DB1A-789C-4616-90B3-3B1A1C60DA65}" destId="{6B1EC72F-F0D5-4566-B5DF-F426840F4A63}" srcOrd="0" destOrd="0" presId="urn:microsoft.com/office/officeart/2005/8/layout/hierarchy1"/>
    <dgm:cxn modelId="{F99835B1-163D-40CB-9ADD-104959108EF8}" type="presParOf" srcId="{6B1EC72F-F0D5-4566-B5DF-F426840F4A63}" destId="{159C751B-C6DB-46A9-9206-4CB8FBD73894}" srcOrd="0" destOrd="0" presId="urn:microsoft.com/office/officeart/2005/8/layout/hierarchy1"/>
    <dgm:cxn modelId="{913FE16C-121B-4BD4-818C-B3EF3E40F4FD}" type="presParOf" srcId="{6B1EC72F-F0D5-4566-B5DF-F426840F4A63}" destId="{4E69858B-6AEA-4CBF-9D52-70147D64CB7C}" srcOrd="1" destOrd="0" presId="urn:microsoft.com/office/officeart/2005/8/layout/hierarchy1"/>
    <dgm:cxn modelId="{CA8899F1-7342-4668-8338-697E16C341C9}" type="presParOf" srcId="{D135DB1A-789C-4616-90B3-3B1A1C60DA65}" destId="{6B8D249B-A9DF-4D35-AC06-B4D8B4608D2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B34E95B-3934-4C02-8078-7516C780A4F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BDDFBEA-23D0-41DE-8B81-99C45075563A}">
      <dgm:prSet/>
      <dgm:spPr/>
      <dgm:t>
        <a:bodyPr/>
        <a:lstStyle/>
        <a:p>
          <a:r>
            <a:rPr lang="fr-FR"/>
            <a:t>Une base de données permet de stocker des données de façon organisée</a:t>
          </a:r>
          <a:endParaRPr lang="en-US"/>
        </a:p>
      </dgm:t>
    </dgm:pt>
    <dgm:pt modelId="{3A3BF840-2EBD-47BC-8B47-DAEC3BC8BF3A}" type="parTrans" cxnId="{FBE0C120-C343-4C31-90E4-88445FAEB799}">
      <dgm:prSet/>
      <dgm:spPr/>
      <dgm:t>
        <a:bodyPr/>
        <a:lstStyle/>
        <a:p>
          <a:endParaRPr lang="en-US"/>
        </a:p>
      </dgm:t>
    </dgm:pt>
    <dgm:pt modelId="{1D4BCBA9-31D2-4260-8CD9-ABE98E79C9E1}" type="sibTrans" cxnId="{FBE0C120-C343-4C31-90E4-88445FAEB799}">
      <dgm:prSet/>
      <dgm:spPr/>
      <dgm:t>
        <a:bodyPr/>
        <a:lstStyle/>
        <a:p>
          <a:endParaRPr lang="en-US"/>
        </a:p>
      </dgm:t>
    </dgm:pt>
    <dgm:pt modelId="{F32FEC58-FD61-4AD0-8CC7-77E039D7A5D0}">
      <dgm:prSet/>
      <dgm:spPr/>
      <dgm:t>
        <a:bodyPr/>
        <a:lstStyle/>
        <a:p>
          <a:r>
            <a:rPr lang="fr-FR"/>
            <a:t>Un système de gestion de base de données offre le moyen d’interroger la base pour en extraire des informations utiles</a:t>
          </a:r>
          <a:endParaRPr lang="en-US"/>
        </a:p>
      </dgm:t>
    </dgm:pt>
    <dgm:pt modelId="{70512CE3-3CA3-4AC7-AC61-C46E985E65DA}" type="parTrans" cxnId="{36A1B79A-3524-4C4D-BA1D-D7333D47B246}">
      <dgm:prSet/>
      <dgm:spPr/>
      <dgm:t>
        <a:bodyPr/>
        <a:lstStyle/>
        <a:p>
          <a:endParaRPr lang="en-US"/>
        </a:p>
      </dgm:t>
    </dgm:pt>
    <dgm:pt modelId="{E5048AB8-C645-4CC2-9C87-5623BF6646E9}" type="sibTrans" cxnId="{36A1B79A-3524-4C4D-BA1D-D7333D47B246}">
      <dgm:prSet/>
      <dgm:spPr/>
      <dgm:t>
        <a:bodyPr/>
        <a:lstStyle/>
        <a:p>
          <a:endParaRPr lang="en-US"/>
        </a:p>
      </dgm:t>
    </dgm:pt>
    <dgm:pt modelId="{BC4F7FFD-B279-4A13-B9E7-53F8F0348AA4}" type="pres">
      <dgm:prSet presAssocID="{CB34E95B-3934-4C02-8078-7516C780A4FF}" presName="root" presStyleCnt="0">
        <dgm:presLayoutVars>
          <dgm:dir/>
          <dgm:resizeHandles val="exact"/>
        </dgm:presLayoutVars>
      </dgm:prSet>
      <dgm:spPr/>
    </dgm:pt>
    <dgm:pt modelId="{E19FDE67-E98F-4E07-88C2-B853B1E59967}" type="pres">
      <dgm:prSet presAssocID="{CBDDFBEA-23D0-41DE-8B81-99C45075563A}" presName="compNode" presStyleCnt="0"/>
      <dgm:spPr/>
    </dgm:pt>
    <dgm:pt modelId="{7274B377-5850-4C92-B4AE-19B153DC262A}" type="pres">
      <dgm:prSet presAssocID="{CBDDFBEA-23D0-41DE-8B81-99C45075563A}" presName="bgRect" presStyleLbl="bgShp" presStyleIdx="0" presStyleCnt="2"/>
      <dgm:spPr/>
    </dgm:pt>
    <dgm:pt modelId="{F742E813-3B78-4095-95BE-B51A3B8192AA}" type="pres">
      <dgm:prSet presAssocID="{CBDDFBEA-23D0-41DE-8B81-99C45075563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037F5339-FF59-494C-B761-7A9F6EE1AF00}" type="pres">
      <dgm:prSet presAssocID="{CBDDFBEA-23D0-41DE-8B81-99C45075563A}" presName="spaceRect" presStyleCnt="0"/>
      <dgm:spPr/>
    </dgm:pt>
    <dgm:pt modelId="{744C726B-83A6-48B9-8217-3A82E0F4B7AF}" type="pres">
      <dgm:prSet presAssocID="{CBDDFBEA-23D0-41DE-8B81-99C45075563A}" presName="parTx" presStyleLbl="revTx" presStyleIdx="0" presStyleCnt="2">
        <dgm:presLayoutVars>
          <dgm:chMax val="0"/>
          <dgm:chPref val="0"/>
        </dgm:presLayoutVars>
      </dgm:prSet>
      <dgm:spPr/>
    </dgm:pt>
    <dgm:pt modelId="{B8B68FF3-0F42-4441-98D8-E464435C446D}" type="pres">
      <dgm:prSet presAssocID="{1D4BCBA9-31D2-4260-8CD9-ABE98E79C9E1}" presName="sibTrans" presStyleCnt="0"/>
      <dgm:spPr/>
    </dgm:pt>
    <dgm:pt modelId="{D8BF146B-D65A-4110-91A3-94247EF60775}" type="pres">
      <dgm:prSet presAssocID="{F32FEC58-FD61-4AD0-8CC7-77E039D7A5D0}" presName="compNode" presStyleCnt="0"/>
      <dgm:spPr/>
    </dgm:pt>
    <dgm:pt modelId="{4D2A5753-03C5-407A-B761-76C2B7BDDBE9}" type="pres">
      <dgm:prSet presAssocID="{F32FEC58-FD61-4AD0-8CC7-77E039D7A5D0}" presName="bgRect" presStyleLbl="bgShp" presStyleIdx="1" presStyleCnt="2"/>
      <dgm:spPr/>
    </dgm:pt>
    <dgm:pt modelId="{DBE36F96-E2E1-4082-A956-9AAED9FC75C0}" type="pres">
      <dgm:prSet presAssocID="{F32FEC58-FD61-4AD0-8CC7-77E039D7A5D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975D217B-6F81-480B-93CC-DC9E11F9CB8B}" type="pres">
      <dgm:prSet presAssocID="{F32FEC58-FD61-4AD0-8CC7-77E039D7A5D0}" presName="spaceRect" presStyleCnt="0"/>
      <dgm:spPr/>
    </dgm:pt>
    <dgm:pt modelId="{626318BB-9DCA-4B9F-9782-5B9272295A4F}" type="pres">
      <dgm:prSet presAssocID="{F32FEC58-FD61-4AD0-8CC7-77E039D7A5D0}" presName="parTx" presStyleLbl="revTx" presStyleIdx="1" presStyleCnt="2">
        <dgm:presLayoutVars>
          <dgm:chMax val="0"/>
          <dgm:chPref val="0"/>
        </dgm:presLayoutVars>
      </dgm:prSet>
      <dgm:spPr/>
    </dgm:pt>
  </dgm:ptLst>
  <dgm:cxnLst>
    <dgm:cxn modelId="{FBE0C120-C343-4C31-90E4-88445FAEB799}" srcId="{CB34E95B-3934-4C02-8078-7516C780A4FF}" destId="{CBDDFBEA-23D0-41DE-8B81-99C45075563A}" srcOrd="0" destOrd="0" parTransId="{3A3BF840-2EBD-47BC-8B47-DAEC3BC8BF3A}" sibTransId="{1D4BCBA9-31D2-4260-8CD9-ABE98E79C9E1}"/>
    <dgm:cxn modelId="{739E2663-3447-4EB1-A93E-BF5199499288}" type="presOf" srcId="{F32FEC58-FD61-4AD0-8CC7-77E039D7A5D0}" destId="{626318BB-9DCA-4B9F-9782-5B9272295A4F}" srcOrd="0" destOrd="0" presId="urn:microsoft.com/office/officeart/2018/2/layout/IconVerticalSolidList"/>
    <dgm:cxn modelId="{36A1B79A-3524-4C4D-BA1D-D7333D47B246}" srcId="{CB34E95B-3934-4C02-8078-7516C780A4FF}" destId="{F32FEC58-FD61-4AD0-8CC7-77E039D7A5D0}" srcOrd="1" destOrd="0" parTransId="{70512CE3-3CA3-4AC7-AC61-C46E985E65DA}" sibTransId="{E5048AB8-C645-4CC2-9C87-5623BF6646E9}"/>
    <dgm:cxn modelId="{D87BB79B-FE23-49E2-8B43-647A488A8D3F}" type="presOf" srcId="{CB34E95B-3934-4C02-8078-7516C780A4FF}" destId="{BC4F7FFD-B279-4A13-B9E7-53F8F0348AA4}" srcOrd="0" destOrd="0" presId="urn:microsoft.com/office/officeart/2018/2/layout/IconVerticalSolidList"/>
    <dgm:cxn modelId="{73B75BE7-262D-4A1E-9AE1-C4DD07AF8750}" type="presOf" srcId="{CBDDFBEA-23D0-41DE-8B81-99C45075563A}" destId="{744C726B-83A6-48B9-8217-3A82E0F4B7AF}" srcOrd="0" destOrd="0" presId="urn:microsoft.com/office/officeart/2018/2/layout/IconVerticalSolidList"/>
    <dgm:cxn modelId="{AE7ADB71-4D13-4FC1-8DEA-E3992974550E}" type="presParOf" srcId="{BC4F7FFD-B279-4A13-B9E7-53F8F0348AA4}" destId="{E19FDE67-E98F-4E07-88C2-B853B1E59967}" srcOrd="0" destOrd="0" presId="urn:microsoft.com/office/officeart/2018/2/layout/IconVerticalSolidList"/>
    <dgm:cxn modelId="{052A8572-D3C7-4766-B6C3-9077D1F53D3A}" type="presParOf" srcId="{E19FDE67-E98F-4E07-88C2-B853B1E59967}" destId="{7274B377-5850-4C92-B4AE-19B153DC262A}" srcOrd="0" destOrd="0" presId="urn:microsoft.com/office/officeart/2018/2/layout/IconVerticalSolidList"/>
    <dgm:cxn modelId="{C338B6D8-E469-4D91-9F0B-6476FD6D8F25}" type="presParOf" srcId="{E19FDE67-E98F-4E07-88C2-B853B1E59967}" destId="{F742E813-3B78-4095-95BE-B51A3B8192AA}" srcOrd="1" destOrd="0" presId="urn:microsoft.com/office/officeart/2018/2/layout/IconVerticalSolidList"/>
    <dgm:cxn modelId="{221B83C7-34F8-4DEC-882F-F5D74B083739}" type="presParOf" srcId="{E19FDE67-E98F-4E07-88C2-B853B1E59967}" destId="{037F5339-FF59-494C-B761-7A9F6EE1AF00}" srcOrd="2" destOrd="0" presId="urn:microsoft.com/office/officeart/2018/2/layout/IconVerticalSolidList"/>
    <dgm:cxn modelId="{54F6252D-924F-4791-A9CF-FF9B74E0752A}" type="presParOf" srcId="{E19FDE67-E98F-4E07-88C2-B853B1E59967}" destId="{744C726B-83A6-48B9-8217-3A82E0F4B7AF}" srcOrd="3" destOrd="0" presId="urn:microsoft.com/office/officeart/2018/2/layout/IconVerticalSolidList"/>
    <dgm:cxn modelId="{BDA64841-822F-42F0-A3A9-5E5180A8CB1C}" type="presParOf" srcId="{BC4F7FFD-B279-4A13-B9E7-53F8F0348AA4}" destId="{B8B68FF3-0F42-4441-98D8-E464435C446D}" srcOrd="1" destOrd="0" presId="urn:microsoft.com/office/officeart/2018/2/layout/IconVerticalSolidList"/>
    <dgm:cxn modelId="{0D14234F-7C45-4BE5-A720-C7F0FB4D5C11}" type="presParOf" srcId="{BC4F7FFD-B279-4A13-B9E7-53F8F0348AA4}" destId="{D8BF146B-D65A-4110-91A3-94247EF60775}" srcOrd="2" destOrd="0" presId="urn:microsoft.com/office/officeart/2018/2/layout/IconVerticalSolidList"/>
    <dgm:cxn modelId="{4E874C79-DBF5-4730-B7C7-FC4FD45A0AB3}" type="presParOf" srcId="{D8BF146B-D65A-4110-91A3-94247EF60775}" destId="{4D2A5753-03C5-407A-B761-76C2B7BDDBE9}" srcOrd="0" destOrd="0" presId="urn:microsoft.com/office/officeart/2018/2/layout/IconVerticalSolidList"/>
    <dgm:cxn modelId="{295832D7-F29E-4C60-B066-EE2709FCCFA6}" type="presParOf" srcId="{D8BF146B-D65A-4110-91A3-94247EF60775}" destId="{DBE36F96-E2E1-4082-A956-9AAED9FC75C0}" srcOrd="1" destOrd="0" presId="urn:microsoft.com/office/officeart/2018/2/layout/IconVerticalSolidList"/>
    <dgm:cxn modelId="{8D01F235-B42D-464C-8BD9-9A9BD9081A35}" type="presParOf" srcId="{D8BF146B-D65A-4110-91A3-94247EF60775}" destId="{975D217B-6F81-480B-93CC-DC9E11F9CB8B}" srcOrd="2" destOrd="0" presId="urn:microsoft.com/office/officeart/2018/2/layout/IconVerticalSolidList"/>
    <dgm:cxn modelId="{D735D142-C6B9-49F8-BCEA-566766A8317C}" type="presParOf" srcId="{D8BF146B-D65A-4110-91A3-94247EF60775}" destId="{626318BB-9DCA-4B9F-9782-5B9272295A4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5662CE5-D573-413A-AD14-EDDF8A6C6911}"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9A614B6-8450-4DAF-B28C-2139E7E6FE72}">
      <dgm:prSet/>
      <dgm:spPr/>
      <dgm:t>
        <a:bodyPr/>
        <a:lstStyle/>
        <a:p>
          <a:r>
            <a:rPr lang="fr-FR"/>
            <a:t>SQL = Structured Query Language ou langage de requête structurée</a:t>
          </a:r>
          <a:endParaRPr lang="en-US"/>
        </a:p>
      </dgm:t>
    </dgm:pt>
    <dgm:pt modelId="{A6066E68-EF4D-4DB7-918A-2CBF97670E8D}" type="parTrans" cxnId="{2B7BEF78-85FE-4ECE-B5A2-1B35A5DEEE2C}">
      <dgm:prSet/>
      <dgm:spPr/>
      <dgm:t>
        <a:bodyPr/>
        <a:lstStyle/>
        <a:p>
          <a:endParaRPr lang="en-US"/>
        </a:p>
      </dgm:t>
    </dgm:pt>
    <dgm:pt modelId="{4D25A305-2F13-46FA-9478-CDFDBEE00C17}" type="sibTrans" cxnId="{2B7BEF78-85FE-4ECE-B5A2-1B35A5DEEE2C}">
      <dgm:prSet/>
      <dgm:spPr/>
      <dgm:t>
        <a:bodyPr/>
        <a:lstStyle/>
        <a:p>
          <a:endParaRPr lang="en-US"/>
        </a:p>
      </dgm:t>
    </dgm:pt>
    <dgm:pt modelId="{3327F482-3693-435B-AEEC-00F31B3EF070}">
      <dgm:prSet/>
      <dgm:spPr/>
      <dgm:t>
        <a:bodyPr/>
        <a:lstStyle/>
        <a:p>
          <a:r>
            <a:rPr lang="fr-FR"/>
            <a:t>Langage informatique normalisé servant à exploiter des bases de données relationnelles</a:t>
          </a:r>
          <a:endParaRPr lang="en-US"/>
        </a:p>
      </dgm:t>
    </dgm:pt>
    <dgm:pt modelId="{E42D4612-83EC-420C-8A93-74D06B41364E}" type="parTrans" cxnId="{8033D0A3-1DF4-4181-BC83-A5B50C5EE51C}">
      <dgm:prSet/>
      <dgm:spPr/>
      <dgm:t>
        <a:bodyPr/>
        <a:lstStyle/>
        <a:p>
          <a:endParaRPr lang="en-US"/>
        </a:p>
      </dgm:t>
    </dgm:pt>
    <dgm:pt modelId="{558BF451-166A-4318-A177-BD686F14B2CF}" type="sibTrans" cxnId="{8033D0A3-1DF4-4181-BC83-A5B50C5EE51C}">
      <dgm:prSet/>
      <dgm:spPr/>
      <dgm:t>
        <a:bodyPr/>
        <a:lstStyle/>
        <a:p>
          <a:endParaRPr lang="en-US"/>
        </a:p>
      </dgm:t>
    </dgm:pt>
    <dgm:pt modelId="{1A762E80-5125-409C-B687-D45B000D5AE2}">
      <dgm:prSet/>
      <dgm:spPr/>
      <dgm:t>
        <a:bodyPr/>
        <a:lstStyle/>
        <a:p>
          <a:r>
            <a:rPr lang="fr-FR"/>
            <a:t>Permet de rechercher, ajouter, modifier ou supprimer des données dans une base (DML)</a:t>
          </a:r>
          <a:endParaRPr lang="en-US"/>
        </a:p>
      </dgm:t>
    </dgm:pt>
    <dgm:pt modelId="{C433EE04-E21B-4FF3-A761-EA7ECE0DBB17}" type="parTrans" cxnId="{9E0F6A02-7842-47B5-99E6-BF6B6A4F9799}">
      <dgm:prSet/>
      <dgm:spPr/>
      <dgm:t>
        <a:bodyPr/>
        <a:lstStyle/>
        <a:p>
          <a:endParaRPr lang="en-US"/>
        </a:p>
      </dgm:t>
    </dgm:pt>
    <dgm:pt modelId="{AA243D72-3DB7-4602-AC9F-E70431CFE838}" type="sibTrans" cxnId="{9E0F6A02-7842-47B5-99E6-BF6B6A4F9799}">
      <dgm:prSet/>
      <dgm:spPr/>
      <dgm:t>
        <a:bodyPr/>
        <a:lstStyle/>
        <a:p>
          <a:endParaRPr lang="en-US"/>
        </a:p>
      </dgm:t>
    </dgm:pt>
    <dgm:pt modelId="{F3BA9BEC-4361-4FE6-B0A1-03152B04B28B}">
      <dgm:prSet/>
      <dgm:spPr/>
      <dgm:t>
        <a:bodyPr/>
        <a:lstStyle/>
        <a:p>
          <a:r>
            <a:rPr lang="fr-FR"/>
            <a:t>Permet également de créer des tables, modifier la structure de la base de données (DDL)</a:t>
          </a:r>
          <a:endParaRPr lang="en-US"/>
        </a:p>
      </dgm:t>
    </dgm:pt>
    <dgm:pt modelId="{8A99AB7E-9DDB-47AD-B4A7-48E1B6A24B27}" type="parTrans" cxnId="{FB43D6B1-857A-4089-962D-55C309155B9D}">
      <dgm:prSet/>
      <dgm:spPr/>
      <dgm:t>
        <a:bodyPr/>
        <a:lstStyle/>
        <a:p>
          <a:endParaRPr lang="en-US"/>
        </a:p>
      </dgm:t>
    </dgm:pt>
    <dgm:pt modelId="{BEE8AA80-B5CD-47A9-B1BC-E0BCFACB2428}" type="sibTrans" cxnId="{FB43D6B1-857A-4089-962D-55C309155B9D}">
      <dgm:prSet/>
      <dgm:spPr/>
      <dgm:t>
        <a:bodyPr/>
        <a:lstStyle/>
        <a:p>
          <a:endParaRPr lang="en-US"/>
        </a:p>
      </dgm:t>
    </dgm:pt>
    <dgm:pt modelId="{17819BB4-564A-495C-80DE-2E27ABCC55ED}" type="pres">
      <dgm:prSet presAssocID="{65662CE5-D573-413A-AD14-EDDF8A6C6911}" presName="root" presStyleCnt="0">
        <dgm:presLayoutVars>
          <dgm:dir/>
          <dgm:resizeHandles val="exact"/>
        </dgm:presLayoutVars>
      </dgm:prSet>
      <dgm:spPr/>
    </dgm:pt>
    <dgm:pt modelId="{D953EE7E-6F4C-44ED-B376-50482C9C62AC}" type="pres">
      <dgm:prSet presAssocID="{65662CE5-D573-413A-AD14-EDDF8A6C6911}" presName="container" presStyleCnt="0">
        <dgm:presLayoutVars>
          <dgm:dir/>
          <dgm:resizeHandles val="exact"/>
        </dgm:presLayoutVars>
      </dgm:prSet>
      <dgm:spPr/>
    </dgm:pt>
    <dgm:pt modelId="{E252CDE3-7A20-4367-BB08-FEEFC55A584E}" type="pres">
      <dgm:prSet presAssocID="{49A614B6-8450-4DAF-B28C-2139E7E6FE72}" presName="compNode" presStyleCnt="0"/>
      <dgm:spPr/>
    </dgm:pt>
    <dgm:pt modelId="{17E57A53-2233-4C52-AE27-CE2BFF2ADE1A}" type="pres">
      <dgm:prSet presAssocID="{49A614B6-8450-4DAF-B28C-2139E7E6FE72}" presName="iconBgRect" presStyleLbl="bgShp" presStyleIdx="0" presStyleCnt="4"/>
      <dgm:spPr/>
    </dgm:pt>
    <dgm:pt modelId="{E944D227-6871-4662-939F-8AC1704248AF}" type="pres">
      <dgm:prSet presAssocID="{49A614B6-8450-4DAF-B28C-2139E7E6FE7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47E8CDEB-8E44-441C-8E4F-634F6C0EF757}" type="pres">
      <dgm:prSet presAssocID="{49A614B6-8450-4DAF-B28C-2139E7E6FE72}" presName="spaceRect" presStyleCnt="0"/>
      <dgm:spPr/>
    </dgm:pt>
    <dgm:pt modelId="{6702609F-BECF-4C95-A576-30836EBCA9A1}" type="pres">
      <dgm:prSet presAssocID="{49A614B6-8450-4DAF-B28C-2139E7E6FE72}" presName="textRect" presStyleLbl="revTx" presStyleIdx="0" presStyleCnt="4">
        <dgm:presLayoutVars>
          <dgm:chMax val="1"/>
          <dgm:chPref val="1"/>
        </dgm:presLayoutVars>
      </dgm:prSet>
      <dgm:spPr/>
    </dgm:pt>
    <dgm:pt modelId="{17CE27E6-191A-4FA6-9E5C-7E83C36A83C8}" type="pres">
      <dgm:prSet presAssocID="{4D25A305-2F13-46FA-9478-CDFDBEE00C17}" presName="sibTrans" presStyleLbl="sibTrans2D1" presStyleIdx="0" presStyleCnt="0"/>
      <dgm:spPr/>
    </dgm:pt>
    <dgm:pt modelId="{8ABDE583-E7E9-4CED-A339-0F931081E530}" type="pres">
      <dgm:prSet presAssocID="{3327F482-3693-435B-AEEC-00F31B3EF070}" presName="compNode" presStyleCnt="0"/>
      <dgm:spPr/>
    </dgm:pt>
    <dgm:pt modelId="{59795123-66EE-4125-BF5A-55C25FDA847D}" type="pres">
      <dgm:prSet presAssocID="{3327F482-3693-435B-AEEC-00F31B3EF070}" presName="iconBgRect" presStyleLbl="bgShp" presStyleIdx="1" presStyleCnt="4"/>
      <dgm:spPr/>
    </dgm:pt>
    <dgm:pt modelId="{712EC6EA-1DEB-4777-9222-6E3E5E01B962}" type="pres">
      <dgm:prSet presAssocID="{3327F482-3693-435B-AEEC-00F31B3EF07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77CB70CC-0A02-4846-9B4B-9D4649B0DDEC}" type="pres">
      <dgm:prSet presAssocID="{3327F482-3693-435B-AEEC-00F31B3EF070}" presName="spaceRect" presStyleCnt="0"/>
      <dgm:spPr/>
    </dgm:pt>
    <dgm:pt modelId="{93566810-71D8-4A61-8B80-386790B622AA}" type="pres">
      <dgm:prSet presAssocID="{3327F482-3693-435B-AEEC-00F31B3EF070}" presName="textRect" presStyleLbl="revTx" presStyleIdx="1" presStyleCnt="4">
        <dgm:presLayoutVars>
          <dgm:chMax val="1"/>
          <dgm:chPref val="1"/>
        </dgm:presLayoutVars>
      </dgm:prSet>
      <dgm:spPr/>
    </dgm:pt>
    <dgm:pt modelId="{672C1847-ACCA-45F5-82D2-B00978DAAA44}" type="pres">
      <dgm:prSet presAssocID="{558BF451-166A-4318-A177-BD686F14B2CF}" presName="sibTrans" presStyleLbl="sibTrans2D1" presStyleIdx="0" presStyleCnt="0"/>
      <dgm:spPr/>
    </dgm:pt>
    <dgm:pt modelId="{FA94D0EA-FFB3-45E2-890E-C65B7201EDA3}" type="pres">
      <dgm:prSet presAssocID="{1A762E80-5125-409C-B687-D45B000D5AE2}" presName="compNode" presStyleCnt="0"/>
      <dgm:spPr/>
    </dgm:pt>
    <dgm:pt modelId="{01AC357C-98B4-4EBD-BD16-FD1CE75D1531}" type="pres">
      <dgm:prSet presAssocID="{1A762E80-5125-409C-B687-D45B000D5AE2}" presName="iconBgRect" presStyleLbl="bgShp" presStyleIdx="2" presStyleCnt="4"/>
      <dgm:spPr/>
    </dgm:pt>
    <dgm:pt modelId="{E4D42E13-8DCA-4288-B4A6-5E1100839A9F}" type="pres">
      <dgm:prSet presAssocID="{1A762E80-5125-409C-B687-D45B000D5AE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ight Pointing Backhand Index"/>
        </a:ext>
      </dgm:extLst>
    </dgm:pt>
    <dgm:pt modelId="{A39D445C-CE67-496F-89D3-ACAEC4E71FED}" type="pres">
      <dgm:prSet presAssocID="{1A762E80-5125-409C-B687-D45B000D5AE2}" presName="spaceRect" presStyleCnt="0"/>
      <dgm:spPr/>
    </dgm:pt>
    <dgm:pt modelId="{382F53FB-8413-4C8D-A238-B417D011045E}" type="pres">
      <dgm:prSet presAssocID="{1A762E80-5125-409C-B687-D45B000D5AE2}" presName="textRect" presStyleLbl="revTx" presStyleIdx="2" presStyleCnt="4">
        <dgm:presLayoutVars>
          <dgm:chMax val="1"/>
          <dgm:chPref val="1"/>
        </dgm:presLayoutVars>
      </dgm:prSet>
      <dgm:spPr/>
    </dgm:pt>
    <dgm:pt modelId="{CFEEAFE2-60AB-45A1-9BE1-DD4573131521}" type="pres">
      <dgm:prSet presAssocID="{AA243D72-3DB7-4602-AC9F-E70431CFE838}" presName="sibTrans" presStyleLbl="sibTrans2D1" presStyleIdx="0" presStyleCnt="0"/>
      <dgm:spPr/>
    </dgm:pt>
    <dgm:pt modelId="{C3D89FF2-559E-4087-A8CE-E4607D9011D1}" type="pres">
      <dgm:prSet presAssocID="{F3BA9BEC-4361-4FE6-B0A1-03152B04B28B}" presName="compNode" presStyleCnt="0"/>
      <dgm:spPr/>
    </dgm:pt>
    <dgm:pt modelId="{49EC597B-BC8E-43F0-B3F1-F0DC51D58AEC}" type="pres">
      <dgm:prSet presAssocID="{F3BA9BEC-4361-4FE6-B0A1-03152B04B28B}" presName="iconBgRect" presStyleLbl="bgShp" presStyleIdx="3" presStyleCnt="4"/>
      <dgm:spPr/>
    </dgm:pt>
    <dgm:pt modelId="{FEFC6B62-5DA7-459D-9D92-A36E83532E49}" type="pres">
      <dgm:prSet presAssocID="{F3BA9BEC-4361-4FE6-B0A1-03152B04B28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ximize"/>
        </a:ext>
      </dgm:extLst>
    </dgm:pt>
    <dgm:pt modelId="{75F7DEDB-5479-425A-8DA4-C63051FB6E75}" type="pres">
      <dgm:prSet presAssocID="{F3BA9BEC-4361-4FE6-B0A1-03152B04B28B}" presName="spaceRect" presStyleCnt="0"/>
      <dgm:spPr/>
    </dgm:pt>
    <dgm:pt modelId="{051799C2-C0CB-4903-8920-B80631E65FB1}" type="pres">
      <dgm:prSet presAssocID="{F3BA9BEC-4361-4FE6-B0A1-03152B04B28B}" presName="textRect" presStyleLbl="revTx" presStyleIdx="3" presStyleCnt="4">
        <dgm:presLayoutVars>
          <dgm:chMax val="1"/>
          <dgm:chPref val="1"/>
        </dgm:presLayoutVars>
      </dgm:prSet>
      <dgm:spPr/>
    </dgm:pt>
  </dgm:ptLst>
  <dgm:cxnLst>
    <dgm:cxn modelId="{9E0F6A02-7842-47B5-99E6-BF6B6A4F9799}" srcId="{65662CE5-D573-413A-AD14-EDDF8A6C6911}" destId="{1A762E80-5125-409C-B687-D45B000D5AE2}" srcOrd="2" destOrd="0" parTransId="{C433EE04-E21B-4FF3-A761-EA7ECE0DBB17}" sibTransId="{AA243D72-3DB7-4602-AC9F-E70431CFE838}"/>
    <dgm:cxn modelId="{5467DA0A-F2BD-4FDC-B112-478F378A6980}" type="presOf" srcId="{3327F482-3693-435B-AEEC-00F31B3EF070}" destId="{93566810-71D8-4A61-8B80-386790B622AA}" srcOrd="0" destOrd="0" presId="urn:microsoft.com/office/officeart/2018/2/layout/IconCircleList"/>
    <dgm:cxn modelId="{9D6FA115-3DD0-4F0C-9736-7A2C920F0531}" type="presOf" srcId="{4D25A305-2F13-46FA-9478-CDFDBEE00C17}" destId="{17CE27E6-191A-4FA6-9E5C-7E83C36A83C8}" srcOrd="0" destOrd="0" presId="urn:microsoft.com/office/officeart/2018/2/layout/IconCircleList"/>
    <dgm:cxn modelId="{BB674C17-737B-46C7-8EEB-45C1FE3B138A}" type="presOf" srcId="{65662CE5-D573-413A-AD14-EDDF8A6C6911}" destId="{17819BB4-564A-495C-80DE-2E27ABCC55ED}" srcOrd="0" destOrd="0" presId="urn:microsoft.com/office/officeart/2018/2/layout/IconCircleList"/>
    <dgm:cxn modelId="{CB771165-1C76-4594-ADF4-43D63D26AC36}" type="presOf" srcId="{1A762E80-5125-409C-B687-D45B000D5AE2}" destId="{382F53FB-8413-4C8D-A238-B417D011045E}" srcOrd="0" destOrd="0" presId="urn:microsoft.com/office/officeart/2018/2/layout/IconCircleList"/>
    <dgm:cxn modelId="{22234349-954C-435C-B794-2EF539E7F4B7}" type="presOf" srcId="{AA243D72-3DB7-4602-AC9F-E70431CFE838}" destId="{CFEEAFE2-60AB-45A1-9BE1-DD4573131521}" srcOrd="0" destOrd="0" presId="urn:microsoft.com/office/officeart/2018/2/layout/IconCircleList"/>
    <dgm:cxn modelId="{1AA1706C-90B9-434E-9250-6B4C603D5FC0}" type="presOf" srcId="{49A614B6-8450-4DAF-B28C-2139E7E6FE72}" destId="{6702609F-BECF-4C95-A576-30836EBCA9A1}" srcOrd="0" destOrd="0" presId="urn:microsoft.com/office/officeart/2018/2/layout/IconCircleList"/>
    <dgm:cxn modelId="{11EBA66D-D0C0-4D4F-8D2B-E4F3012AFFC0}" type="presOf" srcId="{558BF451-166A-4318-A177-BD686F14B2CF}" destId="{672C1847-ACCA-45F5-82D2-B00978DAAA44}" srcOrd="0" destOrd="0" presId="urn:microsoft.com/office/officeart/2018/2/layout/IconCircleList"/>
    <dgm:cxn modelId="{2B7BEF78-85FE-4ECE-B5A2-1B35A5DEEE2C}" srcId="{65662CE5-D573-413A-AD14-EDDF8A6C6911}" destId="{49A614B6-8450-4DAF-B28C-2139E7E6FE72}" srcOrd="0" destOrd="0" parTransId="{A6066E68-EF4D-4DB7-918A-2CBF97670E8D}" sibTransId="{4D25A305-2F13-46FA-9478-CDFDBEE00C17}"/>
    <dgm:cxn modelId="{81C53F9D-28F0-4667-9F7B-01138B53A703}" type="presOf" srcId="{F3BA9BEC-4361-4FE6-B0A1-03152B04B28B}" destId="{051799C2-C0CB-4903-8920-B80631E65FB1}" srcOrd="0" destOrd="0" presId="urn:microsoft.com/office/officeart/2018/2/layout/IconCircleList"/>
    <dgm:cxn modelId="{8033D0A3-1DF4-4181-BC83-A5B50C5EE51C}" srcId="{65662CE5-D573-413A-AD14-EDDF8A6C6911}" destId="{3327F482-3693-435B-AEEC-00F31B3EF070}" srcOrd="1" destOrd="0" parTransId="{E42D4612-83EC-420C-8A93-74D06B41364E}" sibTransId="{558BF451-166A-4318-A177-BD686F14B2CF}"/>
    <dgm:cxn modelId="{FB43D6B1-857A-4089-962D-55C309155B9D}" srcId="{65662CE5-D573-413A-AD14-EDDF8A6C6911}" destId="{F3BA9BEC-4361-4FE6-B0A1-03152B04B28B}" srcOrd="3" destOrd="0" parTransId="{8A99AB7E-9DDB-47AD-B4A7-48E1B6A24B27}" sibTransId="{BEE8AA80-B5CD-47A9-B1BC-E0BCFACB2428}"/>
    <dgm:cxn modelId="{16881639-5887-485C-91D5-85B2D80CBEA8}" type="presParOf" srcId="{17819BB4-564A-495C-80DE-2E27ABCC55ED}" destId="{D953EE7E-6F4C-44ED-B376-50482C9C62AC}" srcOrd="0" destOrd="0" presId="urn:microsoft.com/office/officeart/2018/2/layout/IconCircleList"/>
    <dgm:cxn modelId="{FB8F4067-AE9B-4724-9BF0-CD82AC48D9B8}" type="presParOf" srcId="{D953EE7E-6F4C-44ED-B376-50482C9C62AC}" destId="{E252CDE3-7A20-4367-BB08-FEEFC55A584E}" srcOrd="0" destOrd="0" presId="urn:microsoft.com/office/officeart/2018/2/layout/IconCircleList"/>
    <dgm:cxn modelId="{99EEC0EA-4DEA-4440-9323-75C2CEF1643C}" type="presParOf" srcId="{E252CDE3-7A20-4367-BB08-FEEFC55A584E}" destId="{17E57A53-2233-4C52-AE27-CE2BFF2ADE1A}" srcOrd="0" destOrd="0" presId="urn:microsoft.com/office/officeart/2018/2/layout/IconCircleList"/>
    <dgm:cxn modelId="{3BB4D072-82FD-4B12-97D8-8DA6D6C38304}" type="presParOf" srcId="{E252CDE3-7A20-4367-BB08-FEEFC55A584E}" destId="{E944D227-6871-4662-939F-8AC1704248AF}" srcOrd="1" destOrd="0" presId="urn:microsoft.com/office/officeart/2018/2/layout/IconCircleList"/>
    <dgm:cxn modelId="{8BA43B0C-B7F8-496C-95FC-F9F18073ECE9}" type="presParOf" srcId="{E252CDE3-7A20-4367-BB08-FEEFC55A584E}" destId="{47E8CDEB-8E44-441C-8E4F-634F6C0EF757}" srcOrd="2" destOrd="0" presId="urn:microsoft.com/office/officeart/2018/2/layout/IconCircleList"/>
    <dgm:cxn modelId="{C484BADF-3862-462C-B348-5E1E4B48B451}" type="presParOf" srcId="{E252CDE3-7A20-4367-BB08-FEEFC55A584E}" destId="{6702609F-BECF-4C95-A576-30836EBCA9A1}" srcOrd="3" destOrd="0" presId="urn:microsoft.com/office/officeart/2018/2/layout/IconCircleList"/>
    <dgm:cxn modelId="{0E73B298-3BFB-4D1A-BA43-58539C3D7B21}" type="presParOf" srcId="{D953EE7E-6F4C-44ED-B376-50482C9C62AC}" destId="{17CE27E6-191A-4FA6-9E5C-7E83C36A83C8}" srcOrd="1" destOrd="0" presId="urn:microsoft.com/office/officeart/2018/2/layout/IconCircleList"/>
    <dgm:cxn modelId="{9EE913F9-07EA-452F-BB33-648E37E25693}" type="presParOf" srcId="{D953EE7E-6F4C-44ED-B376-50482C9C62AC}" destId="{8ABDE583-E7E9-4CED-A339-0F931081E530}" srcOrd="2" destOrd="0" presId="urn:microsoft.com/office/officeart/2018/2/layout/IconCircleList"/>
    <dgm:cxn modelId="{CBFEAB6B-6A17-47C0-9744-073DCC3A34C4}" type="presParOf" srcId="{8ABDE583-E7E9-4CED-A339-0F931081E530}" destId="{59795123-66EE-4125-BF5A-55C25FDA847D}" srcOrd="0" destOrd="0" presId="urn:microsoft.com/office/officeart/2018/2/layout/IconCircleList"/>
    <dgm:cxn modelId="{BDAF9886-228D-4DDF-911D-D2D9C48E7411}" type="presParOf" srcId="{8ABDE583-E7E9-4CED-A339-0F931081E530}" destId="{712EC6EA-1DEB-4777-9222-6E3E5E01B962}" srcOrd="1" destOrd="0" presId="urn:microsoft.com/office/officeart/2018/2/layout/IconCircleList"/>
    <dgm:cxn modelId="{47CDDEC4-4034-4D73-A44D-1E8ABFF22153}" type="presParOf" srcId="{8ABDE583-E7E9-4CED-A339-0F931081E530}" destId="{77CB70CC-0A02-4846-9B4B-9D4649B0DDEC}" srcOrd="2" destOrd="0" presId="urn:microsoft.com/office/officeart/2018/2/layout/IconCircleList"/>
    <dgm:cxn modelId="{D67EAD4A-4E6E-4F09-9E64-C04F607B17D9}" type="presParOf" srcId="{8ABDE583-E7E9-4CED-A339-0F931081E530}" destId="{93566810-71D8-4A61-8B80-386790B622AA}" srcOrd="3" destOrd="0" presId="urn:microsoft.com/office/officeart/2018/2/layout/IconCircleList"/>
    <dgm:cxn modelId="{B791CBF4-30E7-4D40-ABB8-81697BED54C2}" type="presParOf" srcId="{D953EE7E-6F4C-44ED-B376-50482C9C62AC}" destId="{672C1847-ACCA-45F5-82D2-B00978DAAA44}" srcOrd="3" destOrd="0" presId="urn:microsoft.com/office/officeart/2018/2/layout/IconCircleList"/>
    <dgm:cxn modelId="{747A4F41-7C6B-49A6-85FA-59E1B2A635ED}" type="presParOf" srcId="{D953EE7E-6F4C-44ED-B376-50482C9C62AC}" destId="{FA94D0EA-FFB3-45E2-890E-C65B7201EDA3}" srcOrd="4" destOrd="0" presId="urn:microsoft.com/office/officeart/2018/2/layout/IconCircleList"/>
    <dgm:cxn modelId="{728858F4-5A7E-406D-A724-392ECC4FE974}" type="presParOf" srcId="{FA94D0EA-FFB3-45E2-890E-C65B7201EDA3}" destId="{01AC357C-98B4-4EBD-BD16-FD1CE75D1531}" srcOrd="0" destOrd="0" presId="urn:microsoft.com/office/officeart/2018/2/layout/IconCircleList"/>
    <dgm:cxn modelId="{5174B0B2-99F5-4977-8FB1-6F671CC010D3}" type="presParOf" srcId="{FA94D0EA-FFB3-45E2-890E-C65B7201EDA3}" destId="{E4D42E13-8DCA-4288-B4A6-5E1100839A9F}" srcOrd="1" destOrd="0" presId="urn:microsoft.com/office/officeart/2018/2/layout/IconCircleList"/>
    <dgm:cxn modelId="{2624E3C0-9832-42B2-8E01-8C4E67A34B3A}" type="presParOf" srcId="{FA94D0EA-FFB3-45E2-890E-C65B7201EDA3}" destId="{A39D445C-CE67-496F-89D3-ACAEC4E71FED}" srcOrd="2" destOrd="0" presId="urn:microsoft.com/office/officeart/2018/2/layout/IconCircleList"/>
    <dgm:cxn modelId="{B9BBB3EC-9DFA-4610-B988-C6FEF5FD8656}" type="presParOf" srcId="{FA94D0EA-FFB3-45E2-890E-C65B7201EDA3}" destId="{382F53FB-8413-4C8D-A238-B417D011045E}" srcOrd="3" destOrd="0" presId="urn:microsoft.com/office/officeart/2018/2/layout/IconCircleList"/>
    <dgm:cxn modelId="{7D1956DC-088A-4D58-8EAD-252058558B9A}" type="presParOf" srcId="{D953EE7E-6F4C-44ED-B376-50482C9C62AC}" destId="{CFEEAFE2-60AB-45A1-9BE1-DD4573131521}" srcOrd="5" destOrd="0" presId="urn:microsoft.com/office/officeart/2018/2/layout/IconCircleList"/>
    <dgm:cxn modelId="{FD2C9004-87D0-4885-9220-85F59C4682DB}" type="presParOf" srcId="{D953EE7E-6F4C-44ED-B376-50482C9C62AC}" destId="{C3D89FF2-559E-4087-A8CE-E4607D9011D1}" srcOrd="6" destOrd="0" presId="urn:microsoft.com/office/officeart/2018/2/layout/IconCircleList"/>
    <dgm:cxn modelId="{E7CD66D2-0F29-4F30-AD03-65CE859446BE}" type="presParOf" srcId="{C3D89FF2-559E-4087-A8CE-E4607D9011D1}" destId="{49EC597B-BC8E-43F0-B3F1-F0DC51D58AEC}" srcOrd="0" destOrd="0" presId="urn:microsoft.com/office/officeart/2018/2/layout/IconCircleList"/>
    <dgm:cxn modelId="{F287F417-41B3-4ACF-8387-791668592C1D}" type="presParOf" srcId="{C3D89FF2-559E-4087-A8CE-E4607D9011D1}" destId="{FEFC6B62-5DA7-459D-9D92-A36E83532E49}" srcOrd="1" destOrd="0" presId="urn:microsoft.com/office/officeart/2018/2/layout/IconCircleList"/>
    <dgm:cxn modelId="{B45997BD-B01B-4AA8-A208-FE886AA3F930}" type="presParOf" srcId="{C3D89FF2-559E-4087-A8CE-E4607D9011D1}" destId="{75F7DEDB-5479-425A-8DA4-C63051FB6E75}" srcOrd="2" destOrd="0" presId="urn:microsoft.com/office/officeart/2018/2/layout/IconCircleList"/>
    <dgm:cxn modelId="{222C9B28-93B2-4FF7-846C-C906DCD828F1}" type="presParOf" srcId="{C3D89FF2-559E-4087-A8CE-E4607D9011D1}" destId="{051799C2-C0CB-4903-8920-B80631E65FB1}"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5662CE5-D573-413A-AD14-EDDF8A6C6911}"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9A614B6-8450-4DAF-B28C-2139E7E6FE72}">
      <dgm:prSet/>
      <dgm:spPr/>
      <dgm:t>
        <a:bodyPr/>
        <a:lstStyle/>
        <a:p>
          <a:pPr>
            <a:lnSpc>
              <a:spcPct val="100000"/>
            </a:lnSpc>
          </a:pPr>
          <a:r>
            <a:rPr lang="fr-FR" dirty="0"/>
            <a:t>DCL (Data Control </a:t>
          </a:r>
          <a:r>
            <a:rPr lang="fr-FR" dirty="0" err="1"/>
            <a:t>Language</a:t>
          </a:r>
          <a:r>
            <a:rPr lang="fr-FR" dirty="0"/>
            <a:t>) : gère les tâches administratives liées à la BDD</a:t>
          </a:r>
          <a:endParaRPr lang="en-US" dirty="0"/>
        </a:p>
      </dgm:t>
    </dgm:pt>
    <dgm:pt modelId="{A6066E68-EF4D-4DB7-918A-2CBF97670E8D}" type="parTrans" cxnId="{2B7BEF78-85FE-4ECE-B5A2-1B35A5DEEE2C}">
      <dgm:prSet/>
      <dgm:spPr/>
      <dgm:t>
        <a:bodyPr/>
        <a:lstStyle/>
        <a:p>
          <a:endParaRPr lang="en-US"/>
        </a:p>
      </dgm:t>
    </dgm:pt>
    <dgm:pt modelId="{4D25A305-2F13-46FA-9478-CDFDBEE00C17}" type="sibTrans" cxnId="{2B7BEF78-85FE-4ECE-B5A2-1B35A5DEEE2C}">
      <dgm:prSet/>
      <dgm:spPr/>
      <dgm:t>
        <a:bodyPr/>
        <a:lstStyle/>
        <a:p>
          <a:pPr>
            <a:lnSpc>
              <a:spcPct val="100000"/>
            </a:lnSpc>
          </a:pPr>
          <a:endParaRPr lang="en-US"/>
        </a:p>
      </dgm:t>
    </dgm:pt>
    <dgm:pt modelId="{BBC93898-2824-41A4-B747-1B50607FEEED}">
      <dgm:prSet/>
      <dgm:spPr/>
      <dgm:t>
        <a:bodyPr/>
        <a:lstStyle/>
        <a:p>
          <a:pPr>
            <a:lnSpc>
              <a:spcPct val="100000"/>
            </a:lnSpc>
          </a:pPr>
          <a:r>
            <a:rPr lang="en-US" dirty="0"/>
            <a:t>TCL (Transaction Control Language) : </a:t>
          </a:r>
          <a:r>
            <a:rPr lang="en-US" dirty="0" err="1"/>
            <a:t>permet</a:t>
          </a:r>
          <a:r>
            <a:rPr lang="en-US" dirty="0"/>
            <a:t> de </a:t>
          </a:r>
          <a:r>
            <a:rPr lang="en-US" dirty="0" err="1"/>
            <a:t>manipuler</a:t>
          </a:r>
          <a:r>
            <a:rPr lang="en-US" dirty="0"/>
            <a:t> les transactions</a:t>
          </a:r>
        </a:p>
      </dgm:t>
    </dgm:pt>
    <dgm:pt modelId="{E11B3B57-5699-4830-AC5A-076EB2F3C318}" type="parTrans" cxnId="{8B6701B0-3E9F-4BA0-B1D9-4782DDC82840}">
      <dgm:prSet/>
      <dgm:spPr/>
      <dgm:t>
        <a:bodyPr/>
        <a:lstStyle/>
        <a:p>
          <a:endParaRPr lang="fr-FR"/>
        </a:p>
      </dgm:t>
    </dgm:pt>
    <dgm:pt modelId="{2BCD2289-CAE1-4594-8B0F-2BF0CB5ADE17}" type="sibTrans" cxnId="{8B6701B0-3E9F-4BA0-B1D9-4782DDC82840}">
      <dgm:prSet/>
      <dgm:spPr/>
      <dgm:t>
        <a:bodyPr/>
        <a:lstStyle/>
        <a:p>
          <a:endParaRPr lang="fr-FR"/>
        </a:p>
      </dgm:t>
    </dgm:pt>
    <dgm:pt modelId="{17819BB4-564A-495C-80DE-2E27ABCC55ED}" type="pres">
      <dgm:prSet presAssocID="{65662CE5-D573-413A-AD14-EDDF8A6C6911}" presName="root" presStyleCnt="0">
        <dgm:presLayoutVars>
          <dgm:dir/>
          <dgm:resizeHandles val="exact"/>
        </dgm:presLayoutVars>
      </dgm:prSet>
      <dgm:spPr/>
    </dgm:pt>
    <dgm:pt modelId="{D953EE7E-6F4C-44ED-B376-50482C9C62AC}" type="pres">
      <dgm:prSet presAssocID="{65662CE5-D573-413A-AD14-EDDF8A6C6911}" presName="container" presStyleCnt="0">
        <dgm:presLayoutVars>
          <dgm:dir/>
          <dgm:resizeHandles val="exact"/>
        </dgm:presLayoutVars>
      </dgm:prSet>
      <dgm:spPr/>
    </dgm:pt>
    <dgm:pt modelId="{E252CDE3-7A20-4367-BB08-FEEFC55A584E}" type="pres">
      <dgm:prSet presAssocID="{49A614B6-8450-4DAF-B28C-2139E7E6FE72}" presName="compNode" presStyleCnt="0"/>
      <dgm:spPr/>
    </dgm:pt>
    <dgm:pt modelId="{17E57A53-2233-4C52-AE27-CE2BFF2ADE1A}" type="pres">
      <dgm:prSet presAssocID="{49A614B6-8450-4DAF-B28C-2139E7E6FE72}" presName="iconBgRect" presStyleLbl="bgShp" presStyleIdx="0" presStyleCnt="2"/>
      <dgm:spPr/>
    </dgm:pt>
    <dgm:pt modelId="{E944D227-6871-4662-939F-8AC1704248AF}" type="pres">
      <dgm:prSet presAssocID="{49A614B6-8450-4DAF-B28C-2139E7E6FE7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47E8CDEB-8E44-441C-8E4F-634F6C0EF757}" type="pres">
      <dgm:prSet presAssocID="{49A614B6-8450-4DAF-B28C-2139E7E6FE72}" presName="spaceRect" presStyleCnt="0"/>
      <dgm:spPr/>
    </dgm:pt>
    <dgm:pt modelId="{6702609F-BECF-4C95-A576-30836EBCA9A1}" type="pres">
      <dgm:prSet presAssocID="{49A614B6-8450-4DAF-B28C-2139E7E6FE72}" presName="textRect" presStyleLbl="revTx" presStyleIdx="0" presStyleCnt="2">
        <dgm:presLayoutVars>
          <dgm:chMax val="1"/>
          <dgm:chPref val="1"/>
        </dgm:presLayoutVars>
      </dgm:prSet>
      <dgm:spPr/>
    </dgm:pt>
    <dgm:pt modelId="{E1C828F2-F378-4AD5-A440-508D6DA1FE4A}" type="pres">
      <dgm:prSet presAssocID="{4D25A305-2F13-46FA-9478-CDFDBEE00C17}" presName="sibTrans" presStyleLbl="sibTrans2D1" presStyleIdx="0" presStyleCnt="0"/>
      <dgm:spPr/>
    </dgm:pt>
    <dgm:pt modelId="{4A6AC75F-8C02-4DCB-AB8A-0E3ADBD6D54E}" type="pres">
      <dgm:prSet presAssocID="{BBC93898-2824-41A4-B747-1B50607FEEED}" presName="compNode" presStyleCnt="0"/>
      <dgm:spPr/>
    </dgm:pt>
    <dgm:pt modelId="{DEAE34E3-1897-41B4-8DBD-68012E3B939C}" type="pres">
      <dgm:prSet presAssocID="{BBC93898-2824-41A4-B747-1B50607FEEED}" presName="iconBgRect" presStyleLbl="bgShp" presStyleIdx="1" presStyleCnt="2"/>
      <dgm:spPr/>
    </dgm:pt>
    <dgm:pt modelId="{44F27E8A-CE2C-4E8F-8162-E73F0E464744}" type="pres">
      <dgm:prSet presAssocID="{BBC93898-2824-41A4-B747-1B50607FEEED}"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ransfert"/>
        </a:ext>
      </dgm:extLst>
    </dgm:pt>
    <dgm:pt modelId="{33092044-B422-4049-8D9B-2E7B545A3D9A}" type="pres">
      <dgm:prSet presAssocID="{BBC93898-2824-41A4-B747-1B50607FEEED}" presName="spaceRect" presStyleCnt="0"/>
      <dgm:spPr/>
    </dgm:pt>
    <dgm:pt modelId="{F2A2FC81-8244-4452-B82D-8EDD52D8082F}" type="pres">
      <dgm:prSet presAssocID="{BBC93898-2824-41A4-B747-1B50607FEEED}" presName="textRect" presStyleLbl="revTx" presStyleIdx="1" presStyleCnt="2">
        <dgm:presLayoutVars>
          <dgm:chMax val="1"/>
          <dgm:chPref val="1"/>
        </dgm:presLayoutVars>
      </dgm:prSet>
      <dgm:spPr/>
    </dgm:pt>
  </dgm:ptLst>
  <dgm:cxnLst>
    <dgm:cxn modelId="{A6605C0F-3C33-40E9-A962-95C07DF53B49}" type="presOf" srcId="{4D25A305-2F13-46FA-9478-CDFDBEE00C17}" destId="{E1C828F2-F378-4AD5-A440-508D6DA1FE4A}" srcOrd="0" destOrd="0" presId="urn:microsoft.com/office/officeart/2018/2/layout/IconCircleList"/>
    <dgm:cxn modelId="{BB674C17-737B-46C7-8EEB-45C1FE3B138A}" type="presOf" srcId="{65662CE5-D573-413A-AD14-EDDF8A6C6911}" destId="{17819BB4-564A-495C-80DE-2E27ABCC55ED}" srcOrd="0" destOrd="0" presId="urn:microsoft.com/office/officeart/2018/2/layout/IconCircleList"/>
    <dgm:cxn modelId="{3087DB1A-E56E-4BFC-B69F-1B3434DBBFF8}" type="presOf" srcId="{BBC93898-2824-41A4-B747-1B50607FEEED}" destId="{F2A2FC81-8244-4452-B82D-8EDD52D8082F}" srcOrd="0" destOrd="0" presId="urn:microsoft.com/office/officeart/2018/2/layout/IconCircleList"/>
    <dgm:cxn modelId="{1AA1706C-90B9-434E-9250-6B4C603D5FC0}" type="presOf" srcId="{49A614B6-8450-4DAF-B28C-2139E7E6FE72}" destId="{6702609F-BECF-4C95-A576-30836EBCA9A1}" srcOrd="0" destOrd="0" presId="urn:microsoft.com/office/officeart/2018/2/layout/IconCircleList"/>
    <dgm:cxn modelId="{2B7BEF78-85FE-4ECE-B5A2-1B35A5DEEE2C}" srcId="{65662CE5-D573-413A-AD14-EDDF8A6C6911}" destId="{49A614B6-8450-4DAF-B28C-2139E7E6FE72}" srcOrd="0" destOrd="0" parTransId="{A6066E68-EF4D-4DB7-918A-2CBF97670E8D}" sibTransId="{4D25A305-2F13-46FA-9478-CDFDBEE00C17}"/>
    <dgm:cxn modelId="{8B6701B0-3E9F-4BA0-B1D9-4782DDC82840}" srcId="{65662CE5-D573-413A-AD14-EDDF8A6C6911}" destId="{BBC93898-2824-41A4-B747-1B50607FEEED}" srcOrd="1" destOrd="0" parTransId="{E11B3B57-5699-4830-AC5A-076EB2F3C318}" sibTransId="{2BCD2289-CAE1-4594-8B0F-2BF0CB5ADE17}"/>
    <dgm:cxn modelId="{16881639-5887-485C-91D5-85B2D80CBEA8}" type="presParOf" srcId="{17819BB4-564A-495C-80DE-2E27ABCC55ED}" destId="{D953EE7E-6F4C-44ED-B376-50482C9C62AC}" srcOrd="0" destOrd="0" presId="urn:microsoft.com/office/officeart/2018/2/layout/IconCircleList"/>
    <dgm:cxn modelId="{FB8F4067-AE9B-4724-9BF0-CD82AC48D9B8}" type="presParOf" srcId="{D953EE7E-6F4C-44ED-B376-50482C9C62AC}" destId="{E252CDE3-7A20-4367-BB08-FEEFC55A584E}" srcOrd="0" destOrd="0" presId="urn:microsoft.com/office/officeart/2018/2/layout/IconCircleList"/>
    <dgm:cxn modelId="{99EEC0EA-4DEA-4440-9323-75C2CEF1643C}" type="presParOf" srcId="{E252CDE3-7A20-4367-BB08-FEEFC55A584E}" destId="{17E57A53-2233-4C52-AE27-CE2BFF2ADE1A}" srcOrd="0" destOrd="0" presId="urn:microsoft.com/office/officeart/2018/2/layout/IconCircleList"/>
    <dgm:cxn modelId="{3BB4D072-82FD-4B12-97D8-8DA6D6C38304}" type="presParOf" srcId="{E252CDE3-7A20-4367-BB08-FEEFC55A584E}" destId="{E944D227-6871-4662-939F-8AC1704248AF}" srcOrd="1" destOrd="0" presId="urn:microsoft.com/office/officeart/2018/2/layout/IconCircleList"/>
    <dgm:cxn modelId="{8BA43B0C-B7F8-496C-95FC-F9F18073ECE9}" type="presParOf" srcId="{E252CDE3-7A20-4367-BB08-FEEFC55A584E}" destId="{47E8CDEB-8E44-441C-8E4F-634F6C0EF757}" srcOrd="2" destOrd="0" presId="urn:microsoft.com/office/officeart/2018/2/layout/IconCircleList"/>
    <dgm:cxn modelId="{C484BADF-3862-462C-B348-5E1E4B48B451}" type="presParOf" srcId="{E252CDE3-7A20-4367-BB08-FEEFC55A584E}" destId="{6702609F-BECF-4C95-A576-30836EBCA9A1}" srcOrd="3" destOrd="0" presId="urn:microsoft.com/office/officeart/2018/2/layout/IconCircleList"/>
    <dgm:cxn modelId="{96BD965E-D8A7-4B76-97CC-ED5908CA48D8}" type="presParOf" srcId="{D953EE7E-6F4C-44ED-B376-50482C9C62AC}" destId="{E1C828F2-F378-4AD5-A440-508D6DA1FE4A}" srcOrd="1" destOrd="0" presId="urn:microsoft.com/office/officeart/2018/2/layout/IconCircleList"/>
    <dgm:cxn modelId="{6A1E802D-C577-49AE-A5FB-512F12F6634B}" type="presParOf" srcId="{D953EE7E-6F4C-44ED-B376-50482C9C62AC}" destId="{4A6AC75F-8C02-4DCB-AB8A-0E3ADBD6D54E}" srcOrd="2" destOrd="0" presId="urn:microsoft.com/office/officeart/2018/2/layout/IconCircleList"/>
    <dgm:cxn modelId="{BB5E94EE-6D2E-438A-9C43-F8F37446C3FF}" type="presParOf" srcId="{4A6AC75F-8C02-4DCB-AB8A-0E3ADBD6D54E}" destId="{DEAE34E3-1897-41B4-8DBD-68012E3B939C}" srcOrd="0" destOrd="0" presId="urn:microsoft.com/office/officeart/2018/2/layout/IconCircleList"/>
    <dgm:cxn modelId="{869E5FAA-AC39-4748-A27C-B583C6131EFF}" type="presParOf" srcId="{4A6AC75F-8C02-4DCB-AB8A-0E3ADBD6D54E}" destId="{44F27E8A-CE2C-4E8F-8162-E73F0E464744}" srcOrd="1" destOrd="0" presId="urn:microsoft.com/office/officeart/2018/2/layout/IconCircleList"/>
    <dgm:cxn modelId="{EA57DD98-E1CD-4E2B-BEEB-CE2A6C2460EF}" type="presParOf" srcId="{4A6AC75F-8C02-4DCB-AB8A-0E3ADBD6D54E}" destId="{33092044-B422-4049-8D9B-2E7B545A3D9A}" srcOrd="2" destOrd="0" presId="urn:microsoft.com/office/officeart/2018/2/layout/IconCircleList"/>
    <dgm:cxn modelId="{54F12169-28F7-4CE2-BC6F-78BDB544F5C6}" type="presParOf" srcId="{4A6AC75F-8C02-4DCB-AB8A-0E3ADBD6D54E}" destId="{F2A2FC81-8244-4452-B82D-8EDD52D8082F}"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8AE6D2C-8A27-48D7-8976-C99CA74AB938}"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B520ABCB-0B58-4D4B-95F5-C6996F2E0C3B}">
      <dgm:prSet/>
      <dgm:spPr/>
      <dgm:t>
        <a:bodyPr/>
        <a:lstStyle/>
        <a:p>
          <a:pPr>
            <a:defRPr cap="all"/>
          </a:pPr>
          <a:r>
            <a:rPr lang="fr-FR"/>
            <a:t>Récupérer les données</a:t>
          </a:r>
          <a:endParaRPr lang="en-US"/>
        </a:p>
      </dgm:t>
    </dgm:pt>
    <dgm:pt modelId="{7EBF6F90-9408-47CD-BE86-0D1AFE1D4297}" type="parTrans" cxnId="{C4F24103-10E3-4FFA-B789-660E56CA8D0F}">
      <dgm:prSet/>
      <dgm:spPr/>
      <dgm:t>
        <a:bodyPr/>
        <a:lstStyle/>
        <a:p>
          <a:endParaRPr lang="en-US"/>
        </a:p>
      </dgm:t>
    </dgm:pt>
    <dgm:pt modelId="{61CDCACE-0FA1-4E61-8874-86D33AE0129A}" type="sibTrans" cxnId="{C4F24103-10E3-4FFA-B789-660E56CA8D0F}">
      <dgm:prSet/>
      <dgm:spPr/>
      <dgm:t>
        <a:bodyPr/>
        <a:lstStyle/>
        <a:p>
          <a:endParaRPr lang="en-US"/>
        </a:p>
      </dgm:t>
    </dgm:pt>
    <dgm:pt modelId="{B506DD91-26F6-4705-9AD0-4330DD77F966}">
      <dgm:prSet/>
      <dgm:spPr/>
      <dgm:t>
        <a:bodyPr/>
        <a:lstStyle/>
        <a:p>
          <a:pPr>
            <a:defRPr cap="all"/>
          </a:pPr>
          <a:r>
            <a:rPr lang="fr-FR"/>
            <a:t>Ajouter les données</a:t>
          </a:r>
          <a:endParaRPr lang="en-US"/>
        </a:p>
      </dgm:t>
    </dgm:pt>
    <dgm:pt modelId="{0AC3E852-5A49-4E7C-8681-9337BD80BD02}" type="parTrans" cxnId="{14941BCB-372B-4D7E-AB6E-DD1AC0D96ED5}">
      <dgm:prSet/>
      <dgm:spPr/>
      <dgm:t>
        <a:bodyPr/>
        <a:lstStyle/>
        <a:p>
          <a:endParaRPr lang="en-US"/>
        </a:p>
      </dgm:t>
    </dgm:pt>
    <dgm:pt modelId="{EBBB9500-B29C-45CC-A346-C24EBB7C5BDE}" type="sibTrans" cxnId="{14941BCB-372B-4D7E-AB6E-DD1AC0D96ED5}">
      <dgm:prSet/>
      <dgm:spPr/>
      <dgm:t>
        <a:bodyPr/>
        <a:lstStyle/>
        <a:p>
          <a:endParaRPr lang="en-US"/>
        </a:p>
      </dgm:t>
    </dgm:pt>
    <dgm:pt modelId="{F99D0863-DC67-43AE-9223-F12A9DF9978D}">
      <dgm:prSet/>
      <dgm:spPr/>
      <dgm:t>
        <a:bodyPr/>
        <a:lstStyle/>
        <a:p>
          <a:pPr>
            <a:defRPr cap="all"/>
          </a:pPr>
          <a:r>
            <a:rPr lang="fr-FR"/>
            <a:t>Mettre à jour les données</a:t>
          </a:r>
          <a:endParaRPr lang="en-US"/>
        </a:p>
      </dgm:t>
    </dgm:pt>
    <dgm:pt modelId="{82BEA114-D600-4864-BE0E-270ED590FCF0}" type="parTrans" cxnId="{96C5BD22-FE69-4C00-8A78-BDF7A593B74C}">
      <dgm:prSet/>
      <dgm:spPr/>
      <dgm:t>
        <a:bodyPr/>
        <a:lstStyle/>
        <a:p>
          <a:endParaRPr lang="en-US"/>
        </a:p>
      </dgm:t>
    </dgm:pt>
    <dgm:pt modelId="{56D67B04-5894-4B48-A33D-CEA4DE9FA974}" type="sibTrans" cxnId="{96C5BD22-FE69-4C00-8A78-BDF7A593B74C}">
      <dgm:prSet/>
      <dgm:spPr/>
      <dgm:t>
        <a:bodyPr/>
        <a:lstStyle/>
        <a:p>
          <a:endParaRPr lang="en-US"/>
        </a:p>
      </dgm:t>
    </dgm:pt>
    <dgm:pt modelId="{EC28B9F1-77BD-438C-A539-CADF299C8D44}">
      <dgm:prSet/>
      <dgm:spPr/>
      <dgm:t>
        <a:bodyPr/>
        <a:lstStyle/>
        <a:p>
          <a:pPr>
            <a:defRPr cap="all"/>
          </a:pPr>
          <a:r>
            <a:rPr lang="fr-FR"/>
            <a:t>Supprimer les données</a:t>
          </a:r>
          <a:endParaRPr lang="en-US"/>
        </a:p>
      </dgm:t>
    </dgm:pt>
    <dgm:pt modelId="{1C62C3B3-EBF0-4BBE-86BA-1E3AFAD1A96B}" type="parTrans" cxnId="{C5815A7C-F6C1-4D08-AF71-D97060B9CDFD}">
      <dgm:prSet/>
      <dgm:spPr/>
      <dgm:t>
        <a:bodyPr/>
        <a:lstStyle/>
        <a:p>
          <a:endParaRPr lang="en-US"/>
        </a:p>
      </dgm:t>
    </dgm:pt>
    <dgm:pt modelId="{43B5DA49-3A22-4597-B022-CC7801EBE725}" type="sibTrans" cxnId="{C5815A7C-F6C1-4D08-AF71-D97060B9CDFD}">
      <dgm:prSet/>
      <dgm:spPr/>
      <dgm:t>
        <a:bodyPr/>
        <a:lstStyle/>
        <a:p>
          <a:endParaRPr lang="en-US"/>
        </a:p>
      </dgm:t>
    </dgm:pt>
    <dgm:pt modelId="{10B00180-8039-4842-B52C-8224338D2A7A}" type="pres">
      <dgm:prSet presAssocID="{F8AE6D2C-8A27-48D7-8976-C99CA74AB938}" presName="root" presStyleCnt="0">
        <dgm:presLayoutVars>
          <dgm:dir/>
          <dgm:resizeHandles val="exact"/>
        </dgm:presLayoutVars>
      </dgm:prSet>
      <dgm:spPr/>
    </dgm:pt>
    <dgm:pt modelId="{3D0CB08A-0029-4B79-A399-8CEED473BD7E}" type="pres">
      <dgm:prSet presAssocID="{B520ABCB-0B58-4D4B-95F5-C6996F2E0C3B}" presName="compNode" presStyleCnt="0"/>
      <dgm:spPr/>
    </dgm:pt>
    <dgm:pt modelId="{D9B1D958-A76C-4849-B630-A65DE0DE934B}" type="pres">
      <dgm:prSet presAssocID="{B520ABCB-0B58-4D4B-95F5-C6996F2E0C3B}" presName="iconBgRect" presStyleLbl="bgShp" presStyleIdx="0" presStyleCnt="4"/>
      <dgm:spPr>
        <a:prstGeom prst="round2DiagRect">
          <a:avLst>
            <a:gd name="adj1" fmla="val 29727"/>
            <a:gd name="adj2" fmla="val 0"/>
          </a:avLst>
        </a:prstGeom>
      </dgm:spPr>
    </dgm:pt>
    <dgm:pt modelId="{E4788E74-E940-45B5-B302-8EABD331192F}" type="pres">
      <dgm:prSet presAssocID="{B520ABCB-0B58-4D4B-95F5-C6996F2E0C3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Outline"/>
        </a:ext>
      </dgm:extLst>
    </dgm:pt>
    <dgm:pt modelId="{1F293134-40DB-4070-901C-B8A0417027E9}" type="pres">
      <dgm:prSet presAssocID="{B520ABCB-0B58-4D4B-95F5-C6996F2E0C3B}" presName="spaceRect" presStyleCnt="0"/>
      <dgm:spPr/>
    </dgm:pt>
    <dgm:pt modelId="{B5E59A47-B71F-42B1-94A3-63D323BD2E24}" type="pres">
      <dgm:prSet presAssocID="{B520ABCB-0B58-4D4B-95F5-C6996F2E0C3B}" presName="textRect" presStyleLbl="revTx" presStyleIdx="0" presStyleCnt="4">
        <dgm:presLayoutVars>
          <dgm:chMax val="1"/>
          <dgm:chPref val="1"/>
        </dgm:presLayoutVars>
      </dgm:prSet>
      <dgm:spPr/>
    </dgm:pt>
    <dgm:pt modelId="{B3BBD3D3-7106-4317-A4EC-6F410A034FC1}" type="pres">
      <dgm:prSet presAssocID="{61CDCACE-0FA1-4E61-8874-86D33AE0129A}" presName="sibTrans" presStyleCnt="0"/>
      <dgm:spPr/>
    </dgm:pt>
    <dgm:pt modelId="{B93F4D2B-6846-4847-8471-992C0B264BB7}" type="pres">
      <dgm:prSet presAssocID="{B506DD91-26F6-4705-9AD0-4330DD77F966}" presName="compNode" presStyleCnt="0"/>
      <dgm:spPr/>
    </dgm:pt>
    <dgm:pt modelId="{FF3637F4-CFB2-4C0F-82C6-F26BED4A17B2}" type="pres">
      <dgm:prSet presAssocID="{B506DD91-26F6-4705-9AD0-4330DD77F966}" presName="iconBgRect" presStyleLbl="bgShp" presStyleIdx="1" presStyleCnt="4"/>
      <dgm:spPr>
        <a:prstGeom prst="round2DiagRect">
          <a:avLst>
            <a:gd name="adj1" fmla="val 29727"/>
            <a:gd name="adj2" fmla="val 0"/>
          </a:avLst>
        </a:prstGeom>
      </dgm:spPr>
    </dgm:pt>
    <dgm:pt modelId="{744523D3-ACE7-4BB9-B5A1-D8CE43721FDB}" type="pres">
      <dgm:prSet presAssocID="{B506DD91-26F6-4705-9AD0-4330DD77F96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portAdd"/>
        </a:ext>
      </dgm:extLst>
    </dgm:pt>
    <dgm:pt modelId="{679BFAA9-BED8-42CA-95AD-485D90C6A629}" type="pres">
      <dgm:prSet presAssocID="{B506DD91-26F6-4705-9AD0-4330DD77F966}" presName="spaceRect" presStyleCnt="0"/>
      <dgm:spPr/>
    </dgm:pt>
    <dgm:pt modelId="{AA6A478C-28C4-4C55-94C5-0DF22C858063}" type="pres">
      <dgm:prSet presAssocID="{B506DD91-26F6-4705-9AD0-4330DD77F966}" presName="textRect" presStyleLbl="revTx" presStyleIdx="1" presStyleCnt="4">
        <dgm:presLayoutVars>
          <dgm:chMax val="1"/>
          <dgm:chPref val="1"/>
        </dgm:presLayoutVars>
      </dgm:prSet>
      <dgm:spPr/>
    </dgm:pt>
    <dgm:pt modelId="{21AE0D43-1BAC-4A47-A3A8-EE0A0A888E97}" type="pres">
      <dgm:prSet presAssocID="{EBBB9500-B29C-45CC-A346-C24EBB7C5BDE}" presName="sibTrans" presStyleCnt="0"/>
      <dgm:spPr/>
    </dgm:pt>
    <dgm:pt modelId="{CFEC86B1-E7CD-452E-A380-F988766379F5}" type="pres">
      <dgm:prSet presAssocID="{F99D0863-DC67-43AE-9223-F12A9DF9978D}" presName="compNode" presStyleCnt="0"/>
      <dgm:spPr/>
    </dgm:pt>
    <dgm:pt modelId="{1D81F7A7-377F-45DD-B7F3-375550510848}" type="pres">
      <dgm:prSet presAssocID="{F99D0863-DC67-43AE-9223-F12A9DF9978D}" presName="iconBgRect" presStyleLbl="bgShp" presStyleIdx="2" presStyleCnt="4"/>
      <dgm:spPr>
        <a:prstGeom prst="round2DiagRect">
          <a:avLst>
            <a:gd name="adj1" fmla="val 29727"/>
            <a:gd name="adj2" fmla="val 0"/>
          </a:avLst>
        </a:prstGeom>
      </dgm:spPr>
    </dgm:pt>
    <dgm:pt modelId="{05736D9F-33FB-42DD-BE41-F7CDF9944262}" type="pres">
      <dgm:prSet presAssocID="{F99D0863-DC67-43AE-9223-F12A9DF9978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Enrollment"/>
        </a:ext>
      </dgm:extLst>
    </dgm:pt>
    <dgm:pt modelId="{67664CA2-2BF1-4C81-95B6-93592996974D}" type="pres">
      <dgm:prSet presAssocID="{F99D0863-DC67-43AE-9223-F12A9DF9978D}" presName="spaceRect" presStyleCnt="0"/>
      <dgm:spPr/>
    </dgm:pt>
    <dgm:pt modelId="{9A83E343-91D8-4AA4-85BA-D260359F72A8}" type="pres">
      <dgm:prSet presAssocID="{F99D0863-DC67-43AE-9223-F12A9DF9978D}" presName="textRect" presStyleLbl="revTx" presStyleIdx="2" presStyleCnt="4">
        <dgm:presLayoutVars>
          <dgm:chMax val="1"/>
          <dgm:chPref val="1"/>
        </dgm:presLayoutVars>
      </dgm:prSet>
      <dgm:spPr/>
    </dgm:pt>
    <dgm:pt modelId="{BF7BF695-30B3-45CF-957C-C6AC7F90846F}" type="pres">
      <dgm:prSet presAssocID="{56D67B04-5894-4B48-A33D-CEA4DE9FA974}" presName="sibTrans" presStyleCnt="0"/>
      <dgm:spPr/>
    </dgm:pt>
    <dgm:pt modelId="{B9946397-A447-4A7D-9426-7B68E23963A9}" type="pres">
      <dgm:prSet presAssocID="{EC28B9F1-77BD-438C-A539-CADF299C8D44}" presName="compNode" presStyleCnt="0"/>
      <dgm:spPr/>
    </dgm:pt>
    <dgm:pt modelId="{D2C239EC-F5FC-4D46-9216-C144575678F0}" type="pres">
      <dgm:prSet presAssocID="{EC28B9F1-77BD-438C-A539-CADF299C8D44}" presName="iconBgRect" presStyleLbl="bgShp" presStyleIdx="3" presStyleCnt="4"/>
      <dgm:spPr>
        <a:prstGeom prst="round2DiagRect">
          <a:avLst>
            <a:gd name="adj1" fmla="val 29727"/>
            <a:gd name="adj2" fmla="val 0"/>
          </a:avLst>
        </a:prstGeom>
      </dgm:spPr>
    </dgm:pt>
    <dgm:pt modelId="{6D265DD9-6190-4397-B517-DC239B03D44C}" type="pres">
      <dgm:prSet presAssocID="{EC28B9F1-77BD-438C-A539-CADF299C8D4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mptyRecycleBin"/>
        </a:ext>
      </dgm:extLst>
    </dgm:pt>
    <dgm:pt modelId="{6CCC14EF-6F14-4BAB-A9AF-DE8ED9CA2175}" type="pres">
      <dgm:prSet presAssocID="{EC28B9F1-77BD-438C-A539-CADF299C8D44}" presName="spaceRect" presStyleCnt="0"/>
      <dgm:spPr/>
    </dgm:pt>
    <dgm:pt modelId="{90464C69-6C4A-4A8F-B3E7-651DE3AB44D9}" type="pres">
      <dgm:prSet presAssocID="{EC28B9F1-77BD-438C-A539-CADF299C8D44}" presName="textRect" presStyleLbl="revTx" presStyleIdx="3" presStyleCnt="4">
        <dgm:presLayoutVars>
          <dgm:chMax val="1"/>
          <dgm:chPref val="1"/>
        </dgm:presLayoutVars>
      </dgm:prSet>
      <dgm:spPr/>
    </dgm:pt>
  </dgm:ptLst>
  <dgm:cxnLst>
    <dgm:cxn modelId="{C4F24103-10E3-4FFA-B789-660E56CA8D0F}" srcId="{F8AE6D2C-8A27-48D7-8976-C99CA74AB938}" destId="{B520ABCB-0B58-4D4B-95F5-C6996F2E0C3B}" srcOrd="0" destOrd="0" parTransId="{7EBF6F90-9408-47CD-BE86-0D1AFE1D4297}" sibTransId="{61CDCACE-0FA1-4E61-8874-86D33AE0129A}"/>
    <dgm:cxn modelId="{96C5BD22-FE69-4C00-8A78-BDF7A593B74C}" srcId="{F8AE6D2C-8A27-48D7-8976-C99CA74AB938}" destId="{F99D0863-DC67-43AE-9223-F12A9DF9978D}" srcOrd="2" destOrd="0" parTransId="{82BEA114-D600-4864-BE0E-270ED590FCF0}" sibTransId="{56D67B04-5894-4B48-A33D-CEA4DE9FA974}"/>
    <dgm:cxn modelId="{C5815A7C-F6C1-4D08-AF71-D97060B9CDFD}" srcId="{F8AE6D2C-8A27-48D7-8976-C99CA74AB938}" destId="{EC28B9F1-77BD-438C-A539-CADF299C8D44}" srcOrd="3" destOrd="0" parTransId="{1C62C3B3-EBF0-4BBE-86BA-1E3AFAD1A96B}" sibTransId="{43B5DA49-3A22-4597-B022-CC7801EBE725}"/>
    <dgm:cxn modelId="{5BCC16B2-2F55-47D1-BB5E-742A19F4E94F}" type="presOf" srcId="{F99D0863-DC67-43AE-9223-F12A9DF9978D}" destId="{9A83E343-91D8-4AA4-85BA-D260359F72A8}" srcOrd="0" destOrd="0" presId="urn:microsoft.com/office/officeart/2018/5/layout/IconLeafLabelList"/>
    <dgm:cxn modelId="{0C8F02BC-CA11-4B1B-8AA1-7926DC0F333B}" type="presOf" srcId="{F8AE6D2C-8A27-48D7-8976-C99CA74AB938}" destId="{10B00180-8039-4842-B52C-8224338D2A7A}" srcOrd="0" destOrd="0" presId="urn:microsoft.com/office/officeart/2018/5/layout/IconLeafLabelList"/>
    <dgm:cxn modelId="{E7FDB2BE-999A-496E-B8E2-142112A2291F}" type="presOf" srcId="{B520ABCB-0B58-4D4B-95F5-C6996F2E0C3B}" destId="{B5E59A47-B71F-42B1-94A3-63D323BD2E24}" srcOrd="0" destOrd="0" presId="urn:microsoft.com/office/officeart/2018/5/layout/IconLeafLabelList"/>
    <dgm:cxn modelId="{B71B15C8-9AEF-4B4D-81F9-56FEA04F70AE}" type="presOf" srcId="{B506DD91-26F6-4705-9AD0-4330DD77F966}" destId="{AA6A478C-28C4-4C55-94C5-0DF22C858063}" srcOrd="0" destOrd="0" presId="urn:microsoft.com/office/officeart/2018/5/layout/IconLeafLabelList"/>
    <dgm:cxn modelId="{14941BCB-372B-4D7E-AB6E-DD1AC0D96ED5}" srcId="{F8AE6D2C-8A27-48D7-8976-C99CA74AB938}" destId="{B506DD91-26F6-4705-9AD0-4330DD77F966}" srcOrd="1" destOrd="0" parTransId="{0AC3E852-5A49-4E7C-8681-9337BD80BD02}" sibTransId="{EBBB9500-B29C-45CC-A346-C24EBB7C5BDE}"/>
    <dgm:cxn modelId="{73A421FC-63C7-4DA1-BD99-0E9F74FCF255}" type="presOf" srcId="{EC28B9F1-77BD-438C-A539-CADF299C8D44}" destId="{90464C69-6C4A-4A8F-B3E7-651DE3AB44D9}" srcOrd="0" destOrd="0" presId="urn:microsoft.com/office/officeart/2018/5/layout/IconLeafLabelList"/>
    <dgm:cxn modelId="{6659D2F9-7CDB-4391-897D-5D7276A74BB2}" type="presParOf" srcId="{10B00180-8039-4842-B52C-8224338D2A7A}" destId="{3D0CB08A-0029-4B79-A399-8CEED473BD7E}" srcOrd="0" destOrd="0" presId="urn:microsoft.com/office/officeart/2018/5/layout/IconLeafLabelList"/>
    <dgm:cxn modelId="{974D30B3-5363-4B8A-B2B6-6F0644614F2F}" type="presParOf" srcId="{3D0CB08A-0029-4B79-A399-8CEED473BD7E}" destId="{D9B1D958-A76C-4849-B630-A65DE0DE934B}" srcOrd="0" destOrd="0" presId="urn:microsoft.com/office/officeart/2018/5/layout/IconLeafLabelList"/>
    <dgm:cxn modelId="{95581849-BF51-4C1D-944D-28A52DFDFB43}" type="presParOf" srcId="{3D0CB08A-0029-4B79-A399-8CEED473BD7E}" destId="{E4788E74-E940-45B5-B302-8EABD331192F}" srcOrd="1" destOrd="0" presId="urn:microsoft.com/office/officeart/2018/5/layout/IconLeafLabelList"/>
    <dgm:cxn modelId="{10121B1A-FC22-47BE-B57C-EAF9D0C3D48E}" type="presParOf" srcId="{3D0CB08A-0029-4B79-A399-8CEED473BD7E}" destId="{1F293134-40DB-4070-901C-B8A0417027E9}" srcOrd="2" destOrd="0" presId="urn:microsoft.com/office/officeart/2018/5/layout/IconLeafLabelList"/>
    <dgm:cxn modelId="{F00C1F6D-DD39-46D9-9457-9B69D86ED616}" type="presParOf" srcId="{3D0CB08A-0029-4B79-A399-8CEED473BD7E}" destId="{B5E59A47-B71F-42B1-94A3-63D323BD2E24}" srcOrd="3" destOrd="0" presId="urn:microsoft.com/office/officeart/2018/5/layout/IconLeafLabelList"/>
    <dgm:cxn modelId="{E1E953CA-D521-48B6-8FD6-FD596553CB98}" type="presParOf" srcId="{10B00180-8039-4842-B52C-8224338D2A7A}" destId="{B3BBD3D3-7106-4317-A4EC-6F410A034FC1}" srcOrd="1" destOrd="0" presId="urn:microsoft.com/office/officeart/2018/5/layout/IconLeafLabelList"/>
    <dgm:cxn modelId="{77B343EE-4A5E-4D46-9D16-1179F065C850}" type="presParOf" srcId="{10B00180-8039-4842-B52C-8224338D2A7A}" destId="{B93F4D2B-6846-4847-8471-992C0B264BB7}" srcOrd="2" destOrd="0" presId="urn:microsoft.com/office/officeart/2018/5/layout/IconLeafLabelList"/>
    <dgm:cxn modelId="{28E8FB2F-064A-45E7-9E6D-A700B9A319B0}" type="presParOf" srcId="{B93F4D2B-6846-4847-8471-992C0B264BB7}" destId="{FF3637F4-CFB2-4C0F-82C6-F26BED4A17B2}" srcOrd="0" destOrd="0" presId="urn:microsoft.com/office/officeart/2018/5/layout/IconLeafLabelList"/>
    <dgm:cxn modelId="{402658EA-08E5-492C-A22F-AFFAFA82EC31}" type="presParOf" srcId="{B93F4D2B-6846-4847-8471-992C0B264BB7}" destId="{744523D3-ACE7-4BB9-B5A1-D8CE43721FDB}" srcOrd="1" destOrd="0" presId="urn:microsoft.com/office/officeart/2018/5/layout/IconLeafLabelList"/>
    <dgm:cxn modelId="{D6AAA0EE-89AD-4321-8E60-D4DD4B37F7B3}" type="presParOf" srcId="{B93F4D2B-6846-4847-8471-992C0B264BB7}" destId="{679BFAA9-BED8-42CA-95AD-485D90C6A629}" srcOrd="2" destOrd="0" presId="urn:microsoft.com/office/officeart/2018/5/layout/IconLeafLabelList"/>
    <dgm:cxn modelId="{84A4B96D-9089-4AA7-8603-E76FA54D2FDE}" type="presParOf" srcId="{B93F4D2B-6846-4847-8471-992C0B264BB7}" destId="{AA6A478C-28C4-4C55-94C5-0DF22C858063}" srcOrd="3" destOrd="0" presId="urn:microsoft.com/office/officeart/2018/5/layout/IconLeafLabelList"/>
    <dgm:cxn modelId="{19A44DB4-6C08-4CF6-96B6-3BC801D0FD92}" type="presParOf" srcId="{10B00180-8039-4842-B52C-8224338D2A7A}" destId="{21AE0D43-1BAC-4A47-A3A8-EE0A0A888E97}" srcOrd="3" destOrd="0" presId="urn:microsoft.com/office/officeart/2018/5/layout/IconLeafLabelList"/>
    <dgm:cxn modelId="{7CEAD286-332E-48EE-9E70-689EBE37F211}" type="presParOf" srcId="{10B00180-8039-4842-B52C-8224338D2A7A}" destId="{CFEC86B1-E7CD-452E-A380-F988766379F5}" srcOrd="4" destOrd="0" presId="urn:microsoft.com/office/officeart/2018/5/layout/IconLeafLabelList"/>
    <dgm:cxn modelId="{18C4B282-DA79-4904-9B7A-71E440344441}" type="presParOf" srcId="{CFEC86B1-E7CD-452E-A380-F988766379F5}" destId="{1D81F7A7-377F-45DD-B7F3-375550510848}" srcOrd="0" destOrd="0" presId="urn:microsoft.com/office/officeart/2018/5/layout/IconLeafLabelList"/>
    <dgm:cxn modelId="{8ADE8FCB-D77B-46E0-95D2-CFFD62A5154A}" type="presParOf" srcId="{CFEC86B1-E7CD-452E-A380-F988766379F5}" destId="{05736D9F-33FB-42DD-BE41-F7CDF9944262}" srcOrd="1" destOrd="0" presId="urn:microsoft.com/office/officeart/2018/5/layout/IconLeafLabelList"/>
    <dgm:cxn modelId="{FEBC220C-C1EC-4990-905A-B56EFBD739FC}" type="presParOf" srcId="{CFEC86B1-E7CD-452E-A380-F988766379F5}" destId="{67664CA2-2BF1-4C81-95B6-93592996974D}" srcOrd="2" destOrd="0" presId="urn:microsoft.com/office/officeart/2018/5/layout/IconLeafLabelList"/>
    <dgm:cxn modelId="{52437FA4-9463-482A-B30F-B4BED64B53F5}" type="presParOf" srcId="{CFEC86B1-E7CD-452E-A380-F988766379F5}" destId="{9A83E343-91D8-4AA4-85BA-D260359F72A8}" srcOrd="3" destOrd="0" presId="urn:microsoft.com/office/officeart/2018/5/layout/IconLeafLabelList"/>
    <dgm:cxn modelId="{F7518E74-9665-4DFD-8194-932F56E9D701}" type="presParOf" srcId="{10B00180-8039-4842-B52C-8224338D2A7A}" destId="{BF7BF695-30B3-45CF-957C-C6AC7F90846F}" srcOrd="5" destOrd="0" presId="urn:microsoft.com/office/officeart/2018/5/layout/IconLeafLabelList"/>
    <dgm:cxn modelId="{43242B6C-E872-40B7-A4F1-5490CD459DAC}" type="presParOf" srcId="{10B00180-8039-4842-B52C-8224338D2A7A}" destId="{B9946397-A447-4A7D-9426-7B68E23963A9}" srcOrd="6" destOrd="0" presId="urn:microsoft.com/office/officeart/2018/5/layout/IconLeafLabelList"/>
    <dgm:cxn modelId="{B8888160-ED43-45A5-8B69-AE2597DCF8A7}" type="presParOf" srcId="{B9946397-A447-4A7D-9426-7B68E23963A9}" destId="{D2C239EC-F5FC-4D46-9216-C144575678F0}" srcOrd="0" destOrd="0" presId="urn:microsoft.com/office/officeart/2018/5/layout/IconLeafLabelList"/>
    <dgm:cxn modelId="{0D742D3F-9A49-4125-BC49-14C2865308C3}" type="presParOf" srcId="{B9946397-A447-4A7D-9426-7B68E23963A9}" destId="{6D265DD9-6190-4397-B517-DC239B03D44C}" srcOrd="1" destOrd="0" presId="urn:microsoft.com/office/officeart/2018/5/layout/IconLeafLabelList"/>
    <dgm:cxn modelId="{46C359C2-4057-4C50-8A1E-707335F39FDA}" type="presParOf" srcId="{B9946397-A447-4A7D-9426-7B68E23963A9}" destId="{6CCC14EF-6F14-4BAB-A9AF-DE8ED9CA2175}" srcOrd="2" destOrd="0" presId="urn:microsoft.com/office/officeart/2018/5/layout/IconLeafLabelList"/>
    <dgm:cxn modelId="{17AEB908-AA65-4F9C-95EB-A9BEFD64EA03}" type="presParOf" srcId="{B9946397-A447-4A7D-9426-7B68E23963A9}" destId="{90464C69-6C4A-4A8F-B3E7-651DE3AB44D9}"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70FB2E8-20C0-4E0F-A6DF-25C2A86B91E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C9EC69F-B056-4BFB-9D7E-50935C82CBBB}">
      <dgm:prSet/>
      <dgm:spPr/>
      <dgm:t>
        <a:bodyPr/>
        <a:lstStyle/>
        <a:p>
          <a:r>
            <a:rPr lang="fr-FR"/>
            <a:t>Les jointures permettent de réaliser des requêtes sur plusieurs tables en même temps quand ces tables possèdent une relation</a:t>
          </a:r>
          <a:endParaRPr lang="en-US"/>
        </a:p>
      </dgm:t>
    </dgm:pt>
    <dgm:pt modelId="{7E13E191-5AEB-4B3C-B031-1BFBF6727833}" type="parTrans" cxnId="{C2676008-FA0B-4746-A807-B299ABDB95FF}">
      <dgm:prSet/>
      <dgm:spPr/>
      <dgm:t>
        <a:bodyPr/>
        <a:lstStyle/>
        <a:p>
          <a:endParaRPr lang="en-US"/>
        </a:p>
      </dgm:t>
    </dgm:pt>
    <dgm:pt modelId="{EB94D29F-661A-408F-A496-5929103EBFC1}" type="sibTrans" cxnId="{C2676008-FA0B-4746-A807-B299ABDB95FF}">
      <dgm:prSet/>
      <dgm:spPr/>
      <dgm:t>
        <a:bodyPr/>
        <a:lstStyle/>
        <a:p>
          <a:endParaRPr lang="en-US"/>
        </a:p>
      </dgm:t>
    </dgm:pt>
    <dgm:pt modelId="{82268940-58D3-4055-8911-BDF95958952C}">
      <dgm:prSet/>
      <dgm:spPr/>
      <dgm:t>
        <a:bodyPr/>
        <a:lstStyle/>
        <a:p>
          <a:r>
            <a:rPr lang="fr-FR"/>
            <a:t>Par exemple, si on a deux tables </a:t>
          </a:r>
          <a:r>
            <a:rPr lang="fr-FR" i="1"/>
            <a:t>Client </a:t>
          </a:r>
          <a:r>
            <a:rPr lang="fr-FR"/>
            <a:t>et </a:t>
          </a:r>
          <a:r>
            <a:rPr lang="fr-FR" i="1"/>
            <a:t>Factures </a:t>
          </a:r>
          <a:r>
            <a:rPr lang="fr-FR"/>
            <a:t>et que </a:t>
          </a:r>
          <a:r>
            <a:rPr lang="fr-FR" i="1"/>
            <a:t>Factures </a:t>
          </a:r>
          <a:r>
            <a:rPr lang="fr-FR"/>
            <a:t>possède une clé étrangère référençant la table </a:t>
          </a:r>
          <a:r>
            <a:rPr lang="fr-FR" i="1"/>
            <a:t>Client </a:t>
          </a:r>
          <a:r>
            <a:rPr lang="fr-FR"/>
            <a:t>alors la requête "Récupérer la liste des clients et leurs factures" nécessite une jointure</a:t>
          </a:r>
          <a:endParaRPr lang="en-US"/>
        </a:p>
      </dgm:t>
    </dgm:pt>
    <dgm:pt modelId="{26AA0238-5124-4E3D-8B3E-AFF015E982F7}" type="parTrans" cxnId="{CE7D8BCE-00D6-4110-9F3A-A44D5C9E0989}">
      <dgm:prSet/>
      <dgm:spPr/>
      <dgm:t>
        <a:bodyPr/>
        <a:lstStyle/>
        <a:p>
          <a:endParaRPr lang="en-US"/>
        </a:p>
      </dgm:t>
    </dgm:pt>
    <dgm:pt modelId="{029B262A-180D-415C-ADA7-F689356D1F8B}" type="sibTrans" cxnId="{CE7D8BCE-00D6-4110-9F3A-A44D5C9E0989}">
      <dgm:prSet/>
      <dgm:spPr/>
      <dgm:t>
        <a:bodyPr/>
        <a:lstStyle/>
        <a:p>
          <a:endParaRPr lang="en-US"/>
        </a:p>
      </dgm:t>
    </dgm:pt>
    <dgm:pt modelId="{DBC267CE-DF85-4610-A057-738BCF067E26}" type="pres">
      <dgm:prSet presAssocID="{B70FB2E8-20C0-4E0F-A6DF-25C2A86B91E3}" presName="root" presStyleCnt="0">
        <dgm:presLayoutVars>
          <dgm:dir/>
          <dgm:resizeHandles val="exact"/>
        </dgm:presLayoutVars>
      </dgm:prSet>
      <dgm:spPr/>
    </dgm:pt>
    <dgm:pt modelId="{EAF4D6FB-56A1-406F-A3E0-83C891292742}" type="pres">
      <dgm:prSet presAssocID="{FC9EC69F-B056-4BFB-9D7E-50935C82CBBB}" presName="compNode" presStyleCnt="0"/>
      <dgm:spPr/>
    </dgm:pt>
    <dgm:pt modelId="{63157F1C-218F-4704-AC34-4C7D354C2974}" type="pres">
      <dgm:prSet presAssocID="{FC9EC69F-B056-4BFB-9D7E-50935C82CBBB}" presName="bgRect" presStyleLbl="bgShp" presStyleIdx="0" presStyleCnt="2"/>
      <dgm:spPr/>
    </dgm:pt>
    <dgm:pt modelId="{E4B41A0D-63FE-4BB9-8866-509965F9764E}" type="pres">
      <dgm:prSet presAssocID="{FC9EC69F-B056-4BFB-9D7E-50935C82CBB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abricUnsyncFolder"/>
        </a:ext>
      </dgm:extLst>
    </dgm:pt>
    <dgm:pt modelId="{2B6717D3-2F03-4634-B7AE-E92B52F6B66E}" type="pres">
      <dgm:prSet presAssocID="{FC9EC69F-B056-4BFB-9D7E-50935C82CBBB}" presName="spaceRect" presStyleCnt="0"/>
      <dgm:spPr/>
    </dgm:pt>
    <dgm:pt modelId="{1BE0A589-1BC1-44E6-9117-44EDE874BCF4}" type="pres">
      <dgm:prSet presAssocID="{FC9EC69F-B056-4BFB-9D7E-50935C82CBBB}" presName="parTx" presStyleLbl="revTx" presStyleIdx="0" presStyleCnt="2">
        <dgm:presLayoutVars>
          <dgm:chMax val="0"/>
          <dgm:chPref val="0"/>
        </dgm:presLayoutVars>
      </dgm:prSet>
      <dgm:spPr/>
    </dgm:pt>
    <dgm:pt modelId="{FD8644F3-D483-421F-8B42-A804FB7A255E}" type="pres">
      <dgm:prSet presAssocID="{EB94D29F-661A-408F-A496-5929103EBFC1}" presName="sibTrans" presStyleCnt="0"/>
      <dgm:spPr/>
    </dgm:pt>
    <dgm:pt modelId="{FF7B6672-E774-4C64-87CB-D80EE8FABC3E}" type="pres">
      <dgm:prSet presAssocID="{82268940-58D3-4055-8911-BDF95958952C}" presName="compNode" presStyleCnt="0"/>
      <dgm:spPr/>
    </dgm:pt>
    <dgm:pt modelId="{D31E44CE-8E29-4501-815B-C74071CEC87F}" type="pres">
      <dgm:prSet presAssocID="{82268940-58D3-4055-8911-BDF95958952C}" presName="bgRect" presStyleLbl="bgShp" presStyleIdx="1" presStyleCnt="2"/>
      <dgm:spPr/>
    </dgm:pt>
    <dgm:pt modelId="{9CF15E3D-D23F-4B42-94F8-B99216224C88}" type="pres">
      <dgm:prSet presAssocID="{82268940-58D3-4055-8911-BDF95958952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hishing"/>
        </a:ext>
      </dgm:extLst>
    </dgm:pt>
    <dgm:pt modelId="{E7900650-7111-4AA3-8736-5B81D898CB03}" type="pres">
      <dgm:prSet presAssocID="{82268940-58D3-4055-8911-BDF95958952C}" presName="spaceRect" presStyleCnt="0"/>
      <dgm:spPr/>
    </dgm:pt>
    <dgm:pt modelId="{867294E5-8F87-4455-836F-889083A3D2D8}" type="pres">
      <dgm:prSet presAssocID="{82268940-58D3-4055-8911-BDF95958952C}" presName="parTx" presStyleLbl="revTx" presStyleIdx="1" presStyleCnt="2">
        <dgm:presLayoutVars>
          <dgm:chMax val="0"/>
          <dgm:chPref val="0"/>
        </dgm:presLayoutVars>
      </dgm:prSet>
      <dgm:spPr/>
    </dgm:pt>
  </dgm:ptLst>
  <dgm:cxnLst>
    <dgm:cxn modelId="{C2676008-FA0B-4746-A807-B299ABDB95FF}" srcId="{B70FB2E8-20C0-4E0F-A6DF-25C2A86B91E3}" destId="{FC9EC69F-B056-4BFB-9D7E-50935C82CBBB}" srcOrd="0" destOrd="0" parTransId="{7E13E191-5AEB-4B3C-B031-1BFBF6727833}" sibTransId="{EB94D29F-661A-408F-A496-5929103EBFC1}"/>
    <dgm:cxn modelId="{1697D884-5420-4006-AA12-E734329A6139}" type="presOf" srcId="{FC9EC69F-B056-4BFB-9D7E-50935C82CBBB}" destId="{1BE0A589-1BC1-44E6-9117-44EDE874BCF4}" srcOrd="0" destOrd="0" presId="urn:microsoft.com/office/officeart/2018/2/layout/IconVerticalSolidList"/>
    <dgm:cxn modelId="{F94DB08A-7BF5-4C28-9DAE-08A922D4B263}" type="presOf" srcId="{82268940-58D3-4055-8911-BDF95958952C}" destId="{867294E5-8F87-4455-836F-889083A3D2D8}" srcOrd="0" destOrd="0" presId="urn:microsoft.com/office/officeart/2018/2/layout/IconVerticalSolidList"/>
    <dgm:cxn modelId="{A456FFB1-971E-4613-B279-0745AB0D1294}" type="presOf" srcId="{B70FB2E8-20C0-4E0F-A6DF-25C2A86B91E3}" destId="{DBC267CE-DF85-4610-A057-738BCF067E26}" srcOrd="0" destOrd="0" presId="urn:microsoft.com/office/officeart/2018/2/layout/IconVerticalSolidList"/>
    <dgm:cxn modelId="{CE7D8BCE-00D6-4110-9F3A-A44D5C9E0989}" srcId="{B70FB2E8-20C0-4E0F-A6DF-25C2A86B91E3}" destId="{82268940-58D3-4055-8911-BDF95958952C}" srcOrd="1" destOrd="0" parTransId="{26AA0238-5124-4E3D-8B3E-AFF015E982F7}" sibTransId="{029B262A-180D-415C-ADA7-F689356D1F8B}"/>
    <dgm:cxn modelId="{65E82306-10A5-42F8-88B2-5B6D077B847B}" type="presParOf" srcId="{DBC267CE-DF85-4610-A057-738BCF067E26}" destId="{EAF4D6FB-56A1-406F-A3E0-83C891292742}" srcOrd="0" destOrd="0" presId="urn:microsoft.com/office/officeart/2018/2/layout/IconVerticalSolidList"/>
    <dgm:cxn modelId="{2CB2815A-119F-4A62-B1F6-09B3A667164A}" type="presParOf" srcId="{EAF4D6FB-56A1-406F-A3E0-83C891292742}" destId="{63157F1C-218F-4704-AC34-4C7D354C2974}" srcOrd="0" destOrd="0" presId="urn:microsoft.com/office/officeart/2018/2/layout/IconVerticalSolidList"/>
    <dgm:cxn modelId="{27A3F836-1317-41B7-8CF1-1105357AF341}" type="presParOf" srcId="{EAF4D6FB-56A1-406F-A3E0-83C891292742}" destId="{E4B41A0D-63FE-4BB9-8866-509965F9764E}" srcOrd="1" destOrd="0" presId="urn:microsoft.com/office/officeart/2018/2/layout/IconVerticalSolidList"/>
    <dgm:cxn modelId="{C68DDB4C-09EF-4FF3-A94D-C040A496986E}" type="presParOf" srcId="{EAF4D6FB-56A1-406F-A3E0-83C891292742}" destId="{2B6717D3-2F03-4634-B7AE-E92B52F6B66E}" srcOrd="2" destOrd="0" presId="urn:microsoft.com/office/officeart/2018/2/layout/IconVerticalSolidList"/>
    <dgm:cxn modelId="{6164F61A-A942-4FEA-9BC3-D2ADDE740370}" type="presParOf" srcId="{EAF4D6FB-56A1-406F-A3E0-83C891292742}" destId="{1BE0A589-1BC1-44E6-9117-44EDE874BCF4}" srcOrd="3" destOrd="0" presId="urn:microsoft.com/office/officeart/2018/2/layout/IconVerticalSolidList"/>
    <dgm:cxn modelId="{9DF82CE8-59D4-459C-92CA-126127009CAE}" type="presParOf" srcId="{DBC267CE-DF85-4610-A057-738BCF067E26}" destId="{FD8644F3-D483-421F-8B42-A804FB7A255E}" srcOrd="1" destOrd="0" presId="urn:microsoft.com/office/officeart/2018/2/layout/IconVerticalSolidList"/>
    <dgm:cxn modelId="{51D1AFC1-EA62-496C-9CBB-99EB5CF7C3CA}" type="presParOf" srcId="{DBC267CE-DF85-4610-A057-738BCF067E26}" destId="{FF7B6672-E774-4C64-87CB-D80EE8FABC3E}" srcOrd="2" destOrd="0" presId="urn:microsoft.com/office/officeart/2018/2/layout/IconVerticalSolidList"/>
    <dgm:cxn modelId="{EF73A111-B2C3-4121-ADDA-6C080F0636E9}" type="presParOf" srcId="{FF7B6672-E774-4C64-87CB-D80EE8FABC3E}" destId="{D31E44CE-8E29-4501-815B-C74071CEC87F}" srcOrd="0" destOrd="0" presId="urn:microsoft.com/office/officeart/2018/2/layout/IconVerticalSolidList"/>
    <dgm:cxn modelId="{477AB24A-D3B8-4649-B748-AFF6C45AB4A2}" type="presParOf" srcId="{FF7B6672-E774-4C64-87CB-D80EE8FABC3E}" destId="{9CF15E3D-D23F-4B42-94F8-B99216224C88}" srcOrd="1" destOrd="0" presId="urn:microsoft.com/office/officeart/2018/2/layout/IconVerticalSolidList"/>
    <dgm:cxn modelId="{D61420DE-3174-4868-AA81-56E875BC392A}" type="presParOf" srcId="{FF7B6672-E774-4C64-87CB-D80EE8FABC3E}" destId="{E7900650-7111-4AA3-8736-5B81D898CB03}" srcOrd="2" destOrd="0" presId="urn:microsoft.com/office/officeart/2018/2/layout/IconVerticalSolidList"/>
    <dgm:cxn modelId="{92F27EC0-87AF-4194-851B-A560571310F2}" type="presParOf" srcId="{FF7B6672-E774-4C64-87CB-D80EE8FABC3E}" destId="{867294E5-8F87-4455-836F-889083A3D2D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CB54DB6-045A-414C-84D8-183717FE4014}"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9DC97CB-1A71-4F5B-8375-2ED789698C00}">
      <dgm:prSet/>
      <dgm:spPr/>
      <dgm:t>
        <a:bodyPr/>
        <a:lstStyle/>
        <a:p>
          <a:r>
            <a:rPr lang="fr-FR"/>
            <a:t>Les jointures sont un outil essentiel permettant d’exploiter les bases de données relationnelles</a:t>
          </a:r>
          <a:endParaRPr lang="en-US"/>
        </a:p>
      </dgm:t>
    </dgm:pt>
    <dgm:pt modelId="{4AC7DA2D-EEC9-4F13-B83A-415D8A809B16}" type="parTrans" cxnId="{E29E9196-7138-47C7-BAED-FEB2C25FD7BE}">
      <dgm:prSet/>
      <dgm:spPr/>
      <dgm:t>
        <a:bodyPr/>
        <a:lstStyle/>
        <a:p>
          <a:endParaRPr lang="en-US"/>
        </a:p>
      </dgm:t>
    </dgm:pt>
    <dgm:pt modelId="{CD72DA43-53E9-4D45-8F7B-C0820676181F}" type="sibTrans" cxnId="{E29E9196-7138-47C7-BAED-FEB2C25FD7BE}">
      <dgm:prSet/>
      <dgm:spPr/>
      <dgm:t>
        <a:bodyPr/>
        <a:lstStyle/>
        <a:p>
          <a:endParaRPr lang="en-US"/>
        </a:p>
      </dgm:t>
    </dgm:pt>
    <dgm:pt modelId="{DD83D591-8D9E-41E3-B6EE-162E2FFBDEE5}">
      <dgm:prSet/>
      <dgm:spPr/>
      <dgm:t>
        <a:bodyPr/>
        <a:lstStyle/>
        <a:p>
          <a:r>
            <a:rPr lang="fr-FR"/>
            <a:t>Si une information est distribuée dans plusieurs tables, une requête avec jointure est nécessaire pour récupérer toute l’information</a:t>
          </a:r>
          <a:endParaRPr lang="en-US"/>
        </a:p>
      </dgm:t>
    </dgm:pt>
    <dgm:pt modelId="{9CBA44BD-AC56-4855-BC7D-166530F3B9B4}" type="parTrans" cxnId="{F3D8A6CE-A930-459E-BA94-57F7C7C2352B}">
      <dgm:prSet/>
      <dgm:spPr/>
      <dgm:t>
        <a:bodyPr/>
        <a:lstStyle/>
        <a:p>
          <a:endParaRPr lang="en-US"/>
        </a:p>
      </dgm:t>
    </dgm:pt>
    <dgm:pt modelId="{A398A76D-EF86-4CD3-AC97-859B3DF48CBC}" type="sibTrans" cxnId="{F3D8A6CE-A930-459E-BA94-57F7C7C2352B}">
      <dgm:prSet/>
      <dgm:spPr/>
      <dgm:t>
        <a:bodyPr/>
        <a:lstStyle/>
        <a:p>
          <a:endParaRPr lang="en-US"/>
        </a:p>
      </dgm:t>
    </dgm:pt>
    <dgm:pt modelId="{EB4066A6-2743-42F9-8FDA-78E8F6E0A8C5}" type="pres">
      <dgm:prSet presAssocID="{0CB54DB6-045A-414C-84D8-183717FE4014}" presName="root" presStyleCnt="0">
        <dgm:presLayoutVars>
          <dgm:dir/>
          <dgm:resizeHandles val="exact"/>
        </dgm:presLayoutVars>
      </dgm:prSet>
      <dgm:spPr/>
    </dgm:pt>
    <dgm:pt modelId="{3CC18192-E768-437E-BF1D-D22CD89680B8}" type="pres">
      <dgm:prSet presAssocID="{19DC97CB-1A71-4F5B-8375-2ED789698C00}" presName="compNode" presStyleCnt="0"/>
      <dgm:spPr/>
    </dgm:pt>
    <dgm:pt modelId="{047CA557-62A5-47C6-8D6F-D4051FBB3373}" type="pres">
      <dgm:prSet presAssocID="{19DC97CB-1A71-4F5B-8375-2ED789698C0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4F9ABB64-4441-48EC-BDBD-9852FEA76383}" type="pres">
      <dgm:prSet presAssocID="{19DC97CB-1A71-4F5B-8375-2ED789698C00}" presName="spaceRect" presStyleCnt="0"/>
      <dgm:spPr/>
    </dgm:pt>
    <dgm:pt modelId="{FA8BEC01-DAC9-44D0-A545-99CF310A7919}" type="pres">
      <dgm:prSet presAssocID="{19DC97CB-1A71-4F5B-8375-2ED789698C00}" presName="textRect" presStyleLbl="revTx" presStyleIdx="0" presStyleCnt="2">
        <dgm:presLayoutVars>
          <dgm:chMax val="1"/>
          <dgm:chPref val="1"/>
        </dgm:presLayoutVars>
      </dgm:prSet>
      <dgm:spPr/>
    </dgm:pt>
    <dgm:pt modelId="{6D15A64C-BA98-45C1-ABE3-CCD503031F34}" type="pres">
      <dgm:prSet presAssocID="{CD72DA43-53E9-4D45-8F7B-C0820676181F}" presName="sibTrans" presStyleCnt="0"/>
      <dgm:spPr/>
    </dgm:pt>
    <dgm:pt modelId="{64F4B1E0-76CA-4F22-BDB5-789E6CB8F33C}" type="pres">
      <dgm:prSet presAssocID="{DD83D591-8D9E-41E3-B6EE-162E2FFBDEE5}" presName="compNode" presStyleCnt="0"/>
      <dgm:spPr/>
    </dgm:pt>
    <dgm:pt modelId="{E7CC6234-3088-4770-8A2C-C1B136A4EF32}" type="pres">
      <dgm:prSet presAssocID="{DD83D591-8D9E-41E3-B6EE-162E2FFBDEE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123D561-E19C-4C72-B3E3-E926A2BC0A23}" type="pres">
      <dgm:prSet presAssocID="{DD83D591-8D9E-41E3-B6EE-162E2FFBDEE5}" presName="spaceRect" presStyleCnt="0"/>
      <dgm:spPr/>
    </dgm:pt>
    <dgm:pt modelId="{B65C7A89-6752-48ED-A21B-557B74F9EE37}" type="pres">
      <dgm:prSet presAssocID="{DD83D591-8D9E-41E3-B6EE-162E2FFBDEE5}" presName="textRect" presStyleLbl="revTx" presStyleIdx="1" presStyleCnt="2">
        <dgm:presLayoutVars>
          <dgm:chMax val="1"/>
          <dgm:chPref val="1"/>
        </dgm:presLayoutVars>
      </dgm:prSet>
      <dgm:spPr/>
    </dgm:pt>
  </dgm:ptLst>
  <dgm:cxnLst>
    <dgm:cxn modelId="{E29E9196-7138-47C7-BAED-FEB2C25FD7BE}" srcId="{0CB54DB6-045A-414C-84D8-183717FE4014}" destId="{19DC97CB-1A71-4F5B-8375-2ED789698C00}" srcOrd="0" destOrd="0" parTransId="{4AC7DA2D-EEC9-4F13-B83A-415D8A809B16}" sibTransId="{CD72DA43-53E9-4D45-8F7B-C0820676181F}"/>
    <dgm:cxn modelId="{5F3283B2-7A2F-4120-A7E6-326D1A77660A}" type="presOf" srcId="{DD83D591-8D9E-41E3-B6EE-162E2FFBDEE5}" destId="{B65C7A89-6752-48ED-A21B-557B74F9EE37}" srcOrd="0" destOrd="0" presId="urn:microsoft.com/office/officeart/2018/2/layout/IconLabelList"/>
    <dgm:cxn modelId="{832743C5-A022-41F7-8919-18886CADC08C}" type="presOf" srcId="{0CB54DB6-045A-414C-84D8-183717FE4014}" destId="{EB4066A6-2743-42F9-8FDA-78E8F6E0A8C5}" srcOrd="0" destOrd="0" presId="urn:microsoft.com/office/officeart/2018/2/layout/IconLabelList"/>
    <dgm:cxn modelId="{F3D8A6CE-A930-459E-BA94-57F7C7C2352B}" srcId="{0CB54DB6-045A-414C-84D8-183717FE4014}" destId="{DD83D591-8D9E-41E3-B6EE-162E2FFBDEE5}" srcOrd="1" destOrd="0" parTransId="{9CBA44BD-AC56-4855-BC7D-166530F3B9B4}" sibTransId="{A398A76D-EF86-4CD3-AC97-859B3DF48CBC}"/>
    <dgm:cxn modelId="{5152E9E6-1B9F-4365-921E-523EAF5A3943}" type="presOf" srcId="{19DC97CB-1A71-4F5B-8375-2ED789698C00}" destId="{FA8BEC01-DAC9-44D0-A545-99CF310A7919}" srcOrd="0" destOrd="0" presId="urn:microsoft.com/office/officeart/2018/2/layout/IconLabelList"/>
    <dgm:cxn modelId="{E785B0F4-7FFF-4F75-8165-C42632D75705}" type="presParOf" srcId="{EB4066A6-2743-42F9-8FDA-78E8F6E0A8C5}" destId="{3CC18192-E768-437E-BF1D-D22CD89680B8}" srcOrd="0" destOrd="0" presId="urn:microsoft.com/office/officeart/2018/2/layout/IconLabelList"/>
    <dgm:cxn modelId="{47E58187-5C8C-4482-A447-1F0FD24E6107}" type="presParOf" srcId="{3CC18192-E768-437E-BF1D-D22CD89680B8}" destId="{047CA557-62A5-47C6-8D6F-D4051FBB3373}" srcOrd="0" destOrd="0" presId="urn:microsoft.com/office/officeart/2018/2/layout/IconLabelList"/>
    <dgm:cxn modelId="{C6AAB117-1D60-4468-AA7E-5A4095836A47}" type="presParOf" srcId="{3CC18192-E768-437E-BF1D-D22CD89680B8}" destId="{4F9ABB64-4441-48EC-BDBD-9852FEA76383}" srcOrd="1" destOrd="0" presId="urn:microsoft.com/office/officeart/2018/2/layout/IconLabelList"/>
    <dgm:cxn modelId="{2FBE3CBA-A6F2-48A6-A477-FCE6E741F3EC}" type="presParOf" srcId="{3CC18192-E768-437E-BF1D-D22CD89680B8}" destId="{FA8BEC01-DAC9-44D0-A545-99CF310A7919}" srcOrd="2" destOrd="0" presId="urn:microsoft.com/office/officeart/2018/2/layout/IconLabelList"/>
    <dgm:cxn modelId="{75F13882-9B75-4E52-AC5E-84383F3B7706}" type="presParOf" srcId="{EB4066A6-2743-42F9-8FDA-78E8F6E0A8C5}" destId="{6D15A64C-BA98-45C1-ABE3-CCD503031F34}" srcOrd="1" destOrd="0" presId="urn:microsoft.com/office/officeart/2018/2/layout/IconLabelList"/>
    <dgm:cxn modelId="{AD986436-B151-406B-B85E-E797B442F27C}" type="presParOf" srcId="{EB4066A6-2743-42F9-8FDA-78E8F6E0A8C5}" destId="{64F4B1E0-76CA-4F22-BDB5-789E6CB8F33C}" srcOrd="2" destOrd="0" presId="urn:microsoft.com/office/officeart/2018/2/layout/IconLabelList"/>
    <dgm:cxn modelId="{62203860-8F4B-4B67-89E4-BD579A43E058}" type="presParOf" srcId="{64F4B1E0-76CA-4F22-BDB5-789E6CB8F33C}" destId="{E7CC6234-3088-4770-8A2C-C1B136A4EF32}" srcOrd="0" destOrd="0" presId="urn:microsoft.com/office/officeart/2018/2/layout/IconLabelList"/>
    <dgm:cxn modelId="{15B2DFD4-A758-4C80-89A7-FD5128125F7D}" type="presParOf" srcId="{64F4B1E0-76CA-4F22-BDB5-789E6CB8F33C}" destId="{2123D561-E19C-4C72-B3E3-E926A2BC0A23}" srcOrd="1" destOrd="0" presId="urn:microsoft.com/office/officeart/2018/2/layout/IconLabelList"/>
    <dgm:cxn modelId="{CA9A70A5-C583-40F0-926B-2456813FC323}" type="presParOf" srcId="{64F4B1E0-76CA-4F22-BDB5-789E6CB8F33C}" destId="{B65C7A89-6752-48ED-A21B-557B74F9EE3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9402037-9E18-4396-8D26-B070395A8F08}"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2C9FF0F-99AE-4575-A947-99771AFEEB00}">
      <dgm:prSet/>
      <dgm:spPr/>
      <dgm:t>
        <a:bodyPr/>
        <a:lstStyle/>
        <a:p>
          <a:pPr>
            <a:defRPr cap="all"/>
          </a:pPr>
          <a:r>
            <a:rPr lang="fr-FR"/>
            <a:t>Créer des tables</a:t>
          </a:r>
          <a:endParaRPr lang="en-US"/>
        </a:p>
      </dgm:t>
    </dgm:pt>
    <dgm:pt modelId="{9D1D41DF-F196-46A4-8168-B3728B7C2567}" type="parTrans" cxnId="{74D8AB59-1D94-4E0B-A2F1-5FFA19654DF4}">
      <dgm:prSet/>
      <dgm:spPr/>
      <dgm:t>
        <a:bodyPr/>
        <a:lstStyle/>
        <a:p>
          <a:endParaRPr lang="en-US"/>
        </a:p>
      </dgm:t>
    </dgm:pt>
    <dgm:pt modelId="{83E28DBD-5E72-4F65-8768-609D1261187B}" type="sibTrans" cxnId="{74D8AB59-1D94-4E0B-A2F1-5FFA19654DF4}">
      <dgm:prSet/>
      <dgm:spPr/>
      <dgm:t>
        <a:bodyPr/>
        <a:lstStyle/>
        <a:p>
          <a:endParaRPr lang="en-US"/>
        </a:p>
      </dgm:t>
    </dgm:pt>
    <dgm:pt modelId="{B22D9085-95C4-451F-836B-8C076FD6F8D9}">
      <dgm:prSet/>
      <dgm:spPr/>
      <dgm:t>
        <a:bodyPr/>
        <a:lstStyle/>
        <a:p>
          <a:pPr>
            <a:defRPr cap="all"/>
          </a:pPr>
          <a:r>
            <a:rPr lang="fr-FR"/>
            <a:t>Modifier des tables</a:t>
          </a:r>
          <a:endParaRPr lang="en-US"/>
        </a:p>
      </dgm:t>
    </dgm:pt>
    <dgm:pt modelId="{A0CCAD8F-99D5-47A2-A557-277165539DCB}" type="parTrans" cxnId="{1B5B1D24-D857-488A-9269-611B5C970AF8}">
      <dgm:prSet/>
      <dgm:spPr/>
      <dgm:t>
        <a:bodyPr/>
        <a:lstStyle/>
        <a:p>
          <a:endParaRPr lang="en-US"/>
        </a:p>
      </dgm:t>
    </dgm:pt>
    <dgm:pt modelId="{B664B366-9B41-422B-A397-2F539C016B43}" type="sibTrans" cxnId="{1B5B1D24-D857-488A-9269-611B5C970AF8}">
      <dgm:prSet/>
      <dgm:spPr/>
      <dgm:t>
        <a:bodyPr/>
        <a:lstStyle/>
        <a:p>
          <a:endParaRPr lang="en-US"/>
        </a:p>
      </dgm:t>
    </dgm:pt>
    <dgm:pt modelId="{6CD8FF6E-250F-41B6-B858-C4C9C4DB7759}">
      <dgm:prSet/>
      <dgm:spPr/>
      <dgm:t>
        <a:bodyPr/>
        <a:lstStyle/>
        <a:p>
          <a:pPr>
            <a:defRPr cap="all"/>
          </a:pPr>
          <a:r>
            <a:rPr lang="fr-FR"/>
            <a:t>Supprimer des tables</a:t>
          </a:r>
          <a:endParaRPr lang="en-US"/>
        </a:p>
      </dgm:t>
    </dgm:pt>
    <dgm:pt modelId="{2E207F1C-5695-45E6-895A-E2FBDBAB88B9}" type="parTrans" cxnId="{77717408-D096-482A-A150-C4B54E392ABC}">
      <dgm:prSet/>
      <dgm:spPr/>
      <dgm:t>
        <a:bodyPr/>
        <a:lstStyle/>
        <a:p>
          <a:endParaRPr lang="en-US"/>
        </a:p>
      </dgm:t>
    </dgm:pt>
    <dgm:pt modelId="{80812A14-5D72-4DA4-848F-894D5925B8FB}" type="sibTrans" cxnId="{77717408-D096-482A-A150-C4B54E392ABC}">
      <dgm:prSet/>
      <dgm:spPr/>
      <dgm:t>
        <a:bodyPr/>
        <a:lstStyle/>
        <a:p>
          <a:endParaRPr lang="en-US"/>
        </a:p>
      </dgm:t>
    </dgm:pt>
    <dgm:pt modelId="{63DE31B3-6DF6-4232-959D-37E07C20D804}" type="pres">
      <dgm:prSet presAssocID="{99402037-9E18-4396-8D26-B070395A8F08}" presName="root" presStyleCnt="0">
        <dgm:presLayoutVars>
          <dgm:dir/>
          <dgm:resizeHandles val="exact"/>
        </dgm:presLayoutVars>
      </dgm:prSet>
      <dgm:spPr/>
    </dgm:pt>
    <dgm:pt modelId="{DD03E994-7FB9-4D2C-9A9B-9FD602213544}" type="pres">
      <dgm:prSet presAssocID="{32C9FF0F-99AE-4575-A947-99771AFEEB00}" presName="compNode" presStyleCnt="0"/>
      <dgm:spPr/>
    </dgm:pt>
    <dgm:pt modelId="{263514CF-1B3C-489A-9EA2-4B5E1B68FB47}" type="pres">
      <dgm:prSet presAssocID="{32C9FF0F-99AE-4575-A947-99771AFEEB00}" presName="iconBgRect" presStyleLbl="bgShp" presStyleIdx="0" presStyleCnt="3"/>
      <dgm:spPr>
        <a:prstGeom prst="round2DiagRect">
          <a:avLst>
            <a:gd name="adj1" fmla="val 29727"/>
            <a:gd name="adj2" fmla="val 0"/>
          </a:avLst>
        </a:prstGeom>
      </dgm:spPr>
    </dgm:pt>
    <dgm:pt modelId="{D6A4EED0-7A47-4B1D-9498-3A2B9AF28921}" type="pres">
      <dgm:prSet presAssocID="{32C9FF0F-99AE-4575-A947-99771AFEEB0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09B52105-1B9D-465F-9AE2-5AA13C4FC3E6}" type="pres">
      <dgm:prSet presAssocID="{32C9FF0F-99AE-4575-A947-99771AFEEB00}" presName="spaceRect" presStyleCnt="0"/>
      <dgm:spPr/>
    </dgm:pt>
    <dgm:pt modelId="{984C7AC1-185B-4399-83E0-68C42C39C4F6}" type="pres">
      <dgm:prSet presAssocID="{32C9FF0F-99AE-4575-A947-99771AFEEB00}" presName="textRect" presStyleLbl="revTx" presStyleIdx="0" presStyleCnt="3">
        <dgm:presLayoutVars>
          <dgm:chMax val="1"/>
          <dgm:chPref val="1"/>
        </dgm:presLayoutVars>
      </dgm:prSet>
      <dgm:spPr/>
    </dgm:pt>
    <dgm:pt modelId="{5C8FB502-BFCD-4D06-B178-5A45BEBFF100}" type="pres">
      <dgm:prSet presAssocID="{83E28DBD-5E72-4F65-8768-609D1261187B}" presName="sibTrans" presStyleCnt="0"/>
      <dgm:spPr/>
    </dgm:pt>
    <dgm:pt modelId="{6DA03618-3C91-407C-9626-B22039678E32}" type="pres">
      <dgm:prSet presAssocID="{B22D9085-95C4-451F-836B-8C076FD6F8D9}" presName="compNode" presStyleCnt="0"/>
      <dgm:spPr/>
    </dgm:pt>
    <dgm:pt modelId="{A1E90CB1-8F73-4B09-9DCE-859EBB9B0BC2}" type="pres">
      <dgm:prSet presAssocID="{B22D9085-95C4-451F-836B-8C076FD6F8D9}" presName="iconBgRect" presStyleLbl="bgShp" presStyleIdx="1" presStyleCnt="3"/>
      <dgm:spPr>
        <a:prstGeom prst="round2DiagRect">
          <a:avLst>
            <a:gd name="adj1" fmla="val 29727"/>
            <a:gd name="adj2" fmla="val 0"/>
          </a:avLst>
        </a:prstGeom>
      </dgm:spPr>
    </dgm:pt>
    <dgm:pt modelId="{2B653AB3-AAFB-4B04-B581-FEF53A498CD5}" type="pres">
      <dgm:prSet presAssocID="{B22D9085-95C4-451F-836B-8C076FD6F8D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se"/>
        </a:ext>
      </dgm:extLst>
    </dgm:pt>
    <dgm:pt modelId="{1A4CD448-9665-4748-84FF-8D1A792EA4B4}" type="pres">
      <dgm:prSet presAssocID="{B22D9085-95C4-451F-836B-8C076FD6F8D9}" presName="spaceRect" presStyleCnt="0"/>
      <dgm:spPr/>
    </dgm:pt>
    <dgm:pt modelId="{8F9241B6-C83B-490A-9093-BD11D46035BC}" type="pres">
      <dgm:prSet presAssocID="{B22D9085-95C4-451F-836B-8C076FD6F8D9}" presName="textRect" presStyleLbl="revTx" presStyleIdx="1" presStyleCnt="3">
        <dgm:presLayoutVars>
          <dgm:chMax val="1"/>
          <dgm:chPref val="1"/>
        </dgm:presLayoutVars>
      </dgm:prSet>
      <dgm:spPr/>
    </dgm:pt>
    <dgm:pt modelId="{CD69CB65-93D9-4634-A95C-12A2BB563A6D}" type="pres">
      <dgm:prSet presAssocID="{B664B366-9B41-422B-A397-2F539C016B43}" presName="sibTrans" presStyleCnt="0"/>
      <dgm:spPr/>
    </dgm:pt>
    <dgm:pt modelId="{956A4C85-B168-4C15-B594-7D435972E5E2}" type="pres">
      <dgm:prSet presAssocID="{6CD8FF6E-250F-41B6-B858-C4C9C4DB7759}" presName="compNode" presStyleCnt="0"/>
      <dgm:spPr/>
    </dgm:pt>
    <dgm:pt modelId="{70A30782-5FFA-486D-BC90-BDBB08D81153}" type="pres">
      <dgm:prSet presAssocID="{6CD8FF6E-250F-41B6-B858-C4C9C4DB7759}" presName="iconBgRect" presStyleLbl="bgShp" presStyleIdx="2" presStyleCnt="3"/>
      <dgm:spPr>
        <a:prstGeom prst="round2DiagRect">
          <a:avLst>
            <a:gd name="adj1" fmla="val 29727"/>
            <a:gd name="adj2" fmla="val 0"/>
          </a:avLst>
        </a:prstGeom>
      </dgm:spPr>
    </dgm:pt>
    <dgm:pt modelId="{805D8B6B-B824-44B7-9F8F-FC066DEBC8D2}" type="pres">
      <dgm:prSet presAssocID="{6CD8FF6E-250F-41B6-B858-C4C9C4DB775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raser"/>
        </a:ext>
      </dgm:extLst>
    </dgm:pt>
    <dgm:pt modelId="{DBE0DD44-65B0-4159-A719-6C732C16DB92}" type="pres">
      <dgm:prSet presAssocID="{6CD8FF6E-250F-41B6-B858-C4C9C4DB7759}" presName="spaceRect" presStyleCnt="0"/>
      <dgm:spPr/>
    </dgm:pt>
    <dgm:pt modelId="{09794094-546E-4F81-A255-77F23C7ACE9E}" type="pres">
      <dgm:prSet presAssocID="{6CD8FF6E-250F-41B6-B858-C4C9C4DB7759}" presName="textRect" presStyleLbl="revTx" presStyleIdx="2" presStyleCnt="3">
        <dgm:presLayoutVars>
          <dgm:chMax val="1"/>
          <dgm:chPref val="1"/>
        </dgm:presLayoutVars>
      </dgm:prSet>
      <dgm:spPr/>
    </dgm:pt>
  </dgm:ptLst>
  <dgm:cxnLst>
    <dgm:cxn modelId="{77717408-D096-482A-A150-C4B54E392ABC}" srcId="{99402037-9E18-4396-8D26-B070395A8F08}" destId="{6CD8FF6E-250F-41B6-B858-C4C9C4DB7759}" srcOrd="2" destOrd="0" parTransId="{2E207F1C-5695-45E6-895A-E2FBDBAB88B9}" sibTransId="{80812A14-5D72-4DA4-848F-894D5925B8FB}"/>
    <dgm:cxn modelId="{1B5B1D24-D857-488A-9269-611B5C970AF8}" srcId="{99402037-9E18-4396-8D26-B070395A8F08}" destId="{B22D9085-95C4-451F-836B-8C076FD6F8D9}" srcOrd="1" destOrd="0" parTransId="{A0CCAD8F-99D5-47A2-A557-277165539DCB}" sibTransId="{B664B366-9B41-422B-A397-2F539C016B43}"/>
    <dgm:cxn modelId="{84BCBF29-F23E-4D9C-A81E-183AE30AAD6F}" type="presOf" srcId="{B22D9085-95C4-451F-836B-8C076FD6F8D9}" destId="{8F9241B6-C83B-490A-9093-BD11D46035BC}" srcOrd="0" destOrd="0" presId="urn:microsoft.com/office/officeart/2018/5/layout/IconLeafLabelList"/>
    <dgm:cxn modelId="{41FD1335-DBBB-4899-8089-14A7DB63AC46}" type="presOf" srcId="{32C9FF0F-99AE-4575-A947-99771AFEEB00}" destId="{984C7AC1-185B-4399-83E0-68C42C39C4F6}" srcOrd="0" destOrd="0" presId="urn:microsoft.com/office/officeart/2018/5/layout/IconLeafLabelList"/>
    <dgm:cxn modelId="{4D095647-6098-4D0A-B64A-C58CC3A446BF}" type="presOf" srcId="{99402037-9E18-4396-8D26-B070395A8F08}" destId="{63DE31B3-6DF6-4232-959D-37E07C20D804}" srcOrd="0" destOrd="0" presId="urn:microsoft.com/office/officeart/2018/5/layout/IconLeafLabelList"/>
    <dgm:cxn modelId="{74D8AB59-1D94-4E0B-A2F1-5FFA19654DF4}" srcId="{99402037-9E18-4396-8D26-B070395A8F08}" destId="{32C9FF0F-99AE-4575-A947-99771AFEEB00}" srcOrd="0" destOrd="0" parTransId="{9D1D41DF-F196-46A4-8168-B3728B7C2567}" sibTransId="{83E28DBD-5E72-4F65-8768-609D1261187B}"/>
    <dgm:cxn modelId="{938D72CF-F12A-4572-ADD4-B286FB2BFBB8}" type="presOf" srcId="{6CD8FF6E-250F-41B6-B858-C4C9C4DB7759}" destId="{09794094-546E-4F81-A255-77F23C7ACE9E}" srcOrd="0" destOrd="0" presId="urn:microsoft.com/office/officeart/2018/5/layout/IconLeafLabelList"/>
    <dgm:cxn modelId="{C24CF16F-42E8-44FD-9F19-B0C8275116CF}" type="presParOf" srcId="{63DE31B3-6DF6-4232-959D-37E07C20D804}" destId="{DD03E994-7FB9-4D2C-9A9B-9FD602213544}" srcOrd="0" destOrd="0" presId="urn:microsoft.com/office/officeart/2018/5/layout/IconLeafLabelList"/>
    <dgm:cxn modelId="{545073F6-39C0-4237-8648-5012F21175F1}" type="presParOf" srcId="{DD03E994-7FB9-4D2C-9A9B-9FD602213544}" destId="{263514CF-1B3C-489A-9EA2-4B5E1B68FB47}" srcOrd="0" destOrd="0" presId="urn:microsoft.com/office/officeart/2018/5/layout/IconLeafLabelList"/>
    <dgm:cxn modelId="{EEA20D47-85FF-44C1-88E9-15D8BFB7AD47}" type="presParOf" srcId="{DD03E994-7FB9-4D2C-9A9B-9FD602213544}" destId="{D6A4EED0-7A47-4B1D-9498-3A2B9AF28921}" srcOrd="1" destOrd="0" presId="urn:microsoft.com/office/officeart/2018/5/layout/IconLeafLabelList"/>
    <dgm:cxn modelId="{F8906C15-6539-4A32-B934-3CFA46597C7A}" type="presParOf" srcId="{DD03E994-7FB9-4D2C-9A9B-9FD602213544}" destId="{09B52105-1B9D-465F-9AE2-5AA13C4FC3E6}" srcOrd="2" destOrd="0" presId="urn:microsoft.com/office/officeart/2018/5/layout/IconLeafLabelList"/>
    <dgm:cxn modelId="{E09A1281-2C97-469C-865A-EC720CF46116}" type="presParOf" srcId="{DD03E994-7FB9-4D2C-9A9B-9FD602213544}" destId="{984C7AC1-185B-4399-83E0-68C42C39C4F6}" srcOrd="3" destOrd="0" presId="urn:microsoft.com/office/officeart/2018/5/layout/IconLeafLabelList"/>
    <dgm:cxn modelId="{5D4E0310-FC25-45DB-9E02-1ABC7E7B7FD4}" type="presParOf" srcId="{63DE31B3-6DF6-4232-959D-37E07C20D804}" destId="{5C8FB502-BFCD-4D06-B178-5A45BEBFF100}" srcOrd="1" destOrd="0" presId="urn:microsoft.com/office/officeart/2018/5/layout/IconLeafLabelList"/>
    <dgm:cxn modelId="{013657D0-95DB-4F34-9573-1B383681E881}" type="presParOf" srcId="{63DE31B3-6DF6-4232-959D-37E07C20D804}" destId="{6DA03618-3C91-407C-9626-B22039678E32}" srcOrd="2" destOrd="0" presId="urn:microsoft.com/office/officeart/2018/5/layout/IconLeafLabelList"/>
    <dgm:cxn modelId="{35826B9F-3424-475A-A561-D525FA27E9F1}" type="presParOf" srcId="{6DA03618-3C91-407C-9626-B22039678E32}" destId="{A1E90CB1-8F73-4B09-9DCE-859EBB9B0BC2}" srcOrd="0" destOrd="0" presId="urn:microsoft.com/office/officeart/2018/5/layout/IconLeafLabelList"/>
    <dgm:cxn modelId="{56F21F2C-8DF3-4EFD-9C48-D3D1FF31E373}" type="presParOf" srcId="{6DA03618-3C91-407C-9626-B22039678E32}" destId="{2B653AB3-AAFB-4B04-B581-FEF53A498CD5}" srcOrd="1" destOrd="0" presId="urn:microsoft.com/office/officeart/2018/5/layout/IconLeafLabelList"/>
    <dgm:cxn modelId="{F2A5F601-C05D-423A-89E1-6B01FEBCF98D}" type="presParOf" srcId="{6DA03618-3C91-407C-9626-B22039678E32}" destId="{1A4CD448-9665-4748-84FF-8D1A792EA4B4}" srcOrd="2" destOrd="0" presId="urn:microsoft.com/office/officeart/2018/5/layout/IconLeafLabelList"/>
    <dgm:cxn modelId="{012CB408-4C0A-4052-80BC-2974DB13C2D1}" type="presParOf" srcId="{6DA03618-3C91-407C-9626-B22039678E32}" destId="{8F9241B6-C83B-490A-9093-BD11D46035BC}" srcOrd="3" destOrd="0" presId="urn:microsoft.com/office/officeart/2018/5/layout/IconLeafLabelList"/>
    <dgm:cxn modelId="{FC9EA8A9-ADF1-45FD-8940-411E0CB47CD2}" type="presParOf" srcId="{63DE31B3-6DF6-4232-959D-37E07C20D804}" destId="{CD69CB65-93D9-4634-A95C-12A2BB563A6D}" srcOrd="3" destOrd="0" presId="urn:microsoft.com/office/officeart/2018/5/layout/IconLeafLabelList"/>
    <dgm:cxn modelId="{A4983B0F-D3D4-4084-92A2-A28A4459B268}" type="presParOf" srcId="{63DE31B3-6DF6-4232-959D-37E07C20D804}" destId="{956A4C85-B168-4C15-B594-7D435972E5E2}" srcOrd="4" destOrd="0" presId="urn:microsoft.com/office/officeart/2018/5/layout/IconLeafLabelList"/>
    <dgm:cxn modelId="{89566636-CD30-4BD9-8E66-FE1C004F0E08}" type="presParOf" srcId="{956A4C85-B168-4C15-B594-7D435972E5E2}" destId="{70A30782-5FFA-486D-BC90-BDBB08D81153}" srcOrd="0" destOrd="0" presId="urn:microsoft.com/office/officeart/2018/5/layout/IconLeafLabelList"/>
    <dgm:cxn modelId="{E0048C48-249A-439F-9355-45188045F583}" type="presParOf" srcId="{956A4C85-B168-4C15-B594-7D435972E5E2}" destId="{805D8B6B-B824-44B7-9F8F-FC066DEBC8D2}" srcOrd="1" destOrd="0" presId="urn:microsoft.com/office/officeart/2018/5/layout/IconLeafLabelList"/>
    <dgm:cxn modelId="{8B480803-32D8-499C-A0E3-EB1C5756E01F}" type="presParOf" srcId="{956A4C85-B168-4C15-B594-7D435972E5E2}" destId="{DBE0DD44-65B0-4159-A719-6C732C16DB92}" srcOrd="2" destOrd="0" presId="urn:microsoft.com/office/officeart/2018/5/layout/IconLeafLabelList"/>
    <dgm:cxn modelId="{8B65036A-4F65-4B5C-AEB6-99EFB990E69F}" type="presParOf" srcId="{956A4C85-B168-4C15-B594-7D435972E5E2}" destId="{09794094-546E-4F81-A255-77F23C7ACE9E}"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B51DA1E-9280-4480-BEF1-6159E55EF071}" type="doc">
      <dgm:prSet loTypeId="urn:microsoft.com/office/officeart/2005/8/layout/hList1" loCatId="list" qsTypeId="urn:microsoft.com/office/officeart/2005/8/quickstyle/simple2" qsCatId="simple" csTypeId="urn:microsoft.com/office/officeart/2005/8/colors/colorful2" csCatId="colorful" phldr="1"/>
      <dgm:spPr/>
      <dgm:t>
        <a:bodyPr/>
        <a:lstStyle/>
        <a:p>
          <a:endParaRPr lang="en-US"/>
        </a:p>
      </dgm:t>
    </dgm:pt>
    <dgm:pt modelId="{460925CF-B88D-4396-AA9D-923E928236B3}">
      <dgm:prSet/>
      <dgm:spPr/>
      <dgm:t>
        <a:bodyPr/>
        <a:lstStyle/>
        <a:p>
          <a:r>
            <a:rPr lang="fr-FR"/>
            <a:t>Syntaxe générale</a:t>
          </a:r>
          <a:endParaRPr lang="en-US"/>
        </a:p>
      </dgm:t>
    </dgm:pt>
    <dgm:pt modelId="{83272CF3-5A21-4DEB-BDC8-C95B46754EBC}" type="parTrans" cxnId="{2D045371-1E5F-460E-9DBD-696DD091CE59}">
      <dgm:prSet/>
      <dgm:spPr/>
      <dgm:t>
        <a:bodyPr/>
        <a:lstStyle/>
        <a:p>
          <a:endParaRPr lang="en-US"/>
        </a:p>
      </dgm:t>
    </dgm:pt>
    <dgm:pt modelId="{79B753A7-C0CE-4268-A3C0-2AA9E7095F37}" type="sibTrans" cxnId="{2D045371-1E5F-460E-9DBD-696DD091CE59}">
      <dgm:prSet/>
      <dgm:spPr/>
      <dgm:t>
        <a:bodyPr/>
        <a:lstStyle/>
        <a:p>
          <a:endParaRPr lang="en-US"/>
        </a:p>
      </dgm:t>
    </dgm:pt>
    <dgm:pt modelId="{8D52E0E8-4C50-49B3-BBA3-F3397D460B19}">
      <dgm:prSet/>
      <dgm:spPr/>
      <dgm:t>
        <a:bodyPr/>
        <a:lstStyle/>
        <a:p>
          <a:pPr>
            <a:buNone/>
          </a:pPr>
          <a:r>
            <a:rPr lang="fr-FR" b="1"/>
            <a:t>CREATE TABLE</a:t>
          </a:r>
          <a:r>
            <a:rPr lang="fr-FR"/>
            <a:t> </a:t>
          </a:r>
          <a:r>
            <a:rPr lang="fr-FR" err="1"/>
            <a:t>nom_de_la_table</a:t>
          </a:r>
          <a:endParaRPr lang="en-US"/>
        </a:p>
      </dgm:t>
    </dgm:pt>
    <dgm:pt modelId="{BF9E6415-0A48-41CB-BFA5-4F0A9889487B}" type="parTrans" cxnId="{E811BEFF-C394-465E-BA52-7B65EDF7E1DD}">
      <dgm:prSet/>
      <dgm:spPr/>
      <dgm:t>
        <a:bodyPr/>
        <a:lstStyle/>
        <a:p>
          <a:endParaRPr lang="en-US"/>
        </a:p>
      </dgm:t>
    </dgm:pt>
    <dgm:pt modelId="{4C46005A-8C63-438E-85C8-1ED261C3AE5E}" type="sibTrans" cxnId="{E811BEFF-C394-465E-BA52-7B65EDF7E1DD}">
      <dgm:prSet/>
      <dgm:spPr/>
      <dgm:t>
        <a:bodyPr/>
        <a:lstStyle/>
        <a:p>
          <a:endParaRPr lang="en-US"/>
        </a:p>
      </dgm:t>
    </dgm:pt>
    <dgm:pt modelId="{166F9ED8-1D52-4129-A995-FCC58D909E09}">
      <dgm:prSet/>
      <dgm:spPr/>
      <dgm:t>
        <a:bodyPr/>
        <a:lstStyle/>
        <a:p>
          <a:pPr>
            <a:buNone/>
          </a:pPr>
          <a:r>
            <a:rPr lang="fr-FR"/>
            <a:t>(</a:t>
          </a:r>
          <a:endParaRPr lang="en-US"/>
        </a:p>
      </dgm:t>
    </dgm:pt>
    <dgm:pt modelId="{A212E851-DD84-4B0A-80FB-B67FC7255FAD}" type="parTrans" cxnId="{FE17ADAB-FF88-4F05-807C-009B56E75CCC}">
      <dgm:prSet/>
      <dgm:spPr/>
      <dgm:t>
        <a:bodyPr/>
        <a:lstStyle/>
        <a:p>
          <a:endParaRPr lang="en-US"/>
        </a:p>
      </dgm:t>
    </dgm:pt>
    <dgm:pt modelId="{5475F6E8-7A48-4645-B158-D5D92EC76D88}" type="sibTrans" cxnId="{FE17ADAB-FF88-4F05-807C-009B56E75CCC}">
      <dgm:prSet/>
      <dgm:spPr/>
      <dgm:t>
        <a:bodyPr/>
        <a:lstStyle/>
        <a:p>
          <a:endParaRPr lang="en-US"/>
        </a:p>
      </dgm:t>
    </dgm:pt>
    <dgm:pt modelId="{04892FFA-613E-449E-A261-8507808A80B3}">
      <dgm:prSet/>
      <dgm:spPr/>
      <dgm:t>
        <a:bodyPr/>
        <a:lstStyle/>
        <a:p>
          <a:pPr>
            <a:buNone/>
          </a:pPr>
          <a:r>
            <a:rPr lang="fr-FR"/>
            <a:t>  colonne1 </a:t>
          </a:r>
          <a:r>
            <a:rPr lang="fr-FR" err="1"/>
            <a:t>type_donnees</a:t>
          </a:r>
          <a:r>
            <a:rPr lang="fr-FR"/>
            <a:t>,</a:t>
          </a:r>
          <a:endParaRPr lang="en-US"/>
        </a:p>
      </dgm:t>
    </dgm:pt>
    <dgm:pt modelId="{71252BF0-D8AC-482B-8C0A-BCD954255984}" type="parTrans" cxnId="{103B0950-C0AF-4AB0-80F6-1315FFCF0C80}">
      <dgm:prSet/>
      <dgm:spPr/>
      <dgm:t>
        <a:bodyPr/>
        <a:lstStyle/>
        <a:p>
          <a:endParaRPr lang="en-US"/>
        </a:p>
      </dgm:t>
    </dgm:pt>
    <dgm:pt modelId="{551C81EE-ACC0-4A80-89C9-5A96DF202A9F}" type="sibTrans" cxnId="{103B0950-C0AF-4AB0-80F6-1315FFCF0C80}">
      <dgm:prSet/>
      <dgm:spPr/>
      <dgm:t>
        <a:bodyPr/>
        <a:lstStyle/>
        <a:p>
          <a:endParaRPr lang="en-US"/>
        </a:p>
      </dgm:t>
    </dgm:pt>
    <dgm:pt modelId="{1B5DFDFE-95FA-4925-A40A-3567110B169A}">
      <dgm:prSet/>
      <dgm:spPr/>
      <dgm:t>
        <a:bodyPr/>
        <a:lstStyle/>
        <a:p>
          <a:pPr>
            <a:buNone/>
          </a:pPr>
          <a:r>
            <a:rPr lang="fr-FR"/>
            <a:t>  colonne2 </a:t>
          </a:r>
          <a:r>
            <a:rPr lang="fr-FR" err="1"/>
            <a:t>type_donnees</a:t>
          </a:r>
          <a:r>
            <a:rPr lang="fr-FR"/>
            <a:t>,</a:t>
          </a:r>
          <a:endParaRPr lang="en-US"/>
        </a:p>
      </dgm:t>
    </dgm:pt>
    <dgm:pt modelId="{9293A717-E990-4741-B1C9-61EEEBAAF817}" type="parTrans" cxnId="{181991D0-30FC-49A1-B896-3071FA192342}">
      <dgm:prSet/>
      <dgm:spPr/>
      <dgm:t>
        <a:bodyPr/>
        <a:lstStyle/>
        <a:p>
          <a:endParaRPr lang="en-US"/>
        </a:p>
      </dgm:t>
    </dgm:pt>
    <dgm:pt modelId="{715C3489-36C5-4875-8B7B-335AEC2755F9}" type="sibTrans" cxnId="{181991D0-30FC-49A1-B896-3071FA192342}">
      <dgm:prSet/>
      <dgm:spPr/>
      <dgm:t>
        <a:bodyPr/>
        <a:lstStyle/>
        <a:p>
          <a:endParaRPr lang="en-US"/>
        </a:p>
      </dgm:t>
    </dgm:pt>
    <dgm:pt modelId="{35B2F9FA-A905-4A1B-A8EA-77D3470E787E}">
      <dgm:prSet/>
      <dgm:spPr/>
      <dgm:t>
        <a:bodyPr/>
        <a:lstStyle/>
        <a:p>
          <a:pPr>
            <a:buNone/>
          </a:pPr>
          <a:r>
            <a:rPr lang="fr-FR"/>
            <a:t>  colonne3 </a:t>
          </a:r>
          <a:r>
            <a:rPr lang="fr-FR" err="1"/>
            <a:t>type_donnees</a:t>
          </a:r>
          <a:r>
            <a:rPr lang="fr-FR"/>
            <a:t>,</a:t>
          </a:r>
          <a:endParaRPr lang="en-US"/>
        </a:p>
      </dgm:t>
    </dgm:pt>
    <dgm:pt modelId="{5E0C3E53-5E80-42FB-A258-390D51FE4486}" type="parTrans" cxnId="{740DF6CC-8E3E-4CDB-BAC8-0F3A6DDFC7D6}">
      <dgm:prSet/>
      <dgm:spPr/>
      <dgm:t>
        <a:bodyPr/>
        <a:lstStyle/>
        <a:p>
          <a:endParaRPr lang="en-US"/>
        </a:p>
      </dgm:t>
    </dgm:pt>
    <dgm:pt modelId="{F53F0CA7-4FF5-4934-84F8-A44FBAA65383}" type="sibTrans" cxnId="{740DF6CC-8E3E-4CDB-BAC8-0F3A6DDFC7D6}">
      <dgm:prSet/>
      <dgm:spPr/>
      <dgm:t>
        <a:bodyPr/>
        <a:lstStyle/>
        <a:p>
          <a:endParaRPr lang="en-US"/>
        </a:p>
      </dgm:t>
    </dgm:pt>
    <dgm:pt modelId="{B92E66F8-ECD5-4246-81CB-0BC898CDD2ED}">
      <dgm:prSet/>
      <dgm:spPr/>
      <dgm:t>
        <a:bodyPr/>
        <a:lstStyle/>
        <a:p>
          <a:pPr>
            <a:buNone/>
          </a:pPr>
          <a:r>
            <a:rPr lang="fr-FR"/>
            <a:t>  colonne4 </a:t>
          </a:r>
          <a:r>
            <a:rPr lang="fr-FR" err="1"/>
            <a:t>type_donnees</a:t>
          </a:r>
          <a:endParaRPr lang="en-US"/>
        </a:p>
      </dgm:t>
    </dgm:pt>
    <dgm:pt modelId="{A4842BED-6A42-4F0B-B306-4D0679EC7477}" type="parTrans" cxnId="{7C4C6CC4-44E1-42B6-969A-977234E348B0}">
      <dgm:prSet/>
      <dgm:spPr/>
      <dgm:t>
        <a:bodyPr/>
        <a:lstStyle/>
        <a:p>
          <a:endParaRPr lang="en-US"/>
        </a:p>
      </dgm:t>
    </dgm:pt>
    <dgm:pt modelId="{2D9D8C62-9C00-4B76-920E-512F19073EC2}" type="sibTrans" cxnId="{7C4C6CC4-44E1-42B6-969A-977234E348B0}">
      <dgm:prSet/>
      <dgm:spPr/>
      <dgm:t>
        <a:bodyPr/>
        <a:lstStyle/>
        <a:p>
          <a:endParaRPr lang="en-US"/>
        </a:p>
      </dgm:t>
    </dgm:pt>
    <dgm:pt modelId="{27AC3436-9955-424D-8F02-E42DE14CC3BD}">
      <dgm:prSet/>
      <dgm:spPr/>
      <dgm:t>
        <a:bodyPr/>
        <a:lstStyle/>
        <a:p>
          <a:pPr>
            <a:buNone/>
          </a:pPr>
          <a:r>
            <a:rPr lang="fr-FR"/>
            <a:t>)</a:t>
          </a:r>
          <a:endParaRPr lang="en-US"/>
        </a:p>
      </dgm:t>
    </dgm:pt>
    <dgm:pt modelId="{99A1B99F-5519-4319-9742-8DB2F5A1AD19}" type="parTrans" cxnId="{158FEB2F-74D3-4B90-A2AF-FBADEB72F55A}">
      <dgm:prSet/>
      <dgm:spPr/>
      <dgm:t>
        <a:bodyPr/>
        <a:lstStyle/>
        <a:p>
          <a:endParaRPr lang="en-US"/>
        </a:p>
      </dgm:t>
    </dgm:pt>
    <dgm:pt modelId="{045F6EDA-2248-44AA-A3FE-902F5ED387C1}" type="sibTrans" cxnId="{158FEB2F-74D3-4B90-A2AF-FBADEB72F55A}">
      <dgm:prSet/>
      <dgm:spPr/>
      <dgm:t>
        <a:bodyPr/>
        <a:lstStyle/>
        <a:p>
          <a:endParaRPr lang="en-US"/>
        </a:p>
      </dgm:t>
    </dgm:pt>
    <dgm:pt modelId="{F6CBEFC8-6C97-42FE-BB5F-4DE712C099FE}">
      <dgm:prSet/>
      <dgm:spPr/>
      <dgm:t>
        <a:bodyPr/>
        <a:lstStyle/>
        <a:p>
          <a:r>
            <a:rPr lang="fr-FR"/>
            <a:t>Exemple</a:t>
          </a:r>
          <a:endParaRPr lang="en-US"/>
        </a:p>
      </dgm:t>
    </dgm:pt>
    <dgm:pt modelId="{81AC5F12-8525-44FB-BCEF-40ED24C0C1C5}" type="parTrans" cxnId="{FBB92B96-0E2C-4738-A46E-0079DE98BF57}">
      <dgm:prSet/>
      <dgm:spPr/>
      <dgm:t>
        <a:bodyPr/>
        <a:lstStyle/>
        <a:p>
          <a:endParaRPr lang="en-US"/>
        </a:p>
      </dgm:t>
    </dgm:pt>
    <dgm:pt modelId="{11A7D19D-9622-41A4-A47C-378E193E67F8}" type="sibTrans" cxnId="{FBB92B96-0E2C-4738-A46E-0079DE98BF57}">
      <dgm:prSet/>
      <dgm:spPr/>
      <dgm:t>
        <a:bodyPr/>
        <a:lstStyle/>
        <a:p>
          <a:endParaRPr lang="en-US"/>
        </a:p>
      </dgm:t>
    </dgm:pt>
    <dgm:pt modelId="{AA1FC41F-7592-4111-A377-7912AE637175}">
      <dgm:prSet/>
      <dgm:spPr/>
      <dgm:t>
        <a:bodyPr/>
        <a:lstStyle/>
        <a:p>
          <a:pPr>
            <a:buNone/>
          </a:pPr>
          <a:r>
            <a:rPr lang="fr-FR" b="1"/>
            <a:t>CREATE TABLE </a:t>
          </a:r>
          <a:r>
            <a:rPr lang="fr-FR"/>
            <a:t>utilisateur</a:t>
          </a:r>
          <a:endParaRPr lang="en-US"/>
        </a:p>
      </dgm:t>
    </dgm:pt>
    <dgm:pt modelId="{0FD7AD8C-2FAE-4C03-8BBE-E34A3AC18799}" type="parTrans" cxnId="{772DFA31-F020-4704-BE23-6DE9D61D3F83}">
      <dgm:prSet/>
      <dgm:spPr/>
      <dgm:t>
        <a:bodyPr/>
        <a:lstStyle/>
        <a:p>
          <a:endParaRPr lang="en-US"/>
        </a:p>
      </dgm:t>
    </dgm:pt>
    <dgm:pt modelId="{419C7DE1-0B2A-4D05-B3CF-18E83097E140}" type="sibTrans" cxnId="{772DFA31-F020-4704-BE23-6DE9D61D3F83}">
      <dgm:prSet/>
      <dgm:spPr/>
      <dgm:t>
        <a:bodyPr/>
        <a:lstStyle/>
        <a:p>
          <a:endParaRPr lang="en-US"/>
        </a:p>
      </dgm:t>
    </dgm:pt>
    <dgm:pt modelId="{D294C72D-0D13-4D4E-9F02-1F69336F2B60}">
      <dgm:prSet/>
      <dgm:spPr/>
      <dgm:t>
        <a:bodyPr/>
        <a:lstStyle/>
        <a:p>
          <a:pPr>
            <a:buNone/>
          </a:pPr>
          <a:r>
            <a:rPr lang="fr-FR"/>
            <a:t>(</a:t>
          </a:r>
          <a:endParaRPr lang="en-US"/>
        </a:p>
      </dgm:t>
    </dgm:pt>
    <dgm:pt modelId="{3B452FF6-2696-4E76-ACB0-8C5D73B213CA}" type="parTrans" cxnId="{B215DA0D-973A-441B-9D62-4CB7AFF5EECB}">
      <dgm:prSet/>
      <dgm:spPr/>
      <dgm:t>
        <a:bodyPr/>
        <a:lstStyle/>
        <a:p>
          <a:endParaRPr lang="en-US"/>
        </a:p>
      </dgm:t>
    </dgm:pt>
    <dgm:pt modelId="{07603199-240A-4294-AEA1-C89210528D82}" type="sibTrans" cxnId="{B215DA0D-973A-441B-9D62-4CB7AFF5EECB}">
      <dgm:prSet/>
      <dgm:spPr/>
      <dgm:t>
        <a:bodyPr/>
        <a:lstStyle/>
        <a:p>
          <a:endParaRPr lang="en-US"/>
        </a:p>
      </dgm:t>
    </dgm:pt>
    <dgm:pt modelId="{3CAA2A06-9C98-49BF-B080-E15DB0C2755A}">
      <dgm:prSet/>
      <dgm:spPr/>
      <dgm:t>
        <a:bodyPr/>
        <a:lstStyle/>
        <a:p>
          <a:pPr>
            <a:buNone/>
          </a:pPr>
          <a:r>
            <a:rPr lang="fr-FR" dirty="0"/>
            <a:t>  id </a:t>
          </a:r>
          <a:r>
            <a:rPr lang="fr-FR" b="1" dirty="0"/>
            <a:t>INT PRIMARY KEY NOT NULL </a:t>
          </a:r>
          <a:r>
            <a:rPr lang="fr-FR" b="1" i="1" dirty="0"/>
            <a:t>AUTO_INCREMENT</a:t>
          </a:r>
          <a:r>
            <a:rPr lang="fr-FR" dirty="0"/>
            <a:t>,</a:t>
          </a:r>
          <a:endParaRPr lang="en-US" dirty="0"/>
        </a:p>
      </dgm:t>
    </dgm:pt>
    <dgm:pt modelId="{32E69FE3-3F1D-4ADD-81D3-A64D5D7EBCB8}" type="parTrans" cxnId="{20FE9910-7386-487B-8284-5BF3D8CE5B46}">
      <dgm:prSet/>
      <dgm:spPr/>
      <dgm:t>
        <a:bodyPr/>
        <a:lstStyle/>
        <a:p>
          <a:endParaRPr lang="en-US"/>
        </a:p>
      </dgm:t>
    </dgm:pt>
    <dgm:pt modelId="{CA9B8674-63F4-4D08-86FD-2351443DDE7C}" type="sibTrans" cxnId="{20FE9910-7386-487B-8284-5BF3D8CE5B46}">
      <dgm:prSet/>
      <dgm:spPr/>
      <dgm:t>
        <a:bodyPr/>
        <a:lstStyle/>
        <a:p>
          <a:endParaRPr lang="en-US"/>
        </a:p>
      </dgm:t>
    </dgm:pt>
    <dgm:pt modelId="{C0DC4BB5-F9C9-4C79-9C4C-F5F98E3F70BC}">
      <dgm:prSet/>
      <dgm:spPr/>
      <dgm:t>
        <a:bodyPr/>
        <a:lstStyle/>
        <a:p>
          <a:pPr>
            <a:buNone/>
          </a:pPr>
          <a:r>
            <a:rPr lang="fr-FR"/>
            <a:t>  nom </a:t>
          </a:r>
          <a:r>
            <a:rPr lang="fr-FR" b="1"/>
            <a:t>VARCHAR</a:t>
          </a:r>
          <a:r>
            <a:rPr lang="fr-FR"/>
            <a:t>(100),</a:t>
          </a:r>
          <a:endParaRPr lang="en-US"/>
        </a:p>
      </dgm:t>
    </dgm:pt>
    <dgm:pt modelId="{873CB69B-B6F2-431B-84C9-CD6A9BF17637}" type="parTrans" cxnId="{335DC894-D4D2-44CF-BBB8-E26BD26686F0}">
      <dgm:prSet/>
      <dgm:spPr/>
      <dgm:t>
        <a:bodyPr/>
        <a:lstStyle/>
        <a:p>
          <a:endParaRPr lang="en-US"/>
        </a:p>
      </dgm:t>
    </dgm:pt>
    <dgm:pt modelId="{DEF04719-2882-4FB2-94A8-81A72D373B57}" type="sibTrans" cxnId="{335DC894-D4D2-44CF-BBB8-E26BD26686F0}">
      <dgm:prSet/>
      <dgm:spPr/>
      <dgm:t>
        <a:bodyPr/>
        <a:lstStyle/>
        <a:p>
          <a:endParaRPr lang="en-US"/>
        </a:p>
      </dgm:t>
    </dgm:pt>
    <dgm:pt modelId="{DC62720B-CAB5-4A26-B88D-3AE8878A394C}">
      <dgm:prSet/>
      <dgm:spPr/>
      <dgm:t>
        <a:bodyPr/>
        <a:lstStyle/>
        <a:p>
          <a:pPr>
            <a:buNone/>
          </a:pPr>
          <a:r>
            <a:rPr lang="fr-FR"/>
            <a:t>  </a:t>
          </a:r>
          <a:r>
            <a:rPr lang="fr-FR" err="1"/>
            <a:t>prenom</a:t>
          </a:r>
          <a:r>
            <a:rPr lang="fr-FR"/>
            <a:t> </a:t>
          </a:r>
          <a:r>
            <a:rPr lang="fr-FR" b="1"/>
            <a:t>VARCHAR</a:t>
          </a:r>
          <a:r>
            <a:rPr lang="fr-FR"/>
            <a:t>(100),</a:t>
          </a:r>
          <a:endParaRPr lang="en-US"/>
        </a:p>
      </dgm:t>
    </dgm:pt>
    <dgm:pt modelId="{9BDCD6BC-F414-44C5-8CCA-067DD2F1BE8F}" type="parTrans" cxnId="{F94FB439-9841-464F-9242-B11F709E4AA6}">
      <dgm:prSet/>
      <dgm:spPr/>
      <dgm:t>
        <a:bodyPr/>
        <a:lstStyle/>
        <a:p>
          <a:endParaRPr lang="en-US"/>
        </a:p>
      </dgm:t>
    </dgm:pt>
    <dgm:pt modelId="{993B83B2-9ACC-4AE5-8ED3-016B462984EC}" type="sibTrans" cxnId="{F94FB439-9841-464F-9242-B11F709E4AA6}">
      <dgm:prSet/>
      <dgm:spPr/>
      <dgm:t>
        <a:bodyPr/>
        <a:lstStyle/>
        <a:p>
          <a:endParaRPr lang="en-US"/>
        </a:p>
      </dgm:t>
    </dgm:pt>
    <dgm:pt modelId="{03DF0D09-B457-4BA5-9FDE-3ADD11D7543D}">
      <dgm:prSet/>
      <dgm:spPr/>
      <dgm:t>
        <a:bodyPr/>
        <a:lstStyle/>
        <a:p>
          <a:pPr>
            <a:buNone/>
          </a:pPr>
          <a:r>
            <a:rPr lang="fr-FR"/>
            <a:t>  email </a:t>
          </a:r>
          <a:r>
            <a:rPr lang="fr-FR" b="1"/>
            <a:t>VARCHAR</a:t>
          </a:r>
          <a:r>
            <a:rPr lang="fr-FR"/>
            <a:t>(255),</a:t>
          </a:r>
          <a:endParaRPr lang="en-US"/>
        </a:p>
      </dgm:t>
    </dgm:pt>
    <dgm:pt modelId="{D71A257C-2639-4DD7-988B-226FD02E8A40}" type="parTrans" cxnId="{205C47C0-38FA-4B91-BB39-9839CBA02EE7}">
      <dgm:prSet/>
      <dgm:spPr/>
      <dgm:t>
        <a:bodyPr/>
        <a:lstStyle/>
        <a:p>
          <a:endParaRPr lang="en-US"/>
        </a:p>
      </dgm:t>
    </dgm:pt>
    <dgm:pt modelId="{C18403EB-33F8-4B1A-B4CF-FF3E47FB4CFF}" type="sibTrans" cxnId="{205C47C0-38FA-4B91-BB39-9839CBA02EE7}">
      <dgm:prSet/>
      <dgm:spPr/>
      <dgm:t>
        <a:bodyPr/>
        <a:lstStyle/>
        <a:p>
          <a:endParaRPr lang="en-US"/>
        </a:p>
      </dgm:t>
    </dgm:pt>
    <dgm:pt modelId="{E3E61D4B-4F9C-4238-BA28-1133A1DD9796}">
      <dgm:prSet/>
      <dgm:spPr/>
      <dgm:t>
        <a:bodyPr/>
        <a:lstStyle/>
        <a:p>
          <a:pPr>
            <a:buNone/>
          </a:pPr>
          <a:r>
            <a:rPr lang="fr-FR"/>
            <a:t>  </a:t>
          </a:r>
          <a:r>
            <a:rPr lang="fr-FR" err="1"/>
            <a:t>date_naissance</a:t>
          </a:r>
          <a:r>
            <a:rPr lang="fr-FR"/>
            <a:t> </a:t>
          </a:r>
          <a:r>
            <a:rPr lang="fr-FR" b="1"/>
            <a:t>DATE</a:t>
          </a:r>
          <a:r>
            <a:rPr lang="fr-FR"/>
            <a:t>,</a:t>
          </a:r>
          <a:endParaRPr lang="en-US"/>
        </a:p>
      </dgm:t>
    </dgm:pt>
    <dgm:pt modelId="{7D188D8C-6BA1-45CE-8974-D8D669BA20B9}" type="parTrans" cxnId="{30BA6C4A-1579-4124-B0A6-1119A6222189}">
      <dgm:prSet/>
      <dgm:spPr/>
      <dgm:t>
        <a:bodyPr/>
        <a:lstStyle/>
        <a:p>
          <a:endParaRPr lang="en-US"/>
        </a:p>
      </dgm:t>
    </dgm:pt>
    <dgm:pt modelId="{FFD68B92-9781-4E89-895D-43A75FF0AC2A}" type="sibTrans" cxnId="{30BA6C4A-1579-4124-B0A6-1119A6222189}">
      <dgm:prSet/>
      <dgm:spPr/>
      <dgm:t>
        <a:bodyPr/>
        <a:lstStyle/>
        <a:p>
          <a:endParaRPr lang="en-US"/>
        </a:p>
      </dgm:t>
    </dgm:pt>
    <dgm:pt modelId="{23186AD3-BA85-4A05-830E-9806A149E0BD}">
      <dgm:prSet/>
      <dgm:spPr/>
      <dgm:t>
        <a:bodyPr/>
        <a:lstStyle/>
        <a:p>
          <a:pPr>
            <a:buNone/>
          </a:pPr>
          <a:r>
            <a:rPr lang="fr-FR"/>
            <a:t>  pays </a:t>
          </a:r>
          <a:r>
            <a:rPr lang="fr-FR" b="1"/>
            <a:t>VARCHAR</a:t>
          </a:r>
          <a:r>
            <a:rPr lang="fr-FR"/>
            <a:t>(255),</a:t>
          </a:r>
          <a:endParaRPr lang="en-US"/>
        </a:p>
      </dgm:t>
    </dgm:pt>
    <dgm:pt modelId="{A458247F-1F25-4CAF-BEAC-ABBB88223E86}" type="parTrans" cxnId="{7BCEFD41-A1A4-4F02-B499-F2417955B14E}">
      <dgm:prSet/>
      <dgm:spPr/>
      <dgm:t>
        <a:bodyPr/>
        <a:lstStyle/>
        <a:p>
          <a:endParaRPr lang="en-US"/>
        </a:p>
      </dgm:t>
    </dgm:pt>
    <dgm:pt modelId="{05566CC8-452F-4716-8467-4F8042C7F682}" type="sibTrans" cxnId="{7BCEFD41-A1A4-4F02-B499-F2417955B14E}">
      <dgm:prSet/>
      <dgm:spPr/>
      <dgm:t>
        <a:bodyPr/>
        <a:lstStyle/>
        <a:p>
          <a:endParaRPr lang="en-US"/>
        </a:p>
      </dgm:t>
    </dgm:pt>
    <dgm:pt modelId="{407019A9-BA9C-4D1F-956D-6333C651F392}">
      <dgm:prSet/>
      <dgm:spPr/>
      <dgm:t>
        <a:bodyPr/>
        <a:lstStyle/>
        <a:p>
          <a:pPr>
            <a:buNone/>
          </a:pPr>
          <a:r>
            <a:rPr lang="fr-FR"/>
            <a:t>  ville </a:t>
          </a:r>
          <a:r>
            <a:rPr lang="fr-FR" b="1"/>
            <a:t>VARCHAR</a:t>
          </a:r>
          <a:r>
            <a:rPr lang="fr-FR"/>
            <a:t>(255),</a:t>
          </a:r>
          <a:endParaRPr lang="en-US"/>
        </a:p>
      </dgm:t>
    </dgm:pt>
    <dgm:pt modelId="{F460DDA0-CD21-4791-8410-B09CDFD24C28}" type="parTrans" cxnId="{B597F858-528E-48E7-A99F-5872A3EBA2D0}">
      <dgm:prSet/>
      <dgm:spPr/>
      <dgm:t>
        <a:bodyPr/>
        <a:lstStyle/>
        <a:p>
          <a:endParaRPr lang="en-US"/>
        </a:p>
      </dgm:t>
    </dgm:pt>
    <dgm:pt modelId="{85BC32FB-2B3F-4554-885E-B79051E427FA}" type="sibTrans" cxnId="{B597F858-528E-48E7-A99F-5872A3EBA2D0}">
      <dgm:prSet/>
      <dgm:spPr/>
      <dgm:t>
        <a:bodyPr/>
        <a:lstStyle/>
        <a:p>
          <a:endParaRPr lang="en-US"/>
        </a:p>
      </dgm:t>
    </dgm:pt>
    <dgm:pt modelId="{F9CE39CF-1DA9-41D9-A063-ADBCD56767D6}">
      <dgm:prSet/>
      <dgm:spPr/>
      <dgm:t>
        <a:bodyPr/>
        <a:lstStyle/>
        <a:p>
          <a:pPr>
            <a:buNone/>
          </a:pPr>
          <a:r>
            <a:rPr lang="fr-FR"/>
            <a:t>  </a:t>
          </a:r>
          <a:r>
            <a:rPr lang="fr-FR" err="1"/>
            <a:t>code_postal</a:t>
          </a:r>
          <a:r>
            <a:rPr lang="fr-FR"/>
            <a:t> </a:t>
          </a:r>
          <a:r>
            <a:rPr lang="fr-FR" b="1"/>
            <a:t>VARCHAR</a:t>
          </a:r>
          <a:r>
            <a:rPr lang="fr-FR"/>
            <a:t>(5),</a:t>
          </a:r>
          <a:endParaRPr lang="en-US"/>
        </a:p>
      </dgm:t>
    </dgm:pt>
    <dgm:pt modelId="{2A45D288-78D1-418A-8B8E-D0EC1DDE44A9}" type="parTrans" cxnId="{FE30625D-79D6-4EAB-860F-6725F550A893}">
      <dgm:prSet/>
      <dgm:spPr/>
      <dgm:t>
        <a:bodyPr/>
        <a:lstStyle/>
        <a:p>
          <a:endParaRPr lang="en-US"/>
        </a:p>
      </dgm:t>
    </dgm:pt>
    <dgm:pt modelId="{F848391A-A5F8-435B-8DEA-8A7349C3C0EA}" type="sibTrans" cxnId="{FE30625D-79D6-4EAB-860F-6725F550A893}">
      <dgm:prSet/>
      <dgm:spPr/>
      <dgm:t>
        <a:bodyPr/>
        <a:lstStyle/>
        <a:p>
          <a:endParaRPr lang="en-US"/>
        </a:p>
      </dgm:t>
    </dgm:pt>
    <dgm:pt modelId="{F1025DA0-88A2-45D3-94A0-1C4034907B10}">
      <dgm:prSet/>
      <dgm:spPr/>
      <dgm:t>
        <a:bodyPr/>
        <a:lstStyle/>
        <a:p>
          <a:pPr>
            <a:buNone/>
          </a:pPr>
          <a:r>
            <a:rPr lang="fr-FR"/>
            <a:t>  </a:t>
          </a:r>
          <a:r>
            <a:rPr lang="fr-FR" err="1"/>
            <a:t>nombre_achat</a:t>
          </a:r>
          <a:r>
            <a:rPr lang="fr-FR"/>
            <a:t> </a:t>
          </a:r>
          <a:r>
            <a:rPr lang="fr-FR" b="1"/>
            <a:t>INT</a:t>
          </a:r>
          <a:endParaRPr lang="en-US" b="1"/>
        </a:p>
      </dgm:t>
    </dgm:pt>
    <dgm:pt modelId="{99DBD5F5-655C-48E9-ABD6-CE11801E2496}" type="parTrans" cxnId="{6668ECB4-2764-499D-9A77-AB2DEC8E56B1}">
      <dgm:prSet/>
      <dgm:spPr/>
      <dgm:t>
        <a:bodyPr/>
        <a:lstStyle/>
        <a:p>
          <a:endParaRPr lang="en-US"/>
        </a:p>
      </dgm:t>
    </dgm:pt>
    <dgm:pt modelId="{13F8C562-6040-4F3A-A9DE-67959CF61958}" type="sibTrans" cxnId="{6668ECB4-2764-499D-9A77-AB2DEC8E56B1}">
      <dgm:prSet/>
      <dgm:spPr/>
      <dgm:t>
        <a:bodyPr/>
        <a:lstStyle/>
        <a:p>
          <a:endParaRPr lang="en-US"/>
        </a:p>
      </dgm:t>
    </dgm:pt>
    <dgm:pt modelId="{3C908156-4058-47CE-B8B3-DA5AB67433AC}">
      <dgm:prSet/>
      <dgm:spPr/>
      <dgm:t>
        <a:bodyPr/>
        <a:lstStyle/>
        <a:p>
          <a:pPr>
            <a:buNone/>
          </a:pPr>
          <a:r>
            <a:rPr lang="fr-FR"/>
            <a:t>)</a:t>
          </a:r>
          <a:endParaRPr lang="en-US"/>
        </a:p>
      </dgm:t>
    </dgm:pt>
    <dgm:pt modelId="{B2D397D3-5579-4DCF-9288-98E78C932A89}" type="parTrans" cxnId="{29522283-31FF-43E9-8CEE-1CD6106F42F1}">
      <dgm:prSet/>
      <dgm:spPr/>
      <dgm:t>
        <a:bodyPr/>
        <a:lstStyle/>
        <a:p>
          <a:endParaRPr lang="en-US"/>
        </a:p>
      </dgm:t>
    </dgm:pt>
    <dgm:pt modelId="{E5366A18-E16D-4019-85FA-E70EA029D191}" type="sibTrans" cxnId="{29522283-31FF-43E9-8CEE-1CD6106F42F1}">
      <dgm:prSet/>
      <dgm:spPr/>
      <dgm:t>
        <a:bodyPr/>
        <a:lstStyle/>
        <a:p>
          <a:endParaRPr lang="en-US"/>
        </a:p>
      </dgm:t>
    </dgm:pt>
    <dgm:pt modelId="{923B7EA4-8870-4040-AA61-6075A09E3778}" type="pres">
      <dgm:prSet presAssocID="{8B51DA1E-9280-4480-BEF1-6159E55EF071}" presName="Name0" presStyleCnt="0">
        <dgm:presLayoutVars>
          <dgm:dir/>
          <dgm:animLvl val="lvl"/>
          <dgm:resizeHandles val="exact"/>
        </dgm:presLayoutVars>
      </dgm:prSet>
      <dgm:spPr/>
    </dgm:pt>
    <dgm:pt modelId="{45C4E514-8359-408D-94DD-AB5C62B5C38D}" type="pres">
      <dgm:prSet presAssocID="{460925CF-B88D-4396-AA9D-923E928236B3}" presName="composite" presStyleCnt="0"/>
      <dgm:spPr/>
    </dgm:pt>
    <dgm:pt modelId="{04880D4D-CE62-4D54-B945-CE0AA3B044D8}" type="pres">
      <dgm:prSet presAssocID="{460925CF-B88D-4396-AA9D-923E928236B3}" presName="parTx" presStyleLbl="alignNode1" presStyleIdx="0" presStyleCnt="2">
        <dgm:presLayoutVars>
          <dgm:chMax val="0"/>
          <dgm:chPref val="0"/>
          <dgm:bulletEnabled val="1"/>
        </dgm:presLayoutVars>
      </dgm:prSet>
      <dgm:spPr/>
    </dgm:pt>
    <dgm:pt modelId="{4D13BC11-9842-43FF-BAA3-68397B817078}" type="pres">
      <dgm:prSet presAssocID="{460925CF-B88D-4396-AA9D-923E928236B3}" presName="desTx" presStyleLbl="alignAccFollowNode1" presStyleIdx="0" presStyleCnt="2">
        <dgm:presLayoutVars>
          <dgm:bulletEnabled val="1"/>
        </dgm:presLayoutVars>
      </dgm:prSet>
      <dgm:spPr/>
    </dgm:pt>
    <dgm:pt modelId="{3BFA6B58-C56C-4F1A-A315-23640897F69C}" type="pres">
      <dgm:prSet presAssocID="{79B753A7-C0CE-4268-A3C0-2AA9E7095F37}" presName="space" presStyleCnt="0"/>
      <dgm:spPr/>
    </dgm:pt>
    <dgm:pt modelId="{0F171354-AF59-4E7F-81F6-DB509C2AB983}" type="pres">
      <dgm:prSet presAssocID="{F6CBEFC8-6C97-42FE-BB5F-4DE712C099FE}" presName="composite" presStyleCnt="0"/>
      <dgm:spPr/>
    </dgm:pt>
    <dgm:pt modelId="{BA6444D2-C843-4AC4-98F7-E6A8A2111C04}" type="pres">
      <dgm:prSet presAssocID="{F6CBEFC8-6C97-42FE-BB5F-4DE712C099FE}" presName="parTx" presStyleLbl="alignNode1" presStyleIdx="1" presStyleCnt="2">
        <dgm:presLayoutVars>
          <dgm:chMax val="0"/>
          <dgm:chPref val="0"/>
          <dgm:bulletEnabled val="1"/>
        </dgm:presLayoutVars>
      </dgm:prSet>
      <dgm:spPr/>
    </dgm:pt>
    <dgm:pt modelId="{CF6F3878-032C-4D92-8639-B4A5AE3F43BD}" type="pres">
      <dgm:prSet presAssocID="{F6CBEFC8-6C97-42FE-BB5F-4DE712C099FE}" presName="desTx" presStyleLbl="alignAccFollowNode1" presStyleIdx="1" presStyleCnt="2">
        <dgm:presLayoutVars>
          <dgm:bulletEnabled val="1"/>
        </dgm:presLayoutVars>
      </dgm:prSet>
      <dgm:spPr/>
    </dgm:pt>
  </dgm:ptLst>
  <dgm:cxnLst>
    <dgm:cxn modelId="{4CAA7A03-56E8-402A-96B1-1511922789FC}" type="presOf" srcId="{F6CBEFC8-6C97-42FE-BB5F-4DE712C099FE}" destId="{BA6444D2-C843-4AC4-98F7-E6A8A2111C04}" srcOrd="0" destOrd="0" presId="urn:microsoft.com/office/officeart/2005/8/layout/hList1"/>
    <dgm:cxn modelId="{B215DA0D-973A-441B-9D62-4CB7AFF5EECB}" srcId="{F6CBEFC8-6C97-42FE-BB5F-4DE712C099FE}" destId="{D294C72D-0D13-4D4E-9F02-1F69336F2B60}" srcOrd="1" destOrd="0" parTransId="{3B452FF6-2696-4E76-ACB0-8C5D73B213CA}" sibTransId="{07603199-240A-4294-AEA1-C89210528D82}"/>
    <dgm:cxn modelId="{20FE9910-7386-487B-8284-5BF3D8CE5B46}" srcId="{F6CBEFC8-6C97-42FE-BB5F-4DE712C099FE}" destId="{3CAA2A06-9C98-49BF-B080-E15DB0C2755A}" srcOrd="2" destOrd="0" parTransId="{32E69FE3-3F1D-4ADD-81D3-A64D5D7EBCB8}" sibTransId="{CA9B8674-63F4-4D08-86FD-2351443DDE7C}"/>
    <dgm:cxn modelId="{229B5E13-D1B4-4C9D-9AE9-5999C2612B96}" type="presOf" srcId="{03DF0D09-B457-4BA5-9FDE-3ADD11D7543D}" destId="{CF6F3878-032C-4D92-8639-B4A5AE3F43BD}" srcOrd="0" destOrd="5" presId="urn:microsoft.com/office/officeart/2005/8/layout/hList1"/>
    <dgm:cxn modelId="{B58CBD15-5308-4093-897B-678187494C84}" type="presOf" srcId="{F9CE39CF-1DA9-41D9-A063-ADBCD56767D6}" destId="{CF6F3878-032C-4D92-8639-B4A5AE3F43BD}" srcOrd="0" destOrd="9" presId="urn:microsoft.com/office/officeart/2005/8/layout/hList1"/>
    <dgm:cxn modelId="{71523F1C-BF01-43E7-A230-A7E60DEFF7FF}" type="presOf" srcId="{E3E61D4B-4F9C-4238-BA28-1133A1DD9796}" destId="{CF6F3878-032C-4D92-8639-B4A5AE3F43BD}" srcOrd="0" destOrd="6" presId="urn:microsoft.com/office/officeart/2005/8/layout/hList1"/>
    <dgm:cxn modelId="{E481A924-66F9-4CAE-BEC3-093E3C2379BC}" type="presOf" srcId="{407019A9-BA9C-4D1F-956D-6333C651F392}" destId="{CF6F3878-032C-4D92-8639-B4A5AE3F43BD}" srcOrd="0" destOrd="8" presId="urn:microsoft.com/office/officeart/2005/8/layout/hList1"/>
    <dgm:cxn modelId="{E88C8F29-017A-4005-B429-3442809D7E49}" type="presOf" srcId="{23186AD3-BA85-4A05-830E-9806A149E0BD}" destId="{CF6F3878-032C-4D92-8639-B4A5AE3F43BD}" srcOrd="0" destOrd="7" presId="urn:microsoft.com/office/officeart/2005/8/layout/hList1"/>
    <dgm:cxn modelId="{158FEB2F-74D3-4B90-A2AF-FBADEB72F55A}" srcId="{460925CF-B88D-4396-AA9D-923E928236B3}" destId="{27AC3436-9955-424D-8F02-E42DE14CC3BD}" srcOrd="6" destOrd="0" parTransId="{99A1B99F-5519-4319-9742-8DB2F5A1AD19}" sibTransId="{045F6EDA-2248-44AA-A3FE-902F5ED387C1}"/>
    <dgm:cxn modelId="{DA454F30-F7A1-4CA6-86AB-FF7851B3D5EC}" type="presOf" srcId="{8D52E0E8-4C50-49B3-BBA3-F3397D460B19}" destId="{4D13BC11-9842-43FF-BAA3-68397B817078}" srcOrd="0" destOrd="0" presId="urn:microsoft.com/office/officeart/2005/8/layout/hList1"/>
    <dgm:cxn modelId="{772DFA31-F020-4704-BE23-6DE9D61D3F83}" srcId="{F6CBEFC8-6C97-42FE-BB5F-4DE712C099FE}" destId="{AA1FC41F-7592-4111-A377-7912AE637175}" srcOrd="0" destOrd="0" parTransId="{0FD7AD8C-2FAE-4C03-8BBE-E34A3AC18799}" sibTransId="{419C7DE1-0B2A-4D05-B3CF-18E83097E140}"/>
    <dgm:cxn modelId="{F94FB439-9841-464F-9242-B11F709E4AA6}" srcId="{F6CBEFC8-6C97-42FE-BB5F-4DE712C099FE}" destId="{DC62720B-CAB5-4A26-B88D-3AE8878A394C}" srcOrd="4" destOrd="0" parTransId="{9BDCD6BC-F414-44C5-8CCA-067DD2F1BE8F}" sibTransId="{993B83B2-9ACC-4AE5-8ED3-016B462984EC}"/>
    <dgm:cxn modelId="{39E9A33A-C181-46DC-A4B2-210E1A447A6E}" type="presOf" srcId="{C0DC4BB5-F9C9-4C79-9C4C-F5F98E3F70BC}" destId="{CF6F3878-032C-4D92-8639-B4A5AE3F43BD}" srcOrd="0" destOrd="3" presId="urn:microsoft.com/office/officeart/2005/8/layout/hList1"/>
    <dgm:cxn modelId="{E717ED40-D17E-402D-8C96-2CEBFC9B7467}" type="presOf" srcId="{B92E66F8-ECD5-4246-81CB-0BC898CDD2ED}" destId="{4D13BC11-9842-43FF-BAA3-68397B817078}" srcOrd="0" destOrd="5" presId="urn:microsoft.com/office/officeart/2005/8/layout/hList1"/>
    <dgm:cxn modelId="{FE30625D-79D6-4EAB-860F-6725F550A893}" srcId="{F6CBEFC8-6C97-42FE-BB5F-4DE712C099FE}" destId="{F9CE39CF-1DA9-41D9-A063-ADBCD56767D6}" srcOrd="9" destOrd="0" parTransId="{2A45D288-78D1-418A-8B8E-D0EC1DDE44A9}" sibTransId="{F848391A-A5F8-435B-8DEA-8A7349C3C0EA}"/>
    <dgm:cxn modelId="{7BCEFD41-A1A4-4F02-B499-F2417955B14E}" srcId="{F6CBEFC8-6C97-42FE-BB5F-4DE712C099FE}" destId="{23186AD3-BA85-4A05-830E-9806A149E0BD}" srcOrd="7" destOrd="0" parTransId="{A458247F-1F25-4CAF-BEAC-ABBB88223E86}" sibTransId="{05566CC8-452F-4716-8467-4F8042C7F682}"/>
    <dgm:cxn modelId="{71396A44-C2CB-4579-9F55-D5BB3986268B}" type="presOf" srcId="{27AC3436-9955-424D-8F02-E42DE14CC3BD}" destId="{4D13BC11-9842-43FF-BAA3-68397B817078}" srcOrd="0" destOrd="6" presId="urn:microsoft.com/office/officeart/2005/8/layout/hList1"/>
    <dgm:cxn modelId="{FA610647-FE66-4678-8437-E0888BB60D71}" type="presOf" srcId="{AA1FC41F-7592-4111-A377-7912AE637175}" destId="{CF6F3878-032C-4D92-8639-B4A5AE3F43BD}" srcOrd="0" destOrd="0" presId="urn:microsoft.com/office/officeart/2005/8/layout/hList1"/>
    <dgm:cxn modelId="{D7AB336A-0540-44C9-BD4F-A52EBBB8F788}" type="presOf" srcId="{35B2F9FA-A905-4A1B-A8EA-77D3470E787E}" destId="{4D13BC11-9842-43FF-BAA3-68397B817078}" srcOrd="0" destOrd="4" presId="urn:microsoft.com/office/officeart/2005/8/layout/hList1"/>
    <dgm:cxn modelId="{30BA6C4A-1579-4124-B0A6-1119A6222189}" srcId="{F6CBEFC8-6C97-42FE-BB5F-4DE712C099FE}" destId="{E3E61D4B-4F9C-4238-BA28-1133A1DD9796}" srcOrd="6" destOrd="0" parTransId="{7D188D8C-6BA1-45CE-8974-D8D669BA20B9}" sibTransId="{FFD68B92-9781-4E89-895D-43A75FF0AC2A}"/>
    <dgm:cxn modelId="{103B0950-C0AF-4AB0-80F6-1315FFCF0C80}" srcId="{460925CF-B88D-4396-AA9D-923E928236B3}" destId="{04892FFA-613E-449E-A261-8507808A80B3}" srcOrd="2" destOrd="0" parTransId="{71252BF0-D8AC-482B-8C0A-BCD954255984}" sibTransId="{551C81EE-ACC0-4A80-89C9-5A96DF202A9F}"/>
    <dgm:cxn modelId="{2D045371-1E5F-460E-9DBD-696DD091CE59}" srcId="{8B51DA1E-9280-4480-BEF1-6159E55EF071}" destId="{460925CF-B88D-4396-AA9D-923E928236B3}" srcOrd="0" destOrd="0" parTransId="{83272CF3-5A21-4DEB-BDC8-C95B46754EBC}" sibTransId="{79B753A7-C0CE-4268-A3C0-2AA9E7095F37}"/>
    <dgm:cxn modelId="{B597F858-528E-48E7-A99F-5872A3EBA2D0}" srcId="{F6CBEFC8-6C97-42FE-BB5F-4DE712C099FE}" destId="{407019A9-BA9C-4D1F-956D-6333C651F392}" srcOrd="8" destOrd="0" parTransId="{F460DDA0-CD21-4791-8410-B09CDFD24C28}" sibTransId="{85BC32FB-2B3F-4554-885E-B79051E427FA}"/>
    <dgm:cxn modelId="{29522283-31FF-43E9-8CEE-1CD6106F42F1}" srcId="{F6CBEFC8-6C97-42FE-BB5F-4DE712C099FE}" destId="{3C908156-4058-47CE-B8B3-DA5AB67433AC}" srcOrd="11" destOrd="0" parTransId="{B2D397D3-5579-4DCF-9288-98E78C932A89}" sibTransId="{E5366A18-E16D-4019-85FA-E70EA029D191}"/>
    <dgm:cxn modelId="{4439BC90-9AA9-4D84-86F3-373C40D8AC19}" type="presOf" srcId="{8B51DA1E-9280-4480-BEF1-6159E55EF071}" destId="{923B7EA4-8870-4040-AA61-6075A09E3778}" srcOrd="0" destOrd="0" presId="urn:microsoft.com/office/officeart/2005/8/layout/hList1"/>
    <dgm:cxn modelId="{7CE54C94-1D97-43E7-9713-0E4D39AA1208}" type="presOf" srcId="{DC62720B-CAB5-4A26-B88D-3AE8878A394C}" destId="{CF6F3878-032C-4D92-8639-B4A5AE3F43BD}" srcOrd="0" destOrd="4" presId="urn:microsoft.com/office/officeart/2005/8/layout/hList1"/>
    <dgm:cxn modelId="{335DC894-D4D2-44CF-BBB8-E26BD26686F0}" srcId="{F6CBEFC8-6C97-42FE-BB5F-4DE712C099FE}" destId="{C0DC4BB5-F9C9-4C79-9C4C-F5F98E3F70BC}" srcOrd="3" destOrd="0" parTransId="{873CB69B-B6F2-431B-84C9-CD6A9BF17637}" sibTransId="{DEF04719-2882-4FB2-94A8-81A72D373B57}"/>
    <dgm:cxn modelId="{FBB92B96-0E2C-4738-A46E-0079DE98BF57}" srcId="{8B51DA1E-9280-4480-BEF1-6159E55EF071}" destId="{F6CBEFC8-6C97-42FE-BB5F-4DE712C099FE}" srcOrd="1" destOrd="0" parTransId="{81AC5F12-8525-44FB-BCEF-40ED24C0C1C5}" sibTransId="{11A7D19D-9622-41A4-A47C-378E193E67F8}"/>
    <dgm:cxn modelId="{7FF78696-C251-44DE-80F3-2A09A59BD8CC}" type="presOf" srcId="{04892FFA-613E-449E-A261-8507808A80B3}" destId="{4D13BC11-9842-43FF-BAA3-68397B817078}" srcOrd="0" destOrd="2" presId="urn:microsoft.com/office/officeart/2005/8/layout/hList1"/>
    <dgm:cxn modelId="{0B58BD9F-9B55-477A-AE48-3DFBB6DEF65D}" type="presOf" srcId="{1B5DFDFE-95FA-4925-A40A-3567110B169A}" destId="{4D13BC11-9842-43FF-BAA3-68397B817078}" srcOrd="0" destOrd="3" presId="urn:microsoft.com/office/officeart/2005/8/layout/hList1"/>
    <dgm:cxn modelId="{FE17ADAB-FF88-4F05-807C-009B56E75CCC}" srcId="{460925CF-B88D-4396-AA9D-923E928236B3}" destId="{166F9ED8-1D52-4129-A995-FCC58D909E09}" srcOrd="1" destOrd="0" parTransId="{A212E851-DD84-4B0A-80FB-B67FC7255FAD}" sibTransId="{5475F6E8-7A48-4645-B158-D5D92EC76D88}"/>
    <dgm:cxn modelId="{A924C6B4-EE6C-42C7-83A2-2CE2D948F691}" type="presOf" srcId="{460925CF-B88D-4396-AA9D-923E928236B3}" destId="{04880D4D-CE62-4D54-B945-CE0AA3B044D8}" srcOrd="0" destOrd="0" presId="urn:microsoft.com/office/officeart/2005/8/layout/hList1"/>
    <dgm:cxn modelId="{6668ECB4-2764-499D-9A77-AB2DEC8E56B1}" srcId="{F6CBEFC8-6C97-42FE-BB5F-4DE712C099FE}" destId="{F1025DA0-88A2-45D3-94A0-1C4034907B10}" srcOrd="10" destOrd="0" parTransId="{99DBD5F5-655C-48E9-ABD6-CE11801E2496}" sibTransId="{13F8C562-6040-4F3A-A9DE-67959CF61958}"/>
    <dgm:cxn modelId="{205C47C0-38FA-4B91-BB39-9839CBA02EE7}" srcId="{F6CBEFC8-6C97-42FE-BB5F-4DE712C099FE}" destId="{03DF0D09-B457-4BA5-9FDE-3ADD11D7543D}" srcOrd="5" destOrd="0" parTransId="{D71A257C-2639-4DD7-988B-226FD02E8A40}" sibTransId="{C18403EB-33F8-4B1A-B4CF-FF3E47FB4CFF}"/>
    <dgm:cxn modelId="{7C4C6CC4-44E1-42B6-969A-977234E348B0}" srcId="{460925CF-B88D-4396-AA9D-923E928236B3}" destId="{B92E66F8-ECD5-4246-81CB-0BC898CDD2ED}" srcOrd="5" destOrd="0" parTransId="{A4842BED-6A42-4F0B-B306-4D0679EC7477}" sibTransId="{2D9D8C62-9C00-4B76-920E-512F19073EC2}"/>
    <dgm:cxn modelId="{740DF6CC-8E3E-4CDB-BAC8-0F3A6DDFC7D6}" srcId="{460925CF-B88D-4396-AA9D-923E928236B3}" destId="{35B2F9FA-A905-4A1B-A8EA-77D3470E787E}" srcOrd="4" destOrd="0" parTransId="{5E0C3E53-5E80-42FB-A258-390D51FE4486}" sibTransId="{F53F0CA7-4FF5-4934-84F8-A44FBAA65383}"/>
    <dgm:cxn modelId="{1B992ECD-2B4D-4CD9-A7FB-AE7FC2FACAC4}" type="presOf" srcId="{F1025DA0-88A2-45D3-94A0-1C4034907B10}" destId="{CF6F3878-032C-4D92-8639-B4A5AE3F43BD}" srcOrd="0" destOrd="10" presId="urn:microsoft.com/office/officeart/2005/8/layout/hList1"/>
    <dgm:cxn modelId="{181991D0-30FC-49A1-B896-3071FA192342}" srcId="{460925CF-B88D-4396-AA9D-923E928236B3}" destId="{1B5DFDFE-95FA-4925-A40A-3567110B169A}" srcOrd="3" destOrd="0" parTransId="{9293A717-E990-4741-B1C9-61EEEBAAF817}" sibTransId="{715C3489-36C5-4875-8B7B-335AEC2755F9}"/>
    <dgm:cxn modelId="{1B7EC5D8-DC93-41BD-B8FF-5BA9AF901753}" type="presOf" srcId="{3CAA2A06-9C98-49BF-B080-E15DB0C2755A}" destId="{CF6F3878-032C-4D92-8639-B4A5AE3F43BD}" srcOrd="0" destOrd="2" presId="urn:microsoft.com/office/officeart/2005/8/layout/hList1"/>
    <dgm:cxn modelId="{E1E00CDC-D23C-40A3-8F95-7876CCF01DD4}" type="presOf" srcId="{166F9ED8-1D52-4129-A995-FCC58D909E09}" destId="{4D13BC11-9842-43FF-BAA3-68397B817078}" srcOrd="0" destOrd="1" presId="urn:microsoft.com/office/officeart/2005/8/layout/hList1"/>
    <dgm:cxn modelId="{875C32EC-A76C-40F2-9C79-1F4EBC4F4EE1}" type="presOf" srcId="{3C908156-4058-47CE-B8B3-DA5AB67433AC}" destId="{CF6F3878-032C-4D92-8639-B4A5AE3F43BD}" srcOrd="0" destOrd="11" presId="urn:microsoft.com/office/officeart/2005/8/layout/hList1"/>
    <dgm:cxn modelId="{11A4C2FD-0B39-4022-AD5F-0ECC0E2659D8}" type="presOf" srcId="{D294C72D-0D13-4D4E-9F02-1F69336F2B60}" destId="{CF6F3878-032C-4D92-8639-B4A5AE3F43BD}" srcOrd="0" destOrd="1" presId="urn:microsoft.com/office/officeart/2005/8/layout/hList1"/>
    <dgm:cxn modelId="{E811BEFF-C394-465E-BA52-7B65EDF7E1DD}" srcId="{460925CF-B88D-4396-AA9D-923E928236B3}" destId="{8D52E0E8-4C50-49B3-BBA3-F3397D460B19}" srcOrd="0" destOrd="0" parTransId="{BF9E6415-0A48-41CB-BFA5-4F0A9889487B}" sibTransId="{4C46005A-8C63-438E-85C8-1ED261C3AE5E}"/>
    <dgm:cxn modelId="{83883FEE-3CDA-40E1-BE89-E3A60CC0BFD0}" type="presParOf" srcId="{923B7EA4-8870-4040-AA61-6075A09E3778}" destId="{45C4E514-8359-408D-94DD-AB5C62B5C38D}" srcOrd="0" destOrd="0" presId="urn:microsoft.com/office/officeart/2005/8/layout/hList1"/>
    <dgm:cxn modelId="{9A8F7CC3-ACE2-4A19-A39B-5FD91E39680F}" type="presParOf" srcId="{45C4E514-8359-408D-94DD-AB5C62B5C38D}" destId="{04880D4D-CE62-4D54-B945-CE0AA3B044D8}" srcOrd="0" destOrd="0" presId="urn:microsoft.com/office/officeart/2005/8/layout/hList1"/>
    <dgm:cxn modelId="{EA5C94E8-7B27-4A9F-ABC5-4F4B94655C7C}" type="presParOf" srcId="{45C4E514-8359-408D-94DD-AB5C62B5C38D}" destId="{4D13BC11-9842-43FF-BAA3-68397B817078}" srcOrd="1" destOrd="0" presId="urn:microsoft.com/office/officeart/2005/8/layout/hList1"/>
    <dgm:cxn modelId="{7689114D-7D52-4427-B018-91B5EF9E5688}" type="presParOf" srcId="{923B7EA4-8870-4040-AA61-6075A09E3778}" destId="{3BFA6B58-C56C-4F1A-A315-23640897F69C}" srcOrd="1" destOrd="0" presId="urn:microsoft.com/office/officeart/2005/8/layout/hList1"/>
    <dgm:cxn modelId="{54D68EEE-B3A0-47F5-8BD3-4339C05A6FBB}" type="presParOf" srcId="{923B7EA4-8870-4040-AA61-6075A09E3778}" destId="{0F171354-AF59-4E7F-81F6-DB509C2AB983}" srcOrd="2" destOrd="0" presId="urn:microsoft.com/office/officeart/2005/8/layout/hList1"/>
    <dgm:cxn modelId="{922E85D7-FA31-4743-8677-6A02C271BA59}" type="presParOf" srcId="{0F171354-AF59-4E7F-81F6-DB509C2AB983}" destId="{BA6444D2-C843-4AC4-98F7-E6A8A2111C04}" srcOrd="0" destOrd="0" presId="urn:microsoft.com/office/officeart/2005/8/layout/hList1"/>
    <dgm:cxn modelId="{3BF164F0-1248-4522-81A1-78A25247B321}" type="presParOf" srcId="{0F171354-AF59-4E7F-81F6-DB509C2AB983}" destId="{CF6F3878-032C-4D92-8639-B4A5AE3F43B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9402037-9E18-4396-8D26-B070395A8F08}"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2C9FF0F-99AE-4575-A947-99771AFEEB00}">
      <dgm:prSet/>
      <dgm:spPr/>
      <dgm:t>
        <a:bodyPr/>
        <a:lstStyle/>
        <a:p>
          <a:pPr>
            <a:lnSpc>
              <a:spcPct val="100000"/>
            </a:lnSpc>
            <a:defRPr cap="all"/>
          </a:pPr>
          <a:r>
            <a:rPr lang="fr-FR"/>
            <a:t>Créer des bases de données</a:t>
          </a:r>
          <a:endParaRPr lang="en-US"/>
        </a:p>
      </dgm:t>
    </dgm:pt>
    <dgm:pt modelId="{9D1D41DF-F196-46A4-8168-B3728B7C2567}" type="parTrans" cxnId="{74D8AB59-1D94-4E0B-A2F1-5FFA19654DF4}">
      <dgm:prSet/>
      <dgm:spPr/>
      <dgm:t>
        <a:bodyPr/>
        <a:lstStyle/>
        <a:p>
          <a:endParaRPr lang="en-US"/>
        </a:p>
      </dgm:t>
    </dgm:pt>
    <dgm:pt modelId="{83E28DBD-5E72-4F65-8768-609D1261187B}" type="sibTrans" cxnId="{74D8AB59-1D94-4E0B-A2F1-5FFA19654DF4}">
      <dgm:prSet/>
      <dgm:spPr/>
      <dgm:t>
        <a:bodyPr/>
        <a:lstStyle/>
        <a:p>
          <a:endParaRPr lang="en-US"/>
        </a:p>
      </dgm:t>
    </dgm:pt>
    <dgm:pt modelId="{6CD8FF6E-250F-41B6-B858-C4C9C4DB7759}">
      <dgm:prSet/>
      <dgm:spPr/>
      <dgm:t>
        <a:bodyPr/>
        <a:lstStyle/>
        <a:p>
          <a:pPr>
            <a:lnSpc>
              <a:spcPct val="100000"/>
            </a:lnSpc>
            <a:defRPr cap="all"/>
          </a:pPr>
          <a:r>
            <a:rPr lang="fr-FR"/>
            <a:t>Supprimer des bases</a:t>
          </a:r>
          <a:endParaRPr lang="en-US"/>
        </a:p>
      </dgm:t>
    </dgm:pt>
    <dgm:pt modelId="{2E207F1C-5695-45E6-895A-E2FBDBAB88B9}" type="parTrans" cxnId="{77717408-D096-482A-A150-C4B54E392ABC}">
      <dgm:prSet/>
      <dgm:spPr/>
      <dgm:t>
        <a:bodyPr/>
        <a:lstStyle/>
        <a:p>
          <a:endParaRPr lang="en-US"/>
        </a:p>
      </dgm:t>
    </dgm:pt>
    <dgm:pt modelId="{80812A14-5D72-4DA4-848F-894D5925B8FB}" type="sibTrans" cxnId="{77717408-D096-482A-A150-C4B54E392ABC}">
      <dgm:prSet/>
      <dgm:spPr/>
      <dgm:t>
        <a:bodyPr/>
        <a:lstStyle/>
        <a:p>
          <a:endParaRPr lang="en-US"/>
        </a:p>
      </dgm:t>
    </dgm:pt>
    <dgm:pt modelId="{D82C2E83-D19F-48D8-ABF9-D0389137BA2E}" type="pres">
      <dgm:prSet presAssocID="{99402037-9E18-4396-8D26-B070395A8F08}" presName="root" presStyleCnt="0">
        <dgm:presLayoutVars>
          <dgm:dir/>
          <dgm:resizeHandles val="exact"/>
        </dgm:presLayoutVars>
      </dgm:prSet>
      <dgm:spPr/>
    </dgm:pt>
    <dgm:pt modelId="{5C160BB6-AA40-4BE8-8EB0-C41B716473F7}" type="pres">
      <dgm:prSet presAssocID="{32C9FF0F-99AE-4575-A947-99771AFEEB00}" presName="compNode" presStyleCnt="0"/>
      <dgm:spPr/>
    </dgm:pt>
    <dgm:pt modelId="{65E1A48F-77E7-4C58-B2CD-9698E2DC80CE}" type="pres">
      <dgm:prSet presAssocID="{32C9FF0F-99AE-4575-A947-99771AFEEB00}" presName="iconBgRect" presStyleLbl="bgShp" presStyleIdx="0" presStyleCnt="2"/>
      <dgm:spPr/>
    </dgm:pt>
    <dgm:pt modelId="{056DE6BC-5D5A-4E96-86F6-82643E5AEB2B}" type="pres">
      <dgm:prSet presAssocID="{32C9FF0F-99AE-4575-A947-99771AFEEB0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DA8BEC03-FBCA-4941-8188-741C54BC86F4}" type="pres">
      <dgm:prSet presAssocID="{32C9FF0F-99AE-4575-A947-99771AFEEB00}" presName="spaceRect" presStyleCnt="0"/>
      <dgm:spPr/>
    </dgm:pt>
    <dgm:pt modelId="{420D7041-5A66-4033-B88D-1811AF42C5A6}" type="pres">
      <dgm:prSet presAssocID="{32C9FF0F-99AE-4575-A947-99771AFEEB00}" presName="textRect" presStyleLbl="revTx" presStyleIdx="0" presStyleCnt="2">
        <dgm:presLayoutVars>
          <dgm:chMax val="1"/>
          <dgm:chPref val="1"/>
        </dgm:presLayoutVars>
      </dgm:prSet>
      <dgm:spPr/>
    </dgm:pt>
    <dgm:pt modelId="{877F71B8-7C17-4A6E-B3A2-A6069ED27740}" type="pres">
      <dgm:prSet presAssocID="{83E28DBD-5E72-4F65-8768-609D1261187B}" presName="sibTrans" presStyleCnt="0"/>
      <dgm:spPr/>
    </dgm:pt>
    <dgm:pt modelId="{ABF4D8A3-900D-41B1-B4A5-CFC25D16534B}" type="pres">
      <dgm:prSet presAssocID="{6CD8FF6E-250F-41B6-B858-C4C9C4DB7759}" presName="compNode" presStyleCnt="0"/>
      <dgm:spPr/>
    </dgm:pt>
    <dgm:pt modelId="{74120679-B642-4DB8-9322-62464C5831B0}" type="pres">
      <dgm:prSet presAssocID="{6CD8FF6E-250F-41B6-B858-C4C9C4DB7759}" presName="iconBgRect" presStyleLbl="bgShp" presStyleIdx="1" presStyleCnt="2"/>
      <dgm:spPr/>
    </dgm:pt>
    <dgm:pt modelId="{7C15939A-0182-4AC3-AC03-D67B47F74B40}" type="pres">
      <dgm:prSet presAssocID="{6CD8FF6E-250F-41B6-B858-C4C9C4DB775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raser"/>
        </a:ext>
      </dgm:extLst>
    </dgm:pt>
    <dgm:pt modelId="{48115484-59F3-4F91-8CEC-9D37397EF41B}" type="pres">
      <dgm:prSet presAssocID="{6CD8FF6E-250F-41B6-B858-C4C9C4DB7759}" presName="spaceRect" presStyleCnt="0"/>
      <dgm:spPr/>
    </dgm:pt>
    <dgm:pt modelId="{D73DDF58-090B-47B3-9B66-F1372704A9FE}" type="pres">
      <dgm:prSet presAssocID="{6CD8FF6E-250F-41B6-B858-C4C9C4DB7759}" presName="textRect" presStyleLbl="revTx" presStyleIdx="1" presStyleCnt="2">
        <dgm:presLayoutVars>
          <dgm:chMax val="1"/>
          <dgm:chPref val="1"/>
        </dgm:presLayoutVars>
      </dgm:prSet>
      <dgm:spPr/>
    </dgm:pt>
  </dgm:ptLst>
  <dgm:cxnLst>
    <dgm:cxn modelId="{77717408-D096-482A-A150-C4B54E392ABC}" srcId="{99402037-9E18-4396-8D26-B070395A8F08}" destId="{6CD8FF6E-250F-41B6-B858-C4C9C4DB7759}" srcOrd="1" destOrd="0" parTransId="{2E207F1C-5695-45E6-895A-E2FBDBAB88B9}" sibTransId="{80812A14-5D72-4DA4-848F-894D5925B8FB}"/>
    <dgm:cxn modelId="{6FE84366-9BB2-4512-9A40-B9FBB2C3ACE8}" type="presOf" srcId="{6CD8FF6E-250F-41B6-B858-C4C9C4DB7759}" destId="{D73DDF58-090B-47B3-9B66-F1372704A9FE}" srcOrd="0" destOrd="0" presId="urn:microsoft.com/office/officeart/2018/5/layout/IconCircleLabelList"/>
    <dgm:cxn modelId="{DAAD9670-7372-497E-B91D-1D8F82BE6FB4}" type="presOf" srcId="{32C9FF0F-99AE-4575-A947-99771AFEEB00}" destId="{420D7041-5A66-4033-B88D-1811AF42C5A6}" srcOrd="0" destOrd="0" presId="urn:microsoft.com/office/officeart/2018/5/layout/IconCircleLabelList"/>
    <dgm:cxn modelId="{74D8AB59-1D94-4E0B-A2F1-5FFA19654DF4}" srcId="{99402037-9E18-4396-8D26-B070395A8F08}" destId="{32C9FF0F-99AE-4575-A947-99771AFEEB00}" srcOrd="0" destOrd="0" parTransId="{9D1D41DF-F196-46A4-8168-B3728B7C2567}" sibTransId="{83E28DBD-5E72-4F65-8768-609D1261187B}"/>
    <dgm:cxn modelId="{638CA5AE-A3A0-4FB7-AF00-76F7B94E4D39}" type="presOf" srcId="{99402037-9E18-4396-8D26-B070395A8F08}" destId="{D82C2E83-D19F-48D8-ABF9-D0389137BA2E}" srcOrd="0" destOrd="0" presId="urn:microsoft.com/office/officeart/2018/5/layout/IconCircleLabelList"/>
    <dgm:cxn modelId="{F03483B6-F437-4DBB-8027-A589438CEAB2}" type="presParOf" srcId="{D82C2E83-D19F-48D8-ABF9-D0389137BA2E}" destId="{5C160BB6-AA40-4BE8-8EB0-C41B716473F7}" srcOrd="0" destOrd="0" presId="urn:microsoft.com/office/officeart/2018/5/layout/IconCircleLabelList"/>
    <dgm:cxn modelId="{80B68BEC-1D3D-430A-BCA8-39535FF181DD}" type="presParOf" srcId="{5C160BB6-AA40-4BE8-8EB0-C41B716473F7}" destId="{65E1A48F-77E7-4C58-B2CD-9698E2DC80CE}" srcOrd="0" destOrd="0" presId="urn:microsoft.com/office/officeart/2018/5/layout/IconCircleLabelList"/>
    <dgm:cxn modelId="{928EC030-A1C4-4612-AADC-4C335DE43BEC}" type="presParOf" srcId="{5C160BB6-AA40-4BE8-8EB0-C41B716473F7}" destId="{056DE6BC-5D5A-4E96-86F6-82643E5AEB2B}" srcOrd="1" destOrd="0" presId="urn:microsoft.com/office/officeart/2018/5/layout/IconCircleLabelList"/>
    <dgm:cxn modelId="{7BA63F07-E268-4CF3-BFC3-71BDAB174F5B}" type="presParOf" srcId="{5C160BB6-AA40-4BE8-8EB0-C41B716473F7}" destId="{DA8BEC03-FBCA-4941-8188-741C54BC86F4}" srcOrd="2" destOrd="0" presId="urn:microsoft.com/office/officeart/2018/5/layout/IconCircleLabelList"/>
    <dgm:cxn modelId="{0F10A3B2-ABAF-445D-ACC5-334E1C6D8B6A}" type="presParOf" srcId="{5C160BB6-AA40-4BE8-8EB0-C41B716473F7}" destId="{420D7041-5A66-4033-B88D-1811AF42C5A6}" srcOrd="3" destOrd="0" presId="urn:microsoft.com/office/officeart/2018/5/layout/IconCircleLabelList"/>
    <dgm:cxn modelId="{CD2B2E0D-34F4-4506-A549-AC68527A306C}" type="presParOf" srcId="{D82C2E83-D19F-48D8-ABF9-D0389137BA2E}" destId="{877F71B8-7C17-4A6E-B3A2-A6069ED27740}" srcOrd="1" destOrd="0" presId="urn:microsoft.com/office/officeart/2018/5/layout/IconCircleLabelList"/>
    <dgm:cxn modelId="{EDE015ED-BDC5-4416-8316-84F124D864B6}" type="presParOf" srcId="{D82C2E83-D19F-48D8-ABF9-D0389137BA2E}" destId="{ABF4D8A3-900D-41B1-B4A5-CFC25D16534B}" srcOrd="2" destOrd="0" presId="urn:microsoft.com/office/officeart/2018/5/layout/IconCircleLabelList"/>
    <dgm:cxn modelId="{7D40A08B-C091-411A-B4F2-4F53B567D361}" type="presParOf" srcId="{ABF4D8A3-900D-41B1-B4A5-CFC25D16534B}" destId="{74120679-B642-4DB8-9322-62464C5831B0}" srcOrd="0" destOrd="0" presId="urn:microsoft.com/office/officeart/2018/5/layout/IconCircleLabelList"/>
    <dgm:cxn modelId="{4024DC8F-C87E-4283-80F0-3217B38296C9}" type="presParOf" srcId="{ABF4D8A3-900D-41B1-B4A5-CFC25D16534B}" destId="{7C15939A-0182-4AC3-AC03-D67B47F74B40}" srcOrd="1" destOrd="0" presId="urn:microsoft.com/office/officeart/2018/5/layout/IconCircleLabelList"/>
    <dgm:cxn modelId="{2DECF097-9664-4800-8773-B483DD7C2E44}" type="presParOf" srcId="{ABF4D8A3-900D-41B1-B4A5-CFC25D16534B}" destId="{48115484-59F3-4F91-8CEC-9D37397EF41B}" srcOrd="2" destOrd="0" presId="urn:microsoft.com/office/officeart/2018/5/layout/IconCircleLabelList"/>
    <dgm:cxn modelId="{DECE899C-2341-48DC-9811-EF662304E456}" type="presParOf" srcId="{ABF4D8A3-900D-41B1-B4A5-CFC25D16534B}" destId="{D73DDF58-090B-47B3-9B66-F1372704A9F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7AB4341-2A1F-4D4F-9769-7911BE56B251}"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E88EC2E-10DB-4575-94CD-B16FECC693AE}">
      <dgm:prSet/>
      <dgm:spPr/>
      <dgm:t>
        <a:bodyPr/>
        <a:lstStyle/>
        <a:p>
          <a:r>
            <a:rPr lang="fr-FR"/>
            <a:t>Une </a:t>
          </a:r>
          <a:r>
            <a:rPr lang="fr-FR" b="1"/>
            <a:t>contrainte d’intégrité</a:t>
          </a:r>
          <a:r>
            <a:rPr lang="fr-FR"/>
            <a:t> est une règle qui définit la cohérence d’une donnée ou d’un ensemble de données de la base de données</a:t>
          </a:r>
          <a:endParaRPr lang="en-US"/>
        </a:p>
      </dgm:t>
    </dgm:pt>
    <dgm:pt modelId="{BBCB2A57-6390-4919-826F-FCC0B1078A99}" type="parTrans" cxnId="{8C2EFBC2-27E7-4549-8F93-741672C25612}">
      <dgm:prSet/>
      <dgm:spPr/>
      <dgm:t>
        <a:bodyPr/>
        <a:lstStyle/>
        <a:p>
          <a:endParaRPr lang="en-US"/>
        </a:p>
      </dgm:t>
    </dgm:pt>
    <dgm:pt modelId="{338D23E0-9734-4E7C-848F-56A0B2F88676}" type="sibTrans" cxnId="{8C2EFBC2-27E7-4549-8F93-741672C25612}">
      <dgm:prSet/>
      <dgm:spPr/>
      <dgm:t>
        <a:bodyPr/>
        <a:lstStyle/>
        <a:p>
          <a:endParaRPr lang="en-US"/>
        </a:p>
      </dgm:t>
    </dgm:pt>
    <dgm:pt modelId="{90B182D5-AD33-4D1A-9761-F80C577D7A5C}">
      <dgm:prSet/>
      <dgm:spPr/>
      <dgm:t>
        <a:bodyPr/>
        <a:lstStyle/>
        <a:p>
          <a:r>
            <a:rPr lang="fr-FR"/>
            <a:t>Les contraintes sont définies au moment de la création des tables</a:t>
          </a:r>
          <a:endParaRPr lang="en-US"/>
        </a:p>
      </dgm:t>
    </dgm:pt>
    <dgm:pt modelId="{2B7C1067-E922-4948-8A5A-03ADED692C20}" type="parTrans" cxnId="{3B948B32-F3C9-41DF-BCFE-BB49D916DAF2}">
      <dgm:prSet/>
      <dgm:spPr/>
      <dgm:t>
        <a:bodyPr/>
        <a:lstStyle/>
        <a:p>
          <a:endParaRPr lang="en-US"/>
        </a:p>
      </dgm:t>
    </dgm:pt>
    <dgm:pt modelId="{21700DC6-6BEE-4ABB-A298-96F270ECCCC0}" type="sibTrans" cxnId="{3B948B32-F3C9-41DF-BCFE-BB49D916DAF2}">
      <dgm:prSet/>
      <dgm:spPr/>
      <dgm:t>
        <a:bodyPr/>
        <a:lstStyle/>
        <a:p>
          <a:endParaRPr lang="en-US"/>
        </a:p>
      </dgm:t>
    </dgm:pt>
    <dgm:pt modelId="{CCBD6FE8-E800-4C2F-82CF-C09230E59C67}" type="pres">
      <dgm:prSet presAssocID="{77AB4341-2A1F-4D4F-9769-7911BE56B251}" presName="root" presStyleCnt="0">
        <dgm:presLayoutVars>
          <dgm:dir/>
          <dgm:resizeHandles val="exact"/>
        </dgm:presLayoutVars>
      </dgm:prSet>
      <dgm:spPr/>
    </dgm:pt>
    <dgm:pt modelId="{6D168598-3F15-41B4-B0B5-B39CF9D1D772}" type="pres">
      <dgm:prSet presAssocID="{8E88EC2E-10DB-4575-94CD-B16FECC693AE}" presName="compNode" presStyleCnt="0"/>
      <dgm:spPr/>
    </dgm:pt>
    <dgm:pt modelId="{A25224AB-48D4-4065-B39B-4A46F24AF52E}" type="pres">
      <dgm:prSet presAssocID="{8E88EC2E-10DB-4575-94CD-B16FECC693A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FDDE4CCF-3C2B-4364-A273-3734F1D72E0E}" type="pres">
      <dgm:prSet presAssocID="{8E88EC2E-10DB-4575-94CD-B16FECC693AE}" presName="spaceRect" presStyleCnt="0"/>
      <dgm:spPr/>
    </dgm:pt>
    <dgm:pt modelId="{2FB7945D-6AA6-4EDC-8496-A153B399D582}" type="pres">
      <dgm:prSet presAssocID="{8E88EC2E-10DB-4575-94CD-B16FECC693AE}" presName="textRect" presStyleLbl="revTx" presStyleIdx="0" presStyleCnt="2">
        <dgm:presLayoutVars>
          <dgm:chMax val="1"/>
          <dgm:chPref val="1"/>
        </dgm:presLayoutVars>
      </dgm:prSet>
      <dgm:spPr/>
    </dgm:pt>
    <dgm:pt modelId="{FACEED4F-844F-45AA-B8CE-83E921D45C85}" type="pres">
      <dgm:prSet presAssocID="{338D23E0-9734-4E7C-848F-56A0B2F88676}" presName="sibTrans" presStyleCnt="0"/>
      <dgm:spPr/>
    </dgm:pt>
    <dgm:pt modelId="{856D1196-C320-40B4-B71E-511D266B352A}" type="pres">
      <dgm:prSet presAssocID="{90B182D5-AD33-4D1A-9761-F80C577D7A5C}" presName="compNode" presStyleCnt="0"/>
      <dgm:spPr/>
    </dgm:pt>
    <dgm:pt modelId="{54C4734C-D4B4-4A67-834F-B3789DE0A5F1}" type="pres">
      <dgm:prSet presAssocID="{90B182D5-AD33-4D1A-9761-F80C577D7A5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5A24E606-38D0-465D-B4FE-0318A8438F61}" type="pres">
      <dgm:prSet presAssocID="{90B182D5-AD33-4D1A-9761-F80C577D7A5C}" presName="spaceRect" presStyleCnt="0"/>
      <dgm:spPr/>
    </dgm:pt>
    <dgm:pt modelId="{1B1D75F9-8270-49DE-9F4C-4CA743F0F330}" type="pres">
      <dgm:prSet presAssocID="{90B182D5-AD33-4D1A-9761-F80C577D7A5C}" presName="textRect" presStyleLbl="revTx" presStyleIdx="1" presStyleCnt="2">
        <dgm:presLayoutVars>
          <dgm:chMax val="1"/>
          <dgm:chPref val="1"/>
        </dgm:presLayoutVars>
      </dgm:prSet>
      <dgm:spPr/>
    </dgm:pt>
  </dgm:ptLst>
  <dgm:cxnLst>
    <dgm:cxn modelId="{B44EF41B-0C3C-4B28-BED4-461F0B92AAD6}" type="presOf" srcId="{90B182D5-AD33-4D1A-9761-F80C577D7A5C}" destId="{1B1D75F9-8270-49DE-9F4C-4CA743F0F330}" srcOrd="0" destOrd="0" presId="urn:microsoft.com/office/officeart/2018/2/layout/IconLabelList"/>
    <dgm:cxn modelId="{3B948B32-F3C9-41DF-BCFE-BB49D916DAF2}" srcId="{77AB4341-2A1F-4D4F-9769-7911BE56B251}" destId="{90B182D5-AD33-4D1A-9761-F80C577D7A5C}" srcOrd="1" destOrd="0" parTransId="{2B7C1067-E922-4948-8A5A-03ADED692C20}" sibTransId="{21700DC6-6BEE-4ABB-A298-96F270ECCCC0}"/>
    <dgm:cxn modelId="{0ABFE09C-3E37-4BFA-B216-7FE31B37DD41}" type="presOf" srcId="{77AB4341-2A1F-4D4F-9769-7911BE56B251}" destId="{CCBD6FE8-E800-4C2F-82CF-C09230E59C67}" srcOrd="0" destOrd="0" presId="urn:microsoft.com/office/officeart/2018/2/layout/IconLabelList"/>
    <dgm:cxn modelId="{14C810A7-FA97-4129-97EC-5397CDEB8A35}" type="presOf" srcId="{8E88EC2E-10DB-4575-94CD-B16FECC693AE}" destId="{2FB7945D-6AA6-4EDC-8496-A153B399D582}" srcOrd="0" destOrd="0" presId="urn:microsoft.com/office/officeart/2018/2/layout/IconLabelList"/>
    <dgm:cxn modelId="{8C2EFBC2-27E7-4549-8F93-741672C25612}" srcId="{77AB4341-2A1F-4D4F-9769-7911BE56B251}" destId="{8E88EC2E-10DB-4575-94CD-B16FECC693AE}" srcOrd="0" destOrd="0" parTransId="{BBCB2A57-6390-4919-826F-FCC0B1078A99}" sibTransId="{338D23E0-9734-4E7C-848F-56A0B2F88676}"/>
    <dgm:cxn modelId="{CCB27F39-DB1D-4926-B181-30D86B75B95D}" type="presParOf" srcId="{CCBD6FE8-E800-4C2F-82CF-C09230E59C67}" destId="{6D168598-3F15-41B4-B0B5-B39CF9D1D772}" srcOrd="0" destOrd="0" presId="urn:microsoft.com/office/officeart/2018/2/layout/IconLabelList"/>
    <dgm:cxn modelId="{1758B940-93D2-47E2-9273-596CF7DC8FBE}" type="presParOf" srcId="{6D168598-3F15-41B4-B0B5-B39CF9D1D772}" destId="{A25224AB-48D4-4065-B39B-4A46F24AF52E}" srcOrd="0" destOrd="0" presId="urn:microsoft.com/office/officeart/2018/2/layout/IconLabelList"/>
    <dgm:cxn modelId="{1BF84535-9120-42AE-A446-184F9A39940B}" type="presParOf" srcId="{6D168598-3F15-41B4-B0B5-B39CF9D1D772}" destId="{FDDE4CCF-3C2B-4364-A273-3734F1D72E0E}" srcOrd="1" destOrd="0" presId="urn:microsoft.com/office/officeart/2018/2/layout/IconLabelList"/>
    <dgm:cxn modelId="{975A740E-998F-4B74-90A6-344EB6167F5E}" type="presParOf" srcId="{6D168598-3F15-41B4-B0B5-B39CF9D1D772}" destId="{2FB7945D-6AA6-4EDC-8496-A153B399D582}" srcOrd="2" destOrd="0" presId="urn:microsoft.com/office/officeart/2018/2/layout/IconLabelList"/>
    <dgm:cxn modelId="{52E0CFB6-3550-460A-AF8D-C378E9A3A432}" type="presParOf" srcId="{CCBD6FE8-E800-4C2F-82CF-C09230E59C67}" destId="{FACEED4F-844F-45AA-B8CE-83E921D45C85}" srcOrd="1" destOrd="0" presId="urn:microsoft.com/office/officeart/2018/2/layout/IconLabelList"/>
    <dgm:cxn modelId="{1AC936CD-4339-4D47-965F-A01FB2FE20A8}" type="presParOf" srcId="{CCBD6FE8-E800-4C2F-82CF-C09230E59C67}" destId="{856D1196-C320-40B4-B71E-511D266B352A}" srcOrd="2" destOrd="0" presId="urn:microsoft.com/office/officeart/2018/2/layout/IconLabelList"/>
    <dgm:cxn modelId="{8EA07E35-0F2E-4498-98B9-234450D8DD32}" type="presParOf" srcId="{856D1196-C320-40B4-B71E-511D266B352A}" destId="{54C4734C-D4B4-4A67-834F-B3789DE0A5F1}" srcOrd="0" destOrd="0" presId="urn:microsoft.com/office/officeart/2018/2/layout/IconLabelList"/>
    <dgm:cxn modelId="{0F1E5DC6-4708-4B8F-A6B6-45E24262074B}" type="presParOf" srcId="{856D1196-C320-40B4-B71E-511D266B352A}" destId="{5A24E606-38D0-465D-B4FE-0318A8438F61}" srcOrd="1" destOrd="0" presId="urn:microsoft.com/office/officeart/2018/2/layout/IconLabelList"/>
    <dgm:cxn modelId="{4E873BF1-719E-4DF7-A852-15B65D4ADF0C}" type="presParOf" srcId="{856D1196-C320-40B4-B71E-511D266B352A}" destId="{1B1D75F9-8270-49DE-9F4C-4CA743F0F33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42D0BE7-55DA-4B7E-B393-9ABB8B0A101A}"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95AE6EBF-F48D-4EAD-A410-7390EAB72455}">
      <dgm:prSet/>
      <dgm:spPr/>
      <dgm:t>
        <a:bodyPr/>
        <a:lstStyle/>
        <a:p>
          <a:r>
            <a:rPr lang="fr-FR"/>
            <a:t>Contraintes sur colonne unique</a:t>
          </a:r>
          <a:endParaRPr lang="en-US"/>
        </a:p>
      </dgm:t>
    </dgm:pt>
    <dgm:pt modelId="{52E6F475-8F7D-4530-B26E-BEE2E192736A}" type="parTrans" cxnId="{E0D42D7F-4282-4E1E-A418-08F9CFB3AF21}">
      <dgm:prSet/>
      <dgm:spPr/>
      <dgm:t>
        <a:bodyPr/>
        <a:lstStyle/>
        <a:p>
          <a:endParaRPr lang="en-US"/>
        </a:p>
      </dgm:t>
    </dgm:pt>
    <dgm:pt modelId="{CC9E1AA7-AC31-4482-94D2-42C00B247497}" type="sibTrans" cxnId="{E0D42D7F-4282-4E1E-A418-08F9CFB3AF21}">
      <dgm:prSet/>
      <dgm:spPr/>
      <dgm:t>
        <a:bodyPr/>
        <a:lstStyle/>
        <a:p>
          <a:endParaRPr lang="en-US"/>
        </a:p>
      </dgm:t>
    </dgm:pt>
    <dgm:pt modelId="{80C24FFB-069A-4078-ABED-E5FADB52F5A0}">
      <dgm:prSet/>
      <dgm:spPr/>
      <dgm:t>
        <a:bodyPr/>
        <a:lstStyle/>
        <a:p>
          <a:r>
            <a:rPr lang="fr-FR"/>
            <a:t>Contraintes sur une table (lorsque la contrainte porte sur une ou plusieurs colonnes)</a:t>
          </a:r>
          <a:endParaRPr lang="en-US"/>
        </a:p>
      </dgm:t>
    </dgm:pt>
    <dgm:pt modelId="{C1C89185-D414-4103-BAD8-2E9B12885441}" type="parTrans" cxnId="{0DE8D6D9-7E53-4388-932E-9A243A799AA8}">
      <dgm:prSet/>
      <dgm:spPr/>
      <dgm:t>
        <a:bodyPr/>
        <a:lstStyle/>
        <a:p>
          <a:endParaRPr lang="en-US"/>
        </a:p>
      </dgm:t>
    </dgm:pt>
    <dgm:pt modelId="{F5031B13-42E9-4E2D-B7C5-D7BDC0D318C2}" type="sibTrans" cxnId="{0DE8D6D9-7E53-4388-932E-9A243A799AA8}">
      <dgm:prSet/>
      <dgm:spPr/>
      <dgm:t>
        <a:bodyPr/>
        <a:lstStyle/>
        <a:p>
          <a:endParaRPr lang="en-US"/>
        </a:p>
      </dgm:t>
    </dgm:pt>
    <dgm:pt modelId="{DC0CDD75-A0A7-4E81-8E97-D6AF3F149114}" type="pres">
      <dgm:prSet presAssocID="{442D0BE7-55DA-4B7E-B393-9ABB8B0A101A}" presName="root" presStyleCnt="0">
        <dgm:presLayoutVars>
          <dgm:dir/>
          <dgm:resizeHandles val="exact"/>
        </dgm:presLayoutVars>
      </dgm:prSet>
      <dgm:spPr/>
    </dgm:pt>
    <dgm:pt modelId="{4A466ACF-57B5-4839-AA8E-D0E271E3B311}" type="pres">
      <dgm:prSet presAssocID="{95AE6EBF-F48D-4EAD-A410-7390EAB72455}" presName="compNode" presStyleCnt="0"/>
      <dgm:spPr/>
    </dgm:pt>
    <dgm:pt modelId="{B96AA05B-3CDE-4B95-ABEA-8B9B61AC5060}" type="pres">
      <dgm:prSet presAssocID="{95AE6EBF-F48D-4EAD-A410-7390EAB72455}" presName="bgRect" presStyleLbl="bgShp" presStyleIdx="0" presStyleCnt="2"/>
      <dgm:spPr/>
    </dgm:pt>
    <dgm:pt modelId="{FE0C09C3-A752-44D4-8FBD-CCF88D9AB662}" type="pres">
      <dgm:prSet presAssocID="{95AE6EBF-F48D-4EAD-A410-7390EAB7245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se"/>
        </a:ext>
      </dgm:extLst>
    </dgm:pt>
    <dgm:pt modelId="{A15D7EAE-66A4-49D6-8EA2-157E4BC12DDD}" type="pres">
      <dgm:prSet presAssocID="{95AE6EBF-F48D-4EAD-A410-7390EAB72455}" presName="spaceRect" presStyleCnt="0"/>
      <dgm:spPr/>
    </dgm:pt>
    <dgm:pt modelId="{282EB8EC-2128-44EE-8A67-C6292AF597E1}" type="pres">
      <dgm:prSet presAssocID="{95AE6EBF-F48D-4EAD-A410-7390EAB72455}" presName="parTx" presStyleLbl="revTx" presStyleIdx="0" presStyleCnt="2">
        <dgm:presLayoutVars>
          <dgm:chMax val="0"/>
          <dgm:chPref val="0"/>
        </dgm:presLayoutVars>
      </dgm:prSet>
      <dgm:spPr/>
    </dgm:pt>
    <dgm:pt modelId="{E84EC72D-C9CA-4193-87F6-9FC335B78CB2}" type="pres">
      <dgm:prSet presAssocID="{CC9E1AA7-AC31-4482-94D2-42C00B247497}" presName="sibTrans" presStyleCnt="0"/>
      <dgm:spPr/>
    </dgm:pt>
    <dgm:pt modelId="{8B281B80-DB5F-4FC6-9346-4AF9A87265AB}" type="pres">
      <dgm:prSet presAssocID="{80C24FFB-069A-4078-ABED-E5FADB52F5A0}" presName="compNode" presStyleCnt="0"/>
      <dgm:spPr/>
    </dgm:pt>
    <dgm:pt modelId="{0507DC33-A4B8-4153-B29F-495577B64872}" type="pres">
      <dgm:prSet presAssocID="{80C24FFB-069A-4078-ABED-E5FADB52F5A0}" presName="bgRect" presStyleLbl="bgShp" presStyleIdx="1" presStyleCnt="2"/>
      <dgm:spPr/>
    </dgm:pt>
    <dgm:pt modelId="{33567CD4-3E3E-4F5B-AE2D-4981F625ED90}" type="pres">
      <dgm:prSet presAssocID="{80C24FFB-069A-4078-ABED-E5FADB52F5A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orbidden"/>
        </a:ext>
      </dgm:extLst>
    </dgm:pt>
    <dgm:pt modelId="{9695E1BB-BAF5-43C0-AF5A-518945943648}" type="pres">
      <dgm:prSet presAssocID="{80C24FFB-069A-4078-ABED-E5FADB52F5A0}" presName="spaceRect" presStyleCnt="0"/>
      <dgm:spPr/>
    </dgm:pt>
    <dgm:pt modelId="{975F6675-AD32-4A99-82C9-D33E2A6CB1D1}" type="pres">
      <dgm:prSet presAssocID="{80C24FFB-069A-4078-ABED-E5FADB52F5A0}" presName="parTx" presStyleLbl="revTx" presStyleIdx="1" presStyleCnt="2">
        <dgm:presLayoutVars>
          <dgm:chMax val="0"/>
          <dgm:chPref val="0"/>
        </dgm:presLayoutVars>
      </dgm:prSet>
      <dgm:spPr/>
    </dgm:pt>
  </dgm:ptLst>
  <dgm:cxnLst>
    <dgm:cxn modelId="{E0D42D7F-4282-4E1E-A418-08F9CFB3AF21}" srcId="{442D0BE7-55DA-4B7E-B393-9ABB8B0A101A}" destId="{95AE6EBF-F48D-4EAD-A410-7390EAB72455}" srcOrd="0" destOrd="0" parTransId="{52E6F475-8F7D-4530-B26E-BEE2E192736A}" sibTransId="{CC9E1AA7-AC31-4482-94D2-42C00B247497}"/>
    <dgm:cxn modelId="{620CC187-1929-4D2B-AB2C-BA162CF0A0BA}" type="presOf" srcId="{442D0BE7-55DA-4B7E-B393-9ABB8B0A101A}" destId="{DC0CDD75-A0A7-4E81-8E97-D6AF3F149114}" srcOrd="0" destOrd="0" presId="urn:microsoft.com/office/officeart/2018/2/layout/IconVerticalSolidList"/>
    <dgm:cxn modelId="{C7479AB9-C2CC-46CB-B8DA-BFC1AE29284C}" type="presOf" srcId="{95AE6EBF-F48D-4EAD-A410-7390EAB72455}" destId="{282EB8EC-2128-44EE-8A67-C6292AF597E1}" srcOrd="0" destOrd="0" presId="urn:microsoft.com/office/officeart/2018/2/layout/IconVerticalSolidList"/>
    <dgm:cxn modelId="{94BE72CA-B68F-48C6-8DBE-5905C4D8D858}" type="presOf" srcId="{80C24FFB-069A-4078-ABED-E5FADB52F5A0}" destId="{975F6675-AD32-4A99-82C9-D33E2A6CB1D1}" srcOrd="0" destOrd="0" presId="urn:microsoft.com/office/officeart/2018/2/layout/IconVerticalSolidList"/>
    <dgm:cxn modelId="{0DE8D6D9-7E53-4388-932E-9A243A799AA8}" srcId="{442D0BE7-55DA-4B7E-B393-9ABB8B0A101A}" destId="{80C24FFB-069A-4078-ABED-E5FADB52F5A0}" srcOrd="1" destOrd="0" parTransId="{C1C89185-D414-4103-BAD8-2E9B12885441}" sibTransId="{F5031B13-42E9-4E2D-B7C5-D7BDC0D318C2}"/>
    <dgm:cxn modelId="{D056DDAD-759B-463D-A46A-44D63D551626}" type="presParOf" srcId="{DC0CDD75-A0A7-4E81-8E97-D6AF3F149114}" destId="{4A466ACF-57B5-4839-AA8E-D0E271E3B311}" srcOrd="0" destOrd="0" presId="urn:microsoft.com/office/officeart/2018/2/layout/IconVerticalSolidList"/>
    <dgm:cxn modelId="{97BB9945-6F93-427D-AB3B-2D70B8BB076B}" type="presParOf" srcId="{4A466ACF-57B5-4839-AA8E-D0E271E3B311}" destId="{B96AA05B-3CDE-4B95-ABEA-8B9B61AC5060}" srcOrd="0" destOrd="0" presId="urn:microsoft.com/office/officeart/2018/2/layout/IconVerticalSolidList"/>
    <dgm:cxn modelId="{2FE2DBF0-8845-4474-94E8-67980CD3315A}" type="presParOf" srcId="{4A466ACF-57B5-4839-AA8E-D0E271E3B311}" destId="{FE0C09C3-A752-44D4-8FBD-CCF88D9AB662}" srcOrd="1" destOrd="0" presId="urn:microsoft.com/office/officeart/2018/2/layout/IconVerticalSolidList"/>
    <dgm:cxn modelId="{E6CA1B21-4037-468F-99DC-8AEC3211DFF8}" type="presParOf" srcId="{4A466ACF-57B5-4839-AA8E-D0E271E3B311}" destId="{A15D7EAE-66A4-49D6-8EA2-157E4BC12DDD}" srcOrd="2" destOrd="0" presId="urn:microsoft.com/office/officeart/2018/2/layout/IconVerticalSolidList"/>
    <dgm:cxn modelId="{ED7DEBCF-EAA8-4C6A-B96D-31815748863D}" type="presParOf" srcId="{4A466ACF-57B5-4839-AA8E-D0E271E3B311}" destId="{282EB8EC-2128-44EE-8A67-C6292AF597E1}" srcOrd="3" destOrd="0" presId="urn:microsoft.com/office/officeart/2018/2/layout/IconVerticalSolidList"/>
    <dgm:cxn modelId="{8355A01F-253C-4F5E-82A0-57F150AE4E6B}" type="presParOf" srcId="{DC0CDD75-A0A7-4E81-8E97-D6AF3F149114}" destId="{E84EC72D-C9CA-4193-87F6-9FC335B78CB2}" srcOrd="1" destOrd="0" presId="urn:microsoft.com/office/officeart/2018/2/layout/IconVerticalSolidList"/>
    <dgm:cxn modelId="{8A9CF0BE-CEB0-4825-AAC3-F304039A3EE2}" type="presParOf" srcId="{DC0CDD75-A0A7-4E81-8E97-D6AF3F149114}" destId="{8B281B80-DB5F-4FC6-9346-4AF9A87265AB}" srcOrd="2" destOrd="0" presId="urn:microsoft.com/office/officeart/2018/2/layout/IconVerticalSolidList"/>
    <dgm:cxn modelId="{88F0144C-55DB-42F2-95B8-1E0C3B4CC3DA}" type="presParOf" srcId="{8B281B80-DB5F-4FC6-9346-4AF9A87265AB}" destId="{0507DC33-A4B8-4153-B29F-495577B64872}" srcOrd="0" destOrd="0" presId="urn:microsoft.com/office/officeart/2018/2/layout/IconVerticalSolidList"/>
    <dgm:cxn modelId="{A2A0A7CC-DEED-48B9-8D4C-FDDC607013F7}" type="presParOf" srcId="{8B281B80-DB5F-4FC6-9346-4AF9A87265AB}" destId="{33567CD4-3E3E-4F5B-AE2D-4981F625ED90}" srcOrd="1" destOrd="0" presId="urn:microsoft.com/office/officeart/2018/2/layout/IconVerticalSolidList"/>
    <dgm:cxn modelId="{280F86E9-4004-4EEE-B645-33262D443F99}" type="presParOf" srcId="{8B281B80-DB5F-4FC6-9346-4AF9A87265AB}" destId="{9695E1BB-BAF5-43C0-AF5A-518945943648}" srcOrd="2" destOrd="0" presId="urn:microsoft.com/office/officeart/2018/2/layout/IconVerticalSolidList"/>
    <dgm:cxn modelId="{5C9326C5-8A0A-4F2C-A522-DD44B2A7C938}" type="presParOf" srcId="{8B281B80-DB5F-4FC6-9346-4AF9A87265AB}" destId="{975F6675-AD32-4A99-82C9-D33E2A6CB1D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7115AE7-16F9-4343-906F-E53288C1992D}"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C24D7663-62D9-4E89-94E5-4E77312A1807}">
      <dgm:prSet/>
      <dgm:spPr/>
      <dgm:t>
        <a:bodyPr/>
        <a:lstStyle/>
        <a:p>
          <a:r>
            <a:rPr lang="fr-FR" b="1"/>
            <a:t>PRIMARY KEY </a:t>
          </a:r>
          <a:r>
            <a:rPr lang="fr-FR"/>
            <a:t>: définit l’attribut comme clé primaire</a:t>
          </a:r>
          <a:endParaRPr lang="en-US"/>
        </a:p>
      </dgm:t>
    </dgm:pt>
    <dgm:pt modelId="{D2FC88C0-6134-4DC6-B246-A3ECC08455E1}" type="parTrans" cxnId="{EF59CB6C-3FAB-40E2-9B79-DC8DF6B792D3}">
      <dgm:prSet/>
      <dgm:spPr/>
      <dgm:t>
        <a:bodyPr/>
        <a:lstStyle/>
        <a:p>
          <a:endParaRPr lang="en-US"/>
        </a:p>
      </dgm:t>
    </dgm:pt>
    <dgm:pt modelId="{596A785B-824B-4497-846E-E55BC5B8F0F4}" type="sibTrans" cxnId="{EF59CB6C-3FAB-40E2-9B79-DC8DF6B792D3}">
      <dgm:prSet/>
      <dgm:spPr/>
      <dgm:t>
        <a:bodyPr/>
        <a:lstStyle/>
        <a:p>
          <a:endParaRPr lang="en-US"/>
        </a:p>
      </dgm:t>
    </dgm:pt>
    <dgm:pt modelId="{7C95F6D8-81A8-47A9-947D-5F084C5DA5EC}">
      <dgm:prSet/>
      <dgm:spPr/>
      <dgm:t>
        <a:bodyPr/>
        <a:lstStyle/>
        <a:p>
          <a:r>
            <a:rPr lang="fr-FR" b="1" dirty="0"/>
            <a:t>UNIQUE</a:t>
          </a:r>
          <a:r>
            <a:rPr lang="fr-FR" dirty="0"/>
            <a:t> : interdit que deux enregistrements ait la même valeur pour cet attribut</a:t>
          </a:r>
          <a:endParaRPr lang="en-US" dirty="0"/>
        </a:p>
      </dgm:t>
    </dgm:pt>
    <dgm:pt modelId="{926D8DE0-69CB-4B3F-87EE-593BF664DBC5}" type="parTrans" cxnId="{BC3A2B37-A70D-4B08-AB57-71D83E15D490}">
      <dgm:prSet/>
      <dgm:spPr/>
      <dgm:t>
        <a:bodyPr/>
        <a:lstStyle/>
        <a:p>
          <a:endParaRPr lang="en-US"/>
        </a:p>
      </dgm:t>
    </dgm:pt>
    <dgm:pt modelId="{BABD358D-5FD2-46B9-8D73-8D0B55301002}" type="sibTrans" cxnId="{BC3A2B37-A70D-4B08-AB57-71D83E15D490}">
      <dgm:prSet/>
      <dgm:spPr/>
      <dgm:t>
        <a:bodyPr/>
        <a:lstStyle/>
        <a:p>
          <a:endParaRPr lang="en-US"/>
        </a:p>
      </dgm:t>
    </dgm:pt>
    <dgm:pt modelId="{AB542C36-5583-4FD9-9C47-5CD43553DF4B}">
      <dgm:prSet/>
      <dgm:spPr/>
      <dgm:t>
        <a:bodyPr/>
        <a:lstStyle/>
        <a:p>
          <a:r>
            <a:rPr lang="fr-FR" b="1"/>
            <a:t>CHECK</a:t>
          </a:r>
          <a:r>
            <a:rPr lang="fr-FR"/>
            <a:t> (&lt;condition&gt;) : la condition donnée doit être vérifiée pour chaque valeur de l’attribut</a:t>
          </a:r>
          <a:endParaRPr lang="en-US"/>
        </a:p>
      </dgm:t>
    </dgm:pt>
    <dgm:pt modelId="{45A7D2B1-61AE-42C8-B754-41F749FEB934}" type="parTrans" cxnId="{1FCA364A-0568-4B66-8B69-E2D7E1C73244}">
      <dgm:prSet/>
      <dgm:spPr/>
      <dgm:t>
        <a:bodyPr/>
        <a:lstStyle/>
        <a:p>
          <a:endParaRPr lang="en-US"/>
        </a:p>
      </dgm:t>
    </dgm:pt>
    <dgm:pt modelId="{F6E22A0D-3C84-4E0E-9BA6-C0787D6C7EFF}" type="sibTrans" cxnId="{1FCA364A-0568-4B66-8B69-E2D7E1C73244}">
      <dgm:prSet/>
      <dgm:spPr/>
      <dgm:t>
        <a:bodyPr/>
        <a:lstStyle/>
        <a:p>
          <a:endParaRPr lang="en-US"/>
        </a:p>
      </dgm:t>
    </dgm:pt>
    <dgm:pt modelId="{EC61DCFE-7CB2-4E53-B1F1-3E4B691F4080}">
      <dgm:prSet/>
      <dgm:spPr/>
      <dgm:t>
        <a:bodyPr/>
        <a:lstStyle/>
        <a:p>
          <a:r>
            <a:rPr lang="en-US" b="1" dirty="0"/>
            <a:t>FOREIGN KEY </a:t>
          </a:r>
          <a:r>
            <a:rPr lang="en-US" dirty="0"/>
            <a:t>(&lt;</a:t>
          </a:r>
          <a:r>
            <a:rPr lang="en-US" dirty="0" err="1"/>
            <a:t>liste</a:t>
          </a:r>
          <a:r>
            <a:rPr lang="en-US" dirty="0"/>
            <a:t> </a:t>
          </a:r>
          <a:r>
            <a:rPr lang="en-US" dirty="0" err="1"/>
            <a:t>d’attributs</a:t>
          </a:r>
          <a:r>
            <a:rPr lang="en-US" dirty="0"/>
            <a:t>&gt;) </a:t>
          </a:r>
          <a:r>
            <a:rPr lang="en-US" b="1" dirty="0"/>
            <a:t>REFERENCES</a:t>
          </a:r>
          <a:r>
            <a:rPr lang="en-US" dirty="0"/>
            <a:t> &lt;table&gt; (&lt;</a:t>
          </a:r>
          <a:r>
            <a:rPr lang="en-US" dirty="0" err="1"/>
            <a:t>colonnes</a:t>
          </a:r>
          <a:r>
            <a:rPr lang="en-US" dirty="0"/>
            <a:t>&gt;) : </a:t>
          </a:r>
          <a:r>
            <a:rPr lang="en-US" dirty="0" err="1"/>
            <a:t>indique</a:t>
          </a:r>
          <a:r>
            <a:rPr lang="en-US" dirty="0"/>
            <a:t> ques les </a:t>
          </a:r>
          <a:r>
            <a:rPr lang="en-US" dirty="0" err="1"/>
            <a:t>attributs</a:t>
          </a:r>
          <a:r>
            <a:rPr lang="en-US" dirty="0"/>
            <a:t> font reference à </a:t>
          </a:r>
          <a:r>
            <a:rPr lang="en-US" dirty="0" err="1"/>
            <a:t>une</a:t>
          </a:r>
          <a:r>
            <a:rPr lang="en-US" dirty="0"/>
            <a:t> </a:t>
          </a:r>
          <a:r>
            <a:rPr lang="en-US" dirty="0" err="1"/>
            <a:t>autre</a:t>
          </a:r>
          <a:r>
            <a:rPr lang="en-US" dirty="0"/>
            <a:t> table</a:t>
          </a:r>
        </a:p>
      </dgm:t>
    </dgm:pt>
    <dgm:pt modelId="{A694891A-40D2-4F08-ACA6-CE4A192439CD}" type="parTrans" cxnId="{272F87A2-EB90-4777-8F7F-2C69387E2309}">
      <dgm:prSet/>
      <dgm:spPr/>
      <dgm:t>
        <a:bodyPr/>
        <a:lstStyle/>
        <a:p>
          <a:endParaRPr lang="fr-FR"/>
        </a:p>
      </dgm:t>
    </dgm:pt>
    <dgm:pt modelId="{F9786AB8-E465-4DAB-BECF-C854AA45F027}" type="sibTrans" cxnId="{272F87A2-EB90-4777-8F7F-2C69387E2309}">
      <dgm:prSet/>
      <dgm:spPr/>
    </dgm:pt>
    <dgm:pt modelId="{40BEFDD2-E554-45B2-9AFD-BED03568B0C8}">
      <dgm:prSet/>
      <dgm:spPr/>
      <dgm:t>
        <a:bodyPr/>
        <a:lstStyle/>
        <a:p>
          <a:r>
            <a:rPr lang="en-US" b="1"/>
            <a:t>REFERENCES</a:t>
          </a:r>
          <a:r>
            <a:rPr lang="en-US"/>
            <a:t> &lt;table&gt; (&lt;</a:t>
          </a:r>
          <a:r>
            <a:rPr lang="en-US" err="1"/>
            <a:t>colonnes</a:t>
          </a:r>
          <a:r>
            <a:rPr lang="en-US"/>
            <a:t>&gt;) : </a:t>
          </a:r>
          <a:r>
            <a:rPr lang="en-US" err="1"/>
            <a:t>indique</a:t>
          </a:r>
          <a:r>
            <a:rPr lang="en-US"/>
            <a:t> que la </a:t>
          </a:r>
          <a:r>
            <a:rPr lang="en-US" err="1"/>
            <a:t>colonne</a:t>
          </a:r>
          <a:r>
            <a:rPr lang="en-US"/>
            <a:t> fait </a:t>
          </a:r>
          <a:r>
            <a:rPr lang="en-US" err="1"/>
            <a:t>réference</a:t>
          </a:r>
          <a:r>
            <a:rPr lang="en-US"/>
            <a:t> à </a:t>
          </a:r>
          <a:r>
            <a:rPr lang="en-US" err="1"/>
            <a:t>une</a:t>
          </a:r>
          <a:r>
            <a:rPr lang="en-US"/>
            <a:t> </a:t>
          </a:r>
          <a:r>
            <a:rPr lang="en-US" err="1"/>
            <a:t>autre</a:t>
          </a:r>
          <a:r>
            <a:rPr lang="en-US"/>
            <a:t> table et </a:t>
          </a:r>
          <a:r>
            <a:rPr lang="en-US" err="1"/>
            <a:t>contrôle</a:t>
          </a:r>
          <a:r>
            <a:rPr lang="en-US"/>
            <a:t> la </a:t>
          </a:r>
          <a:r>
            <a:rPr lang="en-US" err="1"/>
            <a:t>validité</a:t>
          </a:r>
          <a:r>
            <a:rPr lang="en-US"/>
            <a:t> de </a:t>
          </a:r>
          <a:r>
            <a:rPr lang="en-US" err="1"/>
            <a:t>cette</a:t>
          </a:r>
          <a:r>
            <a:rPr lang="en-US"/>
            <a:t> </a:t>
          </a:r>
          <a:r>
            <a:rPr lang="en-US" err="1"/>
            <a:t>référence</a:t>
          </a:r>
          <a:endParaRPr lang="en-US"/>
        </a:p>
      </dgm:t>
    </dgm:pt>
    <dgm:pt modelId="{FAFC635F-359C-4272-BFE4-060E9F1D0C60}" type="parTrans" cxnId="{8CEF9831-0759-430E-9FC1-72FDDC20E6C7}">
      <dgm:prSet/>
      <dgm:spPr/>
      <dgm:t>
        <a:bodyPr/>
        <a:lstStyle/>
        <a:p>
          <a:endParaRPr lang="fr-FR"/>
        </a:p>
      </dgm:t>
    </dgm:pt>
    <dgm:pt modelId="{D79069B0-C953-40E6-A915-865D2B430E6D}" type="sibTrans" cxnId="{8CEF9831-0759-430E-9FC1-72FDDC20E6C7}">
      <dgm:prSet/>
      <dgm:spPr/>
    </dgm:pt>
    <dgm:pt modelId="{AA789E0F-2301-4026-A615-27824E95F205}" type="pres">
      <dgm:prSet presAssocID="{87115AE7-16F9-4343-906F-E53288C1992D}" presName="root" presStyleCnt="0">
        <dgm:presLayoutVars>
          <dgm:dir/>
          <dgm:resizeHandles val="exact"/>
        </dgm:presLayoutVars>
      </dgm:prSet>
      <dgm:spPr/>
    </dgm:pt>
    <dgm:pt modelId="{F52CF9AA-FF61-498E-8298-5FAC004CF2F6}" type="pres">
      <dgm:prSet presAssocID="{C24D7663-62D9-4E89-94E5-4E77312A1807}" presName="compNode" presStyleCnt="0"/>
      <dgm:spPr/>
    </dgm:pt>
    <dgm:pt modelId="{E0D19B31-DB11-46E4-88E0-D9AE49397D8D}" type="pres">
      <dgm:prSet presAssocID="{C24D7663-62D9-4E89-94E5-4E77312A1807}" presName="bgRect" presStyleLbl="bgShp" presStyleIdx="0" presStyleCnt="5"/>
      <dgm:spPr/>
    </dgm:pt>
    <dgm:pt modelId="{80D61180-90B1-41A5-9761-924EC2CC77A0}" type="pres">
      <dgm:prSet presAssocID="{C24D7663-62D9-4E89-94E5-4E77312A180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ey"/>
        </a:ext>
      </dgm:extLst>
    </dgm:pt>
    <dgm:pt modelId="{A2C151AB-AB9D-47A9-9E09-294028D9BFC4}" type="pres">
      <dgm:prSet presAssocID="{C24D7663-62D9-4E89-94E5-4E77312A1807}" presName="spaceRect" presStyleCnt="0"/>
      <dgm:spPr/>
    </dgm:pt>
    <dgm:pt modelId="{6244CA71-09DD-4F8B-A8F7-D70F70DD7D91}" type="pres">
      <dgm:prSet presAssocID="{C24D7663-62D9-4E89-94E5-4E77312A1807}" presName="parTx" presStyleLbl="revTx" presStyleIdx="0" presStyleCnt="5">
        <dgm:presLayoutVars>
          <dgm:chMax val="0"/>
          <dgm:chPref val="0"/>
        </dgm:presLayoutVars>
      </dgm:prSet>
      <dgm:spPr/>
    </dgm:pt>
    <dgm:pt modelId="{0850F573-0ACB-4345-A66F-FF5452C48FF5}" type="pres">
      <dgm:prSet presAssocID="{596A785B-824B-4497-846E-E55BC5B8F0F4}" presName="sibTrans" presStyleCnt="0"/>
      <dgm:spPr/>
    </dgm:pt>
    <dgm:pt modelId="{81EAF868-2B69-4CF7-BBFD-52F518E30072}" type="pres">
      <dgm:prSet presAssocID="{7C95F6D8-81A8-47A9-947D-5F084C5DA5EC}" presName="compNode" presStyleCnt="0"/>
      <dgm:spPr/>
    </dgm:pt>
    <dgm:pt modelId="{DD6F8789-7C29-4C4E-AFA8-2C7DE51FC98E}" type="pres">
      <dgm:prSet presAssocID="{7C95F6D8-81A8-47A9-947D-5F084C5DA5EC}" presName="bgRect" presStyleLbl="bgShp" presStyleIdx="1" presStyleCnt="5"/>
      <dgm:spPr/>
    </dgm:pt>
    <dgm:pt modelId="{31198013-DDA0-4358-BFD3-860A9D081AF8}" type="pres">
      <dgm:prSet presAssocID="{7C95F6D8-81A8-47A9-947D-5F084C5DA5E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orbidden"/>
        </a:ext>
      </dgm:extLst>
    </dgm:pt>
    <dgm:pt modelId="{72751A9B-D272-413A-BCA9-C9AE8F21D76A}" type="pres">
      <dgm:prSet presAssocID="{7C95F6D8-81A8-47A9-947D-5F084C5DA5EC}" presName="spaceRect" presStyleCnt="0"/>
      <dgm:spPr/>
    </dgm:pt>
    <dgm:pt modelId="{340D4ABC-13E5-4815-8493-485E85AEADC7}" type="pres">
      <dgm:prSet presAssocID="{7C95F6D8-81A8-47A9-947D-5F084C5DA5EC}" presName="parTx" presStyleLbl="revTx" presStyleIdx="1" presStyleCnt="5">
        <dgm:presLayoutVars>
          <dgm:chMax val="0"/>
          <dgm:chPref val="0"/>
        </dgm:presLayoutVars>
      </dgm:prSet>
      <dgm:spPr/>
    </dgm:pt>
    <dgm:pt modelId="{9E1DD529-ED23-4D35-A9C9-84A48CBF97E7}" type="pres">
      <dgm:prSet presAssocID="{BABD358D-5FD2-46B9-8D73-8D0B55301002}" presName="sibTrans" presStyleCnt="0"/>
      <dgm:spPr/>
    </dgm:pt>
    <dgm:pt modelId="{DAF07A7C-5796-45A9-8B16-3FF0001EB6E4}" type="pres">
      <dgm:prSet presAssocID="{40BEFDD2-E554-45B2-9AFD-BED03568B0C8}" presName="compNode" presStyleCnt="0"/>
      <dgm:spPr/>
    </dgm:pt>
    <dgm:pt modelId="{143FB62E-7772-47AE-8CCE-DBD60C917FA6}" type="pres">
      <dgm:prSet presAssocID="{40BEFDD2-E554-45B2-9AFD-BED03568B0C8}" presName="bgRect" presStyleLbl="bgShp" presStyleIdx="2" presStyleCnt="5"/>
      <dgm:spPr/>
    </dgm:pt>
    <dgm:pt modelId="{6AF30681-0FF1-4CEC-8FD7-953DD2B4E55A}" type="pres">
      <dgm:prSet presAssocID="{40BEFDD2-E554-45B2-9AFD-BED03568B0C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Maximiser"/>
        </a:ext>
      </dgm:extLst>
    </dgm:pt>
    <dgm:pt modelId="{CDD615EE-E2E4-4CA8-A27F-788CAD22FB9B}" type="pres">
      <dgm:prSet presAssocID="{40BEFDD2-E554-45B2-9AFD-BED03568B0C8}" presName="spaceRect" presStyleCnt="0"/>
      <dgm:spPr/>
    </dgm:pt>
    <dgm:pt modelId="{C632DC07-974C-4BB6-BB9C-AE683CB25136}" type="pres">
      <dgm:prSet presAssocID="{40BEFDD2-E554-45B2-9AFD-BED03568B0C8}" presName="parTx" presStyleLbl="revTx" presStyleIdx="2" presStyleCnt="5">
        <dgm:presLayoutVars>
          <dgm:chMax val="0"/>
          <dgm:chPref val="0"/>
        </dgm:presLayoutVars>
      </dgm:prSet>
      <dgm:spPr/>
    </dgm:pt>
    <dgm:pt modelId="{B59E8C75-9C69-4D93-9D17-968C262CB059}" type="pres">
      <dgm:prSet presAssocID="{D79069B0-C953-40E6-A915-865D2B430E6D}" presName="sibTrans" presStyleCnt="0"/>
      <dgm:spPr/>
    </dgm:pt>
    <dgm:pt modelId="{10F0E171-15A9-4A03-87D0-39B297984687}" type="pres">
      <dgm:prSet presAssocID="{EC61DCFE-7CB2-4E53-B1F1-3E4B691F4080}" presName="compNode" presStyleCnt="0"/>
      <dgm:spPr/>
    </dgm:pt>
    <dgm:pt modelId="{9D6856B8-4F77-4C51-9AAE-E0E9496F497C}" type="pres">
      <dgm:prSet presAssocID="{EC61DCFE-7CB2-4E53-B1F1-3E4B691F4080}" presName="bgRect" presStyleLbl="bgShp" presStyleIdx="3" presStyleCnt="5"/>
      <dgm:spPr/>
    </dgm:pt>
    <dgm:pt modelId="{47CD99FA-B7A7-410E-B2AD-8D9B311952E3}" type="pres">
      <dgm:prSet presAssocID="{EC61DCFE-7CB2-4E53-B1F1-3E4B691F4080}" presName="iconRect" presStyleLbl="node1" presStyleIdx="3"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lé"/>
        </a:ext>
      </dgm:extLst>
    </dgm:pt>
    <dgm:pt modelId="{2D78764F-8F69-47D4-A80D-7973FDFACF81}" type="pres">
      <dgm:prSet presAssocID="{EC61DCFE-7CB2-4E53-B1F1-3E4B691F4080}" presName="spaceRect" presStyleCnt="0"/>
      <dgm:spPr/>
    </dgm:pt>
    <dgm:pt modelId="{907407E7-6227-4ADC-ADC4-D2F28531ECEB}" type="pres">
      <dgm:prSet presAssocID="{EC61DCFE-7CB2-4E53-B1F1-3E4B691F4080}" presName="parTx" presStyleLbl="revTx" presStyleIdx="3" presStyleCnt="5" custScaleX="99159">
        <dgm:presLayoutVars>
          <dgm:chMax val="0"/>
          <dgm:chPref val="0"/>
        </dgm:presLayoutVars>
      </dgm:prSet>
      <dgm:spPr/>
    </dgm:pt>
    <dgm:pt modelId="{D070C9AC-636A-4B93-A371-F781DA5C716E}" type="pres">
      <dgm:prSet presAssocID="{F9786AB8-E465-4DAB-BECF-C854AA45F027}" presName="sibTrans" presStyleCnt="0"/>
      <dgm:spPr/>
    </dgm:pt>
    <dgm:pt modelId="{E79D968F-FFDB-457A-9CCA-A840B5696F2A}" type="pres">
      <dgm:prSet presAssocID="{AB542C36-5583-4FD9-9C47-5CD43553DF4B}" presName="compNode" presStyleCnt="0"/>
      <dgm:spPr/>
    </dgm:pt>
    <dgm:pt modelId="{12C381B1-46E2-43F6-B33C-860F3142EB15}" type="pres">
      <dgm:prSet presAssocID="{AB542C36-5583-4FD9-9C47-5CD43553DF4B}" presName="bgRect" presStyleLbl="bgShp" presStyleIdx="4" presStyleCnt="5"/>
      <dgm:spPr/>
    </dgm:pt>
    <dgm:pt modelId="{EFC2DCEE-A3D2-441E-A158-C1370DC50111}" type="pres">
      <dgm:prSet presAssocID="{AB542C36-5583-4FD9-9C47-5CD43553DF4B}" presName="iconRect" presStyleLbl="node1" presStyleIdx="4"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se"/>
        </a:ext>
      </dgm:extLst>
    </dgm:pt>
    <dgm:pt modelId="{D1643356-B595-4055-A5D9-8F22D60FDCF0}" type="pres">
      <dgm:prSet presAssocID="{AB542C36-5583-4FD9-9C47-5CD43553DF4B}" presName="spaceRect" presStyleCnt="0"/>
      <dgm:spPr/>
    </dgm:pt>
    <dgm:pt modelId="{8A9EAC85-FEB8-4E10-8B37-D87672B26903}" type="pres">
      <dgm:prSet presAssocID="{AB542C36-5583-4FD9-9C47-5CD43553DF4B}" presName="parTx" presStyleLbl="revTx" presStyleIdx="4" presStyleCnt="5">
        <dgm:presLayoutVars>
          <dgm:chMax val="0"/>
          <dgm:chPref val="0"/>
        </dgm:presLayoutVars>
      </dgm:prSet>
      <dgm:spPr/>
    </dgm:pt>
  </dgm:ptLst>
  <dgm:cxnLst>
    <dgm:cxn modelId="{4CD3F21A-5876-42F3-B553-8AAF1A5E8E6A}" type="presOf" srcId="{C24D7663-62D9-4E89-94E5-4E77312A1807}" destId="{6244CA71-09DD-4F8B-A8F7-D70F70DD7D91}" srcOrd="0" destOrd="0" presId="urn:microsoft.com/office/officeart/2018/2/layout/IconVerticalSolidList"/>
    <dgm:cxn modelId="{D79AB61D-C94C-4C39-A250-FF8800ABB3E6}" type="presOf" srcId="{87115AE7-16F9-4343-906F-E53288C1992D}" destId="{AA789E0F-2301-4026-A615-27824E95F205}" srcOrd="0" destOrd="0" presId="urn:microsoft.com/office/officeart/2018/2/layout/IconVerticalSolidList"/>
    <dgm:cxn modelId="{3CBB4C29-CEE8-4B50-85B1-A9111F0EA2B6}" type="presOf" srcId="{AB542C36-5583-4FD9-9C47-5CD43553DF4B}" destId="{8A9EAC85-FEB8-4E10-8B37-D87672B26903}" srcOrd="0" destOrd="0" presId="urn:microsoft.com/office/officeart/2018/2/layout/IconVerticalSolidList"/>
    <dgm:cxn modelId="{8CEF9831-0759-430E-9FC1-72FDDC20E6C7}" srcId="{87115AE7-16F9-4343-906F-E53288C1992D}" destId="{40BEFDD2-E554-45B2-9AFD-BED03568B0C8}" srcOrd="2" destOrd="0" parTransId="{FAFC635F-359C-4272-BFE4-060E9F1D0C60}" sibTransId="{D79069B0-C953-40E6-A915-865D2B430E6D}"/>
    <dgm:cxn modelId="{BC3A2B37-A70D-4B08-AB57-71D83E15D490}" srcId="{87115AE7-16F9-4343-906F-E53288C1992D}" destId="{7C95F6D8-81A8-47A9-947D-5F084C5DA5EC}" srcOrd="1" destOrd="0" parTransId="{926D8DE0-69CB-4B3F-87EE-593BF664DBC5}" sibTransId="{BABD358D-5FD2-46B9-8D73-8D0B55301002}"/>
    <dgm:cxn modelId="{3F1A3441-427C-428C-AB4C-0A64E9674D47}" type="presOf" srcId="{7C95F6D8-81A8-47A9-947D-5F084C5DA5EC}" destId="{340D4ABC-13E5-4815-8493-485E85AEADC7}" srcOrd="0" destOrd="0" presId="urn:microsoft.com/office/officeart/2018/2/layout/IconVerticalSolidList"/>
    <dgm:cxn modelId="{1FCA364A-0568-4B66-8B69-E2D7E1C73244}" srcId="{87115AE7-16F9-4343-906F-E53288C1992D}" destId="{AB542C36-5583-4FD9-9C47-5CD43553DF4B}" srcOrd="4" destOrd="0" parTransId="{45A7D2B1-61AE-42C8-B754-41F749FEB934}" sibTransId="{F6E22A0D-3C84-4E0E-9BA6-C0787D6C7EFF}"/>
    <dgm:cxn modelId="{EF59CB6C-3FAB-40E2-9B79-DC8DF6B792D3}" srcId="{87115AE7-16F9-4343-906F-E53288C1992D}" destId="{C24D7663-62D9-4E89-94E5-4E77312A1807}" srcOrd="0" destOrd="0" parTransId="{D2FC88C0-6134-4DC6-B246-A3ECC08455E1}" sibTransId="{596A785B-824B-4497-846E-E55BC5B8F0F4}"/>
    <dgm:cxn modelId="{272F87A2-EB90-4777-8F7F-2C69387E2309}" srcId="{87115AE7-16F9-4343-906F-E53288C1992D}" destId="{EC61DCFE-7CB2-4E53-B1F1-3E4B691F4080}" srcOrd="3" destOrd="0" parTransId="{A694891A-40D2-4F08-ACA6-CE4A192439CD}" sibTransId="{F9786AB8-E465-4DAB-BECF-C854AA45F027}"/>
    <dgm:cxn modelId="{45ED20B0-1E10-4028-B94C-5A6E3893634B}" type="presOf" srcId="{40BEFDD2-E554-45B2-9AFD-BED03568B0C8}" destId="{C632DC07-974C-4BB6-BB9C-AE683CB25136}" srcOrd="0" destOrd="0" presId="urn:microsoft.com/office/officeart/2018/2/layout/IconVerticalSolidList"/>
    <dgm:cxn modelId="{C94496B8-F737-4529-B110-D3FA5CB93ED2}" type="presOf" srcId="{EC61DCFE-7CB2-4E53-B1F1-3E4B691F4080}" destId="{907407E7-6227-4ADC-ADC4-D2F28531ECEB}" srcOrd="0" destOrd="0" presId="urn:microsoft.com/office/officeart/2018/2/layout/IconVerticalSolidList"/>
    <dgm:cxn modelId="{F6639A0B-E7FC-4D8A-B919-84FA6ECC009D}" type="presParOf" srcId="{AA789E0F-2301-4026-A615-27824E95F205}" destId="{F52CF9AA-FF61-498E-8298-5FAC004CF2F6}" srcOrd="0" destOrd="0" presId="urn:microsoft.com/office/officeart/2018/2/layout/IconVerticalSolidList"/>
    <dgm:cxn modelId="{F9300EFF-FDD5-4C39-AF21-47DF4724BC5D}" type="presParOf" srcId="{F52CF9AA-FF61-498E-8298-5FAC004CF2F6}" destId="{E0D19B31-DB11-46E4-88E0-D9AE49397D8D}" srcOrd="0" destOrd="0" presId="urn:microsoft.com/office/officeart/2018/2/layout/IconVerticalSolidList"/>
    <dgm:cxn modelId="{4B829FAA-CDE7-4125-BE64-0BC3C5016B06}" type="presParOf" srcId="{F52CF9AA-FF61-498E-8298-5FAC004CF2F6}" destId="{80D61180-90B1-41A5-9761-924EC2CC77A0}" srcOrd="1" destOrd="0" presId="urn:microsoft.com/office/officeart/2018/2/layout/IconVerticalSolidList"/>
    <dgm:cxn modelId="{3B0626D8-4548-4479-A207-F1240561D3BD}" type="presParOf" srcId="{F52CF9AA-FF61-498E-8298-5FAC004CF2F6}" destId="{A2C151AB-AB9D-47A9-9E09-294028D9BFC4}" srcOrd="2" destOrd="0" presId="urn:microsoft.com/office/officeart/2018/2/layout/IconVerticalSolidList"/>
    <dgm:cxn modelId="{939382A7-4223-4BAC-8348-3CA29C7F343B}" type="presParOf" srcId="{F52CF9AA-FF61-498E-8298-5FAC004CF2F6}" destId="{6244CA71-09DD-4F8B-A8F7-D70F70DD7D91}" srcOrd="3" destOrd="0" presId="urn:microsoft.com/office/officeart/2018/2/layout/IconVerticalSolidList"/>
    <dgm:cxn modelId="{D3E772AF-14B2-4B63-894B-302DD4653D4E}" type="presParOf" srcId="{AA789E0F-2301-4026-A615-27824E95F205}" destId="{0850F573-0ACB-4345-A66F-FF5452C48FF5}" srcOrd="1" destOrd="0" presId="urn:microsoft.com/office/officeart/2018/2/layout/IconVerticalSolidList"/>
    <dgm:cxn modelId="{7D65782B-B81E-4C1F-B891-592B308852FC}" type="presParOf" srcId="{AA789E0F-2301-4026-A615-27824E95F205}" destId="{81EAF868-2B69-4CF7-BBFD-52F518E30072}" srcOrd="2" destOrd="0" presId="urn:microsoft.com/office/officeart/2018/2/layout/IconVerticalSolidList"/>
    <dgm:cxn modelId="{08B35EC8-9FED-443C-A6B0-0275AB90E591}" type="presParOf" srcId="{81EAF868-2B69-4CF7-BBFD-52F518E30072}" destId="{DD6F8789-7C29-4C4E-AFA8-2C7DE51FC98E}" srcOrd="0" destOrd="0" presId="urn:microsoft.com/office/officeart/2018/2/layout/IconVerticalSolidList"/>
    <dgm:cxn modelId="{7B8A2C47-CBF3-4B58-97B8-88E0D4483866}" type="presParOf" srcId="{81EAF868-2B69-4CF7-BBFD-52F518E30072}" destId="{31198013-DDA0-4358-BFD3-860A9D081AF8}" srcOrd="1" destOrd="0" presId="urn:microsoft.com/office/officeart/2018/2/layout/IconVerticalSolidList"/>
    <dgm:cxn modelId="{BB580342-A738-4C1F-90E5-ED99D01582F5}" type="presParOf" srcId="{81EAF868-2B69-4CF7-BBFD-52F518E30072}" destId="{72751A9B-D272-413A-BCA9-C9AE8F21D76A}" srcOrd="2" destOrd="0" presId="urn:microsoft.com/office/officeart/2018/2/layout/IconVerticalSolidList"/>
    <dgm:cxn modelId="{54CC8F9B-E430-486F-ADF6-A933EF6F8A37}" type="presParOf" srcId="{81EAF868-2B69-4CF7-BBFD-52F518E30072}" destId="{340D4ABC-13E5-4815-8493-485E85AEADC7}" srcOrd="3" destOrd="0" presId="urn:microsoft.com/office/officeart/2018/2/layout/IconVerticalSolidList"/>
    <dgm:cxn modelId="{6E5E6D10-128A-44E2-9096-5F72603125E0}" type="presParOf" srcId="{AA789E0F-2301-4026-A615-27824E95F205}" destId="{9E1DD529-ED23-4D35-A9C9-84A48CBF97E7}" srcOrd="3" destOrd="0" presId="urn:microsoft.com/office/officeart/2018/2/layout/IconVerticalSolidList"/>
    <dgm:cxn modelId="{DD21DC22-8E5F-4011-AEB6-0DD8AAE6D577}" type="presParOf" srcId="{AA789E0F-2301-4026-A615-27824E95F205}" destId="{DAF07A7C-5796-45A9-8B16-3FF0001EB6E4}" srcOrd="4" destOrd="0" presId="urn:microsoft.com/office/officeart/2018/2/layout/IconVerticalSolidList"/>
    <dgm:cxn modelId="{69695CE2-864C-4AB6-B4EB-C52163738E60}" type="presParOf" srcId="{DAF07A7C-5796-45A9-8B16-3FF0001EB6E4}" destId="{143FB62E-7772-47AE-8CCE-DBD60C917FA6}" srcOrd="0" destOrd="0" presId="urn:microsoft.com/office/officeart/2018/2/layout/IconVerticalSolidList"/>
    <dgm:cxn modelId="{27887441-816A-45F5-A9FC-1EC8F25041EB}" type="presParOf" srcId="{DAF07A7C-5796-45A9-8B16-3FF0001EB6E4}" destId="{6AF30681-0FF1-4CEC-8FD7-953DD2B4E55A}" srcOrd="1" destOrd="0" presId="urn:microsoft.com/office/officeart/2018/2/layout/IconVerticalSolidList"/>
    <dgm:cxn modelId="{DF6F1DBB-001A-4CB5-BE0C-813D245FB518}" type="presParOf" srcId="{DAF07A7C-5796-45A9-8B16-3FF0001EB6E4}" destId="{CDD615EE-E2E4-4CA8-A27F-788CAD22FB9B}" srcOrd="2" destOrd="0" presId="urn:microsoft.com/office/officeart/2018/2/layout/IconVerticalSolidList"/>
    <dgm:cxn modelId="{408DC60C-DEE9-465A-B20D-CE684212C3AA}" type="presParOf" srcId="{DAF07A7C-5796-45A9-8B16-3FF0001EB6E4}" destId="{C632DC07-974C-4BB6-BB9C-AE683CB25136}" srcOrd="3" destOrd="0" presId="urn:microsoft.com/office/officeart/2018/2/layout/IconVerticalSolidList"/>
    <dgm:cxn modelId="{E8C60545-9911-494C-A42A-CD9D327157F5}" type="presParOf" srcId="{AA789E0F-2301-4026-A615-27824E95F205}" destId="{B59E8C75-9C69-4D93-9D17-968C262CB059}" srcOrd="5" destOrd="0" presId="urn:microsoft.com/office/officeart/2018/2/layout/IconVerticalSolidList"/>
    <dgm:cxn modelId="{B5F39B89-8780-4B81-B0E9-EF257F767367}" type="presParOf" srcId="{AA789E0F-2301-4026-A615-27824E95F205}" destId="{10F0E171-15A9-4A03-87D0-39B297984687}" srcOrd="6" destOrd="0" presId="urn:microsoft.com/office/officeart/2018/2/layout/IconVerticalSolidList"/>
    <dgm:cxn modelId="{9041C4F6-101D-4D6F-98BB-F5B4DDD36593}" type="presParOf" srcId="{10F0E171-15A9-4A03-87D0-39B297984687}" destId="{9D6856B8-4F77-4C51-9AAE-E0E9496F497C}" srcOrd="0" destOrd="0" presId="urn:microsoft.com/office/officeart/2018/2/layout/IconVerticalSolidList"/>
    <dgm:cxn modelId="{8881F45D-6347-4829-B608-DA52C0AE988F}" type="presParOf" srcId="{10F0E171-15A9-4A03-87D0-39B297984687}" destId="{47CD99FA-B7A7-410E-B2AD-8D9B311952E3}" srcOrd="1" destOrd="0" presId="urn:microsoft.com/office/officeart/2018/2/layout/IconVerticalSolidList"/>
    <dgm:cxn modelId="{2E8AA1F3-626B-4502-9F7B-A593C0538766}" type="presParOf" srcId="{10F0E171-15A9-4A03-87D0-39B297984687}" destId="{2D78764F-8F69-47D4-A80D-7973FDFACF81}" srcOrd="2" destOrd="0" presId="urn:microsoft.com/office/officeart/2018/2/layout/IconVerticalSolidList"/>
    <dgm:cxn modelId="{708649C2-93DE-4C66-BFFB-39E70D70A590}" type="presParOf" srcId="{10F0E171-15A9-4A03-87D0-39B297984687}" destId="{907407E7-6227-4ADC-ADC4-D2F28531ECEB}" srcOrd="3" destOrd="0" presId="urn:microsoft.com/office/officeart/2018/2/layout/IconVerticalSolidList"/>
    <dgm:cxn modelId="{712FF9EC-895E-4BD2-9D9C-6777EF65C845}" type="presParOf" srcId="{AA789E0F-2301-4026-A615-27824E95F205}" destId="{D070C9AC-636A-4B93-A371-F781DA5C716E}" srcOrd="7" destOrd="0" presId="urn:microsoft.com/office/officeart/2018/2/layout/IconVerticalSolidList"/>
    <dgm:cxn modelId="{B37CA838-5274-41E3-8B80-030319494089}" type="presParOf" srcId="{AA789E0F-2301-4026-A615-27824E95F205}" destId="{E79D968F-FFDB-457A-9CCA-A840B5696F2A}" srcOrd="8" destOrd="0" presId="urn:microsoft.com/office/officeart/2018/2/layout/IconVerticalSolidList"/>
    <dgm:cxn modelId="{83CC8A33-BCE1-4BA3-89B9-9B3326BBB094}" type="presParOf" srcId="{E79D968F-FFDB-457A-9CCA-A840B5696F2A}" destId="{12C381B1-46E2-43F6-B33C-860F3142EB15}" srcOrd="0" destOrd="0" presId="urn:microsoft.com/office/officeart/2018/2/layout/IconVerticalSolidList"/>
    <dgm:cxn modelId="{9907B4EB-D191-47C4-841C-C8B455969C10}" type="presParOf" srcId="{E79D968F-FFDB-457A-9CCA-A840B5696F2A}" destId="{EFC2DCEE-A3D2-441E-A158-C1370DC50111}" srcOrd="1" destOrd="0" presId="urn:microsoft.com/office/officeart/2018/2/layout/IconVerticalSolidList"/>
    <dgm:cxn modelId="{0F3ADF8D-1317-4DD2-8425-696179A0AF8A}" type="presParOf" srcId="{E79D968F-FFDB-457A-9CCA-A840B5696F2A}" destId="{D1643356-B595-4055-A5D9-8F22D60FDCF0}" srcOrd="2" destOrd="0" presId="urn:microsoft.com/office/officeart/2018/2/layout/IconVerticalSolidList"/>
    <dgm:cxn modelId="{BBB1FEAA-55AE-40E3-B8F9-C96965C3D882}" type="presParOf" srcId="{E79D968F-FFDB-457A-9CCA-A840B5696F2A}" destId="{8A9EAC85-FEB8-4E10-8B37-D87672B2690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7D84B70-C433-45AE-942A-4119577F95EC}"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fr-FR"/>
        </a:p>
      </dgm:t>
    </dgm:pt>
    <dgm:pt modelId="{0C0C758F-D0B0-43A0-A4FA-C99F12587E15}">
      <dgm:prSet/>
      <dgm:spPr/>
      <dgm:t>
        <a:bodyPr/>
        <a:lstStyle/>
        <a:p>
          <a:r>
            <a:rPr lang="fr-FR"/>
            <a:t>Analyse</a:t>
          </a:r>
        </a:p>
      </dgm:t>
    </dgm:pt>
    <dgm:pt modelId="{03A659D7-608D-4BC1-96E3-2E9423878B3E}" type="parTrans" cxnId="{EC906F7A-81C4-42BE-BD04-779C56A4323E}">
      <dgm:prSet/>
      <dgm:spPr/>
      <dgm:t>
        <a:bodyPr/>
        <a:lstStyle/>
        <a:p>
          <a:endParaRPr lang="fr-FR"/>
        </a:p>
      </dgm:t>
    </dgm:pt>
    <dgm:pt modelId="{C1265293-7333-4FA2-B08C-C7EFF12DA705}" type="sibTrans" cxnId="{EC906F7A-81C4-42BE-BD04-779C56A4323E}">
      <dgm:prSet/>
      <dgm:spPr/>
      <dgm:t>
        <a:bodyPr/>
        <a:lstStyle/>
        <a:p>
          <a:endParaRPr lang="fr-FR"/>
        </a:p>
      </dgm:t>
    </dgm:pt>
    <dgm:pt modelId="{F95FE00D-0253-4D54-AC2F-A7C8D9F9F969}">
      <dgm:prSet/>
      <dgm:spPr/>
      <dgm:t>
        <a:bodyPr/>
        <a:lstStyle/>
        <a:p>
          <a:r>
            <a:rPr lang="fr-FR"/>
            <a:t>Conception</a:t>
          </a:r>
        </a:p>
      </dgm:t>
    </dgm:pt>
    <dgm:pt modelId="{FADEE881-5F49-4AED-82EE-3CAF70BF0758}" type="parTrans" cxnId="{B09AF903-CF4E-4161-B2B3-49F63708480F}">
      <dgm:prSet/>
      <dgm:spPr/>
      <dgm:t>
        <a:bodyPr/>
        <a:lstStyle/>
        <a:p>
          <a:endParaRPr lang="fr-FR"/>
        </a:p>
      </dgm:t>
    </dgm:pt>
    <dgm:pt modelId="{C5DCFEF2-23CB-4CD1-BB42-3A8C5F00A462}" type="sibTrans" cxnId="{B09AF903-CF4E-4161-B2B3-49F63708480F}">
      <dgm:prSet/>
      <dgm:spPr/>
      <dgm:t>
        <a:bodyPr/>
        <a:lstStyle/>
        <a:p>
          <a:endParaRPr lang="fr-FR"/>
        </a:p>
      </dgm:t>
    </dgm:pt>
    <dgm:pt modelId="{C934D861-72ED-49AB-BB01-DB13FD12165B}">
      <dgm:prSet/>
      <dgm:spPr/>
      <dgm:t>
        <a:bodyPr/>
        <a:lstStyle/>
        <a:p>
          <a:r>
            <a:rPr lang="fr-FR"/>
            <a:t>Implémentation</a:t>
          </a:r>
        </a:p>
      </dgm:t>
    </dgm:pt>
    <dgm:pt modelId="{F67CF993-CE61-4109-A22A-AB3C928B9B0E}" type="parTrans" cxnId="{E694DFE6-237C-40E9-A8E8-547318588DE2}">
      <dgm:prSet/>
      <dgm:spPr/>
      <dgm:t>
        <a:bodyPr/>
        <a:lstStyle/>
        <a:p>
          <a:endParaRPr lang="fr-FR"/>
        </a:p>
      </dgm:t>
    </dgm:pt>
    <dgm:pt modelId="{28E1B6AC-380F-4197-A562-37D8FEEF2C61}" type="sibTrans" cxnId="{E694DFE6-237C-40E9-A8E8-547318588DE2}">
      <dgm:prSet/>
      <dgm:spPr/>
      <dgm:t>
        <a:bodyPr/>
        <a:lstStyle/>
        <a:p>
          <a:endParaRPr lang="fr-FR"/>
        </a:p>
      </dgm:t>
    </dgm:pt>
    <dgm:pt modelId="{FA9D3963-E8E5-4789-8D66-A3FC19D73F32}">
      <dgm:prSet/>
      <dgm:spPr/>
      <dgm:t>
        <a:bodyPr/>
        <a:lstStyle/>
        <a:p>
          <a:r>
            <a:rPr lang="fr-FR"/>
            <a:t>Test</a:t>
          </a:r>
        </a:p>
      </dgm:t>
    </dgm:pt>
    <dgm:pt modelId="{F4F2628E-BAF0-4B7B-B57E-785777EF5BD4}" type="parTrans" cxnId="{D38BC0E5-50F9-4F17-A284-B33BB04E14F1}">
      <dgm:prSet/>
      <dgm:spPr/>
      <dgm:t>
        <a:bodyPr/>
        <a:lstStyle/>
        <a:p>
          <a:endParaRPr lang="fr-FR"/>
        </a:p>
      </dgm:t>
    </dgm:pt>
    <dgm:pt modelId="{51DE876F-D894-4EAC-AD19-C3864E261D26}" type="sibTrans" cxnId="{D38BC0E5-50F9-4F17-A284-B33BB04E14F1}">
      <dgm:prSet/>
      <dgm:spPr/>
      <dgm:t>
        <a:bodyPr/>
        <a:lstStyle/>
        <a:p>
          <a:endParaRPr lang="fr-FR"/>
        </a:p>
      </dgm:t>
    </dgm:pt>
    <dgm:pt modelId="{17C66369-2922-4C8E-A188-0CDED4F5F9FD}">
      <dgm:prSet/>
      <dgm:spPr/>
      <dgm:t>
        <a:bodyPr/>
        <a:lstStyle/>
        <a:p>
          <a:r>
            <a:rPr lang="fr-FR"/>
            <a:t>Identification des fonctionnalités</a:t>
          </a:r>
        </a:p>
      </dgm:t>
    </dgm:pt>
    <dgm:pt modelId="{7E4ECD9A-8580-4B87-A693-AD269DC7167C}" type="parTrans" cxnId="{38B5EC9B-9313-4F96-B45A-7FC657B7827B}">
      <dgm:prSet/>
      <dgm:spPr/>
      <dgm:t>
        <a:bodyPr/>
        <a:lstStyle/>
        <a:p>
          <a:endParaRPr lang="fr-FR"/>
        </a:p>
      </dgm:t>
    </dgm:pt>
    <dgm:pt modelId="{831EEE2F-B291-4B8C-B00A-120E8A74E4B2}" type="sibTrans" cxnId="{38B5EC9B-9313-4F96-B45A-7FC657B7827B}">
      <dgm:prSet/>
      <dgm:spPr/>
      <dgm:t>
        <a:bodyPr/>
        <a:lstStyle/>
        <a:p>
          <a:endParaRPr lang="fr-FR"/>
        </a:p>
      </dgm:t>
    </dgm:pt>
    <dgm:pt modelId="{497746B3-B503-46DF-8562-8F35DDA3B063}">
      <dgm:prSet/>
      <dgm:spPr/>
      <dgm:t>
        <a:bodyPr/>
        <a:lstStyle/>
        <a:p>
          <a:r>
            <a:rPr lang="fr-FR"/>
            <a:t>Moyens et procédures permettant de mettre à disposition la fonctionnalité</a:t>
          </a:r>
        </a:p>
      </dgm:t>
    </dgm:pt>
    <dgm:pt modelId="{0A0627D7-35F1-4060-9813-E611D8890786}" type="parTrans" cxnId="{1FE7B3DA-98B5-41D2-A298-5F1725D35B17}">
      <dgm:prSet/>
      <dgm:spPr/>
      <dgm:t>
        <a:bodyPr/>
        <a:lstStyle/>
        <a:p>
          <a:endParaRPr lang="fr-FR"/>
        </a:p>
      </dgm:t>
    </dgm:pt>
    <dgm:pt modelId="{2D798D75-99BF-48FE-8121-21DE879B26B4}" type="sibTrans" cxnId="{1FE7B3DA-98B5-41D2-A298-5F1725D35B17}">
      <dgm:prSet/>
      <dgm:spPr/>
      <dgm:t>
        <a:bodyPr/>
        <a:lstStyle/>
        <a:p>
          <a:endParaRPr lang="fr-FR"/>
        </a:p>
      </dgm:t>
    </dgm:pt>
    <dgm:pt modelId="{F077AFAF-6470-4C0E-8F9D-5043843721BA}" type="pres">
      <dgm:prSet presAssocID="{37D84B70-C433-45AE-942A-4119577F95EC}" presName="rootnode" presStyleCnt="0">
        <dgm:presLayoutVars>
          <dgm:chMax/>
          <dgm:chPref/>
          <dgm:dir/>
          <dgm:animLvl val="lvl"/>
        </dgm:presLayoutVars>
      </dgm:prSet>
      <dgm:spPr/>
    </dgm:pt>
    <dgm:pt modelId="{588AAC51-0E1F-4E4A-A7E2-8ED608ED4F13}" type="pres">
      <dgm:prSet presAssocID="{0C0C758F-D0B0-43A0-A4FA-C99F12587E15}" presName="composite" presStyleCnt="0"/>
      <dgm:spPr/>
    </dgm:pt>
    <dgm:pt modelId="{6BC17C20-4691-44BD-A285-9907E0B73BBB}" type="pres">
      <dgm:prSet presAssocID="{0C0C758F-D0B0-43A0-A4FA-C99F12587E15}" presName="bentUpArrow1" presStyleLbl="alignImgPlace1" presStyleIdx="0" presStyleCnt="3"/>
      <dgm:spPr/>
    </dgm:pt>
    <dgm:pt modelId="{FD150048-02C6-408C-AA42-10EF113EEAB8}" type="pres">
      <dgm:prSet presAssocID="{0C0C758F-D0B0-43A0-A4FA-C99F12587E15}" presName="ParentText" presStyleLbl="node1" presStyleIdx="0" presStyleCnt="4">
        <dgm:presLayoutVars>
          <dgm:chMax val="1"/>
          <dgm:chPref val="1"/>
          <dgm:bulletEnabled val="1"/>
        </dgm:presLayoutVars>
      </dgm:prSet>
      <dgm:spPr/>
    </dgm:pt>
    <dgm:pt modelId="{2C2FC702-0390-46E2-8811-F17AE9136A9D}" type="pres">
      <dgm:prSet presAssocID="{0C0C758F-D0B0-43A0-A4FA-C99F12587E15}" presName="ChildText" presStyleLbl="revTx" presStyleIdx="0" presStyleCnt="3">
        <dgm:presLayoutVars>
          <dgm:chMax val="0"/>
          <dgm:chPref val="0"/>
          <dgm:bulletEnabled val="1"/>
        </dgm:presLayoutVars>
      </dgm:prSet>
      <dgm:spPr/>
    </dgm:pt>
    <dgm:pt modelId="{BF2AEC31-4D41-4059-A8CC-CCA9D098E12B}" type="pres">
      <dgm:prSet presAssocID="{C1265293-7333-4FA2-B08C-C7EFF12DA705}" presName="sibTrans" presStyleCnt="0"/>
      <dgm:spPr/>
    </dgm:pt>
    <dgm:pt modelId="{59CD82DE-A985-4918-B72E-1F5C4ABFBFA4}" type="pres">
      <dgm:prSet presAssocID="{F95FE00D-0253-4D54-AC2F-A7C8D9F9F969}" presName="composite" presStyleCnt="0"/>
      <dgm:spPr/>
    </dgm:pt>
    <dgm:pt modelId="{9BB596C0-86C4-476A-85CB-54BA5D2A6624}" type="pres">
      <dgm:prSet presAssocID="{F95FE00D-0253-4D54-AC2F-A7C8D9F9F969}" presName="bentUpArrow1" presStyleLbl="alignImgPlace1" presStyleIdx="1" presStyleCnt="3"/>
      <dgm:spPr/>
    </dgm:pt>
    <dgm:pt modelId="{369F81BB-6356-4A84-994F-EB0AC0AAD21F}" type="pres">
      <dgm:prSet presAssocID="{F95FE00D-0253-4D54-AC2F-A7C8D9F9F969}" presName="ParentText" presStyleLbl="node1" presStyleIdx="1" presStyleCnt="4">
        <dgm:presLayoutVars>
          <dgm:chMax val="1"/>
          <dgm:chPref val="1"/>
          <dgm:bulletEnabled val="1"/>
        </dgm:presLayoutVars>
      </dgm:prSet>
      <dgm:spPr/>
    </dgm:pt>
    <dgm:pt modelId="{2F63551D-D418-42BE-94F3-23AFCB02DE1F}" type="pres">
      <dgm:prSet presAssocID="{F95FE00D-0253-4D54-AC2F-A7C8D9F9F969}" presName="ChildText" presStyleLbl="revTx" presStyleIdx="1" presStyleCnt="3">
        <dgm:presLayoutVars>
          <dgm:chMax val="0"/>
          <dgm:chPref val="0"/>
          <dgm:bulletEnabled val="1"/>
        </dgm:presLayoutVars>
      </dgm:prSet>
      <dgm:spPr/>
    </dgm:pt>
    <dgm:pt modelId="{D3B71C8D-AA26-41B3-8786-BCC050461225}" type="pres">
      <dgm:prSet presAssocID="{C5DCFEF2-23CB-4CD1-BB42-3A8C5F00A462}" presName="sibTrans" presStyleCnt="0"/>
      <dgm:spPr/>
    </dgm:pt>
    <dgm:pt modelId="{7D372495-46E9-40B4-A4A3-40B870DE49E1}" type="pres">
      <dgm:prSet presAssocID="{C934D861-72ED-49AB-BB01-DB13FD12165B}" presName="composite" presStyleCnt="0"/>
      <dgm:spPr/>
    </dgm:pt>
    <dgm:pt modelId="{0ECC2FE2-A081-4534-B66F-9886328175D6}" type="pres">
      <dgm:prSet presAssocID="{C934D861-72ED-49AB-BB01-DB13FD12165B}" presName="bentUpArrow1" presStyleLbl="alignImgPlace1" presStyleIdx="2" presStyleCnt="3"/>
      <dgm:spPr/>
    </dgm:pt>
    <dgm:pt modelId="{1E239A02-E80C-43BB-BAD3-B5E34F8ED451}" type="pres">
      <dgm:prSet presAssocID="{C934D861-72ED-49AB-BB01-DB13FD12165B}" presName="ParentText" presStyleLbl="node1" presStyleIdx="2" presStyleCnt="4">
        <dgm:presLayoutVars>
          <dgm:chMax val="1"/>
          <dgm:chPref val="1"/>
          <dgm:bulletEnabled val="1"/>
        </dgm:presLayoutVars>
      </dgm:prSet>
      <dgm:spPr/>
    </dgm:pt>
    <dgm:pt modelId="{0F0BB29C-732A-48CE-8A69-1B6AC4DC1721}" type="pres">
      <dgm:prSet presAssocID="{C934D861-72ED-49AB-BB01-DB13FD12165B}" presName="ChildText" presStyleLbl="revTx" presStyleIdx="2" presStyleCnt="3">
        <dgm:presLayoutVars>
          <dgm:chMax val="0"/>
          <dgm:chPref val="0"/>
          <dgm:bulletEnabled val="1"/>
        </dgm:presLayoutVars>
      </dgm:prSet>
      <dgm:spPr/>
    </dgm:pt>
    <dgm:pt modelId="{309C91C5-99F8-47C8-9074-593707B555C4}" type="pres">
      <dgm:prSet presAssocID="{28E1B6AC-380F-4197-A562-37D8FEEF2C61}" presName="sibTrans" presStyleCnt="0"/>
      <dgm:spPr/>
    </dgm:pt>
    <dgm:pt modelId="{76293F96-7ABC-4122-933B-0E70A8494B97}" type="pres">
      <dgm:prSet presAssocID="{FA9D3963-E8E5-4789-8D66-A3FC19D73F32}" presName="composite" presStyleCnt="0"/>
      <dgm:spPr/>
    </dgm:pt>
    <dgm:pt modelId="{BDB82B20-BE5F-4180-BBC6-D8E03B1756C5}" type="pres">
      <dgm:prSet presAssocID="{FA9D3963-E8E5-4789-8D66-A3FC19D73F32}" presName="ParentText" presStyleLbl="node1" presStyleIdx="3" presStyleCnt="4">
        <dgm:presLayoutVars>
          <dgm:chMax val="1"/>
          <dgm:chPref val="1"/>
          <dgm:bulletEnabled val="1"/>
        </dgm:presLayoutVars>
      </dgm:prSet>
      <dgm:spPr/>
    </dgm:pt>
  </dgm:ptLst>
  <dgm:cxnLst>
    <dgm:cxn modelId="{B09AF903-CF4E-4161-B2B3-49F63708480F}" srcId="{37D84B70-C433-45AE-942A-4119577F95EC}" destId="{F95FE00D-0253-4D54-AC2F-A7C8D9F9F969}" srcOrd="1" destOrd="0" parTransId="{FADEE881-5F49-4AED-82EE-3CAF70BF0758}" sibTransId="{C5DCFEF2-23CB-4CD1-BB42-3A8C5F00A462}"/>
    <dgm:cxn modelId="{D8E4F034-F62E-4286-B8BE-5D0CF6FAA45F}" type="presOf" srcId="{F95FE00D-0253-4D54-AC2F-A7C8D9F9F969}" destId="{369F81BB-6356-4A84-994F-EB0AC0AAD21F}" srcOrd="0" destOrd="0" presId="urn:microsoft.com/office/officeart/2005/8/layout/StepDownProcess"/>
    <dgm:cxn modelId="{9AF84548-3345-44EE-AD4D-2F59AFF37B2A}" type="presOf" srcId="{37D84B70-C433-45AE-942A-4119577F95EC}" destId="{F077AFAF-6470-4C0E-8F9D-5043843721BA}" srcOrd="0" destOrd="0" presId="urn:microsoft.com/office/officeart/2005/8/layout/StepDownProcess"/>
    <dgm:cxn modelId="{AFDFC850-C351-46B6-AE3E-CFBBB1D99E18}" type="presOf" srcId="{FA9D3963-E8E5-4789-8D66-A3FC19D73F32}" destId="{BDB82B20-BE5F-4180-BBC6-D8E03B1756C5}" srcOrd="0" destOrd="0" presId="urn:microsoft.com/office/officeart/2005/8/layout/StepDownProcess"/>
    <dgm:cxn modelId="{EC906F7A-81C4-42BE-BD04-779C56A4323E}" srcId="{37D84B70-C433-45AE-942A-4119577F95EC}" destId="{0C0C758F-D0B0-43A0-A4FA-C99F12587E15}" srcOrd="0" destOrd="0" parTransId="{03A659D7-608D-4BC1-96E3-2E9423878B3E}" sibTransId="{C1265293-7333-4FA2-B08C-C7EFF12DA705}"/>
    <dgm:cxn modelId="{38B5EC9B-9313-4F96-B45A-7FC657B7827B}" srcId="{0C0C758F-D0B0-43A0-A4FA-C99F12587E15}" destId="{17C66369-2922-4C8E-A188-0CDED4F5F9FD}" srcOrd="0" destOrd="0" parTransId="{7E4ECD9A-8580-4B87-A693-AD269DC7167C}" sibTransId="{831EEE2F-B291-4B8C-B00A-120E8A74E4B2}"/>
    <dgm:cxn modelId="{51BD82A5-0E09-4545-AE0E-0A335536A630}" type="presOf" srcId="{17C66369-2922-4C8E-A188-0CDED4F5F9FD}" destId="{2C2FC702-0390-46E2-8811-F17AE9136A9D}" srcOrd="0" destOrd="0" presId="urn:microsoft.com/office/officeart/2005/8/layout/StepDownProcess"/>
    <dgm:cxn modelId="{0FE256A7-E3C2-4D0A-AABC-3C6AC7302329}" type="presOf" srcId="{497746B3-B503-46DF-8562-8F35DDA3B063}" destId="{2F63551D-D418-42BE-94F3-23AFCB02DE1F}" srcOrd="0" destOrd="0" presId="urn:microsoft.com/office/officeart/2005/8/layout/StepDownProcess"/>
    <dgm:cxn modelId="{9C81FDAE-5478-4DB2-AE5E-AEF20D40384D}" type="presOf" srcId="{C934D861-72ED-49AB-BB01-DB13FD12165B}" destId="{1E239A02-E80C-43BB-BAD3-B5E34F8ED451}" srcOrd="0" destOrd="0" presId="urn:microsoft.com/office/officeart/2005/8/layout/StepDownProcess"/>
    <dgm:cxn modelId="{98436BD3-C9CA-4BC8-9B38-1991FDBE0B35}" type="presOf" srcId="{0C0C758F-D0B0-43A0-A4FA-C99F12587E15}" destId="{FD150048-02C6-408C-AA42-10EF113EEAB8}" srcOrd="0" destOrd="0" presId="urn:microsoft.com/office/officeart/2005/8/layout/StepDownProcess"/>
    <dgm:cxn modelId="{1FE7B3DA-98B5-41D2-A298-5F1725D35B17}" srcId="{F95FE00D-0253-4D54-AC2F-A7C8D9F9F969}" destId="{497746B3-B503-46DF-8562-8F35DDA3B063}" srcOrd="0" destOrd="0" parTransId="{0A0627D7-35F1-4060-9813-E611D8890786}" sibTransId="{2D798D75-99BF-48FE-8121-21DE879B26B4}"/>
    <dgm:cxn modelId="{D38BC0E5-50F9-4F17-A284-B33BB04E14F1}" srcId="{37D84B70-C433-45AE-942A-4119577F95EC}" destId="{FA9D3963-E8E5-4789-8D66-A3FC19D73F32}" srcOrd="3" destOrd="0" parTransId="{F4F2628E-BAF0-4B7B-B57E-785777EF5BD4}" sibTransId="{51DE876F-D894-4EAC-AD19-C3864E261D26}"/>
    <dgm:cxn modelId="{E694DFE6-237C-40E9-A8E8-547318588DE2}" srcId="{37D84B70-C433-45AE-942A-4119577F95EC}" destId="{C934D861-72ED-49AB-BB01-DB13FD12165B}" srcOrd="2" destOrd="0" parTransId="{F67CF993-CE61-4109-A22A-AB3C928B9B0E}" sibTransId="{28E1B6AC-380F-4197-A562-37D8FEEF2C61}"/>
    <dgm:cxn modelId="{387D0235-A27E-46FC-8D02-01505FD9095F}" type="presParOf" srcId="{F077AFAF-6470-4C0E-8F9D-5043843721BA}" destId="{588AAC51-0E1F-4E4A-A7E2-8ED608ED4F13}" srcOrd="0" destOrd="0" presId="urn:microsoft.com/office/officeart/2005/8/layout/StepDownProcess"/>
    <dgm:cxn modelId="{E80DBA35-46BC-4201-AEF0-68D4B125DFD6}" type="presParOf" srcId="{588AAC51-0E1F-4E4A-A7E2-8ED608ED4F13}" destId="{6BC17C20-4691-44BD-A285-9907E0B73BBB}" srcOrd="0" destOrd="0" presId="urn:microsoft.com/office/officeart/2005/8/layout/StepDownProcess"/>
    <dgm:cxn modelId="{6E05A71B-6908-4DEB-A8E5-B7552E74F726}" type="presParOf" srcId="{588AAC51-0E1F-4E4A-A7E2-8ED608ED4F13}" destId="{FD150048-02C6-408C-AA42-10EF113EEAB8}" srcOrd="1" destOrd="0" presId="urn:microsoft.com/office/officeart/2005/8/layout/StepDownProcess"/>
    <dgm:cxn modelId="{78A03E66-89F6-4FF5-88DF-6458242116A5}" type="presParOf" srcId="{588AAC51-0E1F-4E4A-A7E2-8ED608ED4F13}" destId="{2C2FC702-0390-46E2-8811-F17AE9136A9D}" srcOrd="2" destOrd="0" presId="urn:microsoft.com/office/officeart/2005/8/layout/StepDownProcess"/>
    <dgm:cxn modelId="{4A243CBE-5757-4215-837F-9D0E1C16D121}" type="presParOf" srcId="{F077AFAF-6470-4C0E-8F9D-5043843721BA}" destId="{BF2AEC31-4D41-4059-A8CC-CCA9D098E12B}" srcOrd="1" destOrd="0" presId="urn:microsoft.com/office/officeart/2005/8/layout/StepDownProcess"/>
    <dgm:cxn modelId="{F1BBEEBD-6CBA-46FC-B338-EF51EB366DFF}" type="presParOf" srcId="{F077AFAF-6470-4C0E-8F9D-5043843721BA}" destId="{59CD82DE-A985-4918-B72E-1F5C4ABFBFA4}" srcOrd="2" destOrd="0" presId="urn:microsoft.com/office/officeart/2005/8/layout/StepDownProcess"/>
    <dgm:cxn modelId="{948F16CE-60A6-4C33-819A-3E598DB0457C}" type="presParOf" srcId="{59CD82DE-A985-4918-B72E-1F5C4ABFBFA4}" destId="{9BB596C0-86C4-476A-85CB-54BA5D2A6624}" srcOrd="0" destOrd="0" presId="urn:microsoft.com/office/officeart/2005/8/layout/StepDownProcess"/>
    <dgm:cxn modelId="{514AE559-51C0-4DF3-A606-904EB7C2D7F7}" type="presParOf" srcId="{59CD82DE-A985-4918-B72E-1F5C4ABFBFA4}" destId="{369F81BB-6356-4A84-994F-EB0AC0AAD21F}" srcOrd="1" destOrd="0" presId="urn:microsoft.com/office/officeart/2005/8/layout/StepDownProcess"/>
    <dgm:cxn modelId="{4D48B05B-8D94-48C3-8478-476CE05DCCE8}" type="presParOf" srcId="{59CD82DE-A985-4918-B72E-1F5C4ABFBFA4}" destId="{2F63551D-D418-42BE-94F3-23AFCB02DE1F}" srcOrd="2" destOrd="0" presId="urn:microsoft.com/office/officeart/2005/8/layout/StepDownProcess"/>
    <dgm:cxn modelId="{89052357-D65C-47AC-B5DE-D739EA6E359A}" type="presParOf" srcId="{F077AFAF-6470-4C0E-8F9D-5043843721BA}" destId="{D3B71C8D-AA26-41B3-8786-BCC050461225}" srcOrd="3" destOrd="0" presId="urn:microsoft.com/office/officeart/2005/8/layout/StepDownProcess"/>
    <dgm:cxn modelId="{9838C87C-150D-4CD3-9F21-9642706449A6}" type="presParOf" srcId="{F077AFAF-6470-4C0E-8F9D-5043843721BA}" destId="{7D372495-46E9-40B4-A4A3-40B870DE49E1}" srcOrd="4" destOrd="0" presId="urn:microsoft.com/office/officeart/2005/8/layout/StepDownProcess"/>
    <dgm:cxn modelId="{EDF5B702-6DFE-4294-B688-458DA0868F2E}" type="presParOf" srcId="{7D372495-46E9-40B4-A4A3-40B870DE49E1}" destId="{0ECC2FE2-A081-4534-B66F-9886328175D6}" srcOrd="0" destOrd="0" presId="urn:microsoft.com/office/officeart/2005/8/layout/StepDownProcess"/>
    <dgm:cxn modelId="{9C212138-B4F7-4AEA-8BF3-E6A441E859A5}" type="presParOf" srcId="{7D372495-46E9-40B4-A4A3-40B870DE49E1}" destId="{1E239A02-E80C-43BB-BAD3-B5E34F8ED451}" srcOrd="1" destOrd="0" presId="urn:microsoft.com/office/officeart/2005/8/layout/StepDownProcess"/>
    <dgm:cxn modelId="{2DE18890-5410-4307-9E38-B3D319F0723F}" type="presParOf" srcId="{7D372495-46E9-40B4-A4A3-40B870DE49E1}" destId="{0F0BB29C-732A-48CE-8A69-1B6AC4DC1721}" srcOrd="2" destOrd="0" presId="urn:microsoft.com/office/officeart/2005/8/layout/StepDownProcess"/>
    <dgm:cxn modelId="{59471835-418A-4E49-AF9F-160FF18D2F11}" type="presParOf" srcId="{F077AFAF-6470-4C0E-8F9D-5043843721BA}" destId="{309C91C5-99F8-47C8-9074-593707B555C4}" srcOrd="5" destOrd="0" presId="urn:microsoft.com/office/officeart/2005/8/layout/StepDownProcess"/>
    <dgm:cxn modelId="{406A94E4-A16D-4348-A3CB-473CD6565073}" type="presParOf" srcId="{F077AFAF-6470-4C0E-8F9D-5043843721BA}" destId="{76293F96-7ABC-4122-933B-0E70A8494B97}" srcOrd="6" destOrd="0" presId="urn:microsoft.com/office/officeart/2005/8/layout/StepDownProcess"/>
    <dgm:cxn modelId="{1FACAEEC-BB53-482A-9EB0-E4405222318B}" type="presParOf" srcId="{76293F96-7ABC-4122-933B-0E70A8494B97}" destId="{BDB82B20-BE5F-4180-BBC6-D8E03B1756C5}"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7D84B70-C433-45AE-942A-4119577F95EC}" type="doc">
      <dgm:prSet loTypeId="urn:microsoft.com/office/officeart/2005/8/layout/cycle3" loCatId="cycle" qsTypeId="urn:microsoft.com/office/officeart/2005/8/quickstyle/simple1" qsCatId="simple" csTypeId="urn:microsoft.com/office/officeart/2005/8/colors/accent1_2" csCatId="accent1"/>
      <dgm:spPr/>
      <dgm:t>
        <a:bodyPr/>
        <a:lstStyle/>
        <a:p>
          <a:endParaRPr lang="fr-FR"/>
        </a:p>
      </dgm:t>
    </dgm:pt>
    <dgm:pt modelId="{0C0C758F-D0B0-43A0-A4FA-C99F12587E15}">
      <dgm:prSet/>
      <dgm:spPr/>
      <dgm:t>
        <a:bodyPr/>
        <a:lstStyle/>
        <a:p>
          <a:r>
            <a:rPr lang="fr-FR"/>
            <a:t>Analyse</a:t>
          </a:r>
        </a:p>
      </dgm:t>
    </dgm:pt>
    <dgm:pt modelId="{03A659D7-608D-4BC1-96E3-2E9423878B3E}" type="parTrans" cxnId="{EC906F7A-81C4-42BE-BD04-779C56A4323E}">
      <dgm:prSet/>
      <dgm:spPr/>
      <dgm:t>
        <a:bodyPr/>
        <a:lstStyle/>
        <a:p>
          <a:endParaRPr lang="fr-FR"/>
        </a:p>
      </dgm:t>
    </dgm:pt>
    <dgm:pt modelId="{C1265293-7333-4FA2-B08C-C7EFF12DA705}" type="sibTrans" cxnId="{EC906F7A-81C4-42BE-BD04-779C56A4323E}">
      <dgm:prSet/>
      <dgm:spPr/>
      <dgm:t>
        <a:bodyPr/>
        <a:lstStyle/>
        <a:p>
          <a:endParaRPr lang="fr-FR"/>
        </a:p>
      </dgm:t>
    </dgm:pt>
    <dgm:pt modelId="{F95FE00D-0253-4D54-AC2F-A7C8D9F9F969}">
      <dgm:prSet/>
      <dgm:spPr/>
      <dgm:t>
        <a:bodyPr/>
        <a:lstStyle/>
        <a:p>
          <a:r>
            <a:rPr lang="fr-FR"/>
            <a:t>Conception</a:t>
          </a:r>
        </a:p>
      </dgm:t>
    </dgm:pt>
    <dgm:pt modelId="{FADEE881-5F49-4AED-82EE-3CAF70BF0758}" type="parTrans" cxnId="{B09AF903-CF4E-4161-B2B3-49F63708480F}">
      <dgm:prSet/>
      <dgm:spPr/>
      <dgm:t>
        <a:bodyPr/>
        <a:lstStyle/>
        <a:p>
          <a:endParaRPr lang="fr-FR"/>
        </a:p>
      </dgm:t>
    </dgm:pt>
    <dgm:pt modelId="{C5DCFEF2-23CB-4CD1-BB42-3A8C5F00A462}" type="sibTrans" cxnId="{B09AF903-CF4E-4161-B2B3-49F63708480F}">
      <dgm:prSet/>
      <dgm:spPr/>
      <dgm:t>
        <a:bodyPr/>
        <a:lstStyle/>
        <a:p>
          <a:endParaRPr lang="fr-FR"/>
        </a:p>
      </dgm:t>
    </dgm:pt>
    <dgm:pt modelId="{C934D861-72ED-49AB-BB01-DB13FD12165B}">
      <dgm:prSet/>
      <dgm:spPr/>
      <dgm:t>
        <a:bodyPr/>
        <a:lstStyle/>
        <a:p>
          <a:r>
            <a:rPr lang="fr-FR"/>
            <a:t>Implémentation</a:t>
          </a:r>
        </a:p>
      </dgm:t>
    </dgm:pt>
    <dgm:pt modelId="{F67CF993-CE61-4109-A22A-AB3C928B9B0E}" type="parTrans" cxnId="{E694DFE6-237C-40E9-A8E8-547318588DE2}">
      <dgm:prSet/>
      <dgm:spPr/>
      <dgm:t>
        <a:bodyPr/>
        <a:lstStyle/>
        <a:p>
          <a:endParaRPr lang="fr-FR"/>
        </a:p>
      </dgm:t>
    </dgm:pt>
    <dgm:pt modelId="{28E1B6AC-380F-4197-A562-37D8FEEF2C61}" type="sibTrans" cxnId="{E694DFE6-237C-40E9-A8E8-547318588DE2}">
      <dgm:prSet/>
      <dgm:spPr/>
      <dgm:t>
        <a:bodyPr/>
        <a:lstStyle/>
        <a:p>
          <a:endParaRPr lang="fr-FR"/>
        </a:p>
      </dgm:t>
    </dgm:pt>
    <dgm:pt modelId="{FA9D3963-E8E5-4789-8D66-A3FC19D73F32}">
      <dgm:prSet/>
      <dgm:spPr/>
      <dgm:t>
        <a:bodyPr/>
        <a:lstStyle/>
        <a:p>
          <a:r>
            <a:rPr lang="fr-FR"/>
            <a:t>Test</a:t>
          </a:r>
        </a:p>
      </dgm:t>
    </dgm:pt>
    <dgm:pt modelId="{F4F2628E-BAF0-4B7B-B57E-785777EF5BD4}" type="parTrans" cxnId="{D38BC0E5-50F9-4F17-A284-B33BB04E14F1}">
      <dgm:prSet/>
      <dgm:spPr/>
      <dgm:t>
        <a:bodyPr/>
        <a:lstStyle/>
        <a:p>
          <a:endParaRPr lang="fr-FR"/>
        </a:p>
      </dgm:t>
    </dgm:pt>
    <dgm:pt modelId="{51DE876F-D894-4EAC-AD19-C3864E261D26}" type="sibTrans" cxnId="{D38BC0E5-50F9-4F17-A284-B33BB04E14F1}">
      <dgm:prSet/>
      <dgm:spPr/>
      <dgm:t>
        <a:bodyPr/>
        <a:lstStyle/>
        <a:p>
          <a:endParaRPr lang="fr-FR"/>
        </a:p>
      </dgm:t>
    </dgm:pt>
    <dgm:pt modelId="{A77E1E39-76CD-4EE1-8645-5D2C6379AA39}" type="pres">
      <dgm:prSet presAssocID="{37D84B70-C433-45AE-942A-4119577F95EC}" presName="Name0" presStyleCnt="0">
        <dgm:presLayoutVars>
          <dgm:dir/>
          <dgm:resizeHandles val="exact"/>
        </dgm:presLayoutVars>
      </dgm:prSet>
      <dgm:spPr/>
    </dgm:pt>
    <dgm:pt modelId="{6C377AC0-0F3E-4860-BDA8-DC0AEF417A3C}" type="pres">
      <dgm:prSet presAssocID="{37D84B70-C433-45AE-942A-4119577F95EC}" presName="cycle" presStyleCnt="0"/>
      <dgm:spPr/>
    </dgm:pt>
    <dgm:pt modelId="{04FC48E6-3814-4A78-A258-05AF6980E8D0}" type="pres">
      <dgm:prSet presAssocID="{0C0C758F-D0B0-43A0-A4FA-C99F12587E15}" presName="nodeFirstNode" presStyleLbl="node1" presStyleIdx="0" presStyleCnt="4">
        <dgm:presLayoutVars>
          <dgm:bulletEnabled val="1"/>
        </dgm:presLayoutVars>
      </dgm:prSet>
      <dgm:spPr/>
    </dgm:pt>
    <dgm:pt modelId="{5CC49144-2333-48AD-B201-B3D88046C0C4}" type="pres">
      <dgm:prSet presAssocID="{C1265293-7333-4FA2-B08C-C7EFF12DA705}" presName="sibTransFirstNode" presStyleLbl="bgShp" presStyleIdx="0" presStyleCnt="1"/>
      <dgm:spPr/>
    </dgm:pt>
    <dgm:pt modelId="{5E0E3486-4020-4C2C-AAB2-F6F154D9F025}" type="pres">
      <dgm:prSet presAssocID="{F95FE00D-0253-4D54-AC2F-A7C8D9F9F969}" presName="nodeFollowingNodes" presStyleLbl="node1" presStyleIdx="1" presStyleCnt="4">
        <dgm:presLayoutVars>
          <dgm:bulletEnabled val="1"/>
        </dgm:presLayoutVars>
      </dgm:prSet>
      <dgm:spPr/>
    </dgm:pt>
    <dgm:pt modelId="{BEC58F95-1FF4-407F-85C2-D654E0ABD364}" type="pres">
      <dgm:prSet presAssocID="{C934D861-72ED-49AB-BB01-DB13FD12165B}" presName="nodeFollowingNodes" presStyleLbl="node1" presStyleIdx="2" presStyleCnt="4">
        <dgm:presLayoutVars>
          <dgm:bulletEnabled val="1"/>
        </dgm:presLayoutVars>
      </dgm:prSet>
      <dgm:spPr/>
    </dgm:pt>
    <dgm:pt modelId="{36966E14-FBFA-48EE-A955-5669FB09F0AD}" type="pres">
      <dgm:prSet presAssocID="{FA9D3963-E8E5-4789-8D66-A3FC19D73F32}" presName="nodeFollowingNodes" presStyleLbl="node1" presStyleIdx="3" presStyleCnt="4">
        <dgm:presLayoutVars>
          <dgm:bulletEnabled val="1"/>
        </dgm:presLayoutVars>
      </dgm:prSet>
      <dgm:spPr/>
    </dgm:pt>
  </dgm:ptLst>
  <dgm:cxnLst>
    <dgm:cxn modelId="{B09AF903-CF4E-4161-B2B3-49F63708480F}" srcId="{37D84B70-C433-45AE-942A-4119577F95EC}" destId="{F95FE00D-0253-4D54-AC2F-A7C8D9F9F969}" srcOrd="1" destOrd="0" parTransId="{FADEE881-5F49-4AED-82EE-3CAF70BF0758}" sibTransId="{C5DCFEF2-23CB-4CD1-BB42-3A8C5F00A462}"/>
    <dgm:cxn modelId="{EF235707-528F-4254-8009-485EE9CF715F}" type="presOf" srcId="{C1265293-7333-4FA2-B08C-C7EFF12DA705}" destId="{5CC49144-2333-48AD-B201-B3D88046C0C4}" srcOrd="0" destOrd="0" presId="urn:microsoft.com/office/officeart/2005/8/layout/cycle3"/>
    <dgm:cxn modelId="{EC906F7A-81C4-42BE-BD04-779C56A4323E}" srcId="{37D84B70-C433-45AE-942A-4119577F95EC}" destId="{0C0C758F-D0B0-43A0-A4FA-C99F12587E15}" srcOrd="0" destOrd="0" parTransId="{03A659D7-608D-4BC1-96E3-2E9423878B3E}" sibTransId="{C1265293-7333-4FA2-B08C-C7EFF12DA705}"/>
    <dgm:cxn modelId="{A73A1C9F-52CD-4FC5-9AC9-1AC0D2B3E3ED}" type="presOf" srcId="{FA9D3963-E8E5-4789-8D66-A3FC19D73F32}" destId="{36966E14-FBFA-48EE-A955-5669FB09F0AD}" srcOrd="0" destOrd="0" presId="urn:microsoft.com/office/officeart/2005/8/layout/cycle3"/>
    <dgm:cxn modelId="{35F1999F-0B4F-4978-9C9E-EB627BE22B04}" type="presOf" srcId="{37D84B70-C433-45AE-942A-4119577F95EC}" destId="{A77E1E39-76CD-4EE1-8645-5D2C6379AA39}" srcOrd="0" destOrd="0" presId="urn:microsoft.com/office/officeart/2005/8/layout/cycle3"/>
    <dgm:cxn modelId="{2E5732BA-6D28-47DF-B33F-1E1B2875B241}" type="presOf" srcId="{F95FE00D-0253-4D54-AC2F-A7C8D9F9F969}" destId="{5E0E3486-4020-4C2C-AAB2-F6F154D9F025}" srcOrd="0" destOrd="0" presId="urn:microsoft.com/office/officeart/2005/8/layout/cycle3"/>
    <dgm:cxn modelId="{47ABDDD1-8DE0-438E-AA3D-054878E49F6A}" type="presOf" srcId="{0C0C758F-D0B0-43A0-A4FA-C99F12587E15}" destId="{04FC48E6-3814-4A78-A258-05AF6980E8D0}" srcOrd="0" destOrd="0" presId="urn:microsoft.com/office/officeart/2005/8/layout/cycle3"/>
    <dgm:cxn modelId="{D38BC0E5-50F9-4F17-A284-B33BB04E14F1}" srcId="{37D84B70-C433-45AE-942A-4119577F95EC}" destId="{FA9D3963-E8E5-4789-8D66-A3FC19D73F32}" srcOrd="3" destOrd="0" parTransId="{F4F2628E-BAF0-4B7B-B57E-785777EF5BD4}" sibTransId="{51DE876F-D894-4EAC-AD19-C3864E261D26}"/>
    <dgm:cxn modelId="{E694DFE6-237C-40E9-A8E8-547318588DE2}" srcId="{37D84B70-C433-45AE-942A-4119577F95EC}" destId="{C934D861-72ED-49AB-BB01-DB13FD12165B}" srcOrd="2" destOrd="0" parTransId="{F67CF993-CE61-4109-A22A-AB3C928B9B0E}" sibTransId="{28E1B6AC-380F-4197-A562-37D8FEEF2C61}"/>
    <dgm:cxn modelId="{608A95F5-1426-4008-8747-91D1EE16DF0C}" type="presOf" srcId="{C934D861-72ED-49AB-BB01-DB13FD12165B}" destId="{BEC58F95-1FF4-407F-85C2-D654E0ABD364}" srcOrd="0" destOrd="0" presId="urn:microsoft.com/office/officeart/2005/8/layout/cycle3"/>
    <dgm:cxn modelId="{BEA64C0B-FA08-4791-BB2F-67EBE2C66A83}" type="presParOf" srcId="{A77E1E39-76CD-4EE1-8645-5D2C6379AA39}" destId="{6C377AC0-0F3E-4860-BDA8-DC0AEF417A3C}" srcOrd="0" destOrd="0" presId="urn:microsoft.com/office/officeart/2005/8/layout/cycle3"/>
    <dgm:cxn modelId="{34E79021-C8EF-4230-BDC3-DE05552029EF}" type="presParOf" srcId="{6C377AC0-0F3E-4860-BDA8-DC0AEF417A3C}" destId="{04FC48E6-3814-4A78-A258-05AF6980E8D0}" srcOrd="0" destOrd="0" presId="urn:microsoft.com/office/officeart/2005/8/layout/cycle3"/>
    <dgm:cxn modelId="{98C6E57B-9E74-4C1D-B54D-A8F944EEDFA4}" type="presParOf" srcId="{6C377AC0-0F3E-4860-BDA8-DC0AEF417A3C}" destId="{5CC49144-2333-48AD-B201-B3D88046C0C4}" srcOrd="1" destOrd="0" presId="urn:microsoft.com/office/officeart/2005/8/layout/cycle3"/>
    <dgm:cxn modelId="{272D9B8D-1344-416B-B4BC-ECFE4DBA9C46}" type="presParOf" srcId="{6C377AC0-0F3E-4860-BDA8-DC0AEF417A3C}" destId="{5E0E3486-4020-4C2C-AAB2-F6F154D9F025}" srcOrd="2" destOrd="0" presId="urn:microsoft.com/office/officeart/2005/8/layout/cycle3"/>
    <dgm:cxn modelId="{30499EB9-9227-4DF2-A5C5-AFB37123E0BD}" type="presParOf" srcId="{6C377AC0-0F3E-4860-BDA8-DC0AEF417A3C}" destId="{BEC58F95-1FF4-407F-85C2-D654E0ABD364}" srcOrd="3" destOrd="0" presId="urn:microsoft.com/office/officeart/2005/8/layout/cycle3"/>
    <dgm:cxn modelId="{DDF9DF74-BE97-48F7-B379-3B9B76A92843}" type="presParOf" srcId="{6C377AC0-0F3E-4860-BDA8-DC0AEF417A3C}" destId="{36966E14-FBFA-48EE-A955-5669FB09F0AD}" srcOrd="4"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6B4C5BF-B01C-49E0-BD1C-137DB21510BA}" type="doc">
      <dgm:prSet loTypeId="urn:microsoft.com/office/officeart/2018/2/layout/IconVerticalSolidList" loCatId="icon" qsTypeId="urn:microsoft.com/office/officeart/2005/8/quickstyle/simple1" qsCatId="simple" csTypeId="urn:microsoft.com/office/officeart/2018/5/colors/Iconchunking_neutralicontext_accent2_2" csCatId="accent2" phldr="1"/>
      <dgm:spPr/>
      <dgm:t>
        <a:bodyPr/>
        <a:lstStyle/>
        <a:p>
          <a:endParaRPr lang="en-US"/>
        </a:p>
      </dgm:t>
    </dgm:pt>
    <dgm:pt modelId="{898D5187-DEA1-4861-AC64-2CBDBC93D07F}">
      <dgm:prSet/>
      <dgm:spPr/>
      <dgm:t>
        <a:bodyPr/>
        <a:lstStyle/>
        <a:p>
          <a:r>
            <a:rPr lang="fr-FR"/>
            <a:t>La réalisation d’un diagramme entité association permet de mettre en évidence les entités présentes, leurs attributs et leurs relations</a:t>
          </a:r>
          <a:endParaRPr lang="en-US"/>
        </a:p>
      </dgm:t>
    </dgm:pt>
    <dgm:pt modelId="{FE1CEE09-E6D9-41CF-B9F9-02E154BDD1D8}" type="parTrans" cxnId="{B5934FD6-3F86-4203-B883-4D872C1B0888}">
      <dgm:prSet/>
      <dgm:spPr/>
      <dgm:t>
        <a:bodyPr/>
        <a:lstStyle/>
        <a:p>
          <a:endParaRPr lang="en-US"/>
        </a:p>
      </dgm:t>
    </dgm:pt>
    <dgm:pt modelId="{1CDB3697-D97D-418D-AE5D-F381441C2B91}" type="sibTrans" cxnId="{B5934FD6-3F86-4203-B883-4D872C1B0888}">
      <dgm:prSet/>
      <dgm:spPr/>
      <dgm:t>
        <a:bodyPr/>
        <a:lstStyle/>
        <a:p>
          <a:endParaRPr lang="en-US"/>
        </a:p>
      </dgm:t>
    </dgm:pt>
    <dgm:pt modelId="{CF8824DA-AAD2-457E-8A3F-CD3D01094230}">
      <dgm:prSet/>
      <dgm:spPr/>
      <dgm:t>
        <a:bodyPr/>
        <a:lstStyle/>
        <a:p>
          <a:r>
            <a:rPr lang="fr-FR"/>
            <a:t>Il donne une piste sur la conception de la base de données mais ne donne pas directement son architecture</a:t>
          </a:r>
          <a:endParaRPr lang="en-US"/>
        </a:p>
      </dgm:t>
    </dgm:pt>
    <dgm:pt modelId="{443324C1-1626-4E61-A4E4-5ED7323DE912}" type="parTrans" cxnId="{43D6CC38-9A77-47EB-976B-A2BCF54B6DE2}">
      <dgm:prSet/>
      <dgm:spPr/>
      <dgm:t>
        <a:bodyPr/>
        <a:lstStyle/>
        <a:p>
          <a:endParaRPr lang="en-US"/>
        </a:p>
      </dgm:t>
    </dgm:pt>
    <dgm:pt modelId="{9EE116E6-2A69-4EA2-86CA-FEA3CD11031E}" type="sibTrans" cxnId="{43D6CC38-9A77-47EB-976B-A2BCF54B6DE2}">
      <dgm:prSet/>
      <dgm:spPr/>
      <dgm:t>
        <a:bodyPr/>
        <a:lstStyle/>
        <a:p>
          <a:endParaRPr lang="en-US"/>
        </a:p>
      </dgm:t>
    </dgm:pt>
    <dgm:pt modelId="{0748F9F0-58A1-4B76-ACBA-9CE7E3F680DA}" type="pres">
      <dgm:prSet presAssocID="{26B4C5BF-B01C-49E0-BD1C-137DB21510BA}" presName="root" presStyleCnt="0">
        <dgm:presLayoutVars>
          <dgm:dir/>
          <dgm:resizeHandles val="exact"/>
        </dgm:presLayoutVars>
      </dgm:prSet>
      <dgm:spPr/>
    </dgm:pt>
    <dgm:pt modelId="{3E52CFE6-C473-4929-B76A-20906A1A2DBF}" type="pres">
      <dgm:prSet presAssocID="{898D5187-DEA1-4861-AC64-2CBDBC93D07F}" presName="compNode" presStyleCnt="0"/>
      <dgm:spPr/>
    </dgm:pt>
    <dgm:pt modelId="{2D9AC32F-998E-40A3-8DEC-2E63A359A1DA}" type="pres">
      <dgm:prSet presAssocID="{898D5187-DEA1-4861-AC64-2CBDBC93D07F}" presName="bgRect" presStyleLbl="bgShp" presStyleIdx="0" presStyleCnt="2"/>
      <dgm:spPr/>
    </dgm:pt>
    <dgm:pt modelId="{CED893AB-9F05-4EF8-BCC7-27BF64C74535}" type="pres">
      <dgm:prSet presAssocID="{898D5187-DEA1-4861-AC64-2CBDBC93D07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lationship"/>
        </a:ext>
      </dgm:extLst>
    </dgm:pt>
    <dgm:pt modelId="{20CA5A7D-9590-4181-9B31-73AD381AE2BA}" type="pres">
      <dgm:prSet presAssocID="{898D5187-DEA1-4861-AC64-2CBDBC93D07F}" presName="spaceRect" presStyleCnt="0"/>
      <dgm:spPr/>
    </dgm:pt>
    <dgm:pt modelId="{F2DC8F44-C06E-4855-8A2F-A5A040A42052}" type="pres">
      <dgm:prSet presAssocID="{898D5187-DEA1-4861-AC64-2CBDBC93D07F}" presName="parTx" presStyleLbl="revTx" presStyleIdx="0" presStyleCnt="2">
        <dgm:presLayoutVars>
          <dgm:chMax val="0"/>
          <dgm:chPref val="0"/>
        </dgm:presLayoutVars>
      </dgm:prSet>
      <dgm:spPr/>
    </dgm:pt>
    <dgm:pt modelId="{D51D1DF5-3EA8-4811-A21F-3E79B2D98E4E}" type="pres">
      <dgm:prSet presAssocID="{1CDB3697-D97D-418D-AE5D-F381441C2B91}" presName="sibTrans" presStyleCnt="0"/>
      <dgm:spPr/>
    </dgm:pt>
    <dgm:pt modelId="{FC592D8B-24AB-4EA7-AA0F-7EE053CC6645}" type="pres">
      <dgm:prSet presAssocID="{CF8824DA-AAD2-457E-8A3F-CD3D01094230}" presName="compNode" presStyleCnt="0"/>
      <dgm:spPr/>
    </dgm:pt>
    <dgm:pt modelId="{A4995941-C75A-4665-A21B-56D8B4B4EA1B}" type="pres">
      <dgm:prSet presAssocID="{CF8824DA-AAD2-457E-8A3F-CD3D01094230}" presName="bgRect" presStyleLbl="bgShp" presStyleIdx="1" presStyleCnt="2"/>
      <dgm:spPr/>
    </dgm:pt>
    <dgm:pt modelId="{6AC566F8-6CAB-4392-8142-34396FAE2ABC}" type="pres">
      <dgm:prSet presAssocID="{CF8824DA-AAD2-457E-8A3F-CD3D0109423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ep"/>
        </a:ext>
      </dgm:extLst>
    </dgm:pt>
    <dgm:pt modelId="{D2EFE482-08C7-4933-BE3E-1AC591E1C607}" type="pres">
      <dgm:prSet presAssocID="{CF8824DA-AAD2-457E-8A3F-CD3D01094230}" presName="spaceRect" presStyleCnt="0"/>
      <dgm:spPr/>
    </dgm:pt>
    <dgm:pt modelId="{97A8BAF5-18B9-4066-8F7D-6DA10A5B4AC2}" type="pres">
      <dgm:prSet presAssocID="{CF8824DA-AAD2-457E-8A3F-CD3D01094230}" presName="parTx" presStyleLbl="revTx" presStyleIdx="1" presStyleCnt="2">
        <dgm:presLayoutVars>
          <dgm:chMax val="0"/>
          <dgm:chPref val="0"/>
        </dgm:presLayoutVars>
      </dgm:prSet>
      <dgm:spPr/>
    </dgm:pt>
  </dgm:ptLst>
  <dgm:cxnLst>
    <dgm:cxn modelId="{43D6CC38-9A77-47EB-976B-A2BCF54B6DE2}" srcId="{26B4C5BF-B01C-49E0-BD1C-137DB21510BA}" destId="{CF8824DA-AAD2-457E-8A3F-CD3D01094230}" srcOrd="1" destOrd="0" parTransId="{443324C1-1626-4E61-A4E4-5ED7323DE912}" sibTransId="{9EE116E6-2A69-4EA2-86CA-FEA3CD11031E}"/>
    <dgm:cxn modelId="{9725F451-7F9D-4D6A-9E60-8FB3BC37D60B}" type="presOf" srcId="{26B4C5BF-B01C-49E0-BD1C-137DB21510BA}" destId="{0748F9F0-58A1-4B76-ACBA-9CE7E3F680DA}" srcOrd="0" destOrd="0" presId="urn:microsoft.com/office/officeart/2018/2/layout/IconVerticalSolidList"/>
    <dgm:cxn modelId="{CD8D7657-C497-4185-8548-CEA6AC789E17}" type="presOf" srcId="{CF8824DA-AAD2-457E-8A3F-CD3D01094230}" destId="{97A8BAF5-18B9-4066-8F7D-6DA10A5B4AC2}" srcOrd="0" destOrd="0" presId="urn:microsoft.com/office/officeart/2018/2/layout/IconVerticalSolidList"/>
    <dgm:cxn modelId="{5E58A6A2-652B-495A-AF8D-6EAB0D70FCCC}" type="presOf" srcId="{898D5187-DEA1-4861-AC64-2CBDBC93D07F}" destId="{F2DC8F44-C06E-4855-8A2F-A5A040A42052}" srcOrd="0" destOrd="0" presId="urn:microsoft.com/office/officeart/2018/2/layout/IconVerticalSolidList"/>
    <dgm:cxn modelId="{B5934FD6-3F86-4203-B883-4D872C1B0888}" srcId="{26B4C5BF-B01C-49E0-BD1C-137DB21510BA}" destId="{898D5187-DEA1-4861-AC64-2CBDBC93D07F}" srcOrd="0" destOrd="0" parTransId="{FE1CEE09-E6D9-41CF-B9F9-02E154BDD1D8}" sibTransId="{1CDB3697-D97D-418D-AE5D-F381441C2B91}"/>
    <dgm:cxn modelId="{3DCD4157-5D24-40C0-A127-975D0CFDE7D9}" type="presParOf" srcId="{0748F9F0-58A1-4B76-ACBA-9CE7E3F680DA}" destId="{3E52CFE6-C473-4929-B76A-20906A1A2DBF}" srcOrd="0" destOrd="0" presId="urn:microsoft.com/office/officeart/2018/2/layout/IconVerticalSolidList"/>
    <dgm:cxn modelId="{83CFD9A3-37BF-40A9-8D40-3D2868722B19}" type="presParOf" srcId="{3E52CFE6-C473-4929-B76A-20906A1A2DBF}" destId="{2D9AC32F-998E-40A3-8DEC-2E63A359A1DA}" srcOrd="0" destOrd="0" presId="urn:microsoft.com/office/officeart/2018/2/layout/IconVerticalSolidList"/>
    <dgm:cxn modelId="{EA181DE3-F29A-48F5-917D-D2D90D7A774B}" type="presParOf" srcId="{3E52CFE6-C473-4929-B76A-20906A1A2DBF}" destId="{CED893AB-9F05-4EF8-BCC7-27BF64C74535}" srcOrd="1" destOrd="0" presId="urn:microsoft.com/office/officeart/2018/2/layout/IconVerticalSolidList"/>
    <dgm:cxn modelId="{FD44A49D-0878-4A3F-9C00-99A5547B3983}" type="presParOf" srcId="{3E52CFE6-C473-4929-B76A-20906A1A2DBF}" destId="{20CA5A7D-9590-4181-9B31-73AD381AE2BA}" srcOrd="2" destOrd="0" presId="urn:microsoft.com/office/officeart/2018/2/layout/IconVerticalSolidList"/>
    <dgm:cxn modelId="{BA8D1C1E-A592-4A37-93B0-6537F308FA6F}" type="presParOf" srcId="{3E52CFE6-C473-4929-B76A-20906A1A2DBF}" destId="{F2DC8F44-C06E-4855-8A2F-A5A040A42052}" srcOrd="3" destOrd="0" presId="urn:microsoft.com/office/officeart/2018/2/layout/IconVerticalSolidList"/>
    <dgm:cxn modelId="{453944FF-18B5-4FF6-8AAB-0FB84B449C2E}" type="presParOf" srcId="{0748F9F0-58A1-4B76-ACBA-9CE7E3F680DA}" destId="{D51D1DF5-3EA8-4811-A21F-3E79B2D98E4E}" srcOrd="1" destOrd="0" presId="urn:microsoft.com/office/officeart/2018/2/layout/IconVerticalSolidList"/>
    <dgm:cxn modelId="{256CE1E1-50FC-4B04-8CEC-14C27EA3C85B}" type="presParOf" srcId="{0748F9F0-58A1-4B76-ACBA-9CE7E3F680DA}" destId="{FC592D8B-24AB-4EA7-AA0F-7EE053CC6645}" srcOrd="2" destOrd="0" presId="urn:microsoft.com/office/officeart/2018/2/layout/IconVerticalSolidList"/>
    <dgm:cxn modelId="{BB3AFB8D-199E-49CA-BF75-720DC74735F8}" type="presParOf" srcId="{FC592D8B-24AB-4EA7-AA0F-7EE053CC6645}" destId="{A4995941-C75A-4665-A21B-56D8B4B4EA1B}" srcOrd="0" destOrd="0" presId="urn:microsoft.com/office/officeart/2018/2/layout/IconVerticalSolidList"/>
    <dgm:cxn modelId="{10F6986D-D986-4358-AC14-201BD7050E56}" type="presParOf" srcId="{FC592D8B-24AB-4EA7-AA0F-7EE053CC6645}" destId="{6AC566F8-6CAB-4392-8142-34396FAE2ABC}" srcOrd="1" destOrd="0" presId="urn:microsoft.com/office/officeart/2018/2/layout/IconVerticalSolidList"/>
    <dgm:cxn modelId="{FE5B9A16-A27D-473F-8234-DB67494BDB34}" type="presParOf" srcId="{FC592D8B-24AB-4EA7-AA0F-7EE053CC6645}" destId="{D2EFE482-08C7-4933-BE3E-1AC591E1C607}" srcOrd="2" destOrd="0" presId="urn:microsoft.com/office/officeart/2018/2/layout/IconVerticalSolidList"/>
    <dgm:cxn modelId="{7292639D-A99F-4241-8E7F-A1BE4FEB1683}" type="presParOf" srcId="{FC592D8B-24AB-4EA7-AA0F-7EE053CC6645}" destId="{97A8BAF5-18B9-4066-8F7D-6DA10A5B4AC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5BAE8E0-DC75-45AA-B455-834A0B6F56B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fr-FR"/>
        </a:p>
      </dgm:t>
    </dgm:pt>
    <dgm:pt modelId="{D83014D5-52E6-4A40-B035-3688A32897C1}">
      <dgm:prSet phldrT="[Texte]"/>
      <dgm:spPr/>
      <dgm:t>
        <a:bodyPr/>
        <a:lstStyle/>
        <a:p>
          <a:r>
            <a:rPr lang="fr-FR" dirty="0"/>
            <a:t>Base de données</a:t>
          </a:r>
        </a:p>
      </dgm:t>
    </dgm:pt>
    <dgm:pt modelId="{C5C6E28A-73A6-4E9C-9CBA-26028E064ECC}" type="parTrans" cxnId="{5B67DA7A-E1A4-431E-9E60-1568CBAE0FEF}">
      <dgm:prSet/>
      <dgm:spPr/>
      <dgm:t>
        <a:bodyPr/>
        <a:lstStyle/>
        <a:p>
          <a:endParaRPr lang="fr-FR"/>
        </a:p>
      </dgm:t>
    </dgm:pt>
    <dgm:pt modelId="{DC60146E-DAD4-4842-B411-D76E390EFE3F}" type="sibTrans" cxnId="{5B67DA7A-E1A4-431E-9E60-1568CBAE0FEF}">
      <dgm:prSet/>
      <dgm:spPr/>
      <dgm:t>
        <a:bodyPr/>
        <a:lstStyle/>
        <a:p>
          <a:endParaRPr lang="fr-FR"/>
        </a:p>
      </dgm:t>
    </dgm:pt>
    <dgm:pt modelId="{F7EB1E4C-E50B-4666-AE27-7B5F4A011006}">
      <dgm:prSet phldrT="[Texte]"/>
      <dgm:spPr/>
      <dgm:t>
        <a:bodyPr/>
        <a:lstStyle/>
        <a:p>
          <a:r>
            <a:rPr lang="fr-FR" dirty="0"/>
            <a:t>Application (serveur web)</a:t>
          </a:r>
        </a:p>
      </dgm:t>
    </dgm:pt>
    <dgm:pt modelId="{261E16BA-62FA-450A-8F35-257516D515EC}" type="parTrans" cxnId="{94B0D00B-DAE3-43B5-B208-DFE83ED90662}">
      <dgm:prSet/>
      <dgm:spPr/>
      <dgm:t>
        <a:bodyPr/>
        <a:lstStyle/>
        <a:p>
          <a:endParaRPr lang="fr-FR"/>
        </a:p>
      </dgm:t>
    </dgm:pt>
    <dgm:pt modelId="{1DCDCC01-AB42-48AF-9B51-4EFDCF3207FE}" type="sibTrans" cxnId="{94B0D00B-DAE3-43B5-B208-DFE83ED90662}">
      <dgm:prSet/>
      <dgm:spPr/>
      <dgm:t>
        <a:bodyPr/>
        <a:lstStyle/>
        <a:p>
          <a:endParaRPr lang="fr-FR"/>
        </a:p>
      </dgm:t>
    </dgm:pt>
    <dgm:pt modelId="{3A599966-B3F3-401B-8326-2C86C2828634}">
      <dgm:prSet phldrT="[Texte]"/>
      <dgm:spPr/>
      <dgm:t>
        <a:bodyPr/>
        <a:lstStyle/>
        <a:p>
          <a:r>
            <a:rPr lang="fr-FR" dirty="0"/>
            <a:t>Client (navigateur)</a:t>
          </a:r>
        </a:p>
      </dgm:t>
    </dgm:pt>
    <dgm:pt modelId="{A16EDAF3-7C54-42F0-86A9-7D12E1768D8A}" type="parTrans" cxnId="{D7ACE745-A693-4365-BE4A-1212409FA660}">
      <dgm:prSet/>
      <dgm:spPr/>
      <dgm:t>
        <a:bodyPr/>
        <a:lstStyle/>
        <a:p>
          <a:endParaRPr lang="fr-FR"/>
        </a:p>
      </dgm:t>
    </dgm:pt>
    <dgm:pt modelId="{DA5E7BA6-22B3-4101-B1F1-CFA02A5A8A0D}" type="sibTrans" cxnId="{D7ACE745-A693-4365-BE4A-1212409FA660}">
      <dgm:prSet/>
      <dgm:spPr/>
      <dgm:t>
        <a:bodyPr/>
        <a:lstStyle/>
        <a:p>
          <a:endParaRPr lang="fr-FR"/>
        </a:p>
      </dgm:t>
    </dgm:pt>
    <dgm:pt modelId="{F035AA7B-87BA-4CFD-B77C-B7A1E869CDD7}">
      <dgm:prSet phldrT="[Texte]"/>
      <dgm:spPr/>
      <dgm:t>
        <a:bodyPr/>
        <a:lstStyle/>
        <a:p>
          <a:r>
            <a:rPr lang="fr-FR" dirty="0"/>
            <a:t>Traitement des données</a:t>
          </a:r>
        </a:p>
      </dgm:t>
    </dgm:pt>
    <dgm:pt modelId="{C1BC6CCE-AC94-4027-8721-6119AF2A4F98}" type="parTrans" cxnId="{84925CC4-6992-40FF-BF7E-A7C8527BFAB6}">
      <dgm:prSet/>
      <dgm:spPr/>
      <dgm:t>
        <a:bodyPr/>
        <a:lstStyle/>
        <a:p>
          <a:endParaRPr lang="fr-FR"/>
        </a:p>
      </dgm:t>
    </dgm:pt>
    <dgm:pt modelId="{A810FB8D-88EC-4429-B463-1922D73856FB}" type="sibTrans" cxnId="{84925CC4-6992-40FF-BF7E-A7C8527BFAB6}">
      <dgm:prSet/>
      <dgm:spPr/>
      <dgm:t>
        <a:bodyPr/>
        <a:lstStyle/>
        <a:p>
          <a:endParaRPr lang="fr-FR"/>
        </a:p>
      </dgm:t>
    </dgm:pt>
    <dgm:pt modelId="{9DF805B8-298E-4586-9D5D-65025C1EC550}">
      <dgm:prSet phldrT="[Texte]"/>
      <dgm:spPr/>
      <dgm:t>
        <a:bodyPr/>
        <a:lstStyle/>
        <a:p>
          <a:r>
            <a:rPr lang="fr-FR" dirty="0"/>
            <a:t>Stockage des données persistantes</a:t>
          </a:r>
        </a:p>
      </dgm:t>
    </dgm:pt>
    <dgm:pt modelId="{1E526F08-C71B-458C-B924-A5A92F09E4A7}" type="parTrans" cxnId="{E01673F0-6B14-4B82-81C3-2B1E5127A533}">
      <dgm:prSet/>
      <dgm:spPr/>
      <dgm:t>
        <a:bodyPr/>
        <a:lstStyle/>
        <a:p>
          <a:endParaRPr lang="fr-FR"/>
        </a:p>
      </dgm:t>
    </dgm:pt>
    <dgm:pt modelId="{817ADBBA-6210-4495-B4A6-527AD0BC6DC8}" type="sibTrans" cxnId="{E01673F0-6B14-4B82-81C3-2B1E5127A533}">
      <dgm:prSet/>
      <dgm:spPr/>
      <dgm:t>
        <a:bodyPr/>
        <a:lstStyle/>
        <a:p>
          <a:endParaRPr lang="fr-FR"/>
        </a:p>
      </dgm:t>
    </dgm:pt>
    <dgm:pt modelId="{97DC99FC-E36F-4A51-A2B0-D03BC0A2E6F7}">
      <dgm:prSet phldrT="[Texte]"/>
      <dgm:spPr/>
      <dgm:t>
        <a:bodyPr/>
        <a:lstStyle/>
        <a:p>
          <a:r>
            <a:rPr lang="fr-FR" dirty="0"/>
            <a:t>Affichage des données</a:t>
          </a:r>
        </a:p>
      </dgm:t>
    </dgm:pt>
    <dgm:pt modelId="{71B4AE80-5595-4F55-8610-43D9D2162E0A}" type="parTrans" cxnId="{2CE81E74-C5E3-42FB-89EE-A1407C38A729}">
      <dgm:prSet/>
      <dgm:spPr/>
      <dgm:t>
        <a:bodyPr/>
        <a:lstStyle/>
        <a:p>
          <a:endParaRPr lang="fr-FR"/>
        </a:p>
      </dgm:t>
    </dgm:pt>
    <dgm:pt modelId="{85A0A8CC-0646-42CF-B06B-31059B8890F8}" type="sibTrans" cxnId="{2CE81E74-C5E3-42FB-89EE-A1407C38A729}">
      <dgm:prSet/>
      <dgm:spPr/>
      <dgm:t>
        <a:bodyPr/>
        <a:lstStyle/>
        <a:p>
          <a:endParaRPr lang="fr-FR"/>
        </a:p>
      </dgm:t>
    </dgm:pt>
    <dgm:pt modelId="{36780F67-498A-4916-A1CF-4FC31875DC5D}" type="pres">
      <dgm:prSet presAssocID="{A5BAE8E0-DC75-45AA-B455-834A0B6F56B7}" presName="linear" presStyleCnt="0">
        <dgm:presLayoutVars>
          <dgm:dir/>
          <dgm:animLvl val="lvl"/>
          <dgm:resizeHandles val="exact"/>
        </dgm:presLayoutVars>
      </dgm:prSet>
      <dgm:spPr/>
    </dgm:pt>
    <dgm:pt modelId="{270AA334-02A1-4FB7-9B94-38D1668C7BF7}" type="pres">
      <dgm:prSet presAssocID="{D83014D5-52E6-4A40-B035-3688A32897C1}" presName="parentLin" presStyleCnt="0"/>
      <dgm:spPr/>
    </dgm:pt>
    <dgm:pt modelId="{79A107DA-6870-4804-A399-276AE4EC3D7A}" type="pres">
      <dgm:prSet presAssocID="{D83014D5-52E6-4A40-B035-3688A32897C1}" presName="parentLeftMargin" presStyleLbl="node1" presStyleIdx="0" presStyleCnt="3"/>
      <dgm:spPr/>
    </dgm:pt>
    <dgm:pt modelId="{AB3EE4B9-0A4D-4ABC-8F1C-FE070307F0E0}" type="pres">
      <dgm:prSet presAssocID="{D83014D5-52E6-4A40-B035-3688A32897C1}" presName="parentText" presStyleLbl="node1" presStyleIdx="0" presStyleCnt="3">
        <dgm:presLayoutVars>
          <dgm:chMax val="0"/>
          <dgm:bulletEnabled val="1"/>
        </dgm:presLayoutVars>
      </dgm:prSet>
      <dgm:spPr/>
    </dgm:pt>
    <dgm:pt modelId="{BC9E3B12-B502-4E48-8289-BB847922E9D5}" type="pres">
      <dgm:prSet presAssocID="{D83014D5-52E6-4A40-B035-3688A32897C1}" presName="negativeSpace" presStyleCnt="0"/>
      <dgm:spPr/>
    </dgm:pt>
    <dgm:pt modelId="{83B7EA45-69FE-44E7-A7B1-2431D4930B07}" type="pres">
      <dgm:prSet presAssocID="{D83014D5-52E6-4A40-B035-3688A32897C1}" presName="childText" presStyleLbl="conFgAcc1" presStyleIdx="0" presStyleCnt="3">
        <dgm:presLayoutVars>
          <dgm:bulletEnabled val="1"/>
        </dgm:presLayoutVars>
      </dgm:prSet>
      <dgm:spPr/>
    </dgm:pt>
    <dgm:pt modelId="{E4240C11-857E-4353-B896-66436B29B0EE}" type="pres">
      <dgm:prSet presAssocID="{DC60146E-DAD4-4842-B411-D76E390EFE3F}" presName="spaceBetweenRectangles" presStyleCnt="0"/>
      <dgm:spPr/>
    </dgm:pt>
    <dgm:pt modelId="{6098A2F1-0015-4E2A-9165-99ACA03C323B}" type="pres">
      <dgm:prSet presAssocID="{F7EB1E4C-E50B-4666-AE27-7B5F4A011006}" presName="parentLin" presStyleCnt="0"/>
      <dgm:spPr/>
    </dgm:pt>
    <dgm:pt modelId="{9CCA7C8A-1EC1-4115-96BB-D3B4457B7A14}" type="pres">
      <dgm:prSet presAssocID="{F7EB1E4C-E50B-4666-AE27-7B5F4A011006}" presName="parentLeftMargin" presStyleLbl="node1" presStyleIdx="0" presStyleCnt="3"/>
      <dgm:spPr/>
    </dgm:pt>
    <dgm:pt modelId="{F7DC99C9-5560-46B9-8CDE-77BBBB656831}" type="pres">
      <dgm:prSet presAssocID="{F7EB1E4C-E50B-4666-AE27-7B5F4A011006}" presName="parentText" presStyleLbl="node1" presStyleIdx="1" presStyleCnt="3">
        <dgm:presLayoutVars>
          <dgm:chMax val="0"/>
          <dgm:bulletEnabled val="1"/>
        </dgm:presLayoutVars>
      </dgm:prSet>
      <dgm:spPr/>
    </dgm:pt>
    <dgm:pt modelId="{D69F6818-3B51-4734-8238-82691F1FFF1F}" type="pres">
      <dgm:prSet presAssocID="{F7EB1E4C-E50B-4666-AE27-7B5F4A011006}" presName="negativeSpace" presStyleCnt="0"/>
      <dgm:spPr/>
    </dgm:pt>
    <dgm:pt modelId="{F634485E-823D-43FC-A7EC-6AA682A97CA7}" type="pres">
      <dgm:prSet presAssocID="{F7EB1E4C-E50B-4666-AE27-7B5F4A011006}" presName="childText" presStyleLbl="conFgAcc1" presStyleIdx="1" presStyleCnt="3">
        <dgm:presLayoutVars>
          <dgm:bulletEnabled val="1"/>
        </dgm:presLayoutVars>
      </dgm:prSet>
      <dgm:spPr/>
    </dgm:pt>
    <dgm:pt modelId="{82D000D9-0192-44DB-B6BE-2022ABA7EF1A}" type="pres">
      <dgm:prSet presAssocID="{1DCDCC01-AB42-48AF-9B51-4EFDCF3207FE}" presName="spaceBetweenRectangles" presStyleCnt="0"/>
      <dgm:spPr/>
    </dgm:pt>
    <dgm:pt modelId="{7827E765-C2BD-49FC-AFB3-073932AC26D6}" type="pres">
      <dgm:prSet presAssocID="{3A599966-B3F3-401B-8326-2C86C2828634}" presName="parentLin" presStyleCnt="0"/>
      <dgm:spPr/>
    </dgm:pt>
    <dgm:pt modelId="{CCEB48A2-D27D-46B1-99EB-D00609F5E701}" type="pres">
      <dgm:prSet presAssocID="{3A599966-B3F3-401B-8326-2C86C2828634}" presName="parentLeftMargin" presStyleLbl="node1" presStyleIdx="1" presStyleCnt="3"/>
      <dgm:spPr/>
    </dgm:pt>
    <dgm:pt modelId="{D887EFFB-9D9B-416A-A658-E8E272D8FA19}" type="pres">
      <dgm:prSet presAssocID="{3A599966-B3F3-401B-8326-2C86C2828634}" presName="parentText" presStyleLbl="node1" presStyleIdx="2" presStyleCnt="3">
        <dgm:presLayoutVars>
          <dgm:chMax val="0"/>
          <dgm:bulletEnabled val="1"/>
        </dgm:presLayoutVars>
      </dgm:prSet>
      <dgm:spPr/>
    </dgm:pt>
    <dgm:pt modelId="{5224331D-F1D3-470A-9634-C140B77EA18A}" type="pres">
      <dgm:prSet presAssocID="{3A599966-B3F3-401B-8326-2C86C2828634}" presName="negativeSpace" presStyleCnt="0"/>
      <dgm:spPr/>
    </dgm:pt>
    <dgm:pt modelId="{E8085CA9-C5D7-4B55-9CC1-13B4D8F10A10}" type="pres">
      <dgm:prSet presAssocID="{3A599966-B3F3-401B-8326-2C86C2828634}" presName="childText" presStyleLbl="conFgAcc1" presStyleIdx="2" presStyleCnt="3">
        <dgm:presLayoutVars>
          <dgm:bulletEnabled val="1"/>
        </dgm:presLayoutVars>
      </dgm:prSet>
      <dgm:spPr/>
    </dgm:pt>
  </dgm:ptLst>
  <dgm:cxnLst>
    <dgm:cxn modelId="{D0296907-15F2-4DDE-9DD1-6710840C2071}" type="presOf" srcId="{3A599966-B3F3-401B-8326-2C86C2828634}" destId="{CCEB48A2-D27D-46B1-99EB-D00609F5E701}" srcOrd="0" destOrd="0" presId="urn:microsoft.com/office/officeart/2005/8/layout/list1"/>
    <dgm:cxn modelId="{94B0D00B-DAE3-43B5-B208-DFE83ED90662}" srcId="{A5BAE8E0-DC75-45AA-B455-834A0B6F56B7}" destId="{F7EB1E4C-E50B-4666-AE27-7B5F4A011006}" srcOrd="1" destOrd="0" parTransId="{261E16BA-62FA-450A-8F35-257516D515EC}" sibTransId="{1DCDCC01-AB42-48AF-9B51-4EFDCF3207FE}"/>
    <dgm:cxn modelId="{0669D634-4F7F-48E9-8667-6A2246CEE2A6}" type="presOf" srcId="{97DC99FC-E36F-4A51-A2B0-D03BC0A2E6F7}" destId="{E8085CA9-C5D7-4B55-9CC1-13B4D8F10A10}" srcOrd="0" destOrd="0" presId="urn:microsoft.com/office/officeart/2005/8/layout/list1"/>
    <dgm:cxn modelId="{D7ACE745-A693-4365-BE4A-1212409FA660}" srcId="{A5BAE8E0-DC75-45AA-B455-834A0B6F56B7}" destId="{3A599966-B3F3-401B-8326-2C86C2828634}" srcOrd="2" destOrd="0" parTransId="{A16EDAF3-7C54-42F0-86A9-7D12E1768D8A}" sibTransId="{DA5E7BA6-22B3-4101-B1F1-CFA02A5A8A0D}"/>
    <dgm:cxn modelId="{2CE81E74-C5E3-42FB-89EE-A1407C38A729}" srcId="{3A599966-B3F3-401B-8326-2C86C2828634}" destId="{97DC99FC-E36F-4A51-A2B0-D03BC0A2E6F7}" srcOrd="0" destOrd="0" parTransId="{71B4AE80-5595-4F55-8610-43D9D2162E0A}" sibTransId="{85A0A8CC-0646-42CF-B06B-31059B8890F8}"/>
    <dgm:cxn modelId="{CCCB7558-5FEC-4101-A32E-F9B27D2C1D28}" type="presOf" srcId="{F7EB1E4C-E50B-4666-AE27-7B5F4A011006}" destId="{9CCA7C8A-1EC1-4115-96BB-D3B4457B7A14}" srcOrd="0" destOrd="0" presId="urn:microsoft.com/office/officeart/2005/8/layout/list1"/>
    <dgm:cxn modelId="{5B67DA7A-E1A4-431E-9E60-1568CBAE0FEF}" srcId="{A5BAE8E0-DC75-45AA-B455-834A0B6F56B7}" destId="{D83014D5-52E6-4A40-B035-3688A32897C1}" srcOrd="0" destOrd="0" parTransId="{C5C6E28A-73A6-4E9C-9CBA-26028E064ECC}" sibTransId="{DC60146E-DAD4-4842-B411-D76E390EFE3F}"/>
    <dgm:cxn modelId="{553CBC85-0103-44F1-9E9A-711DA46728FD}" type="presOf" srcId="{F035AA7B-87BA-4CFD-B77C-B7A1E869CDD7}" destId="{F634485E-823D-43FC-A7EC-6AA682A97CA7}" srcOrd="0" destOrd="0" presId="urn:microsoft.com/office/officeart/2005/8/layout/list1"/>
    <dgm:cxn modelId="{B76CBA91-0E0F-4C4D-995C-24F1FEC3F4E8}" type="presOf" srcId="{F7EB1E4C-E50B-4666-AE27-7B5F4A011006}" destId="{F7DC99C9-5560-46B9-8CDE-77BBBB656831}" srcOrd="1" destOrd="0" presId="urn:microsoft.com/office/officeart/2005/8/layout/list1"/>
    <dgm:cxn modelId="{11F26695-6BC3-456B-8B2E-0C9589F23467}" type="presOf" srcId="{9DF805B8-298E-4586-9D5D-65025C1EC550}" destId="{83B7EA45-69FE-44E7-A7B1-2431D4930B07}" srcOrd="0" destOrd="0" presId="urn:microsoft.com/office/officeart/2005/8/layout/list1"/>
    <dgm:cxn modelId="{A6E93EC3-10CF-4480-9A69-AAD83B21AF21}" type="presOf" srcId="{D83014D5-52E6-4A40-B035-3688A32897C1}" destId="{AB3EE4B9-0A4D-4ABC-8F1C-FE070307F0E0}" srcOrd="1" destOrd="0" presId="urn:microsoft.com/office/officeart/2005/8/layout/list1"/>
    <dgm:cxn modelId="{84925CC4-6992-40FF-BF7E-A7C8527BFAB6}" srcId="{F7EB1E4C-E50B-4666-AE27-7B5F4A011006}" destId="{F035AA7B-87BA-4CFD-B77C-B7A1E869CDD7}" srcOrd="0" destOrd="0" parTransId="{C1BC6CCE-AC94-4027-8721-6119AF2A4F98}" sibTransId="{A810FB8D-88EC-4429-B463-1922D73856FB}"/>
    <dgm:cxn modelId="{52D6BED5-16B7-4AD1-A33F-CAE95738591A}" type="presOf" srcId="{3A599966-B3F3-401B-8326-2C86C2828634}" destId="{D887EFFB-9D9B-416A-A658-E8E272D8FA19}" srcOrd="1" destOrd="0" presId="urn:microsoft.com/office/officeart/2005/8/layout/list1"/>
    <dgm:cxn modelId="{EC6BD3D7-9773-4637-A641-3AF874AE7BF5}" type="presOf" srcId="{D83014D5-52E6-4A40-B035-3688A32897C1}" destId="{79A107DA-6870-4804-A399-276AE4EC3D7A}" srcOrd="0" destOrd="0" presId="urn:microsoft.com/office/officeart/2005/8/layout/list1"/>
    <dgm:cxn modelId="{E01673F0-6B14-4B82-81C3-2B1E5127A533}" srcId="{D83014D5-52E6-4A40-B035-3688A32897C1}" destId="{9DF805B8-298E-4586-9D5D-65025C1EC550}" srcOrd="0" destOrd="0" parTransId="{1E526F08-C71B-458C-B924-A5A92F09E4A7}" sibTransId="{817ADBBA-6210-4495-B4A6-527AD0BC6DC8}"/>
    <dgm:cxn modelId="{C13E7AFE-EE3E-4E6B-8D3C-9B289D8C800C}" type="presOf" srcId="{A5BAE8E0-DC75-45AA-B455-834A0B6F56B7}" destId="{36780F67-498A-4916-A1CF-4FC31875DC5D}" srcOrd="0" destOrd="0" presId="urn:microsoft.com/office/officeart/2005/8/layout/list1"/>
    <dgm:cxn modelId="{07FBDECC-E635-42D6-B20E-629CE060BB5B}" type="presParOf" srcId="{36780F67-498A-4916-A1CF-4FC31875DC5D}" destId="{270AA334-02A1-4FB7-9B94-38D1668C7BF7}" srcOrd="0" destOrd="0" presId="urn:microsoft.com/office/officeart/2005/8/layout/list1"/>
    <dgm:cxn modelId="{27E15E3C-A060-4E82-898B-3AA3DD9D2304}" type="presParOf" srcId="{270AA334-02A1-4FB7-9B94-38D1668C7BF7}" destId="{79A107DA-6870-4804-A399-276AE4EC3D7A}" srcOrd="0" destOrd="0" presId="urn:microsoft.com/office/officeart/2005/8/layout/list1"/>
    <dgm:cxn modelId="{93C1B54F-2572-49D7-AF47-238299A9C932}" type="presParOf" srcId="{270AA334-02A1-4FB7-9B94-38D1668C7BF7}" destId="{AB3EE4B9-0A4D-4ABC-8F1C-FE070307F0E0}" srcOrd="1" destOrd="0" presId="urn:microsoft.com/office/officeart/2005/8/layout/list1"/>
    <dgm:cxn modelId="{717DCAAB-CD85-405B-8AF2-DF37AE9D1D2B}" type="presParOf" srcId="{36780F67-498A-4916-A1CF-4FC31875DC5D}" destId="{BC9E3B12-B502-4E48-8289-BB847922E9D5}" srcOrd="1" destOrd="0" presId="urn:microsoft.com/office/officeart/2005/8/layout/list1"/>
    <dgm:cxn modelId="{A6DE602E-E819-4535-8A17-4AF203CCCF00}" type="presParOf" srcId="{36780F67-498A-4916-A1CF-4FC31875DC5D}" destId="{83B7EA45-69FE-44E7-A7B1-2431D4930B07}" srcOrd="2" destOrd="0" presId="urn:microsoft.com/office/officeart/2005/8/layout/list1"/>
    <dgm:cxn modelId="{6FA31C14-B5BB-4961-8374-DA16533046B6}" type="presParOf" srcId="{36780F67-498A-4916-A1CF-4FC31875DC5D}" destId="{E4240C11-857E-4353-B896-66436B29B0EE}" srcOrd="3" destOrd="0" presId="urn:microsoft.com/office/officeart/2005/8/layout/list1"/>
    <dgm:cxn modelId="{6E8D0642-0E7A-40F3-9A14-58B067DF253E}" type="presParOf" srcId="{36780F67-498A-4916-A1CF-4FC31875DC5D}" destId="{6098A2F1-0015-4E2A-9165-99ACA03C323B}" srcOrd="4" destOrd="0" presId="urn:microsoft.com/office/officeart/2005/8/layout/list1"/>
    <dgm:cxn modelId="{0F9F61A3-187F-4228-BE7A-A473AE583983}" type="presParOf" srcId="{6098A2F1-0015-4E2A-9165-99ACA03C323B}" destId="{9CCA7C8A-1EC1-4115-96BB-D3B4457B7A14}" srcOrd="0" destOrd="0" presId="urn:microsoft.com/office/officeart/2005/8/layout/list1"/>
    <dgm:cxn modelId="{952FE899-9879-4774-B576-3DACE5A41319}" type="presParOf" srcId="{6098A2F1-0015-4E2A-9165-99ACA03C323B}" destId="{F7DC99C9-5560-46B9-8CDE-77BBBB656831}" srcOrd="1" destOrd="0" presId="urn:microsoft.com/office/officeart/2005/8/layout/list1"/>
    <dgm:cxn modelId="{741745C6-E05B-44F0-A9B4-173157810DFD}" type="presParOf" srcId="{36780F67-498A-4916-A1CF-4FC31875DC5D}" destId="{D69F6818-3B51-4734-8238-82691F1FFF1F}" srcOrd="5" destOrd="0" presId="urn:microsoft.com/office/officeart/2005/8/layout/list1"/>
    <dgm:cxn modelId="{6CAC0BC0-50C1-4E61-8226-0842B87EE145}" type="presParOf" srcId="{36780F67-498A-4916-A1CF-4FC31875DC5D}" destId="{F634485E-823D-43FC-A7EC-6AA682A97CA7}" srcOrd="6" destOrd="0" presId="urn:microsoft.com/office/officeart/2005/8/layout/list1"/>
    <dgm:cxn modelId="{555E5F1A-AB88-4DA8-9FB2-6E4898CAEA64}" type="presParOf" srcId="{36780F67-498A-4916-A1CF-4FC31875DC5D}" destId="{82D000D9-0192-44DB-B6BE-2022ABA7EF1A}" srcOrd="7" destOrd="0" presId="urn:microsoft.com/office/officeart/2005/8/layout/list1"/>
    <dgm:cxn modelId="{AE4C2374-C0E9-47A0-8F74-F234477DD67B}" type="presParOf" srcId="{36780F67-498A-4916-A1CF-4FC31875DC5D}" destId="{7827E765-C2BD-49FC-AFB3-073932AC26D6}" srcOrd="8" destOrd="0" presId="urn:microsoft.com/office/officeart/2005/8/layout/list1"/>
    <dgm:cxn modelId="{71652F9B-B4A7-409F-A6E9-654D115A703D}" type="presParOf" srcId="{7827E765-C2BD-49FC-AFB3-073932AC26D6}" destId="{CCEB48A2-D27D-46B1-99EB-D00609F5E701}" srcOrd="0" destOrd="0" presId="urn:microsoft.com/office/officeart/2005/8/layout/list1"/>
    <dgm:cxn modelId="{5B6E176D-5E1E-4174-B395-9791EEE515B7}" type="presParOf" srcId="{7827E765-C2BD-49FC-AFB3-073932AC26D6}" destId="{D887EFFB-9D9B-416A-A658-E8E272D8FA19}" srcOrd="1" destOrd="0" presId="urn:microsoft.com/office/officeart/2005/8/layout/list1"/>
    <dgm:cxn modelId="{BF86C393-273F-4701-A3E8-88BEDEF025CB}" type="presParOf" srcId="{36780F67-498A-4916-A1CF-4FC31875DC5D}" destId="{5224331D-F1D3-470A-9634-C140B77EA18A}" srcOrd="9" destOrd="0" presId="urn:microsoft.com/office/officeart/2005/8/layout/list1"/>
    <dgm:cxn modelId="{F9A0C26E-E176-45AD-A7FC-78C672B0BFAC}" type="presParOf" srcId="{36780F67-498A-4916-A1CF-4FC31875DC5D}" destId="{E8085CA9-C5D7-4B55-9CC1-13B4D8F10A10}"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711F06-49E3-48C3-8722-3507D678350B}">
      <dsp:nvSpPr>
        <dsp:cNvPr id="0" name=""/>
        <dsp:cNvSpPr/>
      </dsp:nvSpPr>
      <dsp:spPr>
        <a:xfrm>
          <a:off x="0" y="1071"/>
          <a:ext cx="10553700" cy="4563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B3F7D3-AB6F-4B4F-8E8F-5B11AC62D1CA}">
      <dsp:nvSpPr>
        <dsp:cNvPr id="0" name=""/>
        <dsp:cNvSpPr/>
      </dsp:nvSpPr>
      <dsp:spPr>
        <a:xfrm>
          <a:off x="138051" y="103753"/>
          <a:ext cx="251002" cy="2510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42A8689-D6F1-47CC-8605-9A6B7C0DF25B}">
      <dsp:nvSpPr>
        <dsp:cNvPr id="0" name=""/>
        <dsp:cNvSpPr/>
      </dsp:nvSpPr>
      <dsp:spPr>
        <a:xfrm>
          <a:off x="527105" y="1071"/>
          <a:ext cx="10026594" cy="45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8299" tIns="48299" rIns="48299" bIns="48299" numCol="1" spcCol="1270" anchor="ctr" anchorCtr="0">
          <a:noAutofit/>
        </a:bodyPr>
        <a:lstStyle/>
        <a:p>
          <a:pPr marL="0" lvl="0" indent="0" algn="l" defTabSz="844550">
            <a:lnSpc>
              <a:spcPct val="100000"/>
            </a:lnSpc>
            <a:spcBef>
              <a:spcPct val="0"/>
            </a:spcBef>
            <a:spcAft>
              <a:spcPct val="35000"/>
            </a:spcAft>
            <a:buNone/>
          </a:pPr>
          <a:r>
            <a:rPr lang="fr-FR" sz="1900" kern="1200" dirty="0"/>
            <a:t>Introduction aux bases de données</a:t>
          </a:r>
          <a:endParaRPr lang="en-US" sz="1900" kern="1200" dirty="0"/>
        </a:p>
      </dsp:txBody>
      <dsp:txXfrm>
        <a:off x="527105" y="1071"/>
        <a:ext cx="10026594" cy="456368"/>
      </dsp:txXfrm>
    </dsp:sp>
    <dsp:sp modelId="{7C3FC018-227F-410E-BD5E-A1AF8504FD75}">
      <dsp:nvSpPr>
        <dsp:cNvPr id="0" name=""/>
        <dsp:cNvSpPr/>
      </dsp:nvSpPr>
      <dsp:spPr>
        <a:xfrm>
          <a:off x="0" y="571532"/>
          <a:ext cx="10553700" cy="4563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102668-AD82-496A-BD56-BA10139EECC1}">
      <dsp:nvSpPr>
        <dsp:cNvPr id="0" name=""/>
        <dsp:cNvSpPr/>
      </dsp:nvSpPr>
      <dsp:spPr>
        <a:xfrm>
          <a:off x="138051" y="674215"/>
          <a:ext cx="251002" cy="2510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56E4283-8559-455C-AEFB-A9331E43A687}">
      <dsp:nvSpPr>
        <dsp:cNvPr id="0" name=""/>
        <dsp:cNvSpPr/>
      </dsp:nvSpPr>
      <dsp:spPr>
        <a:xfrm>
          <a:off x="527105" y="571532"/>
          <a:ext cx="10026594" cy="45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8299" tIns="48299" rIns="48299" bIns="48299" numCol="1" spcCol="1270" anchor="ctr" anchorCtr="0">
          <a:noAutofit/>
        </a:bodyPr>
        <a:lstStyle/>
        <a:p>
          <a:pPr marL="0" lvl="0" indent="0" algn="l" defTabSz="844550">
            <a:lnSpc>
              <a:spcPct val="100000"/>
            </a:lnSpc>
            <a:spcBef>
              <a:spcPct val="0"/>
            </a:spcBef>
            <a:spcAft>
              <a:spcPct val="35000"/>
            </a:spcAft>
            <a:buNone/>
          </a:pPr>
          <a:r>
            <a:rPr lang="fr-FR" sz="1900" kern="1200" dirty="0"/>
            <a:t>Principes des bases de données relationnelles</a:t>
          </a:r>
          <a:endParaRPr lang="en-US" sz="1900" kern="1200" dirty="0"/>
        </a:p>
      </dsp:txBody>
      <dsp:txXfrm>
        <a:off x="527105" y="571532"/>
        <a:ext cx="10026594" cy="456368"/>
      </dsp:txXfrm>
    </dsp:sp>
    <dsp:sp modelId="{996DD2C0-E96F-4D97-AFF9-E1BC13135550}">
      <dsp:nvSpPr>
        <dsp:cNvPr id="0" name=""/>
        <dsp:cNvSpPr/>
      </dsp:nvSpPr>
      <dsp:spPr>
        <a:xfrm>
          <a:off x="0" y="1141993"/>
          <a:ext cx="10553700" cy="4563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994590-9250-4E46-ABA1-AD5EBFCE1577}">
      <dsp:nvSpPr>
        <dsp:cNvPr id="0" name=""/>
        <dsp:cNvSpPr/>
      </dsp:nvSpPr>
      <dsp:spPr>
        <a:xfrm>
          <a:off x="138051" y="1244676"/>
          <a:ext cx="251002" cy="2510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FEA222B-2C35-4A94-BA8E-14699D6B2B3C}">
      <dsp:nvSpPr>
        <dsp:cNvPr id="0" name=""/>
        <dsp:cNvSpPr/>
      </dsp:nvSpPr>
      <dsp:spPr>
        <a:xfrm>
          <a:off x="527105" y="1141993"/>
          <a:ext cx="10026594" cy="45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8299" tIns="48299" rIns="48299" bIns="48299" numCol="1" spcCol="1270" anchor="ctr" anchorCtr="0">
          <a:noAutofit/>
        </a:bodyPr>
        <a:lstStyle/>
        <a:p>
          <a:pPr marL="0" lvl="0" indent="0" algn="l" defTabSz="844550">
            <a:lnSpc>
              <a:spcPct val="100000"/>
            </a:lnSpc>
            <a:spcBef>
              <a:spcPct val="0"/>
            </a:spcBef>
            <a:spcAft>
              <a:spcPct val="35000"/>
            </a:spcAft>
            <a:buNone/>
          </a:pPr>
          <a:r>
            <a:rPr lang="fr-FR" sz="1900" kern="1200" dirty="0"/>
            <a:t>Langage SQL et principes avancés des bases de données relationnelles</a:t>
          </a:r>
          <a:endParaRPr lang="en-US" sz="1900" kern="1200" dirty="0"/>
        </a:p>
      </dsp:txBody>
      <dsp:txXfrm>
        <a:off x="527105" y="1141993"/>
        <a:ext cx="10026594" cy="456368"/>
      </dsp:txXfrm>
    </dsp:sp>
    <dsp:sp modelId="{85BF1BC8-489B-4A92-9B82-563A408832AE}">
      <dsp:nvSpPr>
        <dsp:cNvPr id="0" name=""/>
        <dsp:cNvSpPr/>
      </dsp:nvSpPr>
      <dsp:spPr>
        <a:xfrm>
          <a:off x="0" y="1712454"/>
          <a:ext cx="10553700" cy="4563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231992-00FC-4D8F-9872-642AD5CB2656}">
      <dsp:nvSpPr>
        <dsp:cNvPr id="0" name=""/>
        <dsp:cNvSpPr/>
      </dsp:nvSpPr>
      <dsp:spPr>
        <a:xfrm>
          <a:off x="138051" y="1815137"/>
          <a:ext cx="251002" cy="2510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85D0BEB-67B6-4E58-92C3-463EA5DD0AB1}">
      <dsp:nvSpPr>
        <dsp:cNvPr id="0" name=""/>
        <dsp:cNvSpPr/>
      </dsp:nvSpPr>
      <dsp:spPr>
        <a:xfrm>
          <a:off x="527105" y="1712454"/>
          <a:ext cx="10026594" cy="45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8299" tIns="48299" rIns="48299" bIns="48299" numCol="1" spcCol="1270" anchor="ctr" anchorCtr="0">
          <a:noAutofit/>
        </a:bodyPr>
        <a:lstStyle/>
        <a:p>
          <a:pPr marL="0" lvl="0" indent="0" algn="l" defTabSz="844550">
            <a:lnSpc>
              <a:spcPct val="100000"/>
            </a:lnSpc>
            <a:spcBef>
              <a:spcPct val="0"/>
            </a:spcBef>
            <a:spcAft>
              <a:spcPct val="35000"/>
            </a:spcAft>
            <a:buNone/>
          </a:pPr>
          <a:r>
            <a:rPr lang="fr-FR" sz="1900" kern="1200" dirty="0"/>
            <a:t>Méthodologie de conception d’une base de </a:t>
          </a:r>
          <a:r>
            <a:rPr lang="fr-FR" sz="1900" kern="1200" dirty="0">
              <a:latin typeface="Century Gothic" panose="020B0502020202020204"/>
            </a:rPr>
            <a:t>données</a:t>
          </a:r>
          <a:r>
            <a:rPr lang="fr-FR" sz="1900" kern="1200" dirty="0"/>
            <a:t> de relationnelle</a:t>
          </a:r>
          <a:endParaRPr lang="en-US" sz="1900" kern="1200" dirty="0"/>
        </a:p>
      </dsp:txBody>
      <dsp:txXfrm>
        <a:off x="527105" y="1712454"/>
        <a:ext cx="10026594" cy="456368"/>
      </dsp:txXfrm>
    </dsp:sp>
    <dsp:sp modelId="{B0A67922-5A14-49A1-BC21-7FED2645E12C}">
      <dsp:nvSpPr>
        <dsp:cNvPr id="0" name=""/>
        <dsp:cNvSpPr/>
      </dsp:nvSpPr>
      <dsp:spPr>
        <a:xfrm>
          <a:off x="0" y="2282915"/>
          <a:ext cx="10553700" cy="4563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1358ED-4A3C-4942-BEBA-86DDAEBB498A}">
      <dsp:nvSpPr>
        <dsp:cNvPr id="0" name=""/>
        <dsp:cNvSpPr/>
      </dsp:nvSpPr>
      <dsp:spPr>
        <a:xfrm>
          <a:off x="138051" y="2385598"/>
          <a:ext cx="251002" cy="251002"/>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8C75B6-DACD-40F2-947F-94C259D7EB34}">
      <dsp:nvSpPr>
        <dsp:cNvPr id="0" name=""/>
        <dsp:cNvSpPr/>
      </dsp:nvSpPr>
      <dsp:spPr>
        <a:xfrm>
          <a:off x="527105" y="2282915"/>
          <a:ext cx="10026594" cy="45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8299" tIns="48299" rIns="48299" bIns="48299" numCol="1" spcCol="1270" anchor="ctr" anchorCtr="0">
          <a:noAutofit/>
        </a:bodyPr>
        <a:lstStyle/>
        <a:p>
          <a:pPr marL="0" lvl="0" indent="0" algn="l" defTabSz="844550">
            <a:lnSpc>
              <a:spcPct val="100000"/>
            </a:lnSpc>
            <a:spcBef>
              <a:spcPct val="0"/>
            </a:spcBef>
            <a:spcAft>
              <a:spcPct val="35000"/>
            </a:spcAft>
            <a:buNone/>
          </a:pPr>
          <a:r>
            <a:rPr lang="en-US" sz="1900" kern="1200" dirty="0"/>
            <a:t>Introduction au Web, frameworks </a:t>
          </a:r>
          <a:r>
            <a:rPr lang="en-US" sz="1900" kern="1200" dirty="0" err="1"/>
            <a:t>dédiés</a:t>
          </a:r>
          <a:endParaRPr lang="en-US" sz="1900" kern="1200" dirty="0"/>
        </a:p>
      </dsp:txBody>
      <dsp:txXfrm>
        <a:off x="527105" y="2282915"/>
        <a:ext cx="10026594" cy="456368"/>
      </dsp:txXfrm>
    </dsp:sp>
    <dsp:sp modelId="{0AB89DCA-195F-454E-8D7F-B4A6B01277C6}">
      <dsp:nvSpPr>
        <dsp:cNvPr id="0" name=""/>
        <dsp:cNvSpPr/>
      </dsp:nvSpPr>
      <dsp:spPr>
        <a:xfrm>
          <a:off x="0" y="2853376"/>
          <a:ext cx="10553700" cy="45636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7B05BF-98EC-4AE3-8FE1-3D3C43C1B1D4}">
      <dsp:nvSpPr>
        <dsp:cNvPr id="0" name=""/>
        <dsp:cNvSpPr/>
      </dsp:nvSpPr>
      <dsp:spPr>
        <a:xfrm>
          <a:off x="138051" y="2956059"/>
          <a:ext cx="251002" cy="251002"/>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735ABA-0461-4078-BEBA-457D2B152607}">
      <dsp:nvSpPr>
        <dsp:cNvPr id="0" name=""/>
        <dsp:cNvSpPr/>
      </dsp:nvSpPr>
      <dsp:spPr>
        <a:xfrm>
          <a:off x="527105" y="2853376"/>
          <a:ext cx="10026594" cy="456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8299" tIns="48299" rIns="48299" bIns="48299" numCol="1" spcCol="1270" anchor="ctr" anchorCtr="0">
          <a:noAutofit/>
        </a:bodyPr>
        <a:lstStyle/>
        <a:p>
          <a:pPr marL="0" lvl="0" indent="0" algn="l" defTabSz="844550">
            <a:lnSpc>
              <a:spcPct val="100000"/>
            </a:lnSpc>
            <a:spcBef>
              <a:spcPct val="0"/>
            </a:spcBef>
            <a:spcAft>
              <a:spcPct val="35000"/>
            </a:spcAft>
            <a:buNone/>
          </a:pPr>
          <a:r>
            <a:rPr lang="en-US" sz="1900" kern="1200" dirty="0"/>
            <a:t>Administration des bases de </a:t>
          </a:r>
          <a:r>
            <a:rPr lang="en-US" sz="1900" kern="1200" dirty="0" err="1"/>
            <a:t>données</a:t>
          </a:r>
          <a:r>
            <a:rPr lang="en-US" sz="1900" kern="1200" dirty="0"/>
            <a:t> et </a:t>
          </a:r>
          <a:r>
            <a:rPr lang="en-US" sz="1900" kern="1200" dirty="0" err="1"/>
            <a:t>optimisations</a:t>
          </a:r>
          <a:endParaRPr lang="en-US" sz="1900" kern="1200" dirty="0"/>
        </a:p>
      </dsp:txBody>
      <dsp:txXfrm>
        <a:off x="527105" y="2853376"/>
        <a:ext cx="10026594" cy="4563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59A6C2-0243-41F4-84E6-F62C82BDC0D9}">
      <dsp:nvSpPr>
        <dsp:cNvPr id="0" name=""/>
        <dsp:cNvSpPr/>
      </dsp:nvSpPr>
      <dsp:spPr>
        <a:xfrm>
          <a:off x="66218" y="1652"/>
          <a:ext cx="4466255" cy="2836072"/>
        </a:xfrm>
        <a:prstGeom prst="roundRect">
          <a:avLst>
            <a:gd name="adj" fmla="val 10000"/>
          </a:avLst>
        </a:prstGeom>
        <a:solidFill>
          <a:schemeClr val="accent1">
            <a:hueOff val="0"/>
            <a:satOff val="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5FB88E19-9473-42D8-97DD-E4D7F1204946}">
      <dsp:nvSpPr>
        <dsp:cNvPr id="0" name=""/>
        <dsp:cNvSpPr/>
      </dsp:nvSpPr>
      <dsp:spPr>
        <a:xfrm>
          <a:off x="562468" y="473090"/>
          <a:ext cx="4466255" cy="283607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1930" tIns="201930" rIns="201930" bIns="201930" numCol="1" spcCol="1270" anchor="ctr" anchorCtr="0">
          <a:noAutofit/>
        </a:bodyPr>
        <a:lstStyle/>
        <a:p>
          <a:pPr marL="0" lvl="0" indent="0" algn="ctr" defTabSz="2355850">
            <a:lnSpc>
              <a:spcPct val="90000"/>
            </a:lnSpc>
            <a:spcBef>
              <a:spcPct val="0"/>
            </a:spcBef>
            <a:spcAft>
              <a:spcPct val="35000"/>
            </a:spcAft>
            <a:buNone/>
          </a:pPr>
          <a:r>
            <a:rPr lang="fr-FR" sz="5300" kern="1200" dirty="0"/>
            <a:t>1 examen sur table (50%)</a:t>
          </a:r>
          <a:endParaRPr lang="en-US" sz="5300" kern="1200" dirty="0"/>
        </a:p>
      </dsp:txBody>
      <dsp:txXfrm>
        <a:off x="645534" y="556156"/>
        <a:ext cx="4300123" cy="2669940"/>
      </dsp:txXfrm>
    </dsp:sp>
    <dsp:sp modelId="{159C751B-C6DB-46A9-9206-4CB8FBD73894}">
      <dsp:nvSpPr>
        <dsp:cNvPr id="0" name=""/>
        <dsp:cNvSpPr/>
      </dsp:nvSpPr>
      <dsp:spPr>
        <a:xfrm>
          <a:off x="5524975" y="1652"/>
          <a:ext cx="4466255" cy="2836072"/>
        </a:xfrm>
        <a:prstGeom prst="roundRect">
          <a:avLst>
            <a:gd name="adj" fmla="val 10000"/>
          </a:avLst>
        </a:prstGeom>
        <a:solidFill>
          <a:schemeClr val="accent1">
            <a:hueOff val="0"/>
            <a:satOff val="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4E69858B-6AEA-4CBF-9D52-70147D64CB7C}">
      <dsp:nvSpPr>
        <dsp:cNvPr id="0" name=""/>
        <dsp:cNvSpPr/>
      </dsp:nvSpPr>
      <dsp:spPr>
        <a:xfrm>
          <a:off x="6021225" y="473090"/>
          <a:ext cx="4466255" cy="283607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1930" tIns="201930" rIns="201930" bIns="201930" numCol="1" spcCol="1270" anchor="ctr" anchorCtr="0">
          <a:noAutofit/>
        </a:bodyPr>
        <a:lstStyle/>
        <a:p>
          <a:pPr marL="0" lvl="0" indent="0" algn="ctr" defTabSz="2355850">
            <a:lnSpc>
              <a:spcPct val="90000"/>
            </a:lnSpc>
            <a:spcBef>
              <a:spcPct val="0"/>
            </a:spcBef>
            <a:spcAft>
              <a:spcPct val="35000"/>
            </a:spcAft>
            <a:buNone/>
          </a:pPr>
          <a:r>
            <a:rPr lang="fr-FR" sz="5300" kern="1200" dirty="0"/>
            <a:t>1 projet (50%)</a:t>
          </a:r>
          <a:endParaRPr lang="en-US" sz="5300" kern="1200" dirty="0"/>
        </a:p>
      </dsp:txBody>
      <dsp:txXfrm>
        <a:off x="6104291" y="556156"/>
        <a:ext cx="4300123" cy="26699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74B377-5850-4C92-B4AE-19B153DC262A}">
      <dsp:nvSpPr>
        <dsp:cNvPr id="0" name=""/>
        <dsp:cNvSpPr/>
      </dsp:nvSpPr>
      <dsp:spPr>
        <a:xfrm>
          <a:off x="0" y="538007"/>
          <a:ext cx="10553700" cy="99324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42E813-3B78-4095-95BE-B51A3B8192AA}">
      <dsp:nvSpPr>
        <dsp:cNvPr id="0" name=""/>
        <dsp:cNvSpPr/>
      </dsp:nvSpPr>
      <dsp:spPr>
        <a:xfrm>
          <a:off x="300456" y="761487"/>
          <a:ext cx="546284" cy="54628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44C726B-83A6-48B9-8217-3A82E0F4B7AF}">
      <dsp:nvSpPr>
        <dsp:cNvPr id="0" name=""/>
        <dsp:cNvSpPr/>
      </dsp:nvSpPr>
      <dsp:spPr>
        <a:xfrm>
          <a:off x="1147197" y="538007"/>
          <a:ext cx="9406502" cy="993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118" tIns="105118" rIns="105118" bIns="105118" numCol="1" spcCol="1270" anchor="ctr" anchorCtr="0">
          <a:noAutofit/>
        </a:bodyPr>
        <a:lstStyle/>
        <a:p>
          <a:pPr marL="0" lvl="0" indent="0" algn="l" defTabSz="1111250">
            <a:lnSpc>
              <a:spcPct val="90000"/>
            </a:lnSpc>
            <a:spcBef>
              <a:spcPct val="0"/>
            </a:spcBef>
            <a:spcAft>
              <a:spcPct val="35000"/>
            </a:spcAft>
            <a:buNone/>
          </a:pPr>
          <a:r>
            <a:rPr lang="fr-FR" sz="2500" kern="1200"/>
            <a:t>Une base de données permet de stocker des données de façon organisée</a:t>
          </a:r>
          <a:endParaRPr lang="en-US" sz="2500" kern="1200"/>
        </a:p>
      </dsp:txBody>
      <dsp:txXfrm>
        <a:off x="1147197" y="538007"/>
        <a:ext cx="9406502" cy="993244"/>
      </dsp:txXfrm>
    </dsp:sp>
    <dsp:sp modelId="{4D2A5753-03C5-407A-B761-76C2B7BDDBE9}">
      <dsp:nvSpPr>
        <dsp:cNvPr id="0" name=""/>
        <dsp:cNvSpPr/>
      </dsp:nvSpPr>
      <dsp:spPr>
        <a:xfrm>
          <a:off x="0" y="1779563"/>
          <a:ext cx="10553700" cy="99324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E36F96-E2E1-4082-A956-9AAED9FC75C0}">
      <dsp:nvSpPr>
        <dsp:cNvPr id="0" name=""/>
        <dsp:cNvSpPr/>
      </dsp:nvSpPr>
      <dsp:spPr>
        <a:xfrm>
          <a:off x="300456" y="2003043"/>
          <a:ext cx="546284" cy="54628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26318BB-9DCA-4B9F-9782-5B9272295A4F}">
      <dsp:nvSpPr>
        <dsp:cNvPr id="0" name=""/>
        <dsp:cNvSpPr/>
      </dsp:nvSpPr>
      <dsp:spPr>
        <a:xfrm>
          <a:off x="1147197" y="1779563"/>
          <a:ext cx="9406502" cy="993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118" tIns="105118" rIns="105118" bIns="105118" numCol="1" spcCol="1270" anchor="ctr" anchorCtr="0">
          <a:noAutofit/>
        </a:bodyPr>
        <a:lstStyle/>
        <a:p>
          <a:pPr marL="0" lvl="0" indent="0" algn="l" defTabSz="1111250">
            <a:lnSpc>
              <a:spcPct val="90000"/>
            </a:lnSpc>
            <a:spcBef>
              <a:spcPct val="0"/>
            </a:spcBef>
            <a:spcAft>
              <a:spcPct val="35000"/>
            </a:spcAft>
            <a:buNone/>
          </a:pPr>
          <a:r>
            <a:rPr lang="fr-FR" sz="2500" kern="1200"/>
            <a:t>Un système de gestion de base de données offre le moyen d’interroger la base pour en extraire des informations utiles</a:t>
          </a:r>
          <a:endParaRPr lang="en-US" sz="2500" kern="1200"/>
        </a:p>
      </dsp:txBody>
      <dsp:txXfrm>
        <a:off x="1147197" y="1779563"/>
        <a:ext cx="9406502" cy="9932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E57A53-2233-4C52-AE27-CE2BFF2ADE1A}">
      <dsp:nvSpPr>
        <dsp:cNvPr id="0" name=""/>
        <dsp:cNvSpPr/>
      </dsp:nvSpPr>
      <dsp:spPr>
        <a:xfrm>
          <a:off x="218794" y="34739"/>
          <a:ext cx="1339248" cy="133924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44D227-6871-4662-939F-8AC1704248AF}">
      <dsp:nvSpPr>
        <dsp:cNvPr id="0" name=""/>
        <dsp:cNvSpPr/>
      </dsp:nvSpPr>
      <dsp:spPr>
        <a:xfrm>
          <a:off x="500036" y="315982"/>
          <a:ext cx="776764" cy="7767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702609F-BECF-4C95-A576-30836EBCA9A1}">
      <dsp:nvSpPr>
        <dsp:cNvPr id="0" name=""/>
        <dsp:cNvSpPr/>
      </dsp:nvSpPr>
      <dsp:spPr>
        <a:xfrm>
          <a:off x="1845025" y="34739"/>
          <a:ext cx="3156800" cy="1339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fr-FR" sz="2000" kern="1200"/>
            <a:t>SQL = Structured Query Language ou langage de requête structurée</a:t>
          </a:r>
          <a:endParaRPr lang="en-US" sz="2000" kern="1200"/>
        </a:p>
      </dsp:txBody>
      <dsp:txXfrm>
        <a:off x="1845025" y="34739"/>
        <a:ext cx="3156800" cy="1339248"/>
      </dsp:txXfrm>
    </dsp:sp>
    <dsp:sp modelId="{59795123-66EE-4125-BF5A-55C25FDA847D}">
      <dsp:nvSpPr>
        <dsp:cNvPr id="0" name=""/>
        <dsp:cNvSpPr/>
      </dsp:nvSpPr>
      <dsp:spPr>
        <a:xfrm>
          <a:off x="5551874" y="34739"/>
          <a:ext cx="1339248" cy="133924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2EC6EA-1DEB-4777-9222-6E3E5E01B962}">
      <dsp:nvSpPr>
        <dsp:cNvPr id="0" name=""/>
        <dsp:cNvSpPr/>
      </dsp:nvSpPr>
      <dsp:spPr>
        <a:xfrm>
          <a:off x="5833116" y="315982"/>
          <a:ext cx="776764" cy="7767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3566810-71D8-4A61-8B80-386790B622AA}">
      <dsp:nvSpPr>
        <dsp:cNvPr id="0" name=""/>
        <dsp:cNvSpPr/>
      </dsp:nvSpPr>
      <dsp:spPr>
        <a:xfrm>
          <a:off x="7178104" y="34739"/>
          <a:ext cx="3156800" cy="1339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fr-FR" sz="2000" kern="1200"/>
            <a:t>Langage informatique normalisé servant à exploiter des bases de données relationnelles</a:t>
          </a:r>
          <a:endParaRPr lang="en-US" sz="2000" kern="1200"/>
        </a:p>
      </dsp:txBody>
      <dsp:txXfrm>
        <a:off x="7178104" y="34739"/>
        <a:ext cx="3156800" cy="1339248"/>
      </dsp:txXfrm>
    </dsp:sp>
    <dsp:sp modelId="{01AC357C-98B4-4EBD-BD16-FD1CE75D1531}">
      <dsp:nvSpPr>
        <dsp:cNvPr id="0" name=""/>
        <dsp:cNvSpPr/>
      </dsp:nvSpPr>
      <dsp:spPr>
        <a:xfrm>
          <a:off x="218794" y="1936827"/>
          <a:ext cx="1339248" cy="133924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D42E13-8DCA-4288-B4A6-5E1100839A9F}">
      <dsp:nvSpPr>
        <dsp:cNvPr id="0" name=""/>
        <dsp:cNvSpPr/>
      </dsp:nvSpPr>
      <dsp:spPr>
        <a:xfrm>
          <a:off x="500036" y="2218069"/>
          <a:ext cx="776764" cy="7767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82F53FB-8413-4C8D-A238-B417D011045E}">
      <dsp:nvSpPr>
        <dsp:cNvPr id="0" name=""/>
        <dsp:cNvSpPr/>
      </dsp:nvSpPr>
      <dsp:spPr>
        <a:xfrm>
          <a:off x="1845025" y="1936827"/>
          <a:ext cx="3156800" cy="1339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fr-FR" sz="2000" kern="1200"/>
            <a:t>Permet de rechercher, ajouter, modifier ou supprimer des données dans une base (DML)</a:t>
          </a:r>
          <a:endParaRPr lang="en-US" sz="2000" kern="1200"/>
        </a:p>
      </dsp:txBody>
      <dsp:txXfrm>
        <a:off x="1845025" y="1936827"/>
        <a:ext cx="3156800" cy="1339248"/>
      </dsp:txXfrm>
    </dsp:sp>
    <dsp:sp modelId="{49EC597B-BC8E-43F0-B3F1-F0DC51D58AEC}">
      <dsp:nvSpPr>
        <dsp:cNvPr id="0" name=""/>
        <dsp:cNvSpPr/>
      </dsp:nvSpPr>
      <dsp:spPr>
        <a:xfrm>
          <a:off x="5551874" y="1936827"/>
          <a:ext cx="1339248" cy="133924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FC6B62-5DA7-459D-9D92-A36E83532E49}">
      <dsp:nvSpPr>
        <dsp:cNvPr id="0" name=""/>
        <dsp:cNvSpPr/>
      </dsp:nvSpPr>
      <dsp:spPr>
        <a:xfrm>
          <a:off x="5833116" y="2218069"/>
          <a:ext cx="776764" cy="77676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51799C2-C0CB-4903-8920-B80631E65FB1}">
      <dsp:nvSpPr>
        <dsp:cNvPr id="0" name=""/>
        <dsp:cNvSpPr/>
      </dsp:nvSpPr>
      <dsp:spPr>
        <a:xfrm>
          <a:off x="7178104" y="1936827"/>
          <a:ext cx="3156800" cy="1339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fr-FR" sz="2000" kern="1200"/>
            <a:t>Permet également de créer des tables, modifier la structure de la base de données (DDL)</a:t>
          </a:r>
          <a:endParaRPr lang="en-US" sz="2000" kern="1200"/>
        </a:p>
      </dsp:txBody>
      <dsp:txXfrm>
        <a:off x="7178104" y="1936827"/>
        <a:ext cx="3156800" cy="133924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E57A53-2233-4C52-AE27-CE2BFF2ADE1A}">
      <dsp:nvSpPr>
        <dsp:cNvPr id="0" name=""/>
        <dsp:cNvSpPr/>
      </dsp:nvSpPr>
      <dsp:spPr>
        <a:xfrm>
          <a:off x="496180" y="1022506"/>
          <a:ext cx="1265803" cy="126580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44D227-6871-4662-939F-8AC1704248AF}">
      <dsp:nvSpPr>
        <dsp:cNvPr id="0" name=""/>
        <dsp:cNvSpPr/>
      </dsp:nvSpPr>
      <dsp:spPr>
        <a:xfrm>
          <a:off x="761998" y="1288324"/>
          <a:ext cx="734166" cy="7341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702609F-BECF-4C95-A576-30836EBCA9A1}">
      <dsp:nvSpPr>
        <dsp:cNvPr id="0" name=""/>
        <dsp:cNvSpPr/>
      </dsp:nvSpPr>
      <dsp:spPr>
        <a:xfrm>
          <a:off x="2033227" y="1022506"/>
          <a:ext cx="2983680" cy="1265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fr-FR" sz="2000" kern="1200" dirty="0"/>
            <a:t>DCL (Data Control </a:t>
          </a:r>
          <a:r>
            <a:rPr lang="fr-FR" sz="2000" kern="1200" dirty="0" err="1"/>
            <a:t>Language</a:t>
          </a:r>
          <a:r>
            <a:rPr lang="fr-FR" sz="2000" kern="1200" dirty="0"/>
            <a:t>) : gère les tâches administratives liées à la BDD</a:t>
          </a:r>
          <a:endParaRPr lang="en-US" sz="2000" kern="1200" dirty="0"/>
        </a:p>
      </dsp:txBody>
      <dsp:txXfrm>
        <a:off x="2033227" y="1022506"/>
        <a:ext cx="2983680" cy="1265803"/>
      </dsp:txXfrm>
    </dsp:sp>
    <dsp:sp modelId="{DEAE34E3-1897-41B4-8DBD-68012E3B939C}">
      <dsp:nvSpPr>
        <dsp:cNvPr id="0" name=""/>
        <dsp:cNvSpPr/>
      </dsp:nvSpPr>
      <dsp:spPr>
        <a:xfrm>
          <a:off x="5536791" y="1022506"/>
          <a:ext cx="1265803" cy="126580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F27E8A-CE2C-4E8F-8162-E73F0E464744}">
      <dsp:nvSpPr>
        <dsp:cNvPr id="0" name=""/>
        <dsp:cNvSpPr/>
      </dsp:nvSpPr>
      <dsp:spPr>
        <a:xfrm>
          <a:off x="5802610" y="1288324"/>
          <a:ext cx="734166" cy="73416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A2FC81-8244-4452-B82D-8EDD52D8082F}">
      <dsp:nvSpPr>
        <dsp:cNvPr id="0" name=""/>
        <dsp:cNvSpPr/>
      </dsp:nvSpPr>
      <dsp:spPr>
        <a:xfrm>
          <a:off x="7073839" y="1022506"/>
          <a:ext cx="2983680" cy="12658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dirty="0"/>
            <a:t>TCL (Transaction Control Language) : </a:t>
          </a:r>
          <a:r>
            <a:rPr lang="en-US" sz="2000" kern="1200" dirty="0" err="1"/>
            <a:t>permet</a:t>
          </a:r>
          <a:r>
            <a:rPr lang="en-US" sz="2000" kern="1200" dirty="0"/>
            <a:t> de </a:t>
          </a:r>
          <a:r>
            <a:rPr lang="en-US" sz="2000" kern="1200" dirty="0" err="1"/>
            <a:t>manipuler</a:t>
          </a:r>
          <a:r>
            <a:rPr lang="en-US" sz="2000" kern="1200" dirty="0"/>
            <a:t> les transactions</a:t>
          </a:r>
        </a:p>
      </dsp:txBody>
      <dsp:txXfrm>
        <a:off x="7073839" y="1022506"/>
        <a:ext cx="2983680" cy="12658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B1D958-A76C-4849-B630-A65DE0DE934B}">
      <dsp:nvSpPr>
        <dsp:cNvPr id="0" name=""/>
        <dsp:cNvSpPr/>
      </dsp:nvSpPr>
      <dsp:spPr>
        <a:xfrm>
          <a:off x="989778" y="492949"/>
          <a:ext cx="1264867" cy="126486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788E74-E940-45B5-B302-8EABD331192F}">
      <dsp:nvSpPr>
        <dsp:cNvPr id="0" name=""/>
        <dsp:cNvSpPr/>
      </dsp:nvSpPr>
      <dsp:spPr>
        <a:xfrm>
          <a:off x="1259340" y="762511"/>
          <a:ext cx="725743" cy="7257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5E59A47-B71F-42B1-94A3-63D323BD2E24}">
      <dsp:nvSpPr>
        <dsp:cNvPr id="0" name=""/>
        <dsp:cNvSpPr/>
      </dsp:nvSpPr>
      <dsp:spPr>
        <a:xfrm>
          <a:off x="585436" y="2151791"/>
          <a:ext cx="207355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fr-FR" sz="2200" kern="1200"/>
            <a:t>Récupérer les données</a:t>
          </a:r>
          <a:endParaRPr lang="en-US" sz="2200" kern="1200"/>
        </a:p>
      </dsp:txBody>
      <dsp:txXfrm>
        <a:off x="585436" y="2151791"/>
        <a:ext cx="2073553" cy="720000"/>
      </dsp:txXfrm>
    </dsp:sp>
    <dsp:sp modelId="{FF3637F4-CFB2-4C0F-82C6-F26BED4A17B2}">
      <dsp:nvSpPr>
        <dsp:cNvPr id="0" name=""/>
        <dsp:cNvSpPr/>
      </dsp:nvSpPr>
      <dsp:spPr>
        <a:xfrm>
          <a:off x="3426203" y="492949"/>
          <a:ext cx="1264867" cy="126486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4523D3-ACE7-4BB9-B5A1-D8CE43721FDB}">
      <dsp:nvSpPr>
        <dsp:cNvPr id="0" name=""/>
        <dsp:cNvSpPr/>
      </dsp:nvSpPr>
      <dsp:spPr>
        <a:xfrm>
          <a:off x="3695765" y="762511"/>
          <a:ext cx="725743" cy="7257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A6A478C-28C4-4C55-94C5-0DF22C858063}">
      <dsp:nvSpPr>
        <dsp:cNvPr id="0" name=""/>
        <dsp:cNvSpPr/>
      </dsp:nvSpPr>
      <dsp:spPr>
        <a:xfrm>
          <a:off x="3021860" y="2151791"/>
          <a:ext cx="207355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fr-FR" sz="2200" kern="1200"/>
            <a:t>Ajouter les données</a:t>
          </a:r>
          <a:endParaRPr lang="en-US" sz="2200" kern="1200"/>
        </a:p>
      </dsp:txBody>
      <dsp:txXfrm>
        <a:off x="3021860" y="2151791"/>
        <a:ext cx="2073553" cy="720000"/>
      </dsp:txXfrm>
    </dsp:sp>
    <dsp:sp modelId="{1D81F7A7-377F-45DD-B7F3-375550510848}">
      <dsp:nvSpPr>
        <dsp:cNvPr id="0" name=""/>
        <dsp:cNvSpPr/>
      </dsp:nvSpPr>
      <dsp:spPr>
        <a:xfrm>
          <a:off x="5862628" y="492949"/>
          <a:ext cx="1264867" cy="126486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736D9F-33FB-42DD-BE41-F7CDF9944262}">
      <dsp:nvSpPr>
        <dsp:cNvPr id="0" name=""/>
        <dsp:cNvSpPr/>
      </dsp:nvSpPr>
      <dsp:spPr>
        <a:xfrm>
          <a:off x="6132190" y="762511"/>
          <a:ext cx="725743" cy="7257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A83E343-91D8-4AA4-85BA-D260359F72A8}">
      <dsp:nvSpPr>
        <dsp:cNvPr id="0" name=""/>
        <dsp:cNvSpPr/>
      </dsp:nvSpPr>
      <dsp:spPr>
        <a:xfrm>
          <a:off x="5458285" y="2151791"/>
          <a:ext cx="207355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fr-FR" sz="2200" kern="1200"/>
            <a:t>Mettre à jour les données</a:t>
          </a:r>
          <a:endParaRPr lang="en-US" sz="2200" kern="1200"/>
        </a:p>
      </dsp:txBody>
      <dsp:txXfrm>
        <a:off x="5458285" y="2151791"/>
        <a:ext cx="2073553" cy="720000"/>
      </dsp:txXfrm>
    </dsp:sp>
    <dsp:sp modelId="{D2C239EC-F5FC-4D46-9216-C144575678F0}">
      <dsp:nvSpPr>
        <dsp:cNvPr id="0" name=""/>
        <dsp:cNvSpPr/>
      </dsp:nvSpPr>
      <dsp:spPr>
        <a:xfrm>
          <a:off x="8299053" y="492949"/>
          <a:ext cx="1264867" cy="1264867"/>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265DD9-6190-4397-B517-DC239B03D44C}">
      <dsp:nvSpPr>
        <dsp:cNvPr id="0" name=""/>
        <dsp:cNvSpPr/>
      </dsp:nvSpPr>
      <dsp:spPr>
        <a:xfrm>
          <a:off x="8568615" y="762511"/>
          <a:ext cx="725743" cy="72574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0464C69-6C4A-4A8F-B3E7-651DE3AB44D9}">
      <dsp:nvSpPr>
        <dsp:cNvPr id="0" name=""/>
        <dsp:cNvSpPr/>
      </dsp:nvSpPr>
      <dsp:spPr>
        <a:xfrm>
          <a:off x="7894710" y="2151791"/>
          <a:ext cx="207355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fr-FR" sz="2200" kern="1200"/>
            <a:t>Supprimer les données</a:t>
          </a:r>
          <a:endParaRPr lang="en-US" sz="2200" kern="1200"/>
        </a:p>
      </dsp:txBody>
      <dsp:txXfrm>
        <a:off x="7894710" y="2151791"/>
        <a:ext cx="2073553"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157F1C-218F-4704-AC34-4C7D354C2974}">
      <dsp:nvSpPr>
        <dsp:cNvPr id="0" name=""/>
        <dsp:cNvSpPr/>
      </dsp:nvSpPr>
      <dsp:spPr>
        <a:xfrm>
          <a:off x="0" y="538007"/>
          <a:ext cx="10553700" cy="99324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B41A0D-63FE-4BB9-8866-509965F9764E}">
      <dsp:nvSpPr>
        <dsp:cNvPr id="0" name=""/>
        <dsp:cNvSpPr/>
      </dsp:nvSpPr>
      <dsp:spPr>
        <a:xfrm>
          <a:off x="300456" y="761487"/>
          <a:ext cx="546284" cy="54628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BE0A589-1BC1-44E6-9117-44EDE874BCF4}">
      <dsp:nvSpPr>
        <dsp:cNvPr id="0" name=""/>
        <dsp:cNvSpPr/>
      </dsp:nvSpPr>
      <dsp:spPr>
        <a:xfrm>
          <a:off x="1147197" y="538007"/>
          <a:ext cx="9406502" cy="993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118" tIns="105118" rIns="105118" bIns="105118" numCol="1" spcCol="1270" anchor="ctr" anchorCtr="0">
          <a:noAutofit/>
        </a:bodyPr>
        <a:lstStyle/>
        <a:p>
          <a:pPr marL="0" lvl="0" indent="0" algn="l" defTabSz="800100">
            <a:lnSpc>
              <a:spcPct val="90000"/>
            </a:lnSpc>
            <a:spcBef>
              <a:spcPct val="0"/>
            </a:spcBef>
            <a:spcAft>
              <a:spcPct val="35000"/>
            </a:spcAft>
            <a:buNone/>
          </a:pPr>
          <a:r>
            <a:rPr lang="fr-FR" sz="1800" kern="1200"/>
            <a:t>Les jointures permettent de réaliser des requêtes sur plusieurs tables en même temps quand ces tables possèdent une relation</a:t>
          </a:r>
          <a:endParaRPr lang="en-US" sz="1800" kern="1200"/>
        </a:p>
      </dsp:txBody>
      <dsp:txXfrm>
        <a:off x="1147197" y="538007"/>
        <a:ext cx="9406502" cy="993244"/>
      </dsp:txXfrm>
    </dsp:sp>
    <dsp:sp modelId="{D31E44CE-8E29-4501-815B-C74071CEC87F}">
      <dsp:nvSpPr>
        <dsp:cNvPr id="0" name=""/>
        <dsp:cNvSpPr/>
      </dsp:nvSpPr>
      <dsp:spPr>
        <a:xfrm>
          <a:off x="0" y="1779563"/>
          <a:ext cx="10553700" cy="99324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F15E3D-D23F-4B42-94F8-B99216224C88}">
      <dsp:nvSpPr>
        <dsp:cNvPr id="0" name=""/>
        <dsp:cNvSpPr/>
      </dsp:nvSpPr>
      <dsp:spPr>
        <a:xfrm>
          <a:off x="300456" y="2003043"/>
          <a:ext cx="546284" cy="54628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67294E5-8F87-4455-836F-889083A3D2D8}">
      <dsp:nvSpPr>
        <dsp:cNvPr id="0" name=""/>
        <dsp:cNvSpPr/>
      </dsp:nvSpPr>
      <dsp:spPr>
        <a:xfrm>
          <a:off x="1147197" y="1779563"/>
          <a:ext cx="9406502" cy="993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118" tIns="105118" rIns="105118" bIns="105118" numCol="1" spcCol="1270" anchor="ctr" anchorCtr="0">
          <a:noAutofit/>
        </a:bodyPr>
        <a:lstStyle/>
        <a:p>
          <a:pPr marL="0" lvl="0" indent="0" algn="l" defTabSz="800100">
            <a:lnSpc>
              <a:spcPct val="90000"/>
            </a:lnSpc>
            <a:spcBef>
              <a:spcPct val="0"/>
            </a:spcBef>
            <a:spcAft>
              <a:spcPct val="35000"/>
            </a:spcAft>
            <a:buNone/>
          </a:pPr>
          <a:r>
            <a:rPr lang="fr-FR" sz="1800" kern="1200"/>
            <a:t>Par exemple, si on a deux tables </a:t>
          </a:r>
          <a:r>
            <a:rPr lang="fr-FR" sz="1800" i="1" kern="1200"/>
            <a:t>Client </a:t>
          </a:r>
          <a:r>
            <a:rPr lang="fr-FR" sz="1800" kern="1200"/>
            <a:t>et </a:t>
          </a:r>
          <a:r>
            <a:rPr lang="fr-FR" sz="1800" i="1" kern="1200"/>
            <a:t>Factures </a:t>
          </a:r>
          <a:r>
            <a:rPr lang="fr-FR" sz="1800" kern="1200"/>
            <a:t>et que </a:t>
          </a:r>
          <a:r>
            <a:rPr lang="fr-FR" sz="1800" i="1" kern="1200"/>
            <a:t>Factures </a:t>
          </a:r>
          <a:r>
            <a:rPr lang="fr-FR" sz="1800" kern="1200"/>
            <a:t>possède une clé étrangère référençant la table </a:t>
          </a:r>
          <a:r>
            <a:rPr lang="fr-FR" sz="1800" i="1" kern="1200"/>
            <a:t>Client </a:t>
          </a:r>
          <a:r>
            <a:rPr lang="fr-FR" sz="1800" kern="1200"/>
            <a:t>alors la requête "Récupérer la liste des clients et leurs factures" nécessite une jointure</a:t>
          </a:r>
          <a:endParaRPr lang="en-US" sz="1800" kern="1200"/>
        </a:p>
      </dsp:txBody>
      <dsp:txXfrm>
        <a:off x="1147197" y="1779563"/>
        <a:ext cx="9406502" cy="99324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7CA557-62A5-47C6-8D6F-D4051FBB3373}">
      <dsp:nvSpPr>
        <dsp:cNvPr id="0" name=""/>
        <dsp:cNvSpPr/>
      </dsp:nvSpPr>
      <dsp:spPr>
        <a:xfrm>
          <a:off x="1766850" y="88288"/>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A8BEC01-DAC9-44D0-A545-99CF310A7919}">
      <dsp:nvSpPr>
        <dsp:cNvPr id="0" name=""/>
        <dsp:cNvSpPr/>
      </dsp:nvSpPr>
      <dsp:spPr>
        <a:xfrm>
          <a:off x="578850" y="2502527"/>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fr-FR" sz="1500" kern="1200"/>
            <a:t>Les jointures sont un outil essentiel permettant d’exploiter les bases de données relationnelles</a:t>
          </a:r>
          <a:endParaRPr lang="en-US" sz="1500" kern="1200"/>
        </a:p>
      </dsp:txBody>
      <dsp:txXfrm>
        <a:off x="578850" y="2502527"/>
        <a:ext cx="4320000" cy="720000"/>
      </dsp:txXfrm>
    </dsp:sp>
    <dsp:sp modelId="{E7CC6234-3088-4770-8A2C-C1B136A4EF32}">
      <dsp:nvSpPr>
        <dsp:cNvPr id="0" name=""/>
        <dsp:cNvSpPr/>
      </dsp:nvSpPr>
      <dsp:spPr>
        <a:xfrm>
          <a:off x="6842850" y="88288"/>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65C7A89-6752-48ED-A21B-557B74F9EE37}">
      <dsp:nvSpPr>
        <dsp:cNvPr id="0" name=""/>
        <dsp:cNvSpPr/>
      </dsp:nvSpPr>
      <dsp:spPr>
        <a:xfrm>
          <a:off x="5654850" y="2502527"/>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fr-FR" sz="1500" kern="1200"/>
            <a:t>Si une information est distribuée dans plusieurs tables, une requête avec jointure est nécessaire pour récupérer toute l’information</a:t>
          </a:r>
          <a:endParaRPr lang="en-US" sz="1500" kern="1200"/>
        </a:p>
      </dsp:txBody>
      <dsp:txXfrm>
        <a:off x="5654850" y="2502527"/>
        <a:ext cx="4320000" cy="720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3514CF-1B3C-489A-9EA2-4B5E1B68FB47}">
      <dsp:nvSpPr>
        <dsp:cNvPr id="0" name=""/>
        <dsp:cNvSpPr/>
      </dsp:nvSpPr>
      <dsp:spPr>
        <a:xfrm>
          <a:off x="614850" y="62370"/>
          <a:ext cx="1921500" cy="1921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A4EED0-7A47-4B1D-9498-3A2B9AF28921}">
      <dsp:nvSpPr>
        <dsp:cNvPr id="0" name=""/>
        <dsp:cNvSpPr/>
      </dsp:nvSpPr>
      <dsp:spPr>
        <a:xfrm>
          <a:off x="1024350" y="471870"/>
          <a:ext cx="1102500" cy="1102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84C7AC1-185B-4399-83E0-68C42C39C4F6}">
      <dsp:nvSpPr>
        <dsp:cNvPr id="0" name=""/>
        <dsp:cNvSpPr/>
      </dsp:nvSpPr>
      <dsp:spPr>
        <a:xfrm>
          <a:off x="600" y="2582370"/>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fr-FR" sz="2500" kern="1200"/>
            <a:t>Créer des tables</a:t>
          </a:r>
          <a:endParaRPr lang="en-US" sz="2500" kern="1200"/>
        </a:p>
      </dsp:txBody>
      <dsp:txXfrm>
        <a:off x="600" y="2582370"/>
        <a:ext cx="3150000" cy="720000"/>
      </dsp:txXfrm>
    </dsp:sp>
    <dsp:sp modelId="{A1E90CB1-8F73-4B09-9DCE-859EBB9B0BC2}">
      <dsp:nvSpPr>
        <dsp:cNvPr id="0" name=""/>
        <dsp:cNvSpPr/>
      </dsp:nvSpPr>
      <dsp:spPr>
        <a:xfrm>
          <a:off x="4316100" y="62370"/>
          <a:ext cx="1921500" cy="1921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653AB3-AAFB-4B04-B581-FEF53A498CD5}">
      <dsp:nvSpPr>
        <dsp:cNvPr id="0" name=""/>
        <dsp:cNvSpPr/>
      </dsp:nvSpPr>
      <dsp:spPr>
        <a:xfrm>
          <a:off x="4725600" y="471870"/>
          <a:ext cx="1102500" cy="1102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F9241B6-C83B-490A-9093-BD11D46035BC}">
      <dsp:nvSpPr>
        <dsp:cNvPr id="0" name=""/>
        <dsp:cNvSpPr/>
      </dsp:nvSpPr>
      <dsp:spPr>
        <a:xfrm>
          <a:off x="3701850" y="2582370"/>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fr-FR" sz="2500" kern="1200"/>
            <a:t>Modifier des tables</a:t>
          </a:r>
          <a:endParaRPr lang="en-US" sz="2500" kern="1200"/>
        </a:p>
      </dsp:txBody>
      <dsp:txXfrm>
        <a:off x="3701850" y="2582370"/>
        <a:ext cx="3150000" cy="720000"/>
      </dsp:txXfrm>
    </dsp:sp>
    <dsp:sp modelId="{70A30782-5FFA-486D-BC90-BDBB08D81153}">
      <dsp:nvSpPr>
        <dsp:cNvPr id="0" name=""/>
        <dsp:cNvSpPr/>
      </dsp:nvSpPr>
      <dsp:spPr>
        <a:xfrm>
          <a:off x="8017350" y="62370"/>
          <a:ext cx="1921500" cy="19215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5D8B6B-B824-44B7-9F8F-FC066DEBC8D2}">
      <dsp:nvSpPr>
        <dsp:cNvPr id="0" name=""/>
        <dsp:cNvSpPr/>
      </dsp:nvSpPr>
      <dsp:spPr>
        <a:xfrm>
          <a:off x="8426850" y="471870"/>
          <a:ext cx="1102500" cy="11025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9794094-546E-4F81-A255-77F23C7ACE9E}">
      <dsp:nvSpPr>
        <dsp:cNvPr id="0" name=""/>
        <dsp:cNvSpPr/>
      </dsp:nvSpPr>
      <dsp:spPr>
        <a:xfrm>
          <a:off x="7403100" y="2582370"/>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fr-FR" sz="2500" kern="1200"/>
            <a:t>Supprimer des tables</a:t>
          </a:r>
          <a:endParaRPr lang="en-US" sz="2500" kern="1200"/>
        </a:p>
      </dsp:txBody>
      <dsp:txXfrm>
        <a:off x="7403100" y="2582370"/>
        <a:ext cx="3150000" cy="7200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880D4D-CE62-4D54-B945-CE0AA3B044D8}">
      <dsp:nvSpPr>
        <dsp:cNvPr id="0" name=""/>
        <dsp:cNvSpPr/>
      </dsp:nvSpPr>
      <dsp:spPr>
        <a:xfrm>
          <a:off x="51" y="108832"/>
          <a:ext cx="4931587" cy="374400"/>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fr-FR" sz="1300" kern="1200"/>
            <a:t>Syntaxe générale</a:t>
          </a:r>
          <a:endParaRPr lang="en-US" sz="1300" kern="1200"/>
        </a:p>
      </dsp:txBody>
      <dsp:txXfrm>
        <a:off x="51" y="108832"/>
        <a:ext cx="4931587" cy="374400"/>
      </dsp:txXfrm>
    </dsp:sp>
    <dsp:sp modelId="{4D13BC11-9842-43FF-BAA3-68397B817078}">
      <dsp:nvSpPr>
        <dsp:cNvPr id="0" name=""/>
        <dsp:cNvSpPr/>
      </dsp:nvSpPr>
      <dsp:spPr>
        <a:xfrm>
          <a:off x="51" y="483232"/>
          <a:ext cx="4931587" cy="2718750"/>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None/>
          </a:pPr>
          <a:r>
            <a:rPr lang="fr-FR" sz="1300" b="1" kern="1200"/>
            <a:t>CREATE TABLE</a:t>
          </a:r>
          <a:r>
            <a:rPr lang="fr-FR" sz="1300" kern="1200"/>
            <a:t> </a:t>
          </a:r>
          <a:r>
            <a:rPr lang="fr-FR" sz="1300" kern="1200" err="1"/>
            <a:t>nom_de_la_table</a:t>
          </a:r>
          <a:endParaRPr lang="en-US" sz="1300" kern="1200"/>
        </a:p>
        <a:p>
          <a:pPr marL="114300" lvl="1" indent="-114300" algn="l" defTabSz="577850">
            <a:lnSpc>
              <a:spcPct val="90000"/>
            </a:lnSpc>
            <a:spcBef>
              <a:spcPct val="0"/>
            </a:spcBef>
            <a:spcAft>
              <a:spcPct val="15000"/>
            </a:spcAft>
            <a:buNone/>
          </a:pPr>
          <a:r>
            <a:rPr lang="fr-FR" sz="1300" kern="1200"/>
            <a:t>(</a:t>
          </a:r>
          <a:endParaRPr lang="en-US" sz="1300" kern="1200"/>
        </a:p>
        <a:p>
          <a:pPr marL="114300" lvl="1" indent="-114300" algn="l" defTabSz="577850">
            <a:lnSpc>
              <a:spcPct val="90000"/>
            </a:lnSpc>
            <a:spcBef>
              <a:spcPct val="0"/>
            </a:spcBef>
            <a:spcAft>
              <a:spcPct val="15000"/>
            </a:spcAft>
            <a:buNone/>
          </a:pPr>
          <a:r>
            <a:rPr lang="fr-FR" sz="1300" kern="1200"/>
            <a:t>  colonne1 </a:t>
          </a:r>
          <a:r>
            <a:rPr lang="fr-FR" sz="1300" kern="1200" err="1"/>
            <a:t>type_donnees</a:t>
          </a:r>
          <a:r>
            <a:rPr lang="fr-FR" sz="1300" kern="1200"/>
            <a:t>,</a:t>
          </a:r>
          <a:endParaRPr lang="en-US" sz="1300" kern="1200"/>
        </a:p>
        <a:p>
          <a:pPr marL="114300" lvl="1" indent="-114300" algn="l" defTabSz="577850">
            <a:lnSpc>
              <a:spcPct val="90000"/>
            </a:lnSpc>
            <a:spcBef>
              <a:spcPct val="0"/>
            </a:spcBef>
            <a:spcAft>
              <a:spcPct val="15000"/>
            </a:spcAft>
            <a:buNone/>
          </a:pPr>
          <a:r>
            <a:rPr lang="fr-FR" sz="1300" kern="1200"/>
            <a:t>  colonne2 </a:t>
          </a:r>
          <a:r>
            <a:rPr lang="fr-FR" sz="1300" kern="1200" err="1"/>
            <a:t>type_donnees</a:t>
          </a:r>
          <a:r>
            <a:rPr lang="fr-FR" sz="1300" kern="1200"/>
            <a:t>,</a:t>
          </a:r>
          <a:endParaRPr lang="en-US" sz="1300" kern="1200"/>
        </a:p>
        <a:p>
          <a:pPr marL="114300" lvl="1" indent="-114300" algn="l" defTabSz="577850">
            <a:lnSpc>
              <a:spcPct val="90000"/>
            </a:lnSpc>
            <a:spcBef>
              <a:spcPct val="0"/>
            </a:spcBef>
            <a:spcAft>
              <a:spcPct val="15000"/>
            </a:spcAft>
            <a:buNone/>
          </a:pPr>
          <a:r>
            <a:rPr lang="fr-FR" sz="1300" kern="1200"/>
            <a:t>  colonne3 </a:t>
          </a:r>
          <a:r>
            <a:rPr lang="fr-FR" sz="1300" kern="1200" err="1"/>
            <a:t>type_donnees</a:t>
          </a:r>
          <a:r>
            <a:rPr lang="fr-FR" sz="1300" kern="1200"/>
            <a:t>,</a:t>
          </a:r>
          <a:endParaRPr lang="en-US" sz="1300" kern="1200"/>
        </a:p>
        <a:p>
          <a:pPr marL="114300" lvl="1" indent="-114300" algn="l" defTabSz="577850">
            <a:lnSpc>
              <a:spcPct val="90000"/>
            </a:lnSpc>
            <a:spcBef>
              <a:spcPct val="0"/>
            </a:spcBef>
            <a:spcAft>
              <a:spcPct val="15000"/>
            </a:spcAft>
            <a:buNone/>
          </a:pPr>
          <a:r>
            <a:rPr lang="fr-FR" sz="1300" kern="1200"/>
            <a:t>  colonne4 </a:t>
          </a:r>
          <a:r>
            <a:rPr lang="fr-FR" sz="1300" kern="1200" err="1"/>
            <a:t>type_donnees</a:t>
          </a:r>
          <a:endParaRPr lang="en-US" sz="1300" kern="1200"/>
        </a:p>
        <a:p>
          <a:pPr marL="114300" lvl="1" indent="-114300" algn="l" defTabSz="577850">
            <a:lnSpc>
              <a:spcPct val="90000"/>
            </a:lnSpc>
            <a:spcBef>
              <a:spcPct val="0"/>
            </a:spcBef>
            <a:spcAft>
              <a:spcPct val="15000"/>
            </a:spcAft>
            <a:buNone/>
          </a:pPr>
          <a:r>
            <a:rPr lang="fr-FR" sz="1300" kern="1200"/>
            <a:t>)</a:t>
          </a:r>
          <a:endParaRPr lang="en-US" sz="1300" kern="1200"/>
        </a:p>
      </dsp:txBody>
      <dsp:txXfrm>
        <a:off x="51" y="483232"/>
        <a:ext cx="4931587" cy="2718750"/>
      </dsp:txXfrm>
    </dsp:sp>
    <dsp:sp modelId="{BA6444D2-C843-4AC4-98F7-E6A8A2111C04}">
      <dsp:nvSpPr>
        <dsp:cNvPr id="0" name=""/>
        <dsp:cNvSpPr/>
      </dsp:nvSpPr>
      <dsp:spPr>
        <a:xfrm>
          <a:off x="5622061" y="108832"/>
          <a:ext cx="4931587" cy="374400"/>
        </a:xfrm>
        <a:prstGeom prst="rect">
          <a:avLst/>
        </a:prstGeom>
        <a:solidFill>
          <a:schemeClr val="accent2">
            <a:hueOff val="-1330735"/>
            <a:satOff val="8216"/>
            <a:lumOff val="-1176"/>
            <a:alphaOff val="0"/>
          </a:schemeClr>
        </a:solidFill>
        <a:ln w="19050" cap="rnd" cmpd="sng" algn="ctr">
          <a:solidFill>
            <a:schemeClr val="accent2">
              <a:hueOff val="-1330735"/>
              <a:satOff val="8216"/>
              <a:lumOff val="-1176"/>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fr-FR" sz="1300" kern="1200"/>
            <a:t>Exemple</a:t>
          </a:r>
          <a:endParaRPr lang="en-US" sz="1300" kern="1200"/>
        </a:p>
      </dsp:txBody>
      <dsp:txXfrm>
        <a:off x="5622061" y="108832"/>
        <a:ext cx="4931587" cy="374400"/>
      </dsp:txXfrm>
    </dsp:sp>
    <dsp:sp modelId="{CF6F3878-032C-4D92-8639-B4A5AE3F43BD}">
      <dsp:nvSpPr>
        <dsp:cNvPr id="0" name=""/>
        <dsp:cNvSpPr/>
      </dsp:nvSpPr>
      <dsp:spPr>
        <a:xfrm>
          <a:off x="5622061" y="483232"/>
          <a:ext cx="4931587" cy="2718750"/>
        </a:xfrm>
        <a:prstGeom prst="rect">
          <a:avLst/>
        </a:prstGeom>
        <a:solidFill>
          <a:schemeClr val="accent2">
            <a:tint val="40000"/>
            <a:alpha val="90000"/>
            <a:hueOff val="-1630462"/>
            <a:satOff val="10447"/>
            <a:lumOff val="477"/>
            <a:alphaOff val="0"/>
          </a:schemeClr>
        </a:solidFill>
        <a:ln w="19050" cap="rnd" cmpd="sng" algn="ctr">
          <a:solidFill>
            <a:schemeClr val="accent2">
              <a:tint val="40000"/>
              <a:alpha val="90000"/>
              <a:hueOff val="-1630462"/>
              <a:satOff val="10447"/>
              <a:lumOff val="47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None/>
          </a:pPr>
          <a:r>
            <a:rPr lang="fr-FR" sz="1300" b="1" kern="1200"/>
            <a:t>CREATE TABLE </a:t>
          </a:r>
          <a:r>
            <a:rPr lang="fr-FR" sz="1300" kern="1200"/>
            <a:t>utilisateur</a:t>
          </a:r>
          <a:endParaRPr lang="en-US" sz="1300" kern="1200"/>
        </a:p>
        <a:p>
          <a:pPr marL="114300" lvl="1" indent="-114300" algn="l" defTabSz="577850">
            <a:lnSpc>
              <a:spcPct val="90000"/>
            </a:lnSpc>
            <a:spcBef>
              <a:spcPct val="0"/>
            </a:spcBef>
            <a:spcAft>
              <a:spcPct val="15000"/>
            </a:spcAft>
            <a:buNone/>
          </a:pPr>
          <a:r>
            <a:rPr lang="fr-FR" sz="1300" kern="1200"/>
            <a:t>(</a:t>
          </a:r>
          <a:endParaRPr lang="en-US" sz="1300" kern="1200"/>
        </a:p>
        <a:p>
          <a:pPr marL="114300" lvl="1" indent="-114300" algn="l" defTabSz="577850">
            <a:lnSpc>
              <a:spcPct val="90000"/>
            </a:lnSpc>
            <a:spcBef>
              <a:spcPct val="0"/>
            </a:spcBef>
            <a:spcAft>
              <a:spcPct val="15000"/>
            </a:spcAft>
            <a:buNone/>
          </a:pPr>
          <a:r>
            <a:rPr lang="fr-FR" sz="1300" kern="1200" dirty="0"/>
            <a:t>  id </a:t>
          </a:r>
          <a:r>
            <a:rPr lang="fr-FR" sz="1300" b="1" kern="1200" dirty="0"/>
            <a:t>INT PRIMARY KEY NOT NULL </a:t>
          </a:r>
          <a:r>
            <a:rPr lang="fr-FR" sz="1300" b="1" i="1" kern="1200" dirty="0"/>
            <a:t>AUTO_INCREMENT</a:t>
          </a:r>
          <a:r>
            <a:rPr lang="fr-FR" sz="1300" kern="1200" dirty="0"/>
            <a:t>,</a:t>
          </a:r>
          <a:endParaRPr lang="en-US" sz="1300" kern="1200" dirty="0"/>
        </a:p>
        <a:p>
          <a:pPr marL="114300" lvl="1" indent="-114300" algn="l" defTabSz="577850">
            <a:lnSpc>
              <a:spcPct val="90000"/>
            </a:lnSpc>
            <a:spcBef>
              <a:spcPct val="0"/>
            </a:spcBef>
            <a:spcAft>
              <a:spcPct val="15000"/>
            </a:spcAft>
            <a:buNone/>
          </a:pPr>
          <a:r>
            <a:rPr lang="fr-FR" sz="1300" kern="1200"/>
            <a:t>  nom </a:t>
          </a:r>
          <a:r>
            <a:rPr lang="fr-FR" sz="1300" b="1" kern="1200"/>
            <a:t>VARCHAR</a:t>
          </a:r>
          <a:r>
            <a:rPr lang="fr-FR" sz="1300" kern="1200"/>
            <a:t>(100),</a:t>
          </a:r>
          <a:endParaRPr lang="en-US" sz="1300" kern="1200"/>
        </a:p>
        <a:p>
          <a:pPr marL="114300" lvl="1" indent="-114300" algn="l" defTabSz="577850">
            <a:lnSpc>
              <a:spcPct val="90000"/>
            </a:lnSpc>
            <a:spcBef>
              <a:spcPct val="0"/>
            </a:spcBef>
            <a:spcAft>
              <a:spcPct val="15000"/>
            </a:spcAft>
            <a:buNone/>
          </a:pPr>
          <a:r>
            <a:rPr lang="fr-FR" sz="1300" kern="1200"/>
            <a:t>  </a:t>
          </a:r>
          <a:r>
            <a:rPr lang="fr-FR" sz="1300" kern="1200" err="1"/>
            <a:t>prenom</a:t>
          </a:r>
          <a:r>
            <a:rPr lang="fr-FR" sz="1300" kern="1200"/>
            <a:t> </a:t>
          </a:r>
          <a:r>
            <a:rPr lang="fr-FR" sz="1300" b="1" kern="1200"/>
            <a:t>VARCHAR</a:t>
          </a:r>
          <a:r>
            <a:rPr lang="fr-FR" sz="1300" kern="1200"/>
            <a:t>(100),</a:t>
          </a:r>
          <a:endParaRPr lang="en-US" sz="1300" kern="1200"/>
        </a:p>
        <a:p>
          <a:pPr marL="114300" lvl="1" indent="-114300" algn="l" defTabSz="577850">
            <a:lnSpc>
              <a:spcPct val="90000"/>
            </a:lnSpc>
            <a:spcBef>
              <a:spcPct val="0"/>
            </a:spcBef>
            <a:spcAft>
              <a:spcPct val="15000"/>
            </a:spcAft>
            <a:buNone/>
          </a:pPr>
          <a:r>
            <a:rPr lang="fr-FR" sz="1300" kern="1200"/>
            <a:t>  email </a:t>
          </a:r>
          <a:r>
            <a:rPr lang="fr-FR" sz="1300" b="1" kern="1200"/>
            <a:t>VARCHAR</a:t>
          </a:r>
          <a:r>
            <a:rPr lang="fr-FR" sz="1300" kern="1200"/>
            <a:t>(255),</a:t>
          </a:r>
          <a:endParaRPr lang="en-US" sz="1300" kern="1200"/>
        </a:p>
        <a:p>
          <a:pPr marL="114300" lvl="1" indent="-114300" algn="l" defTabSz="577850">
            <a:lnSpc>
              <a:spcPct val="90000"/>
            </a:lnSpc>
            <a:spcBef>
              <a:spcPct val="0"/>
            </a:spcBef>
            <a:spcAft>
              <a:spcPct val="15000"/>
            </a:spcAft>
            <a:buNone/>
          </a:pPr>
          <a:r>
            <a:rPr lang="fr-FR" sz="1300" kern="1200"/>
            <a:t>  </a:t>
          </a:r>
          <a:r>
            <a:rPr lang="fr-FR" sz="1300" kern="1200" err="1"/>
            <a:t>date_naissance</a:t>
          </a:r>
          <a:r>
            <a:rPr lang="fr-FR" sz="1300" kern="1200"/>
            <a:t> </a:t>
          </a:r>
          <a:r>
            <a:rPr lang="fr-FR" sz="1300" b="1" kern="1200"/>
            <a:t>DATE</a:t>
          </a:r>
          <a:r>
            <a:rPr lang="fr-FR" sz="1300" kern="1200"/>
            <a:t>,</a:t>
          </a:r>
          <a:endParaRPr lang="en-US" sz="1300" kern="1200"/>
        </a:p>
        <a:p>
          <a:pPr marL="114300" lvl="1" indent="-114300" algn="l" defTabSz="577850">
            <a:lnSpc>
              <a:spcPct val="90000"/>
            </a:lnSpc>
            <a:spcBef>
              <a:spcPct val="0"/>
            </a:spcBef>
            <a:spcAft>
              <a:spcPct val="15000"/>
            </a:spcAft>
            <a:buNone/>
          </a:pPr>
          <a:r>
            <a:rPr lang="fr-FR" sz="1300" kern="1200"/>
            <a:t>  pays </a:t>
          </a:r>
          <a:r>
            <a:rPr lang="fr-FR" sz="1300" b="1" kern="1200"/>
            <a:t>VARCHAR</a:t>
          </a:r>
          <a:r>
            <a:rPr lang="fr-FR" sz="1300" kern="1200"/>
            <a:t>(255),</a:t>
          </a:r>
          <a:endParaRPr lang="en-US" sz="1300" kern="1200"/>
        </a:p>
        <a:p>
          <a:pPr marL="114300" lvl="1" indent="-114300" algn="l" defTabSz="577850">
            <a:lnSpc>
              <a:spcPct val="90000"/>
            </a:lnSpc>
            <a:spcBef>
              <a:spcPct val="0"/>
            </a:spcBef>
            <a:spcAft>
              <a:spcPct val="15000"/>
            </a:spcAft>
            <a:buNone/>
          </a:pPr>
          <a:r>
            <a:rPr lang="fr-FR" sz="1300" kern="1200"/>
            <a:t>  ville </a:t>
          </a:r>
          <a:r>
            <a:rPr lang="fr-FR" sz="1300" b="1" kern="1200"/>
            <a:t>VARCHAR</a:t>
          </a:r>
          <a:r>
            <a:rPr lang="fr-FR" sz="1300" kern="1200"/>
            <a:t>(255),</a:t>
          </a:r>
          <a:endParaRPr lang="en-US" sz="1300" kern="1200"/>
        </a:p>
        <a:p>
          <a:pPr marL="114300" lvl="1" indent="-114300" algn="l" defTabSz="577850">
            <a:lnSpc>
              <a:spcPct val="90000"/>
            </a:lnSpc>
            <a:spcBef>
              <a:spcPct val="0"/>
            </a:spcBef>
            <a:spcAft>
              <a:spcPct val="15000"/>
            </a:spcAft>
            <a:buNone/>
          </a:pPr>
          <a:r>
            <a:rPr lang="fr-FR" sz="1300" kern="1200"/>
            <a:t>  </a:t>
          </a:r>
          <a:r>
            <a:rPr lang="fr-FR" sz="1300" kern="1200" err="1"/>
            <a:t>code_postal</a:t>
          </a:r>
          <a:r>
            <a:rPr lang="fr-FR" sz="1300" kern="1200"/>
            <a:t> </a:t>
          </a:r>
          <a:r>
            <a:rPr lang="fr-FR" sz="1300" b="1" kern="1200"/>
            <a:t>VARCHAR</a:t>
          </a:r>
          <a:r>
            <a:rPr lang="fr-FR" sz="1300" kern="1200"/>
            <a:t>(5),</a:t>
          </a:r>
          <a:endParaRPr lang="en-US" sz="1300" kern="1200"/>
        </a:p>
        <a:p>
          <a:pPr marL="114300" lvl="1" indent="-114300" algn="l" defTabSz="577850">
            <a:lnSpc>
              <a:spcPct val="90000"/>
            </a:lnSpc>
            <a:spcBef>
              <a:spcPct val="0"/>
            </a:spcBef>
            <a:spcAft>
              <a:spcPct val="15000"/>
            </a:spcAft>
            <a:buNone/>
          </a:pPr>
          <a:r>
            <a:rPr lang="fr-FR" sz="1300" kern="1200"/>
            <a:t>  </a:t>
          </a:r>
          <a:r>
            <a:rPr lang="fr-FR" sz="1300" kern="1200" err="1"/>
            <a:t>nombre_achat</a:t>
          </a:r>
          <a:r>
            <a:rPr lang="fr-FR" sz="1300" kern="1200"/>
            <a:t> </a:t>
          </a:r>
          <a:r>
            <a:rPr lang="fr-FR" sz="1300" b="1" kern="1200"/>
            <a:t>INT</a:t>
          </a:r>
          <a:endParaRPr lang="en-US" sz="1300" b="1" kern="1200"/>
        </a:p>
        <a:p>
          <a:pPr marL="114300" lvl="1" indent="-114300" algn="l" defTabSz="577850">
            <a:lnSpc>
              <a:spcPct val="90000"/>
            </a:lnSpc>
            <a:spcBef>
              <a:spcPct val="0"/>
            </a:spcBef>
            <a:spcAft>
              <a:spcPct val="15000"/>
            </a:spcAft>
            <a:buNone/>
          </a:pPr>
          <a:r>
            <a:rPr lang="fr-FR" sz="1300" kern="1200"/>
            <a:t>)</a:t>
          </a:r>
          <a:endParaRPr lang="en-US" sz="1300" kern="1200"/>
        </a:p>
      </dsp:txBody>
      <dsp:txXfrm>
        <a:off x="5622061" y="483232"/>
        <a:ext cx="4931587" cy="271875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E1A48F-77E7-4C58-B2CD-9698E2DC80CE}">
      <dsp:nvSpPr>
        <dsp:cNvPr id="0" name=""/>
        <dsp:cNvSpPr/>
      </dsp:nvSpPr>
      <dsp:spPr>
        <a:xfrm>
          <a:off x="2365068" y="17370"/>
          <a:ext cx="1990125" cy="199012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6DE6BC-5D5A-4E96-86F6-82643E5AEB2B}">
      <dsp:nvSpPr>
        <dsp:cNvPr id="0" name=""/>
        <dsp:cNvSpPr/>
      </dsp:nvSpPr>
      <dsp:spPr>
        <a:xfrm>
          <a:off x="2789193" y="441495"/>
          <a:ext cx="1141875" cy="11418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20D7041-5A66-4033-B88D-1811AF42C5A6}">
      <dsp:nvSpPr>
        <dsp:cNvPr id="0" name=""/>
        <dsp:cNvSpPr/>
      </dsp:nvSpPr>
      <dsp:spPr>
        <a:xfrm>
          <a:off x="1728881" y="2627370"/>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fr-FR" sz="2300" kern="1200"/>
            <a:t>Créer des bases de données</a:t>
          </a:r>
          <a:endParaRPr lang="en-US" sz="2300" kern="1200"/>
        </a:p>
      </dsp:txBody>
      <dsp:txXfrm>
        <a:off x="1728881" y="2627370"/>
        <a:ext cx="3262500" cy="720000"/>
      </dsp:txXfrm>
    </dsp:sp>
    <dsp:sp modelId="{74120679-B642-4DB8-9322-62464C5831B0}">
      <dsp:nvSpPr>
        <dsp:cNvPr id="0" name=""/>
        <dsp:cNvSpPr/>
      </dsp:nvSpPr>
      <dsp:spPr>
        <a:xfrm>
          <a:off x="6198506" y="17370"/>
          <a:ext cx="1990125" cy="199012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15939A-0182-4AC3-AC03-D67B47F74B40}">
      <dsp:nvSpPr>
        <dsp:cNvPr id="0" name=""/>
        <dsp:cNvSpPr/>
      </dsp:nvSpPr>
      <dsp:spPr>
        <a:xfrm>
          <a:off x="6622631" y="441495"/>
          <a:ext cx="1141875" cy="11418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73DDF58-090B-47B3-9B66-F1372704A9FE}">
      <dsp:nvSpPr>
        <dsp:cNvPr id="0" name=""/>
        <dsp:cNvSpPr/>
      </dsp:nvSpPr>
      <dsp:spPr>
        <a:xfrm>
          <a:off x="5562318" y="2627370"/>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fr-FR" sz="2300" kern="1200"/>
            <a:t>Supprimer des bases</a:t>
          </a:r>
          <a:endParaRPr lang="en-US" sz="2300" kern="1200"/>
        </a:p>
      </dsp:txBody>
      <dsp:txXfrm>
        <a:off x="5562318" y="2627370"/>
        <a:ext cx="3262500" cy="720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5224AB-48D4-4065-B39B-4A46F24AF52E}">
      <dsp:nvSpPr>
        <dsp:cNvPr id="0" name=""/>
        <dsp:cNvSpPr/>
      </dsp:nvSpPr>
      <dsp:spPr>
        <a:xfrm>
          <a:off x="1766850" y="88288"/>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FB7945D-6AA6-4EDC-8496-A153B399D582}">
      <dsp:nvSpPr>
        <dsp:cNvPr id="0" name=""/>
        <dsp:cNvSpPr/>
      </dsp:nvSpPr>
      <dsp:spPr>
        <a:xfrm>
          <a:off x="578850" y="2502527"/>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fr-FR" sz="1500" kern="1200"/>
            <a:t>Une </a:t>
          </a:r>
          <a:r>
            <a:rPr lang="fr-FR" sz="1500" b="1" kern="1200"/>
            <a:t>contrainte d’intégrité</a:t>
          </a:r>
          <a:r>
            <a:rPr lang="fr-FR" sz="1500" kern="1200"/>
            <a:t> est une règle qui définit la cohérence d’une donnée ou d’un ensemble de données de la base de données</a:t>
          </a:r>
          <a:endParaRPr lang="en-US" sz="1500" kern="1200"/>
        </a:p>
      </dsp:txBody>
      <dsp:txXfrm>
        <a:off x="578850" y="2502527"/>
        <a:ext cx="4320000" cy="720000"/>
      </dsp:txXfrm>
    </dsp:sp>
    <dsp:sp modelId="{54C4734C-D4B4-4A67-834F-B3789DE0A5F1}">
      <dsp:nvSpPr>
        <dsp:cNvPr id="0" name=""/>
        <dsp:cNvSpPr/>
      </dsp:nvSpPr>
      <dsp:spPr>
        <a:xfrm>
          <a:off x="6842850" y="88288"/>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B1D75F9-8270-49DE-9F4C-4CA743F0F330}">
      <dsp:nvSpPr>
        <dsp:cNvPr id="0" name=""/>
        <dsp:cNvSpPr/>
      </dsp:nvSpPr>
      <dsp:spPr>
        <a:xfrm>
          <a:off x="5654850" y="2502527"/>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fr-FR" sz="1500" kern="1200"/>
            <a:t>Les contraintes sont définies au moment de la création des tables</a:t>
          </a:r>
          <a:endParaRPr lang="en-US" sz="1500" kern="1200"/>
        </a:p>
      </dsp:txBody>
      <dsp:txXfrm>
        <a:off x="5654850" y="2502527"/>
        <a:ext cx="4320000" cy="7200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6AA05B-3CDE-4B95-ABEA-8B9B61AC5060}">
      <dsp:nvSpPr>
        <dsp:cNvPr id="0" name=""/>
        <dsp:cNvSpPr/>
      </dsp:nvSpPr>
      <dsp:spPr>
        <a:xfrm>
          <a:off x="0" y="546770"/>
          <a:ext cx="10553700" cy="1009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0C09C3-A752-44D4-8FBD-CCF88D9AB662}">
      <dsp:nvSpPr>
        <dsp:cNvPr id="0" name=""/>
        <dsp:cNvSpPr/>
      </dsp:nvSpPr>
      <dsp:spPr>
        <a:xfrm>
          <a:off x="305350" y="773890"/>
          <a:ext cx="555182" cy="5551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82EB8EC-2128-44EE-8A67-C6292AF597E1}">
      <dsp:nvSpPr>
        <dsp:cNvPr id="0" name=""/>
        <dsp:cNvSpPr/>
      </dsp:nvSpPr>
      <dsp:spPr>
        <a:xfrm>
          <a:off x="1165882" y="546770"/>
          <a:ext cx="9387817" cy="1009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831" tIns="106831" rIns="106831" bIns="106831" numCol="1" spcCol="1270" anchor="ctr" anchorCtr="0">
          <a:noAutofit/>
        </a:bodyPr>
        <a:lstStyle/>
        <a:p>
          <a:pPr marL="0" lvl="0" indent="0" algn="l" defTabSz="1111250">
            <a:lnSpc>
              <a:spcPct val="90000"/>
            </a:lnSpc>
            <a:spcBef>
              <a:spcPct val="0"/>
            </a:spcBef>
            <a:spcAft>
              <a:spcPct val="35000"/>
            </a:spcAft>
            <a:buNone/>
          </a:pPr>
          <a:r>
            <a:rPr lang="fr-FR" sz="2500" kern="1200"/>
            <a:t>Contraintes sur colonne unique</a:t>
          </a:r>
          <a:endParaRPr lang="en-US" sz="2500" kern="1200"/>
        </a:p>
      </dsp:txBody>
      <dsp:txXfrm>
        <a:off x="1165882" y="546770"/>
        <a:ext cx="9387817" cy="1009422"/>
      </dsp:txXfrm>
    </dsp:sp>
    <dsp:sp modelId="{0507DC33-A4B8-4153-B29F-495577B64872}">
      <dsp:nvSpPr>
        <dsp:cNvPr id="0" name=""/>
        <dsp:cNvSpPr/>
      </dsp:nvSpPr>
      <dsp:spPr>
        <a:xfrm>
          <a:off x="0" y="1808548"/>
          <a:ext cx="10553700" cy="1009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567CD4-3E3E-4F5B-AE2D-4981F625ED90}">
      <dsp:nvSpPr>
        <dsp:cNvPr id="0" name=""/>
        <dsp:cNvSpPr/>
      </dsp:nvSpPr>
      <dsp:spPr>
        <a:xfrm>
          <a:off x="305350" y="2035668"/>
          <a:ext cx="555182" cy="5551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75F6675-AD32-4A99-82C9-D33E2A6CB1D1}">
      <dsp:nvSpPr>
        <dsp:cNvPr id="0" name=""/>
        <dsp:cNvSpPr/>
      </dsp:nvSpPr>
      <dsp:spPr>
        <a:xfrm>
          <a:off x="1165882" y="1808548"/>
          <a:ext cx="9387817" cy="1009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831" tIns="106831" rIns="106831" bIns="106831" numCol="1" spcCol="1270" anchor="ctr" anchorCtr="0">
          <a:noAutofit/>
        </a:bodyPr>
        <a:lstStyle/>
        <a:p>
          <a:pPr marL="0" lvl="0" indent="0" algn="l" defTabSz="1111250">
            <a:lnSpc>
              <a:spcPct val="90000"/>
            </a:lnSpc>
            <a:spcBef>
              <a:spcPct val="0"/>
            </a:spcBef>
            <a:spcAft>
              <a:spcPct val="35000"/>
            </a:spcAft>
            <a:buNone/>
          </a:pPr>
          <a:r>
            <a:rPr lang="fr-FR" sz="2500" kern="1200"/>
            <a:t>Contraintes sur une table (lorsque la contrainte porte sur une ou plusieurs colonnes)</a:t>
          </a:r>
          <a:endParaRPr lang="en-US" sz="2500" kern="1200"/>
        </a:p>
      </dsp:txBody>
      <dsp:txXfrm>
        <a:off x="1165882" y="1808548"/>
        <a:ext cx="9387817" cy="100942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D19B31-DB11-46E4-88E0-D9AE49397D8D}">
      <dsp:nvSpPr>
        <dsp:cNvPr id="0" name=""/>
        <dsp:cNvSpPr/>
      </dsp:nvSpPr>
      <dsp:spPr>
        <a:xfrm>
          <a:off x="0" y="2586"/>
          <a:ext cx="10553700" cy="55094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D61180-90B1-41A5-9761-924EC2CC77A0}">
      <dsp:nvSpPr>
        <dsp:cNvPr id="0" name=""/>
        <dsp:cNvSpPr/>
      </dsp:nvSpPr>
      <dsp:spPr>
        <a:xfrm>
          <a:off x="166659" y="126548"/>
          <a:ext cx="303017" cy="3030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244CA71-09DD-4F8B-A8F7-D70F70DD7D91}">
      <dsp:nvSpPr>
        <dsp:cNvPr id="0" name=""/>
        <dsp:cNvSpPr/>
      </dsp:nvSpPr>
      <dsp:spPr>
        <a:xfrm>
          <a:off x="636336" y="2586"/>
          <a:ext cx="9917363" cy="550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308" tIns="58308" rIns="58308" bIns="58308" numCol="1" spcCol="1270" anchor="ctr" anchorCtr="0">
          <a:noAutofit/>
        </a:bodyPr>
        <a:lstStyle/>
        <a:p>
          <a:pPr marL="0" lvl="0" indent="0" algn="l" defTabSz="666750">
            <a:lnSpc>
              <a:spcPct val="90000"/>
            </a:lnSpc>
            <a:spcBef>
              <a:spcPct val="0"/>
            </a:spcBef>
            <a:spcAft>
              <a:spcPct val="35000"/>
            </a:spcAft>
            <a:buNone/>
          </a:pPr>
          <a:r>
            <a:rPr lang="fr-FR" sz="1500" b="1" kern="1200"/>
            <a:t>PRIMARY KEY </a:t>
          </a:r>
          <a:r>
            <a:rPr lang="fr-FR" sz="1500" kern="1200"/>
            <a:t>: définit l’attribut comme clé primaire</a:t>
          </a:r>
          <a:endParaRPr lang="en-US" sz="1500" kern="1200"/>
        </a:p>
      </dsp:txBody>
      <dsp:txXfrm>
        <a:off x="636336" y="2586"/>
        <a:ext cx="9917363" cy="550940"/>
      </dsp:txXfrm>
    </dsp:sp>
    <dsp:sp modelId="{DD6F8789-7C29-4C4E-AFA8-2C7DE51FC98E}">
      <dsp:nvSpPr>
        <dsp:cNvPr id="0" name=""/>
        <dsp:cNvSpPr/>
      </dsp:nvSpPr>
      <dsp:spPr>
        <a:xfrm>
          <a:off x="0" y="691262"/>
          <a:ext cx="10553700" cy="550940"/>
        </a:xfrm>
        <a:prstGeom prst="roundRect">
          <a:avLst>
            <a:gd name="adj" fmla="val 10000"/>
          </a:avLst>
        </a:prstGeom>
        <a:solidFill>
          <a:schemeClr val="accent2">
            <a:hueOff val="-332684"/>
            <a:satOff val="2054"/>
            <a:lumOff val="-294"/>
            <a:alphaOff val="0"/>
          </a:schemeClr>
        </a:solidFill>
        <a:ln>
          <a:noFill/>
        </a:ln>
        <a:effectLst/>
      </dsp:spPr>
      <dsp:style>
        <a:lnRef idx="0">
          <a:scrgbClr r="0" g="0" b="0"/>
        </a:lnRef>
        <a:fillRef idx="1">
          <a:scrgbClr r="0" g="0" b="0"/>
        </a:fillRef>
        <a:effectRef idx="0">
          <a:scrgbClr r="0" g="0" b="0"/>
        </a:effectRef>
        <a:fontRef idx="minor"/>
      </dsp:style>
    </dsp:sp>
    <dsp:sp modelId="{31198013-DDA0-4358-BFD3-860A9D081AF8}">
      <dsp:nvSpPr>
        <dsp:cNvPr id="0" name=""/>
        <dsp:cNvSpPr/>
      </dsp:nvSpPr>
      <dsp:spPr>
        <a:xfrm>
          <a:off x="166659" y="815223"/>
          <a:ext cx="303017" cy="3030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40D4ABC-13E5-4815-8493-485E85AEADC7}">
      <dsp:nvSpPr>
        <dsp:cNvPr id="0" name=""/>
        <dsp:cNvSpPr/>
      </dsp:nvSpPr>
      <dsp:spPr>
        <a:xfrm>
          <a:off x="636336" y="691262"/>
          <a:ext cx="9917363" cy="550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308" tIns="58308" rIns="58308" bIns="58308" numCol="1" spcCol="1270" anchor="ctr" anchorCtr="0">
          <a:noAutofit/>
        </a:bodyPr>
        <a:lstStyle/>
        <a:p>
          <a:pPr marL="0" lvl="0" indent="0" algn="l" defTabSz="666750">
            <a:lnSpc>
              <a:spcPct val="90000"/>
            </a:lnSpc>
            <a:spcBef>
              <a:spcPct val="0"/>
            </a:spcBef>
            <a:spcAft>
              <a:spcPct val="35000"/>
            </a:spcAft>
            <a:buNone/>
          </a:pPr>
          <a:r>
            <a:rPr lang="fr-FR" sz="1500" b="1" kern="1200" dirty="0"/>
            <a:t>UNIQUE</a:t>
          </a:r>
          <a:r>
            <a:rPr lang="fr-FR" sz="1500" kern="1200" dirty="0"/>
            <a:t> : interdit que deux enregistrements ait la même valeur pour cet attribut</a:t>
          </a:r>
          <a:endParaRPr lang="en-US" sz="1500" kern="1200" dirty="0"/>
        </a:p>
      </dsp:txBody>
      <dsp:txXfrm>
        <a:off x="636336" y="691262"/>
        <a:ext cx="9917363" cy="550940"/>
      </dsp:txXfrm>
    </dsp:sp>
    <dsp:sp modelId="{143FB62E-7772-47AE-8CCE-DBD60C917FA6}">
      <dsp:nvSpPr>
        <dsp:cNvPr id="0" name=""/>
        <dsp:cNvSpPr/>
      </dsp:nvSpPr>
      <dsp:spPr>
        <a:xfrm>
          <a:off x="0" y="1379937"/>
          <a:ext cx="10553700" cy="550940"/>
        </a:xfrm>
        <a:prstGeom prst="roundRect">
          <a:avLst>
            <a:gd name="adj" fmla="val 10000"/>
          </a:avLst>
        </a:prstGeom>
        <a:solidFill>
          <a:schemeClr val="accent2">
            <a:hueOff val="-665368"/>
            <a:satOff val="4108"/>
            <a:lumOff val="-588"/>
            <a:alphaOff val="0"/>
          </a:schemeClr>
        </a:solidFill>
        <a:ln>
          <a:noFill/>
        </a:ln>
        <a:effectLst/>
      </dsp:spPr>
      <dsp:style>
        <a:lnRef idx="0">
          <a:scrgbClr r="0" g="0" b="0"/>
        </a:lnRef>
        <a:fillRef idx="1">
          <a:scrgbClr r="0" g="0" b="0"/>
        </a:fillRef>
        <a:effectRef idx="0">
          <a:scrgbClr r="0" g="0" b="0"/>
        </a:effectRef>
        <a:fontRef idx="minor"/>
      </dsp:style>
    </dsp:sp>
    <dsp:sp modelId="{6AF30681-0FF1-4CEC-8FD7-953DD2B4E55A}">
      <dsp:nvSpPr>
        <dsp:cNvPr id="0" name=""/>
        <dsp:cNvSpPr/>
      </dsp:nvSpPr>
      <dsp:spPr>
        <a:xfrm>
          <a:off x="166659" y="1503899"/>
          <a:ext cx="303017" cy="30301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632DC07-974C-4BB6-BB9C-AE683CB25136}">
      <dsp:nvSpPr>
        <dsp:cNvPr id="0" name=""/>
        <dsp:cNvSpPr/>
      </dsp:nvSpPr>
      <dsp:spPr>
        <a:xfrm>
          <a:off x="636336" y="1379937"/>
          <a:ext cx="9917363" cy="550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308" tIns="58308" rIns="58308" bIns="58308" numCol="1" spcCol="1270" anchor="ctr" anchorCtr="0">
          <a:noAutofit/>
        </a:bodyPr>
        <a:lstStyle/>
        <a:p>
          <a:pPr marL="0" lvl="0" indent="0" algn="l" defTabSz="666750">
            <a:lnSpc>
              <a:spcPct val="90000"/>
            </a:lnSpc>
            <a:spcBef>
              <a:spcPct val="0"/>
            </a:spcBef>
            <a:spcAft>
              <a:spcPct val="35000"/>
            </a:spcAft>
            <a:buNone/>
          </a:pPr>
          <a:r>
            <a:rPr lang="en-US" sz="1500" b="1" kern="1200"/>
            <a:t>REFERENCES</a:t>
          </a:r>
          <a:r>
            <a:rPr lang="en-US" sz="1500" kern="1200"/>
            <a:t> &lt;table&gt; (&lt;</a:t>
          </a:r>
          <a:r>
            <a:rPr lang="en-US" sz="1500" kern="1200" err="1"/>
            <a:t>colonnes</a:t>
          </a:r>
          <a:r>
            <a:rPr lang="en-US" sz="1500" kern="1200"/>
            <a:t>&gt;) : </a:t>
          </a:r>
          <a:r>
            <a:rPr lang="en-US" sz="1500" kern="1200" err="1"/>
            <a:t>indique</a:t>
          </a:r>
          <a:r>
            <a:rPr lang="en-US" sz="1500" kern="1200"/>
            <a:t> que la </a:t>
          </a:r>
          <a:r>
            <a:rPr lang="en-US" sz="1500" kern="1200" err="1"/>
            <a:t>colonne</a:t>
          </a:r>
          <a:r>
            <a:rPr lang="en-US" sz="1500" kern="1200"/>
            <a:t> fait </a:t>
          </a:r>
          <a:r>
            <a:rPr lang="en-US" sz="1500" kern="1200" err="1"/>
            <a:t>réference</a:t>
          </a:r>
          <a:r>
            <a:rPr lang="en-US" sz="1500" kern="1200"/>
            <a:t> à </a:t>
          </a:r>
          <a:r>
            <a:rPr lang="en-US" sz="1500" kern="1200" err="1"/>
            <a:t>une</a:t>
          </a:r>
          <a:r>
            <a:rPr lang="en-US" sz="1500" kern="1200"/>
            <a:t> </a:t>
          </a:r>
          <a:r>
            <a:rPr lang="en-US" sz="1500" kern="1200" err="1"/>
            <a:t>autre</a:t>
          </a:r>
          <a:r>
            <a:rPr lang="en-US" sz="1500" kern="1200"/>
            <a:t> table et </a:t>
          </a:r>
          <a:r>
            <a:rPr lang="en-US" sz="1500" kern="1200" err="1"/>
            <a:t>contrôle</a:t>
          </a:r>
          <a:r>
            <a:rPr lang="en-US" sz="1500" kern="1200"/>
            <a:t> la </a:t>
          </a:r>
          <a:r>
            <a:rPr lang="en-US" sz="1500" kern="1200" err="1"/>
            <a:t>validité</a:t>
          </a:r>
          <a:r>
            <a:rPr lang="en-US" sz="1500" kern="1200"/>
            <a:t> de </a:t>
          </a:r>
          <a:r>
            <a:rPr lang="en-US" sz="1500" kern="1200" err="1"/>
            <a:t>cette</a:t>
          </a:r>
          <a:r>
            <a:rPr lang="en-US" sz="1500" kern="1200"/>
            <a:t> </a:t>
          </a:r>
          <a:r>
            <a:rPr lang="en-US" sz="1500" kern="1200" err="1"/>
            <a:t>référence</a:t>
          </a:r>
          <a:endParaRPr lang="en-US" sz="1500" kern="1200"/>
        </a:p>
      </dsp:txBody>
      <dsp:txXfrm>
        <a:off x="636336" y="1379937"/>
        <a:ext cx="9917363" cy="550940"/>
      </dsp:txXfrm>
    </dsp:sp>
    <dsp:sp modelId="{9D6856B8-4F77-4C51-9AAE-E0E9496F497C}">
      <dsp:nvSpPr>
        <dsp:cNvPr id="0" name=""/>
        <dsp:cNvSpPr/>
      </dsp:nvSpPr>
      <dsp:spPr>
        <a:xfrm>
          <a:off x="0" y="2068613"/>
          <a:ext cx="10553700" cy="550940"/>
        </a:xfrm>
        <a:prstGeom prst="roundRect">
          <a:avLst>
            <a:gd name="adj" fmla="val 10000"/>
          </a:avLst>
        </a:prstGeom>
        <a:solidFill>
          <a:schemeClr val="accent2">
            <a:hueOff val="-998051"/>
            <a:satOff val="6162"/>
            <a:lumOff val="-882"/>
            <a:alphaOff val="0"/>
          </a:schemeClr>
        </a:solidFill>
        <a:ln>
          <a:noFill/>
        </a:ln>
        <a:effectLst/>
      </dsp:spPr>
      <dsp:style>
        <a:lnRef idx="0">
          <a:scrgbClr r="0" g="0" b="0"/>
        </a:lnRef>
        <a:fillRef idx="1">
          <a:scrgbClr r="0" g="0" b="0"/>
        </a:fillRef>
        <a:effectRef idx="0">
          <a:scrgbClr r="0" g="0" b="0"/>
        </a:effectRef>
        <a:fontRef idx="minor"/>
      </dsp:style>
    </dsp:sp>
    <dsp:sp modelId="{47CD99FA-B7A7-410E-B2AD-8D9B311952E3}">
      <dsp:nvSpPr>
        <dsp:cNvPr id="0" name=""/>
        <dsp:cNvSpPr/>
      </dsp:nvSpPr>
      <dsp:spPr>
        <a:xfrm>
          <a:off x="166659" y="2192574"/>
          <a:ext cx="303017" cy="3030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07407E7-6227-4ADC-ADC4-D2F28531ECEB}">
      <dsp:nvSpPr>
        <dsp:cNvPr id="0" name=""/>
        <dsp:cNvSpPr/>
      </dsp:nvSpPr>
      <dsp:spPr>
        <a:xfrm>
          <a:off x="678038" y="2068613"/>
          <a:ext cx="9833958" cy="550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308" tIns="58308" rIns="58308" bIns="58308" numCol="1" spcCol="1270" anchor="ctr" anchorCtr="0">
          <a:noAutofit/>
        </a:bodyPr>
        <a:lstStyle/>
        <a:p>
          <a:pPr marL="0" lvl="0" indent="0" algn="l" defTabSz="666750">
            <a:lnSpc>
              <a:spcPct val="90000"/>
            </a:lnSpc>
            <a:spcBef>
              <a:spcPct val="0"/>
            </a:spcBef>
            <a:spcAft>
              <a:spcPct val="35000"/>
            </a:spcAft>
            <a:buNone/>
          </a:pPr>
          <a:r>
            <a:rPr lang="en-US" sz="1500" b="1" kern="1200" dirty="0"/>
            <a:t>FOREIGN KEY </a:t>
          </a:r>
          <a:r>
            <a:rPr lang="en-US" sz="1500" kern="1200" dirty="0"/>
            <a:t>(&lt;</a:t>
          </a:r>
          <a:r>
            <a:rPr lang="en-US" sz="1500" kern="1200" dirty="0" err="1"/>
            <a:t>liste</a:t>
          </a:r>
          <a:r>
            <a:rPr lang="en-US" sz="1500" kern="1200" dirty="0"/>
            <a:t> </a:t>
          </a:r>
          <a:r>
            <a:rPr lang="en-US" sz="1500" kern="1200" dirty="0" err="1"/>
            <a:t>d’attributs</a:t>
          </a:r>
          <a:r>
            <a:rPr lang="en-US" sz="1500" kern="1200" dirty="0"/>
            <a:t>&gt;) </a:t>
          </a:r>
          <a:r>
            <a:rPr lang="en-US" sz="1500" b="1" kern="1200" dirty="0"/>
            <a:t>REFERENCES</a:t>
          </a:r>
          <a:r>
            <a:rPr lang="en-US" sz="1500" kern="1200" dirty="0"/>
            <a:t> &lt;table&gt; (&lt;</a:t>
          </a:r>
          <a:r>
            <a:rPr lang="en-US" sz="1500" kern="1200" dirty="0" err="1"/>
            <a:t>colonnes</a:t>
          </a:r>
          <a:r>
            <a:rPr lang="en-US" sz="1500" kern="1200" dirty="0"/>
            <a:t>&gt;) : </a:t>
          </a:r>
          <a:r>
            <a:rPr lang="en-US" sz="1500" kern="1200" dirty="0" err="1"/>
            <a:t>indique</a:t>
          </a:r>
          <a:r>
            <a:rPr lang="en-US" sz="1500" kern="1200" dirty="0"/>
            <a:t> ques les </a:t>
          </a:r>
          <a:r>
            <a:rPr lang="en-US" sz="1500" kern="1200" dirty="0" err="1"/>
            <a:t>attributs</a:t>
          </a:r>
          <a:r>
            <a:rPr lang="en-US" sz="1500" kern="1200" dirty="0"/>
            <a:t> font reference à </a:t>
          </a:r>
          <a:r>
            <a:rPr lang="en-US" sz="1500" kern="1200" dirty="0" err="1"/>
            <a:t>une</a:t>
          </a:r>
          <a:r>
            <a:rPr lang="en-US" sz="1500" kern="1200" dirty="0"/>
            <a:t> </a:t>
          </a:r>
          <a:r>
            <a:rPr lang="en-US" sz="1500" kern="1200" dirty="0" err="1"/>
            <a:t>autre</a:t>
          </a:r>
          <a:r>
            <a:rPr lang="en-US" sz="1500" kern="1200" dirty="0"/>
            <a:t> table</a:t>
          </a:r>
        </a:p>
      </dsp:txBody>
      <dsp:txXfrm>
        <a:off x="678038" y="2068613"/>
        <a:ext cx="9833958" cy="550940"/>
      </dsp:txXfrm>
    </dsp:sp>
    <dsp:sp modelId="{12C381B1-46E2-43F6-B33C-860F3142EB15}">
      <dsp:nvSpPr>
        <dsp:cNvPr id="0" name=""/>
        <dsp:cNvSpPr/>
      </dsp:nvSpPr>
      <dsp:spPr>
        <a:xfrm>
          <a:off x="0" y="2757288"/>
          <a:ext cx="10553700" cy="550940"/>
        </a:xfrm>
        <a:prstGeom prst="roundRect">
          <a:avLst>
            <a:gd name="adj" fmla="val 10000"/>
          </a:avLst>
        </a:prstGeom>
        <a:solidFill>
          <a:schemeClr val="accent2">
            <a:hueOff val="-1330735"/>
            <a:satOff val="8216"/>
            <a:lumOff val="-1176"/>
            <a:alphaOff val="0"/>
          </a:schemeClr>
        </a:solidFill>
        <a:ln>
          <a:noFill/>
        </a:ln>
        <a:effectLst/>
      </dsp:spPr>
      <dsp:style>
        <a:lnRef idx="0">
          <a:scrgbClr r="0" g="0" b="0"/>
        </a:lnRef>
        <a:fillRef idx="1">
          <a:scrgbClr r="0" g="0" b="0"/>
        </a:fillRef>
        <a:effectRef idx="0">
          <a:scrgbClr r="0" g="0" b="0"/>
        </a:effectRef>
        <a:fontRef idx="minor"/>
      </dsp:style>
    </dsp:sp>
    <dsp:sp modelId="{EFC2DCEE-A3D2-441E-A158-C1370DC50111}">
      <dsp:nvSpPr>
        <dsp:cNvPr id="0" name=""/>
        <dsp:cNvSpPr/>
      </dsp:nvSpPr>
      <dsp:spPr>
        <a:xfrm>
          <a:off x="166659" y="2881250"/>
          <a:ext cx="303017" cy="30301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A9EAC85-FEB8-4E10-8B37-D87672B26903}">
      <dsp:nvSpPr>
        <dsp:cNvPr id="0" name=""/>
        <dsp:cNvSpPr/>
      </dsp:nvSpPr>
      <dsp:spPr>
        <a:xfrm>
          <a:off x="636336" y="2757288"/>
          <a:ext cx="9917363" cy="550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308" tIns="58308" rIns="58308" bIns="58308" numCol="1" spcCol="1270" anchor="ctr" anchorCtr="0">
          <a:noAutofit/>
        </a:bodyPr>
        <a:lstStyle/>
        <a:p>
          <a:pPr marL="0" lvl="0" indent="0" algn="l" defTabSz="666750">
            <a:lnSpc>
              <a:spcPct val="90000"/>
            </a:lnSpc>
            <a:spcBef>
              <a:spcPct val="0"/>
            </a:spcBef>
            <a:spcAft>
              <a:spcPct val="35000"/>
            </a:spcAft>
            <a:buNone/>
          </a:pPr>
          <a:r>
            <a:rPr lang="fr-FR" sz="1500" b="1" kern="1200"/>
            <a:t>CHECK</a:t>
          </a:r>
          <a:r>
            <a:rPr lang="fr-FR" sz="1500" kern="1200"/>
            <a:t> (&lt;condition&gt;) : la condition donnée doit être vérifiée pour chaque valeur de l’attribut</a:t>
          </a:r>
          <a:endParaRPr lang="en-US" sz="1500" kern="1200"/>
        </a:p>
      </dsp:txBody>
      <dsp:txXfrm>
        <a:off x="636336" y="2757288"/>
        <a:ext cx="9917363" cy="55094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C17C20-4691-44BD-A285-9907E0B73BBB}">
      <dsp:nvSpPr>
        <dsp:cNvPr id="0" name=""/>
        <dsp:cNvSpPr/>
      </dsp:nvSpPr>
      <dsp:spPr>
        <a:xfrm rot="5400000">
          <a:off x="757806" y="812521"/>
          <a:ext cx="713570" cy="812374"/>
        </a:xfrm>
        <a:prstGeom prst="bentUpArrow">
          <a:avLst>
            <a:gd name="adj1" fmla="val 32840"/>
            <a:gd name="adj2" fmla="val 25000"/>
            <a:gd name="adj3" fmla="val 35780"/>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D150048-02C6-408C-AA42-10EF113EEAB8}">
      <dsp:nvSpPr>
        <dsp:cNvPr id="0" name=""/>
        <dsp:cNvSpPr/>
      </dsp:nvSpPr>
      <dsp:spPr>
        <a:xfrm>
          <a:off x="568753" y="21514"/>
          <a:ext cx="1201232" cy="840823"/>
        </a:xfrm>
        <a:prstGeom prst="roundRect">
          <a:avLst>
            <a:gd name="adj" fmla="val 166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FR" sz="1000" kern="1200"/>
            <a:t>Analyse</a:t>
          </a:r>
        </a:p>
      </dsp:txBody>
      <dsp:txXfrm>
        <a:off x="609806" y="62567"/>
        <a:ext cx="1119126" cy="758717"/>
      </dsp:txXfrm>
    </dsp:sp>
    <dsp:sp modelId="{2C2FC702-0390-46E2-8811-F17AE9136A9D}">
      <dsp:nvSpPr>
        <dsp:cNvPr id="0" name=""/>
        <dsp:cNvSpPr/>
      </dsp:nvSpPr>
      <dsp:spPr>
        <a:xfrm>
          <a:off x="1769985" y="101706"/>
          <a:ext cx="873662" cy="679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57150" lvl="1" indent="-57150" algn="l" defTabSz="311150">
            <a:lnSpc>
              <a:spcPct val="90000"/>
            </a:lnSpc>
            <a:spcBef>
              <a:spcPct val="0"/>
            </a:spcBef>
            <a:spcAft>
              <a:spcPct val="15000"/>
            </a:spcAft>
            <a:buChar char="•"/>
          </a:pPr>
          <a:r>
            <a:rPr lang="fr-FR" sz="700" kern="1200"/>
            <a:t>Identification des fonctionnalités</a:t>
          </a:r>
        </a:p>
      </dsp:txBody>
      <dsp:txXfrm>
        <a:off x="1769985" y="101706"/>
        <a:ext cx="873662" cy="679590"/>
      </dsp:txXfrm>
    </dsp:sp>
    <dsp:sp modelId="{9BB596C0-86C4-476A-85CB-54BA5D2A6624}">
      <dsp:nvSpPr>
        <dsp:cNvPr id="0" name=""/>
        <dsp:cNvSpPr/>
      </dsp:nvSpPr>
      <dsp:spPr>
        <a:xfrm rot="5400000">
          <a:off x="1753755" y="1757043"/>
          <a:ext cx="713570" cy="812374"/>
        </a:xfrm>
        <a:prstGeom prst="bentUpArrow">
          <a:avLst>
            <a:gd name="adj1" fmla="val 32840"/>
            <a:gd name="adj2" fmla="val 25000"/>
            <a:gd name="adj3" fmla="val 35780"/>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69F81BB-6356-4A84-994F-EB0AC0AAD21F}">
      <dsp:nvSpPr>
        <dsp:cNvPr id="0" name=""/>
        <dsp:cNvSpPr/>
      </dsp:nvSpPr>
      <dsp:spPr>
        <a:xfrm>
          <a:off x="1564702" y="966036"/>
          <a:ext cx="1201232" cy="840823"/>
        </a:xfrm>
        <a:prstGeom prst="roundRect">
          <a:avLst>
            <a:gd name="adj" fmla="val 166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FR" sz="1000" kern="1200"/>
            <a:t>Conception</a:t>
          </a:r>
        </a:p>
      </dsp:txBody>
      <dsp:txXfrm>
        <a:off x="1605755" y="1007089"/>
        <a:ext cx="1119126" cy="758717"/>
      </dsp:txXfrm>
    </dsp:sp>
    <dsp:sp modelId="{2F63551D-D418-42BE-94F3-23AFCB02DE1F}">
      <dsp:nvSpPr>
        <dsp:cNvPr id="0" name=""/>
        <dsp:cNvSpPr/>
      </dsp:nvSpPr>
      <dsp:spPr>
        <a:xfrm>
          <a:off x="2765935" y="1046228"/>
          <a:ext cx="873662" cy="679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57150" lvl="1" indent="-57150" algn="l" defTabSz="311150">
            <a:lnSpc>
              <a:spcPct val="90000"/>
            </a:lnSpc>
            <a:spcBef>
              <a:spcPct val="0"/>
            </a:spcBef>
            <a:spcAft>
              <a:spcPct val="15000"/>
            </a:spcAft>
            <a:buChar char="•"/>
          </a:pPr>
          <a:r>
            <a:rPr lang="fr-FR" sz="700" kern="1200"/>
            <a:t>Moyens et procédures permettant de mettre à disposition la fonctionnalité</a:t>
          </a:r>
        </a:p>
      </dsp:txBody>
      <dsp:txXfrm>
        <a:off x="2765935" y="1046228"/>
        <a:ext cx="873662" cy="679590"/>
      </dsp:txXfrm>
    </dsp:sp>
    <dsp:sp modelId="{0ECC2FE2-A081-4534-B66F-9886328175D6}">
      <dsp:nvSpPr>
        <dsp:cNvPr id="0" name=""/>
        <dsp:cNvSpPr/>
      </dsp:nvSpPr>
      <dsp:spPr>
        <a:xfrm rot="5400000">
          <a:off x="2749704" y="2701566"/>
          <a:ext cx="713570" cy="812374"/>
        </a:xfrm>
        <a:prstGeom prst="bentUpArrow">
          <a:avLst>
            <a:gd name="adj1" fmla="val 32840"/>
            <a:gd name="adj2" fmla="val 25000"/>
            <a:gd name="adj3" fmla="val 35780"/>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239A02-E80C-43BB-BAD3-B5E34F8ED451}">
      <dsp:nvSpPr>
        <dsp:cNvPr id="0" name=""/>
        <dsp:cNvSpPr/>
      </dsp:nvSpPr>
      <dsp:spPr>
        <a:xfrm>
          <a:off x="2560651" y="1910559"/>
          <a:ext cx="1201232" cy="840823"/>
        </a:xfrm>
        <a:prstGeom prst="roundRect">
          <a:avLst>
            <a:gd name="adj" fmla="val 166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FR" sz="1000" kern="1200"/>
            <a:t>Implémentation</a:t>
          </a:r>
        </a:p>
      </dsp:txBody>
      <dsp:txXfrm>
        <a:off x="2601704" y="1951612"/>
        <a:ext cx="1119126" cy="758717"/>
      </dsp:txXfrm>
    </dsp:sp>
    <dsp:sp modelId="{0F0BB29C-732A-48CE-8A69-1B6AC4DC1721}">
      <dsp:nvSpPr>
        <dsp:cNvPr id="0" name=""/>
        <dsp:cNvSpPr/>
      </dsp:nvSpPr>
      <dsp:spPr>
        <a:xfrm>
          <a:off x="3761884" y="1990751"/>
          <a:ext cx="873662" cy="679590"/>
        </a:xfrm>
        <a:prstGeom prst="rect">
          <a:avLst/>
        </a:prstGeom>
        <a:noFill/>
        <a:ln>
          <a:noFill/>
        </a:ln>
        <a:effectLst/>
      </dsp:spPr>
      <dsp:style>
        <a:lnRef idx="0">
          <a:scrgbClr r="0" g="0" b="0"/>
        </a:lnRef>
        <a:fillRef idx="0">
          <a:scrgbClr r="0" g="0" b="0"/>
        </a:fillRef>
        <a:effectRef idx="0">
          <a:scrgbClr r="0" g="0" b="0"/>
        </a:effectRef>
        <a:fontRef idx="minor"/>
      </dsp:style>
    </dsp:sp>
    <dsp:sp modelId="{BDB82B20-BE5F-4180-BBC6-D8E03B1756C5}">
      <dsp:nvSpPr>
        <dsp:cNvPr id="0" name=""/>
        <dsp:cNvSpPr/>
      </dsp:nvSpPr>
      <dsp:spPr>
        <a:xfrm>
          <a:off x="3556601" y="2855081"/>
          <a:ext cx="1201232" cy="840823"/>
        </a:xfrm>
        <a:prstGeom prst="roundRect">
          <a:avLst>
            <a:gd name="adj" fmla="val 1667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FR" sz="1000" kern="1200"/>
            <a:t>Test</a:t>
          </a:r>
        </a:p>
      </dsp:txBody>
      <dsp:txXfrm>
        <a:off x="3597654" y="2896134"/>
        <a:ext cx="1119126" cy="75871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C49144-2333-48AD-B201-B3D88046C0C4}">
      <dsp:nvSpPr>
        <dsp:cNvPr id="0" name=""/>
        <dsp:cNvSpPr/>
      </dsp:nvSpPr>
      <dsp:spPr>
        <a:xfrm>
          <a:off x="472712" y="-27724"/>
          <a:ext cx="2756587" cy="2756587"/>
        </a:xfrm>
        <a:prstGeom prst="circularArrow">
          <a:avLst>
            <a:gd name="adj1" fmla="val 4668"/>
            <a:gd name="adj2" fmla="val 272909"/>
            <a:gd name="adj3" fmla="val 13238991"/>
            <a:gd name="adj4" fmla="val 17759518"/>
            <a:gd name="adj5" fmla="val 484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FC48E6-3814-4A78-A258-05AF6980E8D0}">
      <dsp:nvSpPr>
        <dsp:cNvPr id="0" name=""/>
        <dsp:cNvSpPr/>
      </dsp:nvSpPr>
      <dsp:spPr>
        <a:xfrm>
          <a:off x="1032153" y="477"/>
          <a:ext cx="1637706" cy="818853"/>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t>Analyse</a:t>
          </a:r>
        </a:p>
      </dsp:txBody>
      <dsp:txXfrm>
        <a:off x="1072126" y="40450"/>
        <a:ext cx="1557760" cy="738907"/>
      </dsp:txXfrm>
    </dsp:sp>
    <dsp:sp modelId="{5E0E3486-4020-4C2C-AAB2-F6F154D9F025}">
      <dsp:nvSpPr>
        <dsp:cNvPr id="0" name=""/>
        <dsp:cNvSpPr/>
      </dsp:nvSpPr>
      <dsp:spPr>
        <a:xfrm>
          <a:off x="2021950" y="990275"/>
          <a:ext cx="1637706" cy="818853"/>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t>Conception</a:t>
          </a:r>
        </a:p>
      </dsp:txBody>
      <dsp:txXfrm>
        <a:off x="2061923" y="1030248"/>
        <a:ext cx="1557760" cy="738907"/>
      </dsp:txXfrm>
    </dsp:sp>
    <dsp:sp modelId="{BEC58F95-1FF4-407F-85C2-D654E0ABD364}">
      <dsp:nvSpPr>
        <dsp:cNvPr id="0" name=""/>
        <dsp:cNvSpPr/>
      </dsp:nvSpPr>
      <dsp:spPr>
        <a:xfrm>
          <a:off x="1032153" y="1980073"/>
          <a:ext cx="1637706" cy="818853"/>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t>Implémentation</a:t>
          </a:r>
        </a:p>
      </dsp:txBody>
      <dsp:txXfrm>
        <a:off x="1072126" y="2020046"/>
        <a:ext cx="1557760" cy="738907"/>
      </dsp:txXfrm>
    </dsp:sp>
    <dsp:sp modelId="{36966E14-FBFA-48EE-A955-5669FB09F0AD}">
      <dsp:nvSpPr>
        <dsp:cNvPr id="0" name=""/>
        <dsp:cNvSpPr/>
      </dsp:nvSpPr>
      <dsp:spPr>
        <a:xfrm>
          <a:off x="42355" y="990275"/>
          <a:ext cx="1637706" cy="818853"/>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t>Test</a:t>
          </a:r>
        </a:p>
      </dsp:txBody>
      <dsp:txXfrm>
        <a:off x="82328" y="1030248"/>
        <a:ext cx="1557760" cy="73890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9AC32F-998E-40A3-8DEC-2E63A359A1DA}">
      <dsp:nvSpPr>
        <dsp:cNvPr id="0" name=""/>
        <dsp:cNvSpPr/>
      </dsp:nvSpPr>
      <dsp:spPr>
        <a:xfrm>
          <a:off x="0" y="538007"/>
          <a:ext cx="10553700" cy="99324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D893AB-9F05-4EF8-BCC7-27BF64C74535}">
      <dsp:nvSpPr>
        <dsp:cNvPr id="0" name=""/>
        <dsp:cNvSpPr/>
      </dsp:nvSpPr>
      <dsp:spPr>
        <a:xfrm>
          <a:off x="300456" y="761487"/>
          <a:ext cx="546284" cy="54628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2DC8F44-C06E-4855-8A2F-A5A040A42052}">
      <dsp:nvSpPr>
        <dsp:cNvPr id="0" name=""/>
        <dsp:cNvSpPr/>
      </dsp:nvSpPr>
      <dsp:spPr>
        <a:xfrm>
          <a:off x="1147197" y="538007"/>
          <a:ext cx="9406502" cy="993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118" tIns="105118" rIns="105118" bIns="105118" numCol="1" spcCol="1270" anchor="ctr" anchorCtr="0">
          <a:noAutofit/>
        </a:bodyPr>
        <a:lstStyle/>
        <a:p>
          <a:pPr marL="0" lvl="0" indent="0" algn="l" defTabSz="977900">
            <a:lnSpc>
              <a:spcPct val="90000"/>
            </a:lnSpc>
            <a:spcBef>
              <a:spcPct val="0"/>
            </a:spcBef>
            <a:spcAft>
              <a:spcPct val="35000"/>
            </a:spcAft>
            <a:buNone/>
          </a:pPr>
          <a:r>
            <a:rPr lang="fr-FR" sz="2200" kern="1200"/>
            <a:t>La réalisation d’un diagramme entité association permet de mettre en évidence les entités présentes, leurs attributs et leurs relations</a:t>
          </a:r>
          <a:endParaRPr lang="en-US" sz="2200" kern="1200"/>
        </a:p>
      </dsp:txBody>
      <dsp:txXfrm>
        <a:off x="1147197" y="538007"/>
        <a:ext cx="9406502" cy="993244"/>
      </dsp:txXfrm>
    </dsp:sp>
    <dsp:sp modelId="{A4995941-C75A-4665-A21B-56D8B4B4EA1B}">
      <dsp:nvSpPr>
        <dsp:cNvPr id="0" name=""/>
        <dsp:cNvSpPr/>
      </dsp:nvSpPr>
      <dsp:spPr>
        <a:xfrm>
          <a:off x="0" y="1779563"/>
          <a:ext cx="10553700" cy="99324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C566F8-6CAB-4392-8142-34396FAE2ABC}">
      <dsp:nvSpPr>
        <dsp:cNvPr id="0" name=""/>
        <dsp:cNvSpPr/>
      </dsp:nvSpPr>
      <dsp:spPr>
        <a:xfrm>
          <a:off x="300456" y="2003043"/>
          <a:ext cx="546284" cy="54628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7A8BAF5-18B9-4066-8F7D-6DA10A5B4AC2}">
      <dsp:nvSpPr>
        <dsp:cNvPr id="0" name=""/>
        <dsp:cNvSpPr/>
      </dsp:nvSpPr>
      <dsp:spPr>
        <a:xfrm>
          <a:off x="1147197" y="1779563"/>
          <a:ext cx="9406502" cy="9932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118" tIns="105118" rIns="105118" bIns="105118" numCol="1" spcCol="1270" anchor="ctr" anchorCtr="0">
          <a:noAutofit/>
        </a:bodyPr>
        <a:lstStyle/>
        <a:p>
          <a:pPr marL="0" lvl="0" indent="0" algn="l" defTabSz="977900">
            <a:lnSpc>
              <a:spcPct val="90000"/>
            </a:lnSpc>
            <a:spcBef>
              <a:spcPct val="0"/>
            </a:spcBef>
            <a:spcAft>
              <a:spcPct val="35000"/>
            </a:spcAft>
            <a:buNone/>
          </a:pPr>
          <a:r>
            <a:rPr lang="fr-FR" sz="2200" kern="1200"/>
            <a:t>Il donne une piste sur la conception de la base de données mais ne donne pas directement son architecture</a:t>
          </a:r>
          <a:endParaRPr lang="en-US" sz="2200" kern="1200"/>
        </a:p>
      </dsp:txBody>
      <dsp:txXfrm>
        <a:off x="1147197" y="1779563"/>
        <a:ext cx="9406502" cy="99324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B7EA45-69FE-44E7-A7B1-2431D4930B07}">
      <dsp:nvSpPr>
        <dsp:cNvPr id="0" name=""/>
        <dsp:cNvSpPr/>
      </dsp:nvSpPr>
      <dsp:spPr>
        <a:xfrm>
          <a:off x="0" y="330868"/>
          <a:ext cx="7036499" cy="807975"/>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46111" tIns="395732" rIns="546111" bIns="135128" numCol="1" spcCol="1270" anchor="t" anchorCtr="0">
          <a:noAutofit/>
        </a:bodyPr>
        <a:lstStyle/>
        <a:p>
          <a:pPr marL="171450" lvl="1" indent="-171450" algn="l" defTabSz="844550">
            <a:lnSpc>
              <a:spcPct val="90000"/>
            </a:lnSpc>
            <a:spcBef>
              <a:spcPct val="0"/>
            </a:spcBef>
            <a:spcAft>
              <a:spcPct val="15000"/>
            </a:spcAft>
            <a:buChar char="•"/>
          </a:pPr>
          <a:r>
            <a:rPr lang="fr-FR" sz="1900" kern="1200" dirty="0"/>
            <a:t>Stockage des données persistantes</a:t>
          </a:r>
        </a:p>
      </dsp:txBody>
      <dsp:txXfrm>
        <a:off x="0" y="330868"/>
        <a:ext cx="7036499" cy="807975"/>
      </dsp:txXfrm>
    </dsp:sp>
    <dsp:sp modelId="{AB3EE4B9-0A4D-4ABC-8F1C-FE070307F0E0}">
      <dsp:nvSpPr>
        <dsp:cNvPr id="0" name=""/>
        <dsp:cNvSpPr/>
      </dsp:nvSpPr>
      <dsp:spPr>
        <a:xfrm>
          <a:off x="351824" y="50428"/>
          <a:ext cx="4925549" cy="5608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174" tIns="0" rIns="186174" bIns="0" numCol="1" spcCol="1270" anchor="ctr" anchorCtr="0">
          <a:noAutofit/>
        </a:bodyPr>
        <a:lstStyle/>
        <a:p>
          <a:pPr marL="0" lvl="0" indent="0" algn="l" defTabSz="844550">
            <a:lnSpc>
              <a:spcPct val="90000"/>
            </a:lnSpc>
            <a:spcBef>
              <a:spcPct val="0"/>
            </a:spcBef>
            <a:spcAft>
              <a:spcPct val="35000"/>
            </a:spcAft>
            <a:buNone/>
          </a:pPr>
          <a:r>
            <a:rPr lang="fr-FR" sz="1900" kern="1200" dirty="0"/>
            <a:t>Base de données</a:t>
          </a:r>
        </a:p>
      </dsp:txBody>
      <dsp:txXfrm>
        <a:off x="379204" y="77808"/>
        <a:ext cx="4870789" cy="506120"/>
      </dsp:txXfrm>
    </dsp:sp>
    <dsp:sp modelId="{F634485E-823D-43FC-A7EC-6AA682A97CA7}">
      <dsp:nvSpPr>
        <dsp:cNvPr id="0" name=""/>
        <dsp:cNvSpPr/>
      </dsp:nvSpPr>
      <dsp:spPr>
        <a:xfrm>
          <a:off x="0" y="1521883"/>
          <a:ext cx="7036499" cy="807975"/>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46111" tIns="395732" rIns="546111" bIns="135128" numCol="1" spcCol="1270" anchor="t" anchorCtr="0">
          <a:noAutofit/>
        </a:bodyPr>
        <a:lstStyle/>
        <a:p>
          <a:pPr marL="171450" lvl="1" indent="-171450" algn="l" defTabSz="844550">
            <a:lnSpc>
              <a:spcPct val="90000"/>
            </a:lnSpc>
            <a:spcBef>
              <a:spcPct val="0"/>
            </a:spcBef>
            <a:spcAft>
              <a:spcPct val="15000"/>
            </a:spcAft>
            <a:buChar char="•"/>
          </a:pPr>
          <a:r>
            <a:rPr lang="fr-FR" sz="1900" kern="1200" dirty="0"/>
            <a:t>Traitement des données</a:t>
          </a:r>
        </a:p>
      </dsp:txBody>
      <dsp:txXfrm>
        <a:off x="0" y="1521883"/>
        <a:ext cx="7036499" cy="807975"/>
      </dsp:txXfrm>
    </dsp:sp>
    <dsp:sp modelId="{F7DC99C9-5560-46B9-8CDE-77BBBB656831}">
      <dsp:nvSpPr>
        <dsp:cNvPr id="0" name=""/>
        <dsp:cNvSpPr/>
      </dsp:nvSpPr>
      <dsp:spPr>
        <a:xfrm>
          <a:off x="351824" y="1241443"/>
          <a:ext cx="4925549" cy="5608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174" tIns="0" rIns="186174" bIns="0" numCol="1" spcCol="1270" anchor="ctr" anchorCtr="0">
          <a:noAutofit/>
        </a:bodyPr>
        <a:lstStyle/>
        <a:p>
          <a:pPr marL="0" lvl="0" indent="0" algn="l" defTabSz="844550">
            <a:lnSpc>
              <a:spcPct val="90000"/>
            </a:lnSpc>
            <a:spcBef>
              <a:spcPct val="0"/>
            </a:spcBef>
            <a:spcAft>
              <a:spcPct val="35000"/>
            </a:spcAft>
            <a:buNone/>
          </a:pPr>
          <a:r>
            <a:rPr lang="fr-FR" sz="1900" kern="1200" dirty="0"/>
            <a:t>Application (serveur web)</a:t>
          </a:r>
        </a:p>
      </dsp:txBody>
      <dsp:txXfrm>
        <a:off x="379204" y="1268823"/>
        <a:ext cx="4870789" cy="506120"/>
      </dsp:txXfrm>
    </dsp:sp>
    <dsp:sp modelId="{E8085CA9-C5D7-4B55-9CC1-13B4D8F10A10}">
      <dsp:nvSpPr>
        <dsp:cNvPr id="0" name=""/>
        <dsp:cNvSpPr/>
      </dsp:nvSpPr>
      <dsp:spPr>
        <a:xfrm>
          <a:off x="0" y="2712898"/>
          <a:ext cx="7036499" cy="807975"/>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46111" tIns="395732" rIns="546111" bIns="135128" numCol="1" spcCol="1270" anchor="t" anchorCtr="0">
          <a:noAutofit/>
        </a:bodyPr>
        <a:lstStyle/>
        <a:p>
          <a:pPr marL="171450" lvl="1" indent="-171450" algn="l" defTabSz="844550">
            <a:lnSpc>
              <a:spcPct val="90000"/>
            </a:lnSpc>
            <a:spcBef>
              <a:spcPct val="0"/>
            </a:spcBef>
            <a:spcAft>
              <a:spcPct val="15000"/>
            </a:spcAft>
            <a:buChar char="•"/>
          </a:pPr>
          <a:r>
            <a:rPr lang="fr-FR" sz="1900" kern="1200" dirty="0"/>
            <a:t>Affichage des données</a:t>
          </a:r>
        </a:p>
      </dsp:txBody>
      <dsp:txXfrm>
        <a:off x="0" y="2712898"/>
        <a:ext cx="7036499" cy="807975"/>
      </dsp:txXfrm>
    </dsp:sp>
    <dsp:sp modelId="{D887EFFB-9D9B-416A-A658-E8E272D8FA19}">
      <dsp:nvSpPr>
        <dsp:cNvPr id="0" name=""/>
        <dsp:cNvSpPr/>
      </dsp:nvSpPr>
      <dsp:spPr>
        <a:xfrm>
          <a:off x="351824" y="2432458"/>
          <a:ext cx="4925549" cy="5608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174" tIns="0" rIns="186174" bIns="0" numCol="1" spcCol="1270" anchor="ctr" anchorCtr="0">
          <a:noAutofit/>
        </a:bodyPr>
        <a:lstStyle/>
        <a:p>
          <a:pPr marL="0" lvl="0" indent="0" algn="l" defTabSz="844550">
            <a:lnSpc>
              <a:spcPct val="90000"/>
            </a:lnSpc>
            <a:spcBef>
              <a:spcPct val="0"/>
            </a:spcBef>
            <a:spcAft>
              <a:spcPct val="35000"/>
            </a:spcAft>
            <a:buNone/>
          </a:pPr>
          <a:r>
            <a:rPr lang="fr-FR" sz="1900" kern="1200" dirty="0"/>
            <a:t>Client (navigateur)</a:t>
          </a:r>
        </a:p>
      </dsp:txBody>
      <dsp:txXfrm>
        <a:off x="379204" y="2459838"/>
        <a:ext cx="4870789" cy="50612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E51C65-DAE8-4754-8B79-B28608CBE26F}" type="datetimeFigureOut">
              <a:rPr lang="fr-FR" smtClean="0"/>
              <a:t>16/10/2025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13DBAE-CFC5-48DB-A6E2-3E59F72959E7}" type="slidenum">
              <a:rPr lang="fr-FR" smtClean="0"/>
              <a:t>‹N°›</a:t>
            </a:fld>
            <a:endParaRPr lang="fr-FR"/>
          </a:p>
        </p:txBody>
      </p:sp>
    </p:spTree>
    <p:extLst>
      <p:ext uri="{BB962C8B-B14F-4D97-AF65-F5344CB8AC3E}">
        <p14:creationId xmlns:p14="http://schemas.microsoft.com/office/powerpoint/2010/main" val="1412203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ico.developpez.com/html/2104-Securite-log-file.php" TargetMode="External"/><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213DBAE-CFC5-48DB-A6E2-3E59F72959E7}" type="slidenum">
              <a:rPr lang="fr-FR" smtClean="0"/>
              <a:t>111</a:t>
            </a:fld>
            <a:endParaRPr lang="fr-FR"/>
          </a:p>
        </p:txBody>
      </p:sp>
    </p:spTree>
    <p:extLst>
      <p:ext uri="{BB962C8B-B14F-4D97-AF65-F5344CB8AC3E}">
        <p14:creationId xmlns:p14="http://schemas.microsoft.com/office/powerpoint/2010/main" val="2421145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213DBAE-CFC5-48DB-A6E2-3E59F72959E7}" type="slidenum">
              <a:rPr lang="fr-FR" smtClean="0"/>
              <a:t>148</a:t>
            </a:fld>
            <a:endParaRPr lang="fr-FR"/>
          </a:p>
        </p:txBody>
      </p:sp>
    </p:spTree>
    <p:extLst>
      <p:ext uri="{BB962C8B-B14F-4D97-AF65-F5344CB8AC3E}">
        <p14:creationId xmlns:p14="http://schemas.microsoft.com/office/powerpoint/2010/main" val="217295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213DBAE-CFC5-48DB-A6E2-3E59F72959E7}" type="slidenum">
              <a:rPr lang="fr-FR" smtClean="0"/>
              <a:t>149</a:t>
            </a:fld>
            <a:endParaRPr lang="fr-FR"/>
          </a:p>
        </p:txBody>
      </p:sp>
    </p:spTree>
    <p:extLst>
      <p:ext uri="{BB962C8B-B14F-4D97-AF65-F5344CB8AC3E}">
        <p14:creationId xmlns:p14="http://schemas.microsoft.com/office/powerpoint/2010/main" val="208247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Règle fondamentale n° 1 :</a:t>
            </a:r>
            <a:r>
              <a:rPr lang="fr-FR" dirty="0"/>
              <a:t> attribution du moindre privilège.</a:t>
            </a:r>
            <a:br>
              <a:rPr lang="fr-FR" dirty="0"/>
            </a:br>
            <a:r>
              <a:rPr lang="fr-FR" dirty="0"/>
              <a:t>Les utilisateurs ne doivent avoir que le minimum de droits, ceux strictement nécessaires à l'accomplissement de leurs tâches. Les privilèges peuvent évoluer au cours du temps, car les besoins et les tâches affectées ne sont pas immuables, mais à un moment donné, seuls les droits indispensables doivent être fournis à un utilisateur. </a:t>
            </a:r>
          </a:p>
          <a:p>
            <a:r>
              <a:rPr lang="fr-FR" b="1" dirty="0"/>
              <a:t>Règle n° 2 :</a:t>
            </a:r>
            <a:r>
              <a:rPr lang="fr-FR" dirty="0"/>
              <a:t> contrôle de la population.</a:t>
            </a:r>
            <a:br>
              <a:rPr lang="fr-FR" dirty="0"/>
            </a:br>
            <a:r>
              <a:rPr lang="fr-FR" dirty="0"/>
              <a:t>Le personnel d'une entreprise bouge, il y a des départs, des arrivées, des promotions… Les privilèges doivent être synchrones avec la réalité de la population : il faut supprimer les comptes des utilisateurs quittant l'entreprise et de ceux n'étant plus affectés à telle ou telle tâche. </a:t>
            </a:r>
          </a:p>
          <a:p>
            <a:r>
              <a:rPr lang="fr-FR" b="1" dirty="0"/>
              <a:t>Règle n° 3 :</a:t>
            </a:r>
            <a:r>
              <a:rPr lang="fr-FR" dirty="0"/>
              <a:t> supervision de la délégation des tâches d'administration.</a:t>
            </a:r>
            <a:br>
              <a:rPr lang="fr-FR" dirty="0"/>
            </a:br>
            <a:r>
              <a:rPr lang="fr-FR" dirty="0"/>
              <a:t>Un administrateur peut être amené à déléguer auprès d'une autre personne les tâches d'attribution des privilèges de tout ou partie de la population des utilisateurs. Un contrôle a posteriori doit être réalisé afin de vérifier que le résultat de cette délégation est conforme à la politique adoptée. </a:t>
            </a:r>
          </a:p>
          <a:p>
            <a:r>
              <a:rPr lang="fr-FR" b="1" dirty="0"/>
              <a:t>Règle n° 4 :</a:t>
            </a:r>
            <a:r>
              <a:rPr lang="fr-FR" dirty="0"/>
              <a:t> contrôle physique des connexions.</a:t>
            </a:r>
            <a:br>
              <a:rPr lang="fr-FR" dirty="0"/>
            </a:br>
            <a:r>
              <a:rPr lang="fr-FR" dirty="0"/>
              <a:t>La connexion d'un utilisateur à une base de données peut être réalisée depuis n'importe où dans le monde grâce à Internet. Il est nécessaire de restreindre les connexions à des hôtes spécifiques connus. Par exemple, le compte d'accès d'une application hébergée sur un serveur devrait voir ses privilèges restreints à l'hôte (ou son domaine) sur lequel elle est hébergée. </a:t>
            </a:r>
          </a:p>
          <a:p>
            <a:r>
              <a:rPr lang="fr-FR" b="1" dirty="0"/>
              <a:t>Règle n° 5 :</a:t>
            </a:r>
            <a:r>
              <a:rPr lang="fr-FR" dirty="0"/>
              <a:t> limitation des ressources utilisées.</a:t>
            </a:r>
            <a:br>
              <a:rPr lang="fr-FR" dirty="0"/>
            </a:br>
            <a:r>
              <a:rPr lang="fr-FR" dirty="0"/>
              <a:t>Le SGBD offre souvent la possibilité de restreindre les ressources de calcul disponibles pour un utilisateur. Il est recommandé de configurer ces limitations de ressources en fonction de la charge maximale attendue pour un utilisateur. Une personne physique n'a pas besoin de réaliser 100 requêtes à la seconde, mais au contraire, une application gérant elle-même les habilitations peut avoir de gros besoins qui peuvent être cependant limités raisonnablement afin de ne pas compromettre les accès directs en ligne de commande au serveur de base de données… </a:t>
            </a:r>
          </a:p>
          <a:p>
            <a:r>
              <a:rPr lang="fr-FR" b="1" dirty="0"/>
              <a:t>Règle n° 6 :</a:t>
            </a:r>
            <a:r>
              <a:rPr lang="fr-FR" dirty="0"/>
              <a:t> journaliser les comportements suspects.</a:t>
            </a:r>
            <a:br>
              <a:rPr lang="fr-FR" dirty="0"/>
            </a:br>
            <a:r>
              <a:rPr lang="fr-FR" dirty="0"/>
              <a:t>Certains SGBD permettent de conserver dans des </a:t>
            </a:r>
            <a:r>
              <a:rPr lang="fr-FR" dirty="0">
                <a:hlinkClick r:id="rId3"/>
              </a:rPr>
              <a:t>journaux de log</a:t>
            </a:r>
            <a:r>
              <a:rPr lang="fr-FR" dirty="0"/>
              <a:t> les requêtes non conformes aux privilèges accordés à un utilisateur. Il peut être intéressant de les surveiller afin de détecter toute anomalie dénotant des tentatives de piratage. </a:t>
            </a:r>
          </a:p>
          <a:p>
            <a:r>
              <a:rPr lang="fr-FR" b="1" dirty="0"/>
              <a:t>Règle n° 7 :</a:t>
            </a:r>
            <a:r>
              <a:rPr lang="fr-FR" dirty="0"/>
              <a:t> restrictions sur une application en fonction du public.</a:t>
            </a:r>
            <a:br>
              <a:rPr lang="fr-FR" dirty="0"/>
            </a:br>
            <a:r>
              <a:rPr lang="fr-FR" dirty="0"/>
              <a:t>Une même application web peut avoir plusieurs interfaces différentes selon le contexte d'utilisation : Internet / intranet. Par exemple, un magazine de presse en ligne propose une interface de consultation pour tous ainsi qu'un espace d'administration sécurisé. Dans cet exemple, il sera logique d'avoir deux comptes utilisateurs différents à la base de données : le premier en lecture seule sur les tables et colonnes concernant les articles de presse et leurs catégories, le second en écriture. Ainsi, en cas d'attaque du site Internet, seules des lectures inoffensives peuvent éventuellement être réalisées. L'application web choisira le compte d'accès à utiliser selon le contexte d'utilisation. </a:t>
            </a:r>
          </a:p>
          <a:p>
            <a:endParaRPr lang="fr-FR" dirty="0"/>
          </a:p>
        </p:txBody>
      </p:sp>
      <p:sp>
        <p:nvSpPr>
          <p:cNvPr id="4" name="Espace réservé du numéro de diapositive 3"/>
          <p:cNvSpPr>
            <a:spLocks noGrp="1"/>
          </p:cNvSpPr>
          <p:nvPr>
            <p:ph type="sldNum" sz="quarter" idx="5"/>
          </p:nvPr>
        </p:nvSpPr>
        <p:spPr/>
        <p:txBody>
          <a:bodyPr/>
          <a:lstStyle/>
          <a:p>
            <a:fld id="{8213DBAE-CFC5-48DB-A6E2-3E59F72959E7}" type="slidenum">
              <a:rPr lang="fr-FR" smtClean="0"/>
              <a:t>240</a:t>
            </a:fld>
            <a:endParaRPr lang="fr-FR"/>
          </a:p>
        </p:txBody>
      </p:sp>
    </p:spTree>
    <p:extLst>
      <p:ext uri="{BB962C8B-B14F-4D97-AF65-F5344CB8AC3E}">
        <p14:creationId xmlns:p14="http://schemas.microsoft.com/office/powerpoint/2010/main" val="12364425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fr-FR"/>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0A58EABF-1460-4ED4-8747-7A31371F3753}" type="datetime1">
              <a:rPr lang="de-DE" smtClean="0"/>
              <a:t>16.10.2025</a:t>
            </a:fld>
            <a:endParaRPr lang="de-DE"/>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de-DE"/>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27C6CCC6-2BE5-4E42-96A4-D1E8E81A3D8E}" type="slidenum">
              <a:rPr lang="de-DE" smtClean="0"/>
              <a:t>‹N°›</a:t>
            </a:fld>
            <a:endParaRPr lang="de-DE"/>
          </a:p>
        </p:txBody>
      </p:sp>
    </p:spTree>
    <p:extLst>
      <p:ext uri="{BB962C8B-B14F-4D97-AF65-F5344CB8AC3E}">
        <p14:creationId xmlns:p14="http://schemas.microsoft.com/office/powerpoint/2010/main" val="338709269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A58EABF-1460-4ED4-8747-7A31371F3753}" type="datetime1">
              <a:rPr lang="de-DE" smtClean="0"/>
              <a:t>16.10.2025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10161509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0A58EABF-1460-4ED4-8747-7A31371F3753}" type="datetime1">
              <a:rPr lang="de-DE" smtClean="0"/>
              <a:t>16.10.2025</a:t>
            </a:fld>
            <a:endParaRPr lang="de-DE"/>
          </a:p>
        </p:txBody>
      </p:sp>
      <p:sp>
        <p:nvSpPr>
          <p:cNvPr id="5" name="Footer Placeholder 4"/>
          <p:cNvSpPr>
            <a:spLocks noGrp="1"/>
          </p:cNvSpPr>
          <p:nvPr>
            <p:ph type="ftr" sz="quarter" idx="11"/>
          </p:nvPr>
        </p:nvSpPr>
        <p:spPr/>
        <p:txBody>
          <a:bodyPr/>
          <a:lstStyle/>
          <a:p>
            <a:endParaRPr lang="de-DE"/>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79706766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0A58EABF-1460-4ED4-8747-7A31371F3753}" type="datetime1">
              <a:rPr lang="de-DE" smtClean="0"/>
              <a:t>16.10.2025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191947235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0A58EABF-1460-4ED4-8747-7A31371F3753}" type="datetime1">
              <a:rPr lang="de-DE" smtClean="0"/>
              <a:t>16.10.2025</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170528979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0A58EABF-1460-4ED4-8747-7A31371F3753}" type="datetime1">
              <a:rPr lang="de-DE" smtClean="0"/>
              <a:t>16.10.2025</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182398983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58EABF-1460-4ED4-8747-7A31371F3753}" type="datetime1">
              <a:rPr lang="de-DE" smtClean="0"/>
              <a:t>16.10.2025</a:t>
            </a:fld>
            <a:endParaRPr lang="de-DE"/>
          </a:p>
        </p:txBody>
      </p:sp>
      <p:sp>
        <p:nvSpPr>
          <p:cNvPr id="3" name="Footer Placeholder 2"/>
          <p:cNvSpPr>
            <a:spLocks noGrp="1"/>
          </p:cNvSpPr>
          <p:nvPr>
            <p:ph type="ftr" sz="quarter" idx="11"/>
          </p:nvPr>
        </p:nvSpPr>
        <p:spPr/>
        <p:txBody>
          <a:bodyPr/>
          <a:lstStyle/>
          <a:p>
            <a:endParaRPr lang="de-DE"/>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4165576613"/>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0A58EABF-1460-4ED4-8747-7A31371F3753}" type="datetime1">
              <a:rPr lang="de-DE" smtClean="0"/>
              <a:t>16.10.2025</a:t>
            </a:fld>
            <a:endParaRPr lang="de-DE"/>
          </a:p>
        </p:txBody>
      </p:sp>
      <p:sp>
        <p:nvSpPr>
          <p:cNvPr id="6" name="Footer Placeholder 5"/>
          <p:cNvSpPr>
            <a:spLocks noGrp="1"/>
          </p:cNvSpPr>
          <p:nvPr>
            <p:ph type="ftr" sz="quarter" idx="11"/>
          </p:nvPr>
        </p:nvSpPr>
        <p:spPr/>
        <p:txBody>
          <a:bodyPr/>
          <a:lstStyle/>
          <a:p>
            <a:endParaRPr lang="de-DE"/>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30217812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fr-FR"/>
              <a:t>Modifiez le style du titre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0A58EABF-1460-4ED4-8747-7A31371F3753}" type="datetime1">
              <a:rPr lang="de-DE" smtClean="0"/>
              <a:t>16.10.2025</a:t>
            </a:fld>
            <a:endParaRPr lang="de-DE"/>
          </a:p>
        </p:txBody>
      </p:sp>
      <p:sp>
        <p:nvSpPr>
          <p:cNvPr id="6" name="Footer Placeholder 5"/>
          <p:cNvSpPr>
            <a:spLocks noGrp="1"/>
          </p:cNvSpPr>
          <p:nvPr>
            <p:ph type="ftr" sz="quarter" idx="11"/>
          </p:nvPr>
        </p:nvSpPr>
        <p:spPr/>
        <p:txBody>
          <a:bodyPr/>
          <a:lstStyle/>
          <a:p>
            <a:endParaRPr lang="de-DE"/>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420583779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0A58EABF-1460-4ED4-8747-7A31371F3753}" type="datetime1">
              <a:rPr lang="de-DE" smtClean="0"/>
              <a:t>16.10.2025</a:t>
            </a:fld>
            <a:endParaRPr lang="de-DE"/>
          </a:p>
        </p:txBody>
      </p:sp>
      <p:sp>
        <p:nvSpPr>
          <p:cNvPr id="6" name="Footer Placeholder 5"/>
          <p:cNvSpPr>
            <a:spLocks noGrp="1"/>
          </p:cNvSpPr>
          <p:nvPr>
            <p:ph type="ftr" sz="quarter" idx="11"/>
          </p:nvPr>
        </p:nvSpPr>
        <p:spPr/>
        <p:txBody>
          <a:bodyPr/>
          <a:lstStyle/>
          <a:p>
            <a:endParaRPr lang="de-DE"/>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190265634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fr-FR"/>
              <a:t>Modifiez le style du titre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4" name="Date Placeholder 3"/>
          <p:cNvSpPr>
            <a:spLocks noGrp="1"/>
          </p:cNvSpPr>
          <p:nvPr>
            <p:ph type="dt" sz="half" idx="10"/>
          </p:nvPr>
        </p:nvSpPr>
        <p:spPr/>
        <p:txBody>
          <a:bodyPr/>
          <a:lstStyle/>
          <a:p>
            <a:fld id="{0A58EABF-1460-4ED4-8747-7A31371F3753}" type="datetime1">
              <a:rPr lang="de-DE" smtClean="0"/>
              <a:t>16.10.2025</a:t>
            </a:fld>
            <a:endParaRPr lang="de-DE"/>
          </a:p>
        </p:txBody>
      </p:sp>
      <p:sp>
        <p:nvSpPr>
          <p:cNvPr id="5" name="Footer Placeholder 4"/>
          <p:cNvSpPr>
            <a:spLocks noGrp="1"/>
          </p:cNvSpPr>
          <p:nvPr>
            <p:ph type="ftr" sz="quarter" idx="11"/>
          </p:nvPr>
        </p:nvSpPr>
        <p:spPr/>
        <p:txBody>
          <a:bodyPr/>
          <a:lstStyle/>
          <a:p>
            <a:endParaRPr lang="de-DE"/>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411175165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fr-FR"/>
              <a:t>Modifiez le style du titre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4" name="Date Placeholder 3"/>
          <p:cNvSpPr>
            <a:spLocks noGrp="1"/>
          </p:cNvSpPr>
          <p:nvPr>
            <p:ph type="dt" sz="half" idx="10"/>
          </p:nvPr>
        </p:nvSpPr>
        <p:spPr/>
        <p:txBody>
          <a:bodyPr/>
          <a:lstStyle/>
          <a:p>
            <a:fld id="{0A58EABF-1460-4ED4-8747-7A31371F3753}" type="datetime1">
              <a:rPr lang="de-DE" smtClean="0"/>
              <a:t>16.10.2025</a:t>
            </a:fld>
            <a:endParaRPr lang="de-DE"/>
          </a:p>
        </p:txBody>
      </p:sp>
      <p:sp>
        <p:nvSpPr>
          <p:cNvPr id="5" name="Footer Placeholder 4"/>
          <p:cNvSpPr>
            <a:spLocks noGrp="1"/>
          </p:cNvSpPr>
          <p:nvPr>
            <p:ph type="ftr" sz="quarter" idx="11"/>
          </p:nvPr>
        </p:nvSpPr>
        <p:spPr/>
        <p:txBody>
          <a:bodyPr/>
          <a:lstStyle/>
          <a:p>
            <a:endParaRPr lang="de-DE"/>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401270489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0A58EABF-1460-4ED4-8747-7A31371F3753}" type="datetime1">
              <a:rPr lang="de-DE" smtClean="0"/>
              <a:t>16.10.2025</a:t>
            </a:fld>
            <a:endParaRPr lang="de-DE"/>
          </a:p>
        </p:txBody>
      </p:sp>
      <p:sp>
        <p:nvSpPr>
          <p:cNvPr id="5" name="Footer Placeholder 4"/>
          <p:cNvSpPr>
            <a:spLocks noGrp="1"/>
          </p:cNvSpPr>
          <p:nvPr>
            <p:ph type="ftr" sz="quarter" idx="11"/>
          </p:nvPr>
        </p:nvSpPr>
        <p:spPr/>
        <p:txBody>
          <a:bodyPr/>
          <a:lstStyle/>
          <a:p>
            <a:endParaRPr lang="de-DE"/>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74768006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A58EABF-1460-4ED4-8747-7A31371F3753}" type="datetime1">
              <a:rPr lang="de-DE" smtClean="0"/>
              <a:t>16.10.2025</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312632881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A58EABF-1460-4ED4-8747-7A31371F3753}" type="datetime1">
              <a:rPr lang="de-DE" smtClean="0"/>
              <a:t>16.10.2025</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412077577"/>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nchorCtr="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A58EABF-1460-4ED4-8747-7A31371F3753}" type="datetime1">
              <a:rPr lang="de-DE" smtClean="0"/>
              <a:t>16.10.2025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1720255531"/>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fr-FR"/>
              <a:t>Modifiez le style du titre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A58EABF-1460-4ED4-8747-7A31371F3753}" type="datetime1">
              <a:rPr lang="de-DE" smtClean="0"/>
              <a:t>16.10.2025</a:t>
            </a:fld>
            <a:endParaRPr lang="de-DE"/>
          </a:p>
        </p:txBody>
      </p:sp>
      <p:sp>
        <p:nvSpPr>
          <p:cNvPr id="5" name="Footer Placeholder 4"/>
          <p:cNvSpPr>
            <a:spLocks noGrp="1"/>
          </p:cNvSpPr>
          <p:nvPr>
            <p:ph type="ftr" sz="quarter" idx="11"/>
          </p:nvPr>
        </p:nvSpPr>
        <p:spPr/>
        <p:txBody>
          <a:bodyPr/>
          <a:lstStyle/>
          <a:p>
            <a:endParaRPr lang="de-DE"/>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6CCC6-2BE5-4E42-96A4-D1E8E81A3D8E}" type="slidenum">
              <a:rPr lang="de-DE" smtClean="0"/>
              <a:t>‹N°›</a:t>
            </a:fld>
            <a:endParaRPr lang="de-DE"/>
          </a:p>
        </p:txBody>
      </p:sp>
    </p:spTree>
    <p:extLst>
      <p:ext uri="{BB962C8B-B14F-4D97-AF65-F5344CB8AC3E}">
        <p14:creationId xmlns:p14="http://schemas.microsoft.com/office/powerpoint/2010/main" val="2023865968"/>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fr-FR"/>
            </a:p>
          </p:txBody>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fr-FR"/>
            </a:p>
          </p:txBody>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fr-FR"/>
            </a:p>
          </p:txBody>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fr-FR"/>
              <a:t>Modifiez le style du titre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0A58EABF-1460-4ED4-8747-7A31371F3753}" type="datetime1">
              <a:rPr lang="de-DE" smtClean="0"/>
              <a:t>16.10.2025</a:t>
            </a:fld>
            <a:endParaRPr lang="de-DE"/>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de-DE"/>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27C6CCC6-2BE5-4E42-96A4-D1E8E81A3D8E}" type="slidenum">
              <a:rPr lang="de-DE" smtClean="0"/>
              <a:t>‹N°›</a:t>
            </a:fld>
            <a:endParaRPr lang="de-DE"/>
          </a:p>
        </p:txBody>
      </p:sp>
    </p:spTree>
    <p:extLst>
      <p:ext uri="{BB962C8B-B14F-4D97-AF65-F5344CB8AC3E}">
        <p14:creationId xmlns:p14="http://schemas.microsoft.com/office/powerpoint/2010/main" val="483398344"/>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 id="2147483757"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mailto:smith@gmail.com" TargetMode="External"/><Relationship Id="rId2" Type="http://schemas.openxmlformats.org/officeDocument/2006/relationships/hyperlink" Target="mailto:john@gmail.com" TargetMode="External"/><Relationship Id="rId1" Type="http://schemas.openxmlformats.org/officeDocument/2006/relationships/slideLayout" Target="../slideLayouts/slideLayout2.xml"/><Relationship Id="rId5" Type="http://schemas.openxmlformats.org/officeDocument/2006/relationships/hyperlink" Target="mailto:joe@live.com" TargetMode="External"/><Relationship Id="rId4" Type="http://schemas.openxmlformats.org/officeDocument/2006/relationships/hyperlink" Target="mailto:johnson@gmail.com"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hyperlink" Target="mailto:smith@gmail.com" TargetMode="External"/><Relationship Id="rId2" Type="http://schemas.openxmlformats.org/officeDocument/2006/relationships/hyperlink" Target="mailto:john@gmail.com" TargetMode="External"/><Relationship Id="rId1" Type="http://schemas.openxmlformats.org/officeDocument/2006/relationships/slideLayout" Target="../slideLayouts/slideLayout2.xml"/><Relationship Id="rId4" Type="http://schemas.openxmlformats.org/officeDocument/2006/relationships/hyperlink" Target="mailto:johnson@gmail.com"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1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1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hyperlink" Target="https://en.wikipedia.org/wiki/Database_normalization" TargetMode="Externa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0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a:bodyPr>
          <a:lstStyle/>
          <a:p>
            <a:r>
              <a:rPr lang="de-DE" dirty="0">
                <a:cs typeface="Calibri Light"/>
              </a:rPr>
              <a:t>BD70 – </a:t>
            </a:r>
            <a:r>
              <a:rPr lang="fr-FR" dirty="0"/>
              <a:t>Conception et Administration des Bases de Données</a:t>
            </a:r>
            <a:endParaRPr lang="de-DE" dirty="0"/>
          </a:p>
        </p:txBody>
      </p:sp>
      <p:sp>
        <p:nvSpPr>
          <p:cNvPr id="3" name="Sous-titre 2"/>
          <p:cNvSpPr>
            <a:spLocks noGrp="1"/>
          </p:cNvSpPr>
          <p:nvPr>
            <p:ph type="subTitle" idx="1"/>
          </p:nvPr>
        </p:nvSpPr>
        <p:spPr/>
        <p:txBody>
          <a:bodyPr vert="horz" lIns="91440" tIns="45720" rIns="91440" bIns="45720" rtlCol="0" anchor="t">
            <a:normAutofit/>
          </a:bodyPr>
          <a:lstStyle/>
          <a:p>
            <a:r>
              <a:rPr lang="de-DE">
                <a:cs typeface="Calibri"/>
              </a:rPr>
              <a:t>Alexandre Lombard – alexandre.lombard@utbm.fr</a:t>
            </a:r>
          </a:p>
        </p:txBody>
      </p:sp>
    </p:spTree>
    <p:extLst>
      <p:ext uri="{BB962C8B-B14F-4D97-AF65-F5344CB8AC3E}">
        <p14:creationId xmlns:p14="http://schemas.microsoft.com/office/powerpoint/2010/main" val="3784089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2B9034-0A18-4C29-8020-9CC2947C42AE}"/>
              </a:ext>
            </a:extLst>
          </p:cNvPr>
          <p:cNvSpPr>
            <a:spLocks noGrp="1"/>
          </p:cNvSpPr>
          <p:nvPr>
            <p:ph type="title"/>
          </p:nvPr>
        </p:nvSpPr>
        <p:spPr/>
        <p:txBody>
          <a:bodyPr/>
          <a:lstStyle/>
          <a:p>
            <a:r>
              <a:rPr lang="fr-FR"/>
              <a:t>Objectifs de l’UV</a:t>
            </a:r>
          </a:p>
        </p:txBody>
      </p:sp>
      <p:sp>
        <p:nvSpPr>
          <p:cNvPr id="3" name="Espace réservé du contenu 2">
            <a:extLst>
              <a:ext uri="{FF2B5EF4-FFF2-40B4-BE49-F238E27FC236}">
                <a16:creationId xmlns:a16="http://schemas.microsoft.com/office/drawing/2014/main" id="{0E4B4B21-F8D0-43A5-9500-BA5ED9F760F8}"/>
              </a:ext>
            </a:extLst>
          </p:cNvPr>
          <p:cNvSpPr>
            <a:spLocks noGrp="1"/>
          </p:cNvSpPr>
          <p:nvPr>
            <p:ph idx="1"/>
          </p:nvPr>
        </p:nvSpPr>
        <p:spPr/>
        <p:txBody>
          <a:bodyPr/>
          <a:lstStyle/>
          <a:p>
            <a:r>
              <a:rPr lang="fr-FR" dirty="0"/>
              <a:t>A la fin de cette UV, vous devez :</a:t>
            </a:r>
          </a:p>
          <a:p>
            <a:pPr lvl="1"/>
            <a:r>
              <a:rPr lang="fr-FR" dirty="0"/>
              <a:t>Connaître les principes généraux des systèmes d'information (SI)</a:t>
            </a:r>
          </a:p>
          <a:p>
            <a:pPr lvl="1"/>
            <a:r>
              <a:rPr lang="fr-FR" dirty="0"/>
              <a:t>Savoir ce qu'est une base de données relationnelles et l’administrer</a:t>
            </a:r>
          </a:p>
          <a:p>
            <a:pPr lvl="1"/>
            <a:r>
              <a:rPr lang="fr-FR" dirty="0"/>
              <a:t>Pouvoir concevoir un système d'information pour répondre à une problématique</a:t>
            </a:r>
          </a:p>
          <a:p>
            <a:pPr lvl="1"/>
            <a:r>
              <a:rPr lang="fr-FR" dirty="0"/>
              <a:t>Être capable d’interroger un SI pour en extraire des informations</a:t>
            </a:r>
          </a:p>
        </p:txBody>
      </p:sp>
      <p:sp>
        <p:nvSpPr>
          <p:cNvPr id="6" name="Espace réservé du numéro de diapositive 5">
            <a:extLst>
              <a:ext uri="{FF2B5EF4-FFF2-40B4-BE49-F238E27FC236}">
                <a16:creationId xmlns:a16="http://schemas.microsoft.com/office/drawing/2014/main" id="{82038234-833E-4DF0-89BB-5B9A8FC46FAB}"/>
              </a:ext>
            </a:extLst>
          </p:cNvPr>
          <p:cNvSpPr>
            <a:spLocks noGrp="1"/>
          </p:cNvSpPr>
          <p:nvPr>
            <p:ph type="sldNum" sz="quarter" idx="12"/>
          </p:nvPr>
        </p:nvSpPr>
        <p:spPr/>
        <p:txBody>
          <a:bodyPr/>
          <a:lstStyle/>
          <a:p>
            <a:fld id="{27C6CCC6-2BE5-4E42-96A4-D1E8E81A3D8E}" type="slidenum">
              <a:rPr lang="de-DE" smtClean="0"/>
              <a:t>2</a:t>
            </a:fld>
            <a:endParaRPr lang="de-DE"/>
          </a:p>
        </p:txBody>
      </p:sp>
    </p:spTree>
    <p:extLst>
      <p:ext uri="{BB962C8B-B14F-4D97-AF65-F5344CB8AC3E}">
        <p14:creationId xmlns:p14="http://schemas.microsoft.com/office/powerpoint/2010/main" val="2374881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2B9034-0A18-4C29-8020-9CC2947C42AE}"/>
              </a:ext>
            </a:extLst>
          </p:cNvPr>
          <p:cNvSpPr>
            <a:spLocks noGrp="1"/>
          </p:cNvSpPr>
          <p:nvPr>
            <p:ph type="title"/>
          </p:nvPr>
        </p:nvSpPr>
        <p:spPr/>
        <p:txBody>
          <a:bodyPr/>
          <a:lstStyle/>
          <a:p>
            <a:r>
              <a:rPr lang="fr-FR"/>
              <a:t>Objectifs de l’UV</a:t>
            </a:r>
          </a:p>
        </p:txBody>
      </p:sp>
      <p:sp>
        <p:nvSpPr>
          <p:cNvPr id="3" name="Espace réservé du contenu 2">
            <a:extLst>
              <a:ext uri="{FF2B5EF4-FFF2-40B4-BE49-F238E27FC236}">
                <a16:creationId xmlns:a16="http://schemas.microsoft.com/office/drawing/2014/main" id="{0E4B4B21-F8D0-43A5-9500-BA5ED9F760F8}"/>
              </a:ext>
            </a:extLst>
          </p:cNvPr>
          <p:cNvSpPr>
            <a:spLocks noGrp="1"/>
          </p:cNvSpPr>
          <p:nvPr>
            <p:ph idx="1"/>
          </p:nvPr>
        </p:nvSpPr>
        <p:spPr/>
        <p:txBody>
          <a:bodyPr/>
          <a:lstStyle/>
          <a:p>
            <a:r>
              <a:rPr lang="fr-FR" dirty="0"/>
              <a:t>UV orientée pratique :</a:t>
            </a:r>
          </a:p>
          <a:p>
            <a:pPr lvl="1"/>
            <a:r>
              <a:rPr lang="fr-FR"/>
              <a:t>L’accent est mis sur la conception, l'utilisation et la manipulation des systèmes d'information dans un </a:t>
            </a:r>
            <a:r>
              <a:rPr lang="fr-FR" dirty="0"/>
              <a:t>cadre pratique</a:t>
            </a:r>
          </a:p>
          <a:p>
            <a:pPr lvl="1"/>
            <a:r>
              <a:rPr lang="fr-FR"/>
              <a:t>On s'attache à mettre en œuvre concrètement les outils techniques et méthodologiques permettant la réalisation logicielle d'un système d'information</a:t>
            </a:r>
            <a:endParaRPr lang="fr-FR" dirty="0"/>
          </a:p>
          <a:p>
            <a:pPr lvl="1"/>
            <a:r>
              <a:rPr lang="fr-FR" dirty="0"/>
              <a:t>Cours avec exercices + application pratique en TP</a:t>
            </a:r>
          </a:p>
        </p:txBody>
      </p:sp>
      <p:sp>
        <p:nvSpPr>
          <p:cNvPr id="6" name="Espace réservé du numéro de diapositive 5">
            <a:extLst>
              <a:ext uri="{FF2B5EF4-FFF2-40B4-BE49-F238E27FC236}">
                <a16:creationId xmlns:a16="http://schemas.microsoft.com/office/drawing/2014/main" id="{70D6AF7F-7253-4DF8-AEE2-A24714C0CD1C}"/>
              </a:ext>
            </a:extLst>
          </p:cNvPr>
          <p:cNvSpPr>
            <a:spLocks noGrp="1"/>
          </p:cNvSpPr>
          <p:nvPr>
            <p:ph type="sldNum" sz="quarter" idx="12"/>
          </p:nvPr>
        </p:nvSpPr>
        <p:spPr/>
        <p:txBody>
          <a:bodyPr/>
          <a:lstStyle/>
          <a:p>
            <a:fld id="{27C6CCC6-2BE5-4E42-96A4-D1E8E81A3D8E}" type="slidenum">
              <a:rPr lang="de-DE" smtClean="0"/>
              <a:t>3</a:t>
            </a:fld>
            <a:endParaRPr lang="de-DE"/>
          </a:p>
        </p:txBody>
      </p:sp>
    </p:spTree>
    <p:extLst>
      <p:ext uri="{BB962C8B-B14F-4D97-AF65-F5344CB8AC3E}">
        <p14:creationId xmlns:p14="http://schemas.microsoft.com/office/powerpoint/2010/main" val="3784363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9D6A6-5435-4081-A290-BB72146E4617}"/>
              </a:ext>
            </a:extLst>
          </p:cNvPr>
          <p:cNvSpPr>
            <a:spLocks noGrp="1"/>
          </p:cNvSpPr>
          <p:nvPr>
            <p:ph type="title"/>
          </p:nvPr>
        </p:nvSpPr>
        <p:spPr/>
        <p:txBody>
          <a:bodyPr>
            <a:normAutofit/>
          </a:bodyPr>
          <a:lstStyle/>
          <a:p>
            <a:r>
              <a:rPr lang="fr-FR"/>
              <a:t>Plan de l’UV</a:t>
            </a:r>
          </a:p>
        </p:txBody>
      </p:sp>
      <p:graphicFrame>
        <p:nvGraphicFramePr>
          <p:cNvPr id="14" name="Content Placeholder 2">
            <a:extLst>
              <a:ext uri="{FF2B5EF4-FFF2-40B4-BE49-F238E27FC236}">
                <a16:creationId xmlns:a16="http://schemas.microsoft.com/office/drawing/2014/main" id="{0898B9BB-C9CF-4C2A-99FB-AF3467DC72DD}"/>
              </a:ext>
            </a:extLst>
          </p:cNvPr>
          <p:cNvGraphicFramePr>
            <a:graphicFrameLocks noGrp="1"/>
          </p:cNvGraphicFramePr>
          <p:nvPr>
            <p:ph idx="1"/>
            <p:extLst>
              <p:ext uri="{D42A27DB-BD31-4B8C-83A1-F6EECF244321}">
                <p14:modId xmlns:p14="http://schemas.microsoft.com/office/powerpoint/2010/main" val="2946701478"/>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numéro de diapositive 4">
            <a:extLst>
              <a:ext uri="{FF2B5EF4-FFF2-40B4-BE49-F238E27FC236}">
                <a16:creationId xmlns:a16="http://schemas.microsoft.com/office/drawing/2014/main" id="{EB0829A2-9C7C-48A3-AF89-8F187178F6AD}"/>
              </a:ext>
            </a:extLst>
          </p:cNvPr>
          <p:cNvSpPr>
            <a:spLocks noGrp="1"/>
          </p:cNvSpPr>
          <p:nvPr>
            <p:ph type="sldNum" sz="quarter" idx="12"/>
          </p:nvPr>
        </p:nvSpPr>
        <p:spPr/>
        <p:txBody>
          <a:bodyPr/>
          <a:lstStyle/>
          <a:p>
            <a:fld id="{27C6CCC6-2BE5-4E42-96A4-D1E8E81A3D8E}" type="slidenum">
              <a:rPr lang="de-DE" smtClean="0"/>
              <a:t>4</a:t>
            </a:fld>
            <a:endParaRPr lang="de-DE"/>
          </a:p>
        </p:txBody>
      </p:sp>
    </p:spTree>
    <p:extLst>
      <p:ext uri="{BB962C8B-B14F-4D97-AF65-F5344CB8AC3E}">
        <p14:creationId xmlns:p14="http://schemas.microsoft.com/office/powerpoint/2010/main" val="3580247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7CD3A-3F08-4F7D-8A29-7C8E6D4E73EB}"/>
              </a:ext>
            </a:extLst>
          </p:cNvPr>
          <p:cNvSpPr>
            <a:spLocks noGrp="1"/>
          </p:cNvSpPr>
          <p:nvPr>
            <p:ph type="title"/>
          </p:nvPr>
        </p:nvSpPr>
        <p:spPr/>
        <p:txBody>
          <a:bodyPr>
            <a:normAutofit/>
          </a:bodyPr>
          <a:lstStyle/>
          <a:p>
            <a:r>
              <a:rPr lang="fr-FR">
                <a:cs typeface="Calibri Light"/>
              </a:rPr>
              <a:t>Modalités d'évaluation</a:t>
            </a:r>
            <a:endParaRPr lang="fr-FR"/>
          </a:p>
        </p:txBody>
      </p:sp>
      <p:graphicFrame>
        <p:nvGraphicFramePr>
          <p:cNvPr id="5" name="Content Placeholder 2">
            <a:extLst>
              <a:ext uri="{FF2B5EF4-FFF2-40B4-BE49-F238E27FC236}">
                <a16:creationId xmlns:a16="http://schemas.microsoft.com/office/drawing/2014/main" id="{E179D5BD-A18D-4954-95E4-B530D5D6B7CE}"/>
              </a:ext>
            </a:extLst>
          </p:cNvPr>
          <p:cNvGraphicFramePr>
            <a:graphicFrameLocks noGrp="1"/>
          </p:cNvGraphicFramePr>
          <p:nvPr>
            <p:ph idx="1"/>
            <p:extLst>
              <p:ext uri="{D42A27DB-BD31-4B8C-83A1-F6EECF244321}">
                <p14:modId xmlns:p14="http://schemas.microsoft.com/office/powerpoint/2010/main" val="2137327678"/>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Espace réservé du numéro de diapositive 5">
            <a:extLst>
              <a:ext uri="{FF2B5EF4-FFF2-40B4-BE49-F238E27FC236}">
                <a16:creationId xmlns:a16="http://schemas.microsoft.com/office/drawing/2014/main" id="{93CB5725-00A1-4FD5-92ED-EFDDC1AD28BE}"/>
              </a:ext>
            </a:extLst>
          </p:cNvPr>
          <p:cNvSpPr>
            <a:spLocks noGrp="1"/>
          </p:cNvSpPr>
          <p:nvPr>
            <p:ph type="sldNum" sz="quarter" idx="12"/>
          </p:nvPr>
        </p:nvSpPr>
        <p:spPr/>
        <p:txBody>
          <a:bodyPr/>
          <a:lstStyle/>
          <a:p>
            <a:fld id="{27C6CCC6-2BE5-4E42-96A4-D1E8E81A3D8E}" type="slidenum">
              <a:rPr lang="de-DE" smtClean="0"/>
              <a:t>5</a:t>
            </a:fld>
            <a:endParaRPr lang="de-DE"/>
          </a:p>
        </p:txBody>
      </p:sp>
    </p:spTree>
    <p:extLst>
      <p:ext uri="{BB962C8B-B14F-4D97-AF65-F5344CB8AC3E}">
        <p14:creationId xmlns:p14="http://schemas.microsoft.com/office/powerpoint/2010/main" val="4165333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2CEB0-FB4C-4C77-A2B1-D6A5588C6215}"/>
              </a:ext>
            </a:extLst>
          </p:cNvPr>
          <p:cNvSpPr>
            <a:spLocks noGrp="1"/>
          </p:cNvSpPr>
          <p:nvPr>
            <p:ph type="title"/>
          </p:nvPr>
        </p:nvSpPr>
        <p:spPr/>
        <p:txBody>
          <a:bodyPr/>
          <a:lstStyle/>
          <a:p>
            <a:r>
              <a:rPr lang="fr-FR">
                <a:cs typeface="Calibri Light"/>
              </a:rPr>
              <a:t>Projets</a:t>
            </a:r>
            <a:endParaRPr lang="fr-FR"/>
          </a:p>
        </p:txBody>
      </p:sp>
      <p:sp>
        <p:nvSpPr>
          <p:cNvPr id="3" name="Content Placeholder 2">
            <a:extLst>
              <a:ext uri="{FF2B5EF4-FFF2-40B4-BE49-F238E27FC236}">
                <a16:creationId xmlns:a16="http://schemas.microsoft.com/office/drawing/2014/main" id="{FA48B2EC-BBE5-4343-A11D-09AB7BD1BA69}"/>
              </a:ext>
            </a:extLst>
          </p:cNvPr>
          <p:cNvSpPr>
            <a:spLocks noGrp="1"/>
          </p:cNvSpPr>
          <p:nvPr>
            <p:ph idx="1"/>
          </p:nvPr>
        </p:nvSpPr>
        <p:spPr/>
        <p:txBody>
          <a:bodyPr vert="horz" lIns="91440" tIns="45720" rIns="91440" bIns="45720" rtlCol="0" anchor="ctr">
            <a:normAutofit/>
          </a:bodyPr>
          <a:lstStyle/>
          <a:p>
            <a:r>
              <a:rPr lang="fr-FR" dirty="0">
                <a:cs typeface="Calibri"/>
              </a:rPr>
              <a:t>Un sujet au choix parmi :</a:t>
            </a:r>
          </a:p>
          <a:p>
            <a:pPr lvl="1"/>
            <a:r>
              <a:rPr lang="fr-FR" dirty="0">
                <a:cs typeface="Calibri"/>
              </a:rPr>
              <a:t>Système de gestion d’agence de voyage</a:t>
            </a:r>
          </a:p>
          <a:p>
            <a:pPr lvl="1"/>
            <a:r>
              <a:rPr lang="fr-FR" dirty="0">
                <a:cs typeface="Calibri"/>
              </a:rPr>
              <a:t>Système de recommandation de recettes de cuisine</a:t>
            </a:r>
          </a:p>
          <a:p>
            <a:r>
              <a:rPr lang="fr-FR" dirty="0">
                <a:cs typeface="Calibri"/>
              </a:rPr>
              <a:t>Possibilité de suggérer un sujet personnel :</a:t>
            </a:r>
          </a:p>
          <a:p>
            <a:pPr lvl="1"/>
            <a:r>
              <a:rPr lang="fr-FR" dirty="0">
                <a:cs typeface="Calibri"/>
              </a:rPr>
              <a:t>Accord requis (si le sujet n’a pas été validé, le projet ne sera pas évalué)</a:t>
            </a:r>
          </a:p>
          <a:p>
            <a:pPr lvl="1"/>
            <a:r>
              <a:rPr lang="fr-FR" dirty="0">
                <a:cs typeface="Calibri"/>
              </a:rPr>
              <a:t>Envoyer un email à « alexandre.lombard@utbm.fr » avec la description du projet pour validation</a:t>
            </a:r>
          </a:p>
        </p:txBody>
      </p:sp>
      <p:sp>
        <p:nvSpPr>
          <p:cNvPr id="6" name="Espace réservé du numéro de diapositive 5">
            <a:extLst>
              <a:ext uri="{FF2B5EF4-FFF2-40B4-BE49-F238E27FC236}">
                <a16:creationId xmlns:a16="http://schemas.microsoft.com/office/drawing/2014/main" id="{60F9A53B-34F1-4EFD-854C-8165BD2C1E73}"/>
              </a:ext>
            </a:extLst>
          </p:cNvPr>
          <p:cNvSpPr>
            <a:spLocks noGrp="1"/>
          </p:cNvSpPr>
          <p:nvPr>
            <p:ph type="sldNum" sz="quarter" idx="12"/>
          </p:nvPr>
        </p:nvSpPr>
        <p:spPr/>
        <p:txBody>
          <a:bodyPr/>
          <a:lstStyle/>
          <a:p>
            <a:fld id="{27C6CCC6-2BE5-4E42-96A4-D1E8E81A3D8E}" type="slidenum">
              <a:rPr lang="de-DE" smtClean="0"/>
              <a:t>6</a:t>
            </a:fld>
            <a:endParaRPr lang="de-DE"/>
          </a:p>
        </p:txBody>
      </p:sp>
    </p:spTree>
    <p:extLst>
      <p:ext uri="{BB962C8B-B14F-4D97-AF65-F5344CB8AC3E}">
        <p14:creationId xmlns:p14="http://schemas.microsoft.com/office/powerpoint/2010/main" val="1983212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489EBB-89A9-4503-B9B6-FEC81640BC39}"/>
              </a:ext>
            </a:extLst>
          </p:cNvPr>
          <p:cNvSpPr>
            <a:spLocks noGrp="1"/>
          </p:cNvSpPr>
          <p:nvPr>
            <p:ph type="title"/>
          </p:nvPr>
        </p:nvSpPr>
        <p:spPr/>
        <p:txBody>
          <a:bodyPr/>
          <a:lstStyle/>
          <a:p>
            <a:r>
              <a:rPr lang="fr-FR"/>
              <a:t>Projets</a:t>
            </a:r>
          </a:p>
        </p:txBody>
      </p:sp>
      <p:sp>
        <p:nvSpPr>
          <p:cNvPr id="3" name="Espace réservé du contenu 2">
            <a:extLst>
              <a:ext uri="{FF2B5EF4-FFF2-40B4-BE49-F238E27FC236}">
                <a16:creationId xmlns:a16="http://schemas.microsoft.com/office/drawing/2014/main" id="{64A8A3CC-FCDF-48B6-835D-B0784CAC8FD9}"/>
              </a:ext>
            </a:extLst>
          </p:cNvPr>
          <p:cNvSpPr>
            <a:spLocks noGrp="1"/>
          </p:cNvSpPr>
          <p:nvPr>
            <p:ph idx="1"/>
          </p:nvPr>
        </p:nvSpPr>
        <p:spPr/>
        <p:txBody>
          <a:bodyPr>
            <a:normAutofit/>
          </a:bodyPr>
          <a:lstStyle/>
          <a:p>
            <a:r>
              <a:rPr lang="fr-FR" dirty="0"/>
              <a:t>Fonctions attendues (a minima) :</a:t>
            </a:r>
          </a:p>
          <a:p>
            <a:pPr lvl="1"/>
            <a:r>
              <a:rPr lang="fr-FR" dirty="0"/>
              <a:t>Ajouter, éditer ou supprimer des données</a:t>
            </a:r>
          </a:p>
          <a:p>
            <a:pPr lvl="1"/>
            <a:r>
              <a:rPr lang="fr-FR" dirty="0"/>
              <a:t>Rechercher des données</a:t>
            </a:r>
          </a:p>
          <a:p>
            <a:pPr lvl="1"/>
            <a:r>
              <a:rPr lang="fr-FR" dirty="0"/>
              <a:t>Obtenir des statistiques sur les données, générer des rapports (interface d'administration)</a:t>
            </a:r>
          </a:p>
          <a:p>
            <a:pPr lvl="1"/>
            <a:r>
              <a:rPr lang="fr-FR" dirty="0"/>
              <a:t>Interface graphique permettant de manipuler les différentes fonctions (formulaires)</a:t>
            </a:r>
          </a:p>
          <a:p>
            <a:r>
              <a:rPr lang="fr-FR" dirty="0"/>
              <a:t>Projet à réaliser avec une base SQL (MySQL)</a:t>
            </a:r>
          </a:p>
        </p:txBody>
      </p:sp>
      <p:sp>
        <p:nvSpPr>
          <p:cNvPr id="6" name="Espace réservé du numéro de diapositive 5">
            <a:extLst>
              <a:ext uri="{FF2B5EF4-FFF2-40B4-BE49-F238E27FC236}">
                <a16:creationId xmlns:a16="http://schemas.microsoft.com/office/drawing/2014/main" id="{0046B1D0-881D-4260-BE2A-3F9101D51E40}"/>
              </a:ext>
            </a:extLst>
          </p:cNvPr>
          <p:cNvSpPr>
            <a:spLocks noGrp="1"/>
          </p:cNvSpPr>
          <p:nvPr>
            <p:ph type="sldNum" sz="quarter" idx="12"/>
          </p:nvPr>
        </p:nvSpPr>
        <p:spPr/>
        <p:txBody>
          <a:bodyPr/>
          <a:lstStyle/>
          <a:p>
            <a:fld id="{27C6CCC6-2BE5-4E42-96A4-D1E8E81A3D8E}" type="slidenum">
              <a:rPr lang="de-DE" smtClean="0"/>
              <a:t>7</a:t>
            </a:fld>
            <a:endParaRPr lang="de-DE"/>
          </a:p>
        </p:txBody>
      </p:sp>
    </p:spTree>
    <p:extLst>
      <p:ext uri="{BB962C8B-B14F-4D97-AF65-F5344CB8AC3E}">
        <p14:creationId xmlns:p14="http://schemas.microsoft.com/office/powerpoint/2010/main" val="6821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489EBB-89A9-4503-B9B6-FEC81640BC39}"/>
              </a:ext>
            </a:extLst>
          </p:cNvPr>
          <p:cNvSpPr>
            <a:spLocks noGrp="1"/>
          </p:cNvSpPr>
          <p:nvPr>
            <p:ph type="title"/>
          </p:nvPr>
        </p:nvSpPr>
        <p:spPr/>
        <p:txBody>
          <a:bodyPr/>
          <a:lstStyle/>
          <a:p>
            <a:r>
              <a:rPr lang="fr-FR"/>
              <a:t>Projets</a:t>
            </a:r>
          </a:p>
        </p:txBody>
      </p:sp>
      <p:sp>
        <p:nvSpPr>
          <p:cNvPr id="3" name="Espace réservé du contenu 2">
            <a:extLst>
              <a:ext uri="{FF2B5EF4-FFF2-40B4-BE49-F238E27FC236}">
                <a16:creationId xmlns:a16="http://schemas.microsoft.com/office/drawing/2014/main" id="{64A8A3CC-FCDF-48B6-835D-B0784CAC8FD9}"/>
              </a:ext>
            </a:extLst>
          </p:cNvPr>
          <p:cNvSpPr>
            <a:spLocks noGrp="1"/>
          </p:cNvSpPr>
          <p:nvPr>
            <p:ph idx="1"/>
          </p:nvPr>
        </p:nvSpPr>
        <p:spPr/>
        <p:txBody>
          <a:bodyPr/>
          <a:lstStyle/>
          <a:p>
            <a:r>
              <a:rPr lang="fr-FR" dirty="0"/>
              <a:t>Projet par groupe de 2 ou 3</a:t>
            </a:r>
          </a:p>
          <a:p>
            <a:r>
              <a:rPr lang="fr-FR" dirty="0"/>
              <a:t>Livrables au terme du projet :</a:t>
            </a:r>
          </a:p>
          <a:p>
            <a:pPr lvl="1"/>
            <a:r>
              <a:rPr lang="fr-FR" dirty="0"/>
              <a:t>Ensemble des pages Web réalisées, script d’installation de la base de données</a:t>
            </a:r>
          </a:p>
          <a:p>
            <a:pPr lvl="1"/>
            <a:r>
              <a:rPr lang="fr-FR" dirty="0"/>
              <a:t>Un rapport présentant le projet et le modèle de la base de données</a:t>
            </a:r>
          </a:p>
          <a:p>
            <a:r>
              <a:rPr lang="fr-FR" dirty="0"/>
              <a:t>Soutenance de présentation du projet (10 minutes par projet)</a:t>
            </a:r>
          </a:p>
          <a:p>
            <a:r>
              <a:rPr lang="fr-FR" dirty="0"/>
              <a:t>La qualité de la base de données, ainsi que la quantité et la qualité des fonctions implémentées impacteront la note</a:t>
            </a:r>
          </a:p>
        </p:txBody>
      </p:sp>
      <p:sp>
        <p:nvSpPr>
          <p:cNvPr id="6" name="Espace réservé du numéro de diapositive 5">
            <a:extLst>
              <a:ext uri="{FF2B5EF4-FFF2-40B4-BE49-F238E27FC236}">
                <a16:creationId xmlns:a16="http://schemas.microsoft.com/office/drawing/2014/main" id="{18FAB64F-29E7-4934-A9B7-AC7F8B40C73D}"/>
              </a:ext>
            </a:extLst>
          </p:cNvPr>
          <p:cNvSpPr>
            <a:spLocks noGrp="1"/>
          </p:cNvSpPr>
          <p:nvPr>
            <p:ph type="sldNum" sz="quarter" idx="12"/>
          </p:nvPr>
        </p:nvSpPr>
        <p:spPr/>
        <p:txBody>
          <a:bodyPr/>
          <a:lstStyle/>
          <a:p>
            <a:fld id="{27C6CCC6-2BE5-4E42-96A4-D1E8E81A3D8E}" type="slidenum">
              <a:rPr lang="de-DE" smtClean="0"/>
              <a:t>8</a:t>
            </a:fld>
            <a:endParaRPr lang="de-DE"/>
          </a:p>
        </p:txBody>
      </p:sp>
    </p:spTree>
    <p:extLst>
      <p:ext uri="{BB962C8B-B14F-4D97-AF65-F5344CB8AC3E}">
        <p14:creationId xmlns:p14="http://schemas.microsoft.com/office/powerpoint/2010/main" val="3054882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489EBB-89A9-4503-B9B6-FEC81640BC39}"/>
              </a:ext>
            </a:extLst>
          </p:cNvPr>
          <p:cNvSpPr>
            <a:spLocks noGrp="1"/>
          </p:cNvSpPr>
          <p:nvPr>
            <p:ph type="title"/>
          </p:nvPr>
        </p:nvSpPr>
        <p:spPr/>
        <p:txBody>
          <a:bodyPr/>
          <a:lstStyle/>
          <a:p>
            <a:r>
              <a:rPr lang="fr-FR"/>
              <a:t>Projets</a:t>
            </a:r>
          </a:p>
        </p:txBody>
      </p:sp>
      <p:sp>
        <p:nvSpPr>
          <p:cNvPr id="3" name="Espace réservé du contenu 2">
            <a:extLst>
              <a:ext uri="{FF2B5EF4-FFF2-40B4-BE49-F238E27FC236}">
                <a16:creationId xmlns:a16="http://schemas.microsoft.com/office/drawing/2014/main" id="{64A8A3CC-FCDF-48B6-835D-B0784CAC8FD9}"/>
              </a:ext>
            </a:extLst>
          </p:cNvPr>
          <p:cNvSpPr>
            <a:spLocks noGrp="1"/>
          </p:cNvSpPr>
          <p:nvPr>
            <p:ph idx="1"/>
          </p:nvPr>
        </p:nvSpPr>
        <p:spPr/>
        <p:txBody>
          <a:bodyPr/>
          <a:lstStyle/>
          <a:p>
            <a:r>
              <a:rPr lang="fr-FR" dirty="0"/>
              <a:t>La base de donnée devra impérativement :</a:t>
            </a:r>
          </a:p>
          <a:p>
            <a:pPr lvl="1"/>
            <a:r>
              <a:rPr lang="fr-FR" dirty="0"/>
              <a:t>Être normalisée</a:t>
            </a:r>
          </a:p>
          <a:p>
            <a:pPr lvl="1"/>
            <a:r>
              <a:rPr lang="fr-FR" dirty="0"/>
              <a:t>Être optimisée</a:t>
            </a:r>
          </a:p>
          <a:p>
            <a:pPr lvl="1"/>
            <a:r>
              <a:rPr lang="fr-FR" dirty="0"/>
              <a:t>Mettre en place des stratégies de mise à jour automatique des données</a:t>
            </a:r>
          </a:p>
          <a:p>
            <a:pPr lvl="1"/>
            <a:r>
              <a:rPr lang="fr-FR" dirty="0"/>
              <a:t>Mettre en place des mécanismes d’historisation</a:t>
            </a:r>
          </a:p>
          <a:p>
            <a:r>
              <a:rPr lang="fr-FR" dirty="0"/>
              <a:t>Afin d’évaluer la qualité de la base, elle devra être alimentée en quantité par des données factices</a:t>
            </a:r>
          </a:p>
        </p:txBody>
      </p:sp>
      <p:sp>
        <p:nvSpPr>
          <p:cNvPr id="6" name="Espace réservé du numéro de diapositive 5">
            <a:extLst>
              <a:ext uri="{FF2B5EF4-FFF2-40B4-BE49-F238E27FC236}">
                <a16:creationId xmlns:a16="http://schemas.microsoft.com/office/drawing/2014/main" id="{18FAB64F-29E7-4934-A9B7-AC7F8B40C73D}"/>
              </a:ext>
            </a:extLst>
          </p:cNvPr>
          <p:cNvSpPr>
            <a:spLocks noGrp="1"/>
          </p:cNvSpPr>
          <p:nvPr>
            <p:ph type="sldNum" sz="quarter" idx="12"/>
          </p:nvPr>
        </p:nvSpPr>
        <p:spPr/>
        <p:txBody>
          <a:bodyPr/>
          <a:lstStyle/>
          <a:p>
            <a:fld id="{27C6CCC6-2BE5-4E42-96A4-D1E8E81A3D8E}" type="slidenum">
              <a:rPr lang="de-DE" smtClean="0"/>
              <a:t>9</a:t>
            </a:fld>
            <a:endParaRPr lang="de-DE"/>
          </a:p>
        </p:txBody>
      </p:sp>
    </p:spTree>
    <p:extLst>
      <p:ext uri="{BB962C8B-B14F-4D97-AF65-F5344CB8AC3E}">
        <p14:creationId xmlns:p14="http://schemas.microsoft.com/office/powerpoint/2010/main" val="605899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54D0BF-6373-49BC-A600-BEC44A1FAD64}"/>
              </a:ext>
            </a:extLst>
          </p:cNvPr>
          <p:cNvSpPr>
            <a:spLocks noGrp="1"/>
          </p:cNvSpPr>
          <p:nvPr>
            <p:ph type="title"/>
          </p:nvPr>
        </p:nvSpPr>
        <p:spPr/>
        <p:txBody>
          <a:bodyPr/>
          <a:lstStyle/>
          <a:p>
            <a:r>
              <a:rPr lang="fr-FR" dirty="0"/>
              <a:t>Projet «</a:t>
            </a:r>
            <a:r>
              <a:rPr lang="fr-FR"/>
              <a:t> Agence </a:t>
            </a:r>
            <a:r>
              <a:rPr lang="fr-FR" dirty="0"/>
              <a:t>de voyage »</a:t>
            </a:r>
          </a:p>
        </p:txBody>
      </p:sp>
      <p:sp>
        <p:nvSpPr>
          <p:cNvPr id="3" name="Espace réservé du contenu 2">
            <a:extLst>
              <a:ext uri="{FF2B5EF4-FFF2-40B4-BE49-F238E27FC236}">
                <a16:creationId xmlns:a16="http://schemas.microsoft.com/office/drawing/2014/main" id="{4B1CF9B1-CD20-4A9C-95D7-F13F311984CE}"/>
              </a:ext>
            </a:extLst>
          </p:cNvPr>
          <p:cNvSpPr>
            <a:spLocks noGrp="1"/>
          </p:cNvSpPr>
          <p:nvPr>
            <p:ph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BBEC0AF8-CFF0-4EE2-9B18-EBF188647305}"/>
              </a:ext>
            </a:extLst>
          </p:cNvPr>
          <p:cNvSpPr>
            <a:spLocks noGrp="1"/>
          </p:cNvSpPr>
          <p:nvPr>
            <p:ph type="sldNum" sz="quarter" idx="12"/>
          </p:nvPr>
        </p:nvSpPr>
        <p:spPr/>
        <p:txBody>
          <a:bodyPr/>
          <a:lstStyle/>
          <a:p>
            <a:fld id="{27C6CCC6-2BE5-4E42-96A4-D1E8E81A3D8E}" type="slidenum">
              <a:rPr lang="de-DE" smtClean="0"/>
              <a:t>10</a:t>
            </a:fld>
            <a:endParaRPr lang="de-DE"/>
          </a:p>
        </p:txBody>
      </p:sp>
    </p:spTree>
    <p:extLst>
      <p:ext uri="{BB962C8B-B14F-4D97-AF65-F5344CB8AC3E}">
        <p14:creationId xmlns:p14="http://schemas.microsoft.com/office/powerpoint/2010/main" val="3668584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9A703D-B4A6-4B52-B05C-DFBD95D837B8}"/>
              </a:ext>
            </a:extLst>
          </p:cNvPr>
          <p:cNvSpPr>
            <a:spLocks noGrp="1"/>
          </p:cNvSpPr>
          <p:nvPr>
            <p:ph type="title"/>
          </p:nvPr>
        </p:nvSpPr>
        <p:spPr>
          <a:xfrm>
            <a:off x="1154953" y="973668"/>
            <a:ext cx="9100516" cy="706964"/>
          </a:xfrm>
        </p:spPr>
        <p:txBody>
          <a:bodyPr/>
          <a:lstStyle/>
          <a:p>
            <a:r>
              <a:rPr lang="fr-FR" dirty="0"/>
              <a:t>Projet « Recommandation de recettes »</a:t>
            </a:r>
          </a:p>
        </p:txBody>
      </p:sp>
      <p:sp>
        <p:nvSpPr>
          <p:cNvPr id="3" name="Espace réservé du contenu 2">
            <a:extLst>
              <a:ext uri="{FF2B5EF4-FFF2-40B4-BE49-F238E27FC236}">
                <a16:creationId xmlns:a16="http://schemas.microsoft.com/office/drawing/2014/main" id="{17C844F8-3E2C-485E-93C5-01DCF3573DD7}"/>
              </a:ext>
            </a:extLst>
          </p:cNvPr>
          <p:cNvSpPr>
            <a:spLocks noGrp="1"/>
          </p:cNvSpPr>
          <p:nvPr>
            <p:ph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6F4C1A7B-7B84-4FE4-AC5B-90B24821665F}"/>
              </a:ext>
            </a:extLst>
          </p:cNvPr>
          <p:cNvSpPr>
            <a:spLocks noGrp="1"/>
          </p:cNvSpPr>
          <p:nvPr>
            <p:ph type="sldNum" sz="quarter" idx="12"/>
          </p:nvPr>
        </p:nvSpPr>
        <p:spPr/>
        <p:txBody>
          <a:bodyPr/>
          <a:lstStyle/>
          <a:p>
            <a:fld id="{27C6CCC6-2BE5-4E42-96A4-D1E8E81A3D8E}" type="slidenum">
              <a:rPr lang="de-DE" smtClean="0"/>
              <a:t>11</a:t>
            </a:fld>
            <a:endParaRPr lang="de-DE"/>
          </a:p>
        </p:txBody>
      </p:sp>
    </p:spTree>
    <p:extLst>
      <p:ext uri="{BB962C8B-B14F-4D97-AF65-F5344CB8AC3E}">
        <p14:creationId xmlns:p14="http://schemas.microsoft.com/office/powerpoint/2010/main" val="2880758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2C5577-529E-4389-A205-57008FE8D588}"/>
              </a:ext>
            </a:extLst>
          </p:cNvPr>
          <p:cNvSpPr>
            <a:spLocks noGrp="1"/>
          </p:cNvSpPr>
          <p:nvPr>
            <p:ph type="title"/>
          </p:nvPr>
        </p:nvSpPr>
        <p:spPr/>
        <p:txBody>
          <a:bodyPr/>
          <a:lstStyle/>
          <a:p>
            <a:r>
              <a:rPr lang="fr-FR" dirty="0"/>
              <a:t>Introduction aux systèmes d'information</a:t>
            </a:r>
          </a:p>
        </p:txBody>
      </p:sp>
      <p:sp>
        <p:nvSpPr>
          <p:cNvPr id="3" name="Espace réservé du texte 2">
            <a:extLst>
              <a:ext uri="{FF2B5EF4-FFF2-40B4-BE49-F238E27FC236}">
                <a16:creationId xmlns:a16="http://schemas.microsoft.com/office/drawing/2014/main" id="{F0B9C18C-E3F5-4178-B572-BA43500A4D67}"/>
              </a:ext>
            </a:extLst>
          </p:cNvPr>
          <p:cNvSpPr>
            <a:spLocks noGrp="1"/>
          </p:cNvSpPr>
          <p:nvPr>
            <p:ph type="body" idx="1"/>
          </p:nvPr>
        </p:nvSpPr>
        <p:spPr/>
        <p:txBody>
          <a:bodyPr/>
          <a:lstStyle/>
          <a:p>
            <a:r>
              <a:rPr lang="fr-FR" dirty="0"/>
              <a:t>Qu’est-ce qu’un système d'information ?</a:t>
            </a:r>
          </a:p>
        </p:txBody>
      </p:sp>
      <p:sp>
        <p:nvSpPr>
          <p:cNvPr id="6" name="Espace réservé du numéro de diapositive 5">
            <a:extLst>
              <a:ext uri="{FF2B5EF4-FFF2-40B4-BE49-F238E27FC236}">
                <a16:creationId xmlns:a16="http://schemas.microsoft.com/office/drawing/2014/main" id="{D7693FD2-C588-497A-8BF0-11FC28FCBD7B}"/>
              </a:ext>
            </a:extLst>
          </p:cNvPr>
          <p:cNvSpPr>
            <a:spLocks noGrp="1"/>
          </p:cNvSpPr>
          <p:nvPr>
            <p:ph type="sldNum" sz="quarter" idx="12"/>
          </p:nvPr>
        </p:nvSpPr>
        <p:spPr/>
        <p:txBody>
          <a:bodyPr/>
          <a:lstStyle/>
          <a:p>
            <a:fld id="{27C6CCC6-2BE5-4E42-96A4-D1E8E81A3D8E}" type="slidenum">
              <a:rPr lang="de-DE" smtClean="0"/>
              <a:t>12</a:t>
            </a:fld>
            <a:endParaRPr lang="de-DE"/>
          </a:p>
        </p:txBody>
      </p:sp>
    </p:spTree>
    <p:extLst>
      <p:ext uri="{BB962C8B-B14F-4D97-AF65-F5344CB8AC3E}">
        <p14:creationId xmlns:p14="http://schemas.microsoft.com/office/powerpoint/2010/main" val="695922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7215E6-DA3E-4E1B-97DF-FEF5CC8B6188}"/>
              </a:ext>
            </a:extLst>
          </p:cNvPr>
          <p:cNvSpPr>
            <a:spLocks noGrp="1"/>
          </p:cNvSpPr>
          <p:nvPr>
            <p:ph type="title"/>
          </p:nvPr>
        </p:nvSpPr>
        <p:spPr/>
        <p:txBody>
          <a:bodyPr/>
          <a:lstStyle/>
          <a:p>
            <a:r>
              <a:rPr lang="fr-FR" dirty="0"/>
              <a:t>Définitions</a:t>
            </a:r>
          </a:p>
        </p:txBody>
      </p:sp>
      <p:sp>
        <p:nvSpPr>
          <p:cNvPr id="3" name="Espace réservé du contenu 2">
            <a:extLst>
              <a:ext uri="{FF2B5EF4-FFF2-40B4-BE49-F238E27FC236}">
                <a16:creationId xmlns:a16="http://schemas.microsoft.com/office/drawing/2014/main" id="{B519BA98-CD45-47D7-8BFD-7BAB9AC016C6}"/>
              </a:ext>
            </a:extLst>
          </p:cNvPr>
          <p:cNvSpPr>
            <a:spLocks noGrp="1"/>
          </p:cNvSpPr>
          <p:nvPr>
            <p:ph idx="1"/>
          </p:nvPr>
        </p:nvSpPr>
        <p:spPr/>
        <p:txBody>
          <a:bodyPr/>
          <a:lstStyle/>
          <a:p>
            <a:r>
              <a:rPr lang="fr-FR" dirty="0">
                <a:ea typeface="+mn-lt"/>
                <a:cs typeface="+mn-lt"/>
              </a:rPr>
              <a:t>Le système d’information (SI) est l’ensemble des ressources de l’entreprise qui permettent la gestion de l’information</a:t>
            </a:r>
          </a:p>
          <a:p>
            <a:r>
              <a:rPr lang="fr-FR" dirty="0">
                <a:ea typeface="+mn-lt"/>
                <a:cs typeface="+mn-lt"/>
              </a:rPr>
              <a:t>Ensemble des ressources pour collecter, stocker, traiter et communiquer les informations</a:t>
            </a:r>
          </a:p>
        </p:txBody>
      </p:sp>
      <p:sp>
        <p:nvSpPr>
          <p:cNvPr id="4" name="Espace réservé du numéro de diapositive 3">
            <a:extLst>
              <a:ext uri="{FF2B5EF4-FFF2-40B4-BE49-F238E27FC236}">
                <a16:creationId xmlns:a16="http://schemas.microsoft.com/office/drawing/2014/main" id="{F75BDAE8-13F2-44B1-8082-96A938AB25C5}"/>
              </a:ext>
            </a:extLst>
          </p:cNvPr>
          <p:cNvSpPr>
            <a:spLocks noGrp="1"/>
          </p:cNvSpPr>
          <p:nvPr>
            <p:ph type="sldNum" sz="quarter" idx="12"/>
          </p:nvPr>
        </p:nvSpPr>
        <p:spPr/>
        <p:txBody>
          <a:bodyPr/>
          <a:lstStyle/>
          <a:p>
            <a:fld id="{27C6CCC6-2BE5-4E42-96A4-D1E8E81A3D8E}" type="slidenum">
              <a:rPr lang="de-DE" smtClean="0"/>
              <a:t>13</a:t>
            </a:fld>
            <a:endParaRPr lang="de-DE"/>
          </a:p>
        </p:txBody>
      </p:sp>
    </p:spTree>
    <p:extLst>
      <p:ext uri="{BB962C8B-B14F-4D97-AF65-F5344CB8AC3E}">
        <p14:creationId xmlns:p14="http://schemas.microsoft.com/office/powerpoint/2010/main" val="2081398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7215E6-DA3E-4E1B-97DF-FEF5CC8B6188}"/>
              </a:ext>
            </a:extLst>
          </p:cNvPr>
          <p:cNvSpPr>
            <a:spLocks noGrp="1"/>
          </p:cNvSpPr>
          <p:nvPr>
            <p:ph type="title"/>
          </p:nvPr>
        </p:nvSpPr>
        <p:spPr/>
        <p:txBody>
          <a:bodyPr/>
          <a:lstStyle/>
          <a:p>
            <a:r>
              <a:rPr lang="fr-FR" dirty="0">
                <a:ea typeface="+mj-lt"/>
                <a:cs typeface="+mj-lt"/>
              </a:rPr>
              <a:t>Définitions</a:t>
            </a:r>
          </a:p>
        </p:txBody>
      </p:sp>
      <p:sp>
        <p:nvSpPr>
          <p:cNvPr id="3" name="Espace réservé du contenu 2">
            <a:extLst>
              <a:ext uri="{FF2B5EF4-FFF2-40B4-BE49-F238E27FC236}">
                <a16:creationId xmlns:a16="http://schemas.microsoft.com/office/drawing/2014/main" id="{B519BA98-CD45-47D7-8BFD-7BAB9AC016C6}"/>
              </a:ext>
            </a:extLst>
          </p:cNvPr>
          <p:cNvSpPr>
            <a:spLocks noGrp="1"/>
          </p:cNvSpPr>
          <p:nvPr>
            <p:ph idx="1"/>
          </p:nvPr>
        </p:nvSpPr>
        <p:spPr/>
        <p:txBody>
          <a:bodyPr>
            <a:normAutofit lnSpcReduction="10000"/>
          </a:bodyPr>
          <a:lstStyle/>
          <a:p>
            <a:r>
              <a:rPr lang="fr-FR" b="1" dirty="0">
                <a:ea typeface="+mn-lt"/>
                <a:cs typeface="+mn-lt"/>
              </a:rPr>
              <a:t>Collecter</a:t>
            </a:r>
            <a:r>
              <a:rPr lang="fr-FR" dirty="0">
                <a:ea typeface="+mn-lt"/>
                <a:cs typeface="+mn-lt"/>
              </a:rPr>
              <a:t> : c’est à partir de là que naît la donnée, qu’on acquière les informations provenant de l’environnement interne ou externe à l’entreprise.</a:t>
            </a:r>
            <a:endParaRPr lang="fr-FR" dirty="0"/>
          </a:p>
          <a:p>
            <a:r>
              <a:rPr lang="fr-FR" b="1" dirty="0">
                <a:ea typeface="+mn-lt"/>
                <a:cs typeface="+mn-lt"/>
              </a:rPr>
              <a:t>Stocker</a:t>
            </a:r>
            <a:r>
              <a:rPr lang="fr-FR" dirty="0">
                <a:ea typeface="+mn-lt"/>
                <a:cs typeface="+mn-lt"/>
              </a:rPr>
              <a:t> : dès que l’information est acquise, le système d’information la conserve. Elle doit pouvoir être disponible et doit pouvoir être conservée dans le temps.</a:t>
            </a:r>
            <a:endParaRPr lang="fr-FR" dirty="0"/>
          </a:p>
          <a:p>
            <a:r>
              <a:rPr lang="fr-FR" b="1" dirty="0">
                <a:ea typeface="+mn-lt"/>
                <a:cs typeface="+mn-lt"/>
              </a:rPr>
              <a:t>Transformer/traiter</a:t>
            </a:r>
            <a:r>
              <a:rPr lang="fr-FR" dirty="0">
                <a:ea typeface="+mn-lt"/>
                <a:cs typeface="+mn-lt"/>
              </a:rPr>
              <a:t> : cette phase permet de transformer l’information et choisir le support adapté pour traiter l’information. Ici ont construit de nouvelles informations en modifiant le fond ou la forme.</a:t>
            </a:r>
            <a:endParaRPr lang="fr-FR" dirty="0"/>
          </a:p>
          <a:p>
            <a:r>
              <a:rPr lang="fr-FR" b="1" dirty="0">
                <a:ea typeface="+mn-lt"/>
                <a:cs typeface="+mn-lt"/>
              </a:rPr>
              <a:t>Diffuser : </a:t>
            </a:r>
            <a:r>
              <a:rPr lang="fr-FR" dirty="0">
                <a:ea typeface="+mn-lt"/>
                <a:cs typeface="+mn-lt"/>
              </a:rPr>
              <a:t>le SI transmet ensuite l’information dans son environnement interne ou externe.</a:t>
            </a:r>
            <a:endParaRPr lang="fr-FR" dirty="0"/>
          </a:p>
        </p:txBody>
      </p:sp>
      <p:sp>
        <p:nvSpPr>
          <p:cNvPr id="4" name="Espace réservé du numéro de diapositive 3">
            <a:extLst>
              <a:ext uri="{FF2B5EF4-FFF2-40B4-BE49-F238E27FC236}">
                <a16:creationId xmlns:a16="http://schemas.microsoft.com/office/drawing/2014/main" id="{F75BDAE8-13F2-44B1-8082-96A938AB25C5}"/>
              </a:ext>
            </a:extLst>
          </p:cNvPr>
          <p:cNvSpPr>
            <a:spLocks noGrp="1"/>
          </p:cNvSpPr>
          <p:nvPr>
            <p:ph type="sldNum" sz="quarter" idx="12"/>
          </p:nvPr>
        </p:nvSpPr>
        <p:spPr/>
        <p:txBody>
          <a:bodyPr/>
          <a:lstStyle/>
          <a:p>
            <a:fld id="{27C6CCC6-2BE5-4E42-96A4-D1E8E81A3D8E}" type="slidenum">
              <a:rPr lang="de-DE" smtClean="0"/>
              <a:t>14</a:t>
            </a:fld>
            <a:endParaRPr lang="de-DE"/>
          </a:p>
        </p:txBody>
      </p:sp>
    </p:spTree>
    <p:extLst>
      <p:ext uri="{BB962C8B-B14F-4D97-AF65-F5344CB8AC3E}">
        <p14:creationId xmlns:p14="http://schemas.microsoft.com/office/powerpoint/2010/main" val="1595690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7215E6-DA3E-4E1B-97DF-FEF5CC8B6188}"/>
              </a:ext>
            </a:extLst>
          </p:cNvPr>
          <p:cNvSpPr>
            <a:spLocks noGrp="1"/>
          </p:cNvSpPr>
          <p:nvPr>
            <p:ph type="title"/>
          </p:nvPr>
        </p:nvSpPr>
        <p:spPr/>
        <p:txBody>
          <a:bodyPr/>
          <a:lstStyle/>
          <a:p>
            <a:r>
              <a:rPr lang="fr-FR" dirty="0">
                <a:ea typeface="+mj-lt"/>
                <a:cs typeface="+mj-lt"/>
              </a:rPr>
              <a:t>Définitions</a:t>
            </a:r>
          </a:p>
        </p:txBody>
      </p:sp>
      <p:sp>
        <p:nvSpPr>
          <p:cNvPr id="3" name="Espace réservé du contenu 2">
            <a:extLst>
              <a:ext uri="{FF2B5EF4-FFF2-40B4-BE49-F238E27FC236}">
                <a16:creationId xmlns:a16="http://schemas.microsoft.com/office/drawing/2014/main" id="{B519BA98-CD45-47D7-8BFD-7BAB9AC016C6}"/>
              </a:ext>
            </a:extLst>
          </p:cNvPr>
          <p:cNvSpPr>
            <a:spLocks noGrp="1"/>
          </p:cNvSpPr>
          <p:nvPr>
            <p:ph idx="1"/>
          </p:nvPr>
        </p:nvSpPr>
        <p:spPr/>
        <p:txBody>
          <a:bodyPr/>
          <a:lstStyle/>
          <a:p>
            <a:r>
              <a:rPr lang="fr-FR" dirty="0">
                <a:ea typeface="+mn-lt"/>
                <a:cs typeface="+mn-lt"/>
              </a:rPr>
              <a:t>Le SI est un outil de communication entre les différents services d’une entreprise et a un rôle opérationnel et stratégique (notamment en simplifiant le pilotage de l'entreprise)</a:t>
            </a:r>
          </a:p>
          <a:p>
            <a:r>
              <a:rPr lang="fr-FR" dirty="0">
                <a:ea typeface="+mn-lt"/>
                <a:cs typeface="+mn-lt"/>
              </a:rPr>
              <a:t>Le système d'information comporte plusieurs composantes ou ressources (personnel, logiciels, matériels, données, processus, etc.) mais dans cette UV nous aborderons plus spécifiquement la dimension logicielle</a:t>
            </a:r>
          </a:p>
        </p:txBody>
      </p:sp>
      <p:sp>
        <p:nvSpPr>
          <p:cNvPr id="4" name="Espace réservé du numéro de diapositive 3">
            <a:extLst>
              <a:ext uri="{FF2B5EF4-FFF2-40B4-BE49-F238E27FC236}">
                <a16:creationId xmlns:a16="http://schemas.microsoft.com/office/drawing/2014/main" id="{F75BDAE8-13F2-44B1-8082-96A938AB25C5}"/>
              </a:ext>
            </a:extLst>
          </p:cNvPr>
          <p:cNvSpPr>
            <a:spLocks noGrp="1"/>
          </p:cNvSpPr>
          <p:nvPr>
            <p:ph type="sldNum" sz="quarter" idx="12"/>
          </p:nvPr>
        </p:nvSpPr>
        <p:spPr/>
        <p:txBody>
          <a:bodyPr/>
          <a:lstStyle/>
          <a:p>
            <a:fld id="{27C6CCC6-2BE5-4E42-96A4-D1E8E81A3D8E}" type="slidenum">
              <a:rPr lang="de-DE" smtClean="0"/>
              <a:t>15</a:t>
            </a:fld>
            <a:endParaRPr lang="de-DE"/>
          </a:p>
        </p:txBody>
      </p:sp>
    </p:spTree>
    <p:extLst>
      <p:ext uri="{BB962C8B-B14F-4D97-AF65-F5344CB8AC3E}">
        <p14:creationId xmlns:p14="http://schemas.microsoft.com/office/powerpoint/2010/main" val="3768817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7215E6-DA3E-4E1B-97DF-FEF5CC8B6188}"/>
              </a:ext>
            </a:extLst>
          </p:cNvPr>
          <p:cNvSpPr>
            <a:spLocks noGrp="1"/>
          </p:cNvSpPr>
          <p:nvPr>
            <p:ph type="title"/>
          </p:nvPr>
        </p:nvSpPr>
        <p:spPr/>
        <p:txBody>
          <a:bodyPr/>
          <a:lstStyle/>
          <a:p>
            <a:r>
              <a:rPr lang="fr-FR" dirty="0">
                <a:ea typeface="+mj-lt"/>
                <a:cs typeface="+mj-lt"/>
              </a:rPr>
              <a:t>Définitions</a:t>
            </a:r>
          </a:p>
        </p:txBody>
      </p:sp>
      <p:sp>
        <p:nvSpPr>
          <p:cNvPr id="3" name="Espace réservé du contenu 2">
            <a:extLst>
              <a:ext uri="{FF2B5EF4-FFF2-40B4-BE49-F238E27FC236}">
                <a16:creationId xmlns:a16="http://schemas.microsoft.com/office/drawing/2014/main" id="{B519BA98-CD45-47D7-8BFD-7BAB9AC016C6}"/>
              </a:ext>
            </a:extLst>
          </p:cNvPr>
          <p:cNvSpPr>
            <a:spLocks noGrp="1"/>
          </p:cNvSpPr>
          <p:nvPr>
            <p:ph idx="1"/>
          </p:nvPr>
        </p:nvSpPr>
        <p:spPr/>
        <p:txBody>
          <a:bodyPr>
            <a:normAutofit/>
          </a:bodyPr>
          <a:lstStyle/>
          <a:p>
            <a:r>
              <a:rPr lang="fr-FR" dirty="0">
                <a:ea typeface="+mn-lt"/>
                <a:cs typeface="+mn-lt"/>
              </a:rPr>
              <a:t>Le progiciel de gestion intégrée (PGI) ou Enterprise Resource Planning (ERP) est la principale composante logicielle du SI</a:t>
            </a:r>
          </a:p>
          <a:p>
            <a:r>
              <a:rPr lang="fr-FR" dirty="0">
                <a:ea typeface="+mn-lt"/>
                <a:cs typeface="+mn-lt"/>
              </a:rPr>
              <a:t>Il s'agit du logiciel qui permet de gérer l'ensemble des processus d'une entreprise en intégrant l'ensemble de ses fonctions, dont la gestion des ressources humaines, la gestion comptable et financière, l'aide à la décision, mais aussi la production, la vente, la distribution, l'approvisionnement et le commerce électronique</a:t>
            </a:r>
          </a:p>
          <a:p>
            <a:r>
              <a:rPr lang="fr-FR" dirty="0">
                <a:ea typeface="+mn-lt"/>
                <a:cs typeface="+mn-lt"/>
              </a:rPr>
              <a:t>Un ERP est adapté à une entreprise, leur conception nécessite une bonne intégration avec l'ensemble du système d'information d'une entreprise et une bonne compréhension des processus de celle-ci</a:t>
            </a:r>
          </a:p>
        </p:txBody>
      </p:sp>
      <p:sp>
        <p:nvSpPr>
          <p:cNvPr id="4" name="Espace réservé du numéro de diapositive 3">
            <a:extLst>
              <a:ext uri="{FF2B5EF4-FFF2-40B4-BE49-F238E27FC236}">
                <a16:creationId xmlns:a16="http://schemas.microsoft.com/office/drawing/2014/main" id="{F75BDAE8-13F2-44B1-8082-96A938AB25C5}"/>
              </a:ext>
            </a:extLst>
          </p:cNvPr>
          <p:cNvSpPr>
            <a:spLocks noGrp="1"/>
          </p:cNvSpPr>
          <p:nvPr>
            <p:ph type="sldNum" sz="quarter" idx="12"/>
          </p:nvPr>
        </p:nvSpPr>
        <p:spPr/>
        <p:txBody>
          <a:bodyPr/>
          <a:lstStyle/>
          <a:p>
            <a:fld id="{27C6CCC6-2BE5-4E42-96A4-D1E8E81A3D8E}" type="slidenum">
              <a:rPr lang="de-DE" smtClean="0"/>
              <a:t>16</a:t>
            </a:fld>
            <a:endParaRPr lang="de-DE"/>
          </a:p>
        </p:txBody>
      </p:sp>
    </p:spTree>
    <p:extLst>
      <p:ext uri="{BB962C8B-B14F-4D97-AF65-F5344CB8AC3E}">
        <p14:creationId xmlns:p14="http://schemas.microsoft.com/office/powerpoint/2010/main" val="2645857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00ADE2-DB4C-4673-9F38-C3047A00D244}"/>
              </a:ext>
            </a:extLst>
          </p:cNvPr>
          <p:cNvSpPr>
            <a:spLocks noGrp="1"/>
          </p:cNvSpPr>
          <p:nvPr>
            <p:ph type="title"/>
          </p:nvPr>
        </p:nvSpPr>
        <p:spPr/>
        <p:txBody>
          <a:bodyPr/>
          <a:lstStyle/>
          <a:p>
            <a:r>
              <a:rPr lang="fr-FR" dirty="0"/>
              <a:t>Définitions</a:t>
            </a:r>
          </a:p>
        </p:txBody>
      </p:sp>
      <p:sp>
        <p:nvSpPr>
          <p:cNvPr id="3" name="Espace réservé du contenu 2">
            <a:extLst>
              <a:ext uri="{FF2B5EF4-FFF2-40B4-BE49-F238E27FC236}">
                <a16:creationId xmlns:a16="http://schemas.microsoft.com/office/drawing/2014/main" id="{6FAE49A6-0DCB-43D1-AD20-93FF3C8E4706}"/>
              </a:ext>
            </a:extLst>
          </p:cNvPr>
          <p:cNvSpPr>
            <a:spLocks noGrp="1"/>
          </p:cNvSpPr>
          <p:nvPr>
            <p:ph idx="1"/>
          </p:nvPr>
        </p:nvSpPr>
        <p:spPr/>
        <p:txBody>
          <a:bodyPr/>
          <a:lstStyle/>
          <a:p>
            <a:r>
              <a:rPr lang="fr-FR" dirty="0"/>
              <a:t>Un PGI permet le stockage des données de l'entreprise, via une </a:t>
            </a:r>
            <a:r>
              <a:rPr lang="fr-FR" b="1" dirty="0"/>
              <a:t>base de données</a:t>
            </a:r>
          </a:p>
          <a:p>
            <a:r>
              <a:rPr lang="fr-FR" dirty="0"/>
              <a:t>Il inclut également l'ensemble des formulaires (permettant la saisie et la récupération des données), des requêtes, des états et des tableaux de bords (utiles au pilotage de l'entreprise)</a:t>
            </a:r>
          </a:p>
          <a:p>
            <a:r>
              <a:rPr lang="fr-FR" dirty="0"/>
              <a:t>Il est également accompagné d'une documentation utilisateur</a:t>
            </a:r>
          </a:p>
        </p:txBody>
      </p:sp>
      <p:sp>
        <p:nvSpPr>
          <p:cNvPr id="4" name="Espace réservé du numéro de diapositive 3">
            <a:extLst>
              <a:ext uri="{FF2B5EF4-FFF2-40B4-BE49-F238E27FC236}">
                <a16:creationId xmlns:a16="http://schemas.microsoft.com/office/drawing/2014/main" id="{7BED6851-CA9C-4624-A269-A5911BF78ECD}"/>
              </a:ext>
            </a:extLst>
          </p:cNvPr>
          <p:cNvSpPr>
            <a:spLocks noGrp="1"/>
          </p:cNvSpPr>
          <p:nvPr>
            <p:ph type="sldNum" sz="quarter" idx="12"/>
          </p:nvPr>
        </p:nvSpPr>
        <p:spPr/>
        <p:txBody>
          <a:bodyPr/>
          <a:lstStyle/>
          <a:p>
            <a:fld id="{27C6CCC6-2BE5-4E42-96A4-D1E8E81A3D8E}" type="slidenum">
              <a:rPr lang="de-DE" smtClean="0"/>
              <a:t>17</a:t>
            </a:fld>
            <a:endParaRPr lang="de-DE"/>
          </a:p>
        </p:txBody>
      </p:sp>
    </p:spTree>
    <p:extLst>
      <p:ext uri="{BB962C8B-B14F-4D97-AF65-F5344CB8AC3E}">
        <p14:creationId xmlns:p14="http://schemas.microsoft.com/office/powerpoint/2010/main" val="3399007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00ADE2-DB4C-4673-9F38-C3047A00D244}"/>
              </a:ext>
            </a:extLst>
          </p:cNvPr>
          <p:cNvSpPr>
            <a:spLocks noGrp="1"/>
          </p:cNvSpPr>
          <p:nvPr>
            <p:ph type="title"/>
          </p:nvPr>
        </p:nvSpPr>
        <p:spPr/>
        <p:txBody>
          <a:bodyPr/>
          <a:lstStyle/>
          <a:p>
            <a:r>
              <a:rPr lang="fr-FR" dirty="0"/>
              <a:t>Définitions</a:t>
            </a:r>
          </a:p>
        </p:txBody>
      </p:sp>
      <p:sp>
        <p:nvSpPr>
          <p:cNvPr id="3" name="Espace réservé du contenu 2">
            <a:extLst>
              <a:ext uri="{FF2B5EF4-FFF2-40B4-BE49-F238E27FC236}">
                <a16:creationId xmlns:a16="http://schemas.microsoft.com/office/drawing/2014/main" id="{6FAE49A6-0DCB-43D1-AD20-93FF3C8E4706}"/>
              </a:ext>
            </a:extLst>
          </p:cNvPr>
          <p:cNvSpPr>
            <a:spLocks noGrp="1"/>
          </p:cNvSpPr>
          <p:nvPr>
            <p:ph idx="1"/>
          </p:nvPr>
        </p:nvSpPr>
        <p:spPr/>
        <p:txBody>
          <a:bodyPr/>
          <a:lstStyle/>
          <a:p>
            <a:r>
              <a:rPr lang="fr-FR"/>
              <a:t>La conception d'un ERP nécessite de stocker l'ensemble des données métiers utiles</a:t>
            </a:r>
          </a:p>
          <a:p>
            <a:r>
              <a:rPr lang="fr-FR"/>
              <a:t>Ces données sont stockées dans des bases de données</a:t>
            </a:r>
          </a:p>
          <a:p>
            <a:r>
              <a:rPr lang="fr-FR"/>
              <a:t>La conception d'une base de données nécessite de définir les entités et leurs relations</a:t>
            </a:r>
            <a:endParaRPr lang="fr-FR" dirty="0"/>
          </a:p>
        </p:txBody>
      </p:sp>
      <p:sp>
        <p:nvSpPr>
          <p:cNvPr id="4" name="Espace réservé du numéro de diapositive 3">
            <a:extLst>
              <a:ext uri="{FF2B5EF4-FFF2-40B4-BE49-F238E27FC236}">
                <a16:creationId xmlns:a16="http://schemas.microsoft.com/office/drawing/2014/main" id="{7BED6851-CA9C-4624-A269-A5911BF78ECD}"/>
              </a:ext>
            </a:extLst>
          </p:cNvPr>
          <p:cNvSpPr>
            <a:spLocks noGrp="1"/>
          </p:cNvSpPr>
          <p:nvPr>
            <p:ph type="sldNum" sz="quarter" idx="12"/>
          </p:nvPr>
        </p:nvSpPr>
        <p:spPr/>
        <p:txBody>
          <a:bodyPr/>
          <a:lstStyle/>
          <a:p>
            <a:fld id="{27C6CCC6-2BE5-4E42-96A4-D1E8E81A3D8E}" type="slidenum">
              <a:rPr lang="de-DE" smtClean="0"/>
              <a:t>18</a:t>
            </a:fld>
            <a:endParaRPr lang="de-DE"/>
          </a:p>
        </p:txBody>
      </p:sp>
    </p:spTree>
    <p:extLst>
      <p:ext uri="{BB962C8B-B14F-4D97-AF65-F5344CB8AC3E}">
        <p14:creationId xmlns:p14="http://schemas.microsoft.com/office/powerpoint/2010/main" val="2986804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2C5577-529E-4389-A205-57008FE8D588}"/>
              </a:ext>
            </a:extLst>
          </p:cNvPr>
          <p:cNvSpPr>
            <a:spLocks noGrp="1"/>
          </p:cNvSpPr>
          <p:nvPr>
            <p:ph type="title"/>
          </p:nvPr>
        </p:nvSpPr>
        <p:spPr/>
        <p:txBody>
          <a:bodyPr/>
          <a:lstStyle/>
          <a:p>
            <a:r>
              <a:rPr lang="fr-FR"/>
              <a:t>Introduction aux bases de données</a:t>
            </a:r>
          </a:p>
        </p:txBody>
      </p:sp>
      <p:sp>
        <p:nvSpPr>
          <p:cNvPr id="3" name="Espace réservé du texte 2">
            <a:extLst>
              <a:ext uri="{FF2B5EF4-FFF2-40B4-BE49-F238E27FC236}">
                <a16:creationId xmlns:a16="http://schemas.microsoft.com/office/drawing/2014/main" id="{F0B9C18C-E3F5-4178-B572-BA43500A4D67}"/>
              </a:ext>
            </a:extLst>
          </p:cNvPr>
          <p:cNvSpPr>
            <a:spLocks noGrp="1"/>
          </p:cNvSpPr>
          <p:nvPr>
            <p:ph type="body" idx="1"/>
          </p:nvPr>
        </p:nvSpPr>
        <p:spPr/>
        <p:txBody>
          <a:bodyPr/>
          <a:lstStyle/>
          <a:p>
            <a:r>
              <a:rPr lang="fr-FR"/>
              <a:t>Qu’est-ce qu’une base de données ?</a:t>
            </a:r>
          </a:p>
        </p:txBody>
      </p:sp>
      <p:sp>
        <p:nvSpPr>
          <p:cNvPr id="6" name="Espace réservé du numéro de diapositive 5">
            <a:extLst>
              <a:ext uri="{FF2B5EF4-FFF2-40B4-BE49-F238E27FC236}">
                <a16:creationId xmlns:a16="http://schemas.microsoft.com/office/drawing/2014/main" id="{D7693FD2-C588-497A-8BF0-11FC28FCBD7B}"/>
              </a:ext>
            </a:extLst>
          </p:cNvPr>
          <p:cNvSpPr>
            <a:spLocks noGrp="1"/>
          </p:cNvSpPr>
          <p:nvPr>
            <p:ph type="sldNum" sz="quarter" idx="12"/>
          </p:nvPr>
        </p:nvSpPr>
        <p:spPr/>
        <p:txBody>
          <a:bodyPr/>
          <a:lstStyle/>
          <a:p>
            <a:fld id="{27C6CCC6-2BE5-4E42-96A4-D1E8E81A3D8E}" type="slidenum">
              <a:rPr lang="de-DE" smtClean="0"/>
              <a:t>19</a:t>
            </a:fld>
            <a:endParaRPr lang="de-DE"/>
          </a:p>
        </p:txBody>
      </p:sp>
    </p:spTree>
    <p:extLst>
      <p:ext uri="{BB962C8B-B14F-4D97-AF65-F5344CB8AC3E}">
        <p14:creationId xmlns:p14="http://schemas.microsoft.com/office/powerpoint/2010/main" val="2925585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44B1B7-EE81-4C07-A852-5250C6E12338}"/>
              </a:ext>
            </a:extLst>
          </p:cNvPr>
          <p:cNvSpPr>
            <a:spLocks noGrp="1"/>
          </p:cNvSpPr>
          <p:nvPr>
            <p:ph type="title"/>
          </p:nvPr>
        </p:nvSpPr>
        <p:spPr/>
        <p:txBody>
          <a:bodyPr>
            <a:normAutofit/>
          </a:bodyPr>
          <a:lstStyle/>
          <a:p>
            <a:r>
              <a:rPr lang="fr-FR"/>
              <a:t>Introduction</a:t>
            </a:r>
          </a:p>
        </p:txBody>
      </p:sp>
      <p:graphicFrame>
        <p:nvGraphicFramePr>
          <p:cNvPr id="5" name="Espace réservé du contenu 2">
            <a:extLst>
              <a:ext uri="{FF2B5EF4-FFF2-40B4-BE49-F238E27FC236}">
                <a16:creationId xmlns:a16="http://schemas.microsoft.com/office/drawing/2014/main" id="{05E3A4D3-6EC1-431D-BB86-7FB0E3B83A85}"/>
              </a:ext>
            </a:extLst>
          </p:cNvPr>
          <p:cNvGraphicFramePr>
            <a:graphicFrameLocks noGrp="1"/>
          </p:cNvGraphicFramePr>
          <p:nvPr>
            <p:ph idx="1"/>
            <p:extLst>
              <p:ext uri="{D42A27DB-BD31-4B8C-83A1-F6EECF244321}">
                <p14:modId xmlns:p14="http://schemas.microsoft.com/office/powerpoint/2010/main" val="2675191017"/>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Espace réservé du numéro de diapositive 5">
            <a:extLst>
              <a:ext uri="{FF2B5EF4-FFF2-40B4-BE49-F238E27FC236}">
                <a16:creationId xmlns:a16="http://schemas.microsoft.com/office/drawing/2014/main" id="{DF36555F-CE92-4BF3-A5C6-B6D3F5AE56D8}"/>
              </a:ext>
            </a:extLst>
          </p:cNvPr>
          <p:cNvSpPr>
            <a:spLocks noGrp="1"/>
          </p:cNvSpPr>
          <p:nvPr>
            <p:ph type="sldNum" sz="quarter" idx="12"/>
          </p:nvPr>
        </p:nvSpPr>
        <p:spPr/>
        <p:txBody>
          <a:bodyPr/>
          <a:lstStyle/>
          <a:p>
            <a:fld id="{27C6CCC6-2BE5-4E42-96A4-D1E8E81A3D8E}" type="slidenum">
              <a:rPr lang="de-DE" smtClean="0"/>
              <a:t>20</a:t>
            </a:fld>
            <a:endParaRPr lang="de-DE"/>
          </a:p>
        </p:txBody>
      </p:sp>
    </p:spTree>
    <p:extLst>
      <p:ext uri="{BB962C8B-B14F-4D97-AF65-F5344CB8AC3E}">
        <p14:creationId xmlns:p14="http://schemas.microsoft.com/office/powerpoint/2010/main" val="359409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44B1B7-EE81-4C07-A852-5250C6E12338}"/>
              </a:ext>
            </a:extLst>
          </p:cNvPr>
          <p:cNvSpPr>
            <a:spLocks noGrp="1"/>
          </p:cNvSpPr>
          <p:nvPr>
            <p:ph type="title"/>
          </p:nvPr>
        </p:nvSpPr>
        <p:spPr/>
        <p:txBody>
          <a:bodyPr/>
          <a:lstStyle/>
          <a:p>
            <a:r>
              <a:rPr lang="fr-FR"/>
              <a:t>Introduction</a:t>
            </a:r>
          </a:p>
        </p:txBody>
      </p:sp>
      <p:sp>
        <p:nvSpPr>
          <p:cNvPr id="3" name="Espace réservé du contenu 2">
            <a:extLst>
              <a:ext uri="{FF2B5EF4-FFF2-40B4-BE49-F238E27FC236}">
                <a16:creationId xmlns:a16="http://schemas.microsoft.com/office/drawing/2014/main" id="{873CF7D6-B6E6-4C65-B846-A36861096495}"/>
              </a:ext>
            </a:extLst>
          </p:cNvPr>
          <p:cNvSpPr>
            <a:spLocks noGrp="1"/>
          </p:cNvSpPr>
          <p:nvPr>
            <p:ph idx="1"/>
          </p:nvPr>
        </p:nvSpPr>
        <p:spPr/>
        <p:txBody>
          <a:bodyPr/>
          <a:lstStyle/>
          <a:p>
            <a:r>
              <a:rPr lang="fr-FR"/>
              <a:t>Exemples de cas d’utilisation d’une base données :</a:t>
            </a:r>
          </a:p>
          <a:p>
            <a:pPr lvl="1"/>
            <a:r>
              <a:rPr lang="fr-FR"/>
              <a:t>Gérer le système d’information d’une entreprise : inventaire, factures, clients, employés</a:t>
            </a:r>
          </a:p>
          <a:p>
            <a:pPr lvl="1"/>
            <a:r>
              <a:rPr lang="fr-FR"/>
              <a:t>Stockage des comptes utilisateurs et de leurs messages sur un site internet</a:t>
            </a:r>
          </a:p>
          <a:p>
            <a:pPr lvl="1"/>
            <a:r>
              <a:rPr lang="fr-FR"/>
              <a:t>Planning et suivi d’un projet et des tâches associées</a:t>
            </a:r>
          </a:p>
          <a:p>
            <a:pPr lvl="1"/>
            <a:r>
              <a:rPr lang="fr-FR"/>
              <a:t>Sauvegarder et exploiter des données issues de systèmes mécaniques ou électroniques</a:t>
            </a:r>
          </a:p>
        </p:txBody>
      </p:sp>
      <p:sp>
        <p:nvSpPr>
          <p:cNvPr id="6" name="Espace réservé du numéro de diapositive 5">
            <a:extLst>
              <a:ext uri="{FF2B5EF4-FFF2-40B4-BE49-F238E27FC236}">
                <a16:creationId xmlns:a16="http://schemas.microsoft.com/office/drawing/2014/main" id="{384AED8F-1C4E-4331-AD17-E6A9E6576261}"/>
              </a:ext>
            </a:extLst>
          </p:cNvPr>
          <p:cNvSpPr>
            <a:spLocks noGrp="1"/>
          </p:cNvSpPr>
          <p:nvPr>
            <p:ph type="sldNum" sz="quarter" idx="12"/>
          </p:nvPr>
        </p:nvSpPr>
        <p:spPr/>
        <p:txBody>
          <a:bodyPr/>
          <a:lstStyle/>
          <a:p>
            <a:fld id="{27C6CCC6-2BE5-4E42-96A4-D1E8E81A3D8E}" type="slidenum">
              <a:rPr lang="de-DE" smtClean="0"/>
              <a:t>21</a:t>
            </a:fld>
            <a:endParaRPr lang="de-DE"/>
          </a:p>
        </p:txBody>
      </p:sp>
    </p:spTree>
    <p:extLst>
      <p:ext uri="{BB962C8B-B14F-4D97-AF65-F5344CB8AC3E}">
        <p14:creationId xmlns:p14="http://schemas.microsoft.com/office/powerpoint/2010/main" val="9303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44B1B7-EE81-4C07-A852-5250C6E12338}"/>
              </a:ext>
            </a:extLst>
          </p:cNvPr>
          <p:cNvSpPr>
            <a:spLocks noGrp="1"/>
          </p:cNvSpPr>
          <p:nvPr>
            <p:ph type="title"/>
          </p:nvPr>
        </p:nvSpPr>
        <p:spPr/>
        <p:txBody>
          <a:bodyPr/>
          <a:lstStyle/>
          <a:p>
            <a:r>
              <a:rPr lang="fr-FR"/>
              <a:t>Introduction</a:t>
            </a:r>
          </a:p>
        </p:txBody>
      </p:sp>
      <p:sp>
        <p:nvSpPr>
          <p:cNvPr id="3" name="Espace réservé du contenu 2">
            <a:extLst>
              <a:ext uri="{FF2B5EF4-FFF2-40B4-BE49-F238E27FC236}">
                <a16:creationId xmlns:a16="http://schemas.microsoft.com/office/drawing/2014/main" id="{873CF7D6-B6E6-4C65-B846-A36861096495}"/>
              </a:ext>
            </a:extLst>
          </p:cNvPr>
          <p:cNvSpPr>
            <a:spLocks noGrp="1"/>
          </p:cNvSpPr>
          <p:nvPr>
            <p:ph idx="1"/>
          </p:nvPr>
        </p:nvSpPr>
        <p:spPr/>
        <p:txBody>
          <a:bodyPr/>
          <a:lstStyle/>
          <a:p>
            <a:r>
              <a:rPr lang="fr-FR"/>
              <a:t>La base de données hiérarchiques (</a:t>
            </a:r>
            <a:r>
              <a:rPr lang="fr-FR" i="1"/>
              <a:t>obsolète</a:t>
            </a:r>
            <a:r>
              <a:rPr lang="fr-FR"/>
              <a:t>)</a:t>
            </a:r>
          </a:p>
          <a:p>
            <a:pPr lvl="1"/>
            <a:r>
              <a:rPr lang="fr-FR"/>
              <a:t>Les données sont organisées selon une structure arborescente : par exemple dans des dossiers avec des sous-dossiers, avec eux-mêmes des sous-dossiers, etc.</a:t>
            </a:r>
          </a:p>
          <a:p>
            <a:pPr lvl="1"/>
            <a:r>
              <a:rPr lang="fr-FR"/>
              <a:t>La structure est vite limitée, exemple :</a:t>
            </a:r>
          </a:p>
          <a:p>
            <a:pPr lvl="2"/>
            <a:r>
              <a:rPr lang="fr-FR"/>
              <a:t>Hiérarchie </a:t>
            </a:r>
            <a:r>
              <a:rPr lang="fr-FR" b="1" i="1"/>
              <a:t>Musique/Artiste/Album</a:t>
            </a:r>
            <a:r>
              <a:rPr lang="fr-FR"/>
              <a:t>, mais comment récupérer rapidement la liste des albums correspondant à un style musical ?</a:t>
            </a:r>
          </a:p>
          <a:p>
            <a:pPr lvl="2"/>
            <a:r>
              <a:rPr lang="fr-FR"/>
              <a:t>Changer la hiérarchie en Musique/Style/Artiste/Album, mais que se passe-t-il si un groupe a composé des albums dans plusieurs styles ? Et si plusieurs artistes ont participé à un même album ?</a:t>
            </a:r>
          </a:p>
        </p:txBody>
      </p:sp>
      <p:sp>
        <p:nvSpPr>
          <p:cNvPr id="6" name="Espace réservé du numéro de diapositive 5">
            <a:extLst>
              <a:ext uri="{FF2B5EF4-FFF2-40B4-BE49-F238E27FC236}">
                <a16:creationId xmlns:a16="http://schemas.microsoft.com/office/drawing/2014/main" id="{399803A8-24AA-4FD8-BB49-90DCA4366E3C}"/>
              </a:ext>
            </a:extLst>
          </p:cNvPr>
          <p:cNvSpPr>
            <a:spLocks noGrp="1"/>
          </p:cNvSpPr>
          <p:nvPr>
            <p:ph type="sldNum" sz="quarter" idx="12"/>
          </p:nvPr>
        </p:nvSpPr>
        <p:spPr/>
        <p:txBody>
          <a:bodyPr/>
          <a:lstStyle/>
          <a:p>
            <a:fld id="{27C6CCC6-2BE5-4E42-96A4-D1E8E81A3D8E}" type="slidenum">
              <a:rPr lang="de-DE" smtClean="0"/>
              <a:t>22</a:t>
            </a:fld>
            <a:endParaRPr lang="de-DE"/>
          </a:p>
        </p:txBody>
      </p:sp>
    </p:spTree>
    <p:extLst>
      <p:ext uri="{BB962C8B-B14F-4D97-AF65-F5344CB8AC3E}">
        <p14:creationId xmlns:p14="http://schemas.microsoft.com/office/powerpoint/2010/main" val="860152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44B1B7-EE81-4C07-A852-5250C6E12338}"/>
              </a:ext>
            </a:extLst>
          </p:cNvPr>
          <p:cNvSpPr>
            <a:spLocks noGrp="1"/>
          </p:cNvSpPr>
          <p:nvPr>
            <p:ph type="title"/>
          </p:nvPr>
        </p:nvSpPr>
        <p:spPr/>
        <p:txBody>
          <a:bodyPr/>
          <a:lstStyle/>
          <a:p>
            <a:r>
              <a:rPr lang="fr-FR"/>
              <a:t>Introduction</a:t>
            </a:r>
          </a:p>
        </p:txBody>
      </p:sp>
      <p:sp>
        <p:nvSpPr>
          <p:cNvPr id="3" name="Espace réservé du contenu 2">
            <a:extLst>
              <a:ext uri="{FF2B5EF4-FFF2-40B4-BE49-F238E27FC236}">
                <a16:creationId xmlns:a16="http://schemas.microsoft.com/office/drawing/2014/main" id="{873CF7D6-B6E6-4C65-B846-A36861096495}"/>
              </a:ext>
            </a:extLst>
          </p:cNvPr>
          <p:cNvSpPr>
            <a:spLocks noGrp="1"/>
          </p:cNvSpPr>
          <p:nvPr>
            <p:ph idx="1"/>
          </p:nvPr>
        </p:nvSpPr>
        <p:spPr/>
        <p:txBody>
          <a:bodyPr/>
          <a:lstStyle/>
          <a:p>
            <a:r>
              <a:rPr lang="fr-FR"/>
              <a:t>Le classeur Excel (</a:t>
            </a:r>
            <a:r>
              <a:rPr lang="fr-FR" i="1"/>
              <a:t>à éviter</a:t>
            </a:r>
            <a:r>
              <a:rPr lang="fr-FR"/>
              <a:t>)</a:t>
            </a:r>
          </a:p>
          <a:p>
            <a:pPr lvl="1"/>
            <a:r>
              <a:rPr lang="fr-FR"/>
              <a:t>Très utilisé en entreprise, car c’est un outil que maîtrisent les ingénieurs, le classeur Excel permet de stocker de grandes quantités de données et d’effectuer des recherches</a:t>
            </a:r>
          </a:p>
          <a:p>
            <a:pPr lvl="1"/>
            <a:r>
              <a:rPr lang="fr-FR"/>
              <a:t>Recherche multicritère excessivement complexe</a:t>
            </a:r>
          </a:p>
          <a:p>
            <a:pPr lvl="1"/>
            <a:r>
              <a:rPr lang="fr-FR"/>
              <a:t>Performances faibles face à une grande quantité de données et quantité de données limitée</a:t>
            </a:r>
          </a:p>
        </p:txBody>
      </p:sp>
      <p:sp>
        <p:nvSpPr>
          <p:cNvPr id="6" name="Espace réservé du numéro de diapositive 5">
            <a:extLst>
              <a:ext uri="{FF2B5EF4-FFF2-40B4-BE49-F238E27FC236}">
                <a16:creationId xmlns:a16="http://schemas.microsoft.com/office/drawing/2014/main" id="{7CA76514-F9D5-4623-A468-C52FBB38C781}"/>
              </a:ext>
            </a:extLst>
          </p:cNvPr>
          <p:cNvSpPr>
            <a:spLocks noGrp="1"/>
          </p:cNvSpPr>
          <p:nvPr>
            <p:ph type="sldNum" sz="quarter" idx="12"/>
          </p:nvPr>
        </p:nvSpPr>
        <p:spPr/>
        <p:txBody>
          <a:bodyPr/>
          <a:lstStyle/>
          <a:p>
            <a:fld id="{27C6CCC6-2BE5-4E42-96A4-D1E8E81A3D8E}" type="slidenum">
              <a:rPr lang="de-DE" smtClean="0"/>
              <a:t>23</a:t>
            </a:fld>
            <a:endParaRPr lang="de-DE"/>
          </a:p>
        </p:txBody>
      </p:sp>
    </p:spTree>
    <p:extLst>
      <p:ext uri="{BB962C8B-B14F-4D97-AF65-F5344CB8AC3E}">
        <p14:creationId xmlns:p14="http://schemas.microsoft.com/office/powerpoint/2010/main" val="640282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44B1B7-EE81-4C07-A852-5250C6E12338}"/>
              </a:ext>
            </a:extLst>
          </p:cNvPr>
          <p:cNvSpPr>
            <a:spLocks noGrp="1"/>
          </p:cNvSpPr>
          <p:nvPr>
            <p:ph type="title"/>
          </p:nvPr>
        </p:nvSpPr>
        <p:spPr/>
        <p:txBody>
          <a:bodyPr/>
          <a:lstStyle/>
          <a:p>
            <a:r>
              <a:rPr lang="fr-FR"/>
              <a:t>Introduction</a:t>
            </a:r>
          </a:p>
        </p:txBody>
      </p:sp>
      <p:sp>
        <p:nvSpPr>
          <p:cNvPr id="3" name="Espace réservé du contenu 2">
            <a:extLst>
              <a:ext uri="{FF2B5EF4-FFF2-40B4-BE49-F238E27FC236}">
                <a16:creationId xmlns:a16="http://schemas.microsoft.com/office/drawing/2014/main" id="{873CF7D6-B6E6-4C65-B846-A36861096495}"/>
              </a:ext>
            </a:extLst>
          </p:cNvPr>
          <p:cNvSpPr>
            <a:spLocks noGrp="1"/>
          </p:cNvSpPr>
          <p:nvPr>
            <p:ph idx="1"/>
          </p:nvPr>
        </p:nvSpPr>
        <p:spPr/>
        <p:txBody>
          <a:bodyPr/>
          <a:lstStyle/>
          <a:p>
            <a:r>
              <a:rPr lang="fr-FR" dirty="0"/>
              <a:t>La </a:t>
            </a:r>
            <a:r>
              <a:rPr lang="fr-FR" b="1" dirty="0"/>
              <a:t>base de données relationnelle</a:t>
            </a:r>
          </a:p>
          <a:p>
            <a:pPr lvl="1"/>
            <a:r>
              <a:rPr lang="fr-FR" dirty="0"/>
              <a:t>Données organisées via des </a:t>
            </a:r>
            <a:r>
              <a:rPr lang="fr-FR" i="1" dirty="0"/>
              <a:t>tables</a:t>
            </a:r>
            <a:r>
              <a:rPr lang="fr-FR" dirty="0"/>
              <a:t> représentant des </a:t>
            </a:r>
            <a:r>
              <a:rPr lang="fr-FR" i="1" dirty="0"/>
              <a:t>entités</a:t>
            </a:r>
            <a:r>
              <a:rPr lang="fr-FR" dirty="0"/>
              <a:t> et des </a:t>
            </a:r>
            <a:r>
              <a:rPr lang="fr-FR" i="1" dirty="0"/>
              <a:t>relations</a:t>
            </a:r>
            <a:r>
              <a:rPr lang="fr-FR" dirty="0"/>
              <a:t> entre ces entités</a:t>
            </a:r>
          </a:p>
          <a:p>
            <a:pPr lvl="1"/>
            <a:r>
              <a:rPr lang="fr-FR" dirty="0"/>
              <a:t>Capable de gérer de grandes quantités de données</a:t>
            </a:r>
          </a:p>
          <a:p>
            <a:pPr lvl="1"/>
            <a:r>
              <a:rPr lang="fr-FR" dirty="0"/>
              <a:t>Possibilité de formuler des requêtes complexes permettant d’extraire des données selon de nombreux critères</a:t>
            </a:r>
          </a:p>
          <a:p>
            <a:pPr lvl="1"/>
            <a:r>
              <a:rPr lang="fr-FR" dirty="0"/>
              <a:t>Repose sur un Système de Gestion de Base de Données Relationnelle (SGBDR) : Microsoft Access, </a:t>
            </a:r>
            <a:r>
              <a:rPr lang="fr-FR" b="1" dirty="0"/>
              <a:t>MySQL</a:t>
            </a:r>
            <a:r>
              <a:rPr lang="fr-FR" dirty="0"/>
              <a:t>, PostgreSQL, Oracle, SQLite, H2, etc.</a:t>
            </a:r>
          </a:p>
          <a:p>
            <a:endParaRPr lang="fr-FR" dirty="0"/>
          </a:p>
        </p:txBody>
      </p:sp>
      <p:sp>
        <p:nvSpPr>
          <p:cNvPr id="6" name="Espace réservé du numéro de diapositive 5">
            <a:extLst>
              <a:ext uri="{FF2B5EF4-FFF2-40B4-BE49-F238E27FC236}">
                <a16:creationId xmlns:a16="http://schemas.microsoft.com/office/drawing/2014/main" id="{D0479511-2EE9-42CE-A114-EC3624BFB788}"/>
              </a:ext>
            </a:extLst>
          </p:cNvPr>
          <p:cNvSpPr>
            <a:spLocks noGrp="1"/>
          </p:cNvSpPr>
          <p:nvPr>
            <p:ph type="sldNum" sz="quarter" idx="12"/>
          </p:nvPr>
        </p:nvSpPr>
        <p:spPr/>
        <p:txBody>
          <a:bodyPr/>
          <a:lstStyle/>
          <a:p>
            <a:fld id="{27C6CCC6-2BE5-4E42-96A4-D1E8E81A3D8E}" type="slidenum">
              <a:rPr lang="de-DE" smtClean="0"/>
              <a:t>24</a:t>
            </a:fld>
            <a:endParaRPr lang="de-DE"/>
          </a:p>
        </p:txBody>
      </p:sp>
    </p:spTree>
    <p:extLst>
      <p:ext uri="{BB962C8B-B14F-4D97-AF65-F5344CB8AC3E}">
        <p14:creationId xmlns:p14="http://schemas.microsoft.com/office/powerpoint/2010/main" val="3330590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44B1B7-EE81-4C07-A852-5250C6E12338}"/>
              </a:ext>
            </a:extLst>
          </p:cNvPr>
          <p:cNvSpPr>
            <a:spLocks noGrp="1"/>
          </p:cNvSpPr>
          <p:nvPr>
            <p:ph type="title"/>
          </p:nvPr>
        </p:nvSpPr>
        <p:spPr/>
        <p:txBody>
          <a:bodyPr/>
          <a:lstStyle/>
          <a:p>
            <a:r>
              <a:rPr lang="fr-FR"/>
              <a:t>Introduction</a:t>
            </a:r>
          </a:p>
        </p:txBody>
      </p:sp>
      <p:sp>
        <p:nvSpPr>
          <p:cNvPr id="4" name="Espace réservé du texte 3">
            <a:extLst>
              <a:ext uri="{FF2B5EF4-FFF2-40B4-BE49-F238E27FC236}">
                <a16:creationId xmlns:a16="http://schemas.microsoft.com/office/drawing/2014/main" id="{7E57E3AB-81E9-40AF-B2DD-17A2FE8F54FB}"/>
              </a:ext>
            </a:extLst>
          </p:cNvPr>
          <p:cNvSpPr>
            <a:spLocks noGrp="1"/>
          </p:cNvSpPr>
          <p:nvPr>
            <p:ph type="body" idx="1"/>
          </p:nvPr>
        </p:nvSpPr>
        <p:spPr/>
        <p:txBody>
          <a:bodyPr/>
          <a:lstStyle/>
          <a:p>
            <a:r>
              <a:rPr lang="fr-FR"/>
              <a:t>Orienté agrégats</a:t>
            </a:r>
          </a:p>
        </p:txBody>
      </p:sp>
      <p:sp>
        <p:nvSpPr>
          <p:cNvPr id="3" name="Espace réservé du contenu 2">
            <a:extLst>
              <a:ext uri="{FF2B5EF4-FFF2-40B4-BE49-F238E27FC236}">
                <a16:creationId xmlns:a16="http://schemas.microsoft.com/office/drawing/2014/main" id="{873CF7D6-B6E6-4C65-B846-A36861096495}"/>
              </a:ext>
            </a:extLst>
          </p:cNvPr>
          <p:cNvSpPr>
            <a:spLocks noGrp="1"/>
          </p:cNvSpPr>
          <p:nvPr>
            <p:ph sz="half" idx="2"/>
          </p:nvPr>
        </p:nvSpPr>
        <p:spPr/>
        <p:txBody>
          <a:bodyPr numCol="1">
            <a:normAutofit fontScale="85000" lnSpcReduction="10000"/>
          </a:bodyPr>
          <a:lstStyle/>
          <a:p>
            <a:r>
              <a:rPr lang="fr-FR"/>
              <a:t>Données souvent représentées sous la forme d’associations clé/valeur (comme un dictionnaire)</a:t>
            </a:r>
          </a:p>
          <a:p>
            <a:r>
              <a:rPr lang="fr-FR"/>
              <a:t>Gèrent un très gros volume de données (Big Data)</a:t>
            </a:r>
          </a:p>
          <a:p>
            <a:r>
              <a:rPr lang="fr-FR"/>
              <a:t>Facilement distribuables sur plusieurs serveurs</a:t>
            </a:r>
          </a:p>
          <a:p>
            <a:r>
              <a:rPr lang="fr-FR"/>
              <a:t>Mais pas de relations entre différentes entités</a:t>
            </a:r>
          </a:p>
          <a:p>
            <a:r>
              <a:rPr lang="fr-FR"/>
              <a:t>Exemple : MongoDB (base orientée document)</a:t>
            </a:r>
          </a:p>
          <a:p>
            <a:endParaRPr lang="fr-FR"/>
          </a:p>
        </p:txBody>
      </p:sp>
      <p:sp>
        <p:nvSpPr>
          <p:cNvPr id="5" name="Espace réservé du texte 4">
            <a:extLst>
              <a:ext uri="{FF2B5EF4-FFF2-40B4-BE49-F238E27FC236}">
                <a16:creationId xmlns:a16="http://schemas.microsoft.com/office/drawing/2014/main" id="{B9EB5053-B17B-4637-A870-860AC743C91C}"/>
              </a:ext>
            </a:extLst>
          </p:cNvPr>
          <p:cNvSpPr>
            <a:spLocks noGrp="1"/>
          </p:cNvSpPr>
          <p:nvPr>
            <p:ph type="body" sz="quarter" idx="3"/>
          </p:nvPr>
        </p:nvSpPr>
        <p:spPr/>
        <p:txBody>
          <a:bodyPr/>
          <a:lstStyle/>
          <a:p>
            <a:r>
              <a:rPr lang="fr-FR"/>
              <a:t>Orienté graphes</a:t>
            </a:r>
          </a:p>
        </p:txBody>
      </p:sp>
      <p:sp>
        <p:nvSpPr>
          <p:cNvPr id="6" name="Espace réservé du contenu 5">
            <a:extLst>
              <a:ext uri="{FF2B5EF4-FFF2-40B4-BE49-F238E27FC236}">
                <a16:creationId xmlns:a16="http://schemas.microsoft.com/office/drawing/2014/main" id="{826CE358-E192-40EB-AF91-119FFA631BD0}"/>
              </a:ext>
            </a:extLst>
          </p:cNvPr>
          <p:cNvSpPr>
            <a:spLocks noGrp="1"/>
          </p:cNvSpPr>
          <p:nvPr>
            <p:ph sz="quarter" idx="4"/>
          </p:nvPr>
        </p:nvSpPr>
        <p:spPr/>
        <p:txBody>
          <a:bodyPr>
            <a:normAutofit fontScale="85000" lnSpcReduction="10000"/>
          </a:bodyPr>
          <a:lstStyle/>
          <a:p>
            <a:r>
              <a:rPr lang="fr-FR"/>
              <a:t>Données représentées sous la forme d’un graphe</a:t>
            </a:r>
          </a:p>
          <a:p>
            <a:r>
              <a:rPr lang="fr-FR"/>
              <a:t>Gèrent plus efficacement les relations entre les entités</a:t>
            </a:r>
          </a:p>
          <a:p>
            <a:r>
              <a:rPr lang="fr-FR"/>
              <a:t>Capable de gérer des gros volumes de données</a:t>
            </a:r>
          </a:p>
          <a:p>
            <a:r>
              <a:rPr lang="fr-FR"/>
              <a:t>Les agrégations et les opérations sont moins performantes (exemple : extraire d’une base la somme des factures)</a:t>
            </a:r>
          </a:p>
          <a:p>
            <a:endParaRPr lang="fr-FR"/>
          </a:p>
        </p:txBody>
      </p:sp>
      <p:sp>
        <p:nvSpPr>
          <p:cNvPr id="9" name="Espace réservé du numéro de diapositive 8">
            <a:extLst>
              <a:ext uri="{FF2B5EF4-FFF2-40B4-BE49-F238E27FC236}">
                <a16:creationId xmlns:a16="http://schemas.microsoft.com/office/drawing/2014/main" id="{98985CA3-4426-42DC-9B52-32EEA0BE3066}"/>
              </a:ext>
            </a:extLst>
          </p:cNvPr>
          <p:cNvSpPr>
            <a:spLocks noGrp="1"/>
          </p:cNvSpPr>
          <p:nvPr>
            <p:ph type="sldNum" sz="quarter" idx="12"/>
          </p:nvPr>
        </p:nvSpPr>
        <p:spPr/>
        <p:txBody>
          <a:bodyPr/>
          <a:lstStyle/>
          <a:p>
            <a:fld id="{27C6CCC6-2BE5-4E42-96A4-D1E8E81A3D8E}" type="slidenum">
              <a:rPr lang="de-DE" smtClean="0"/>
              <a:t>25</a:t>
            </a:fld>
            <a:endParaRPr lang="de-DE"/>
          </a:p>
        </p:txBody>
      </p:sp>
    </p:spTree>
    <p:extLst>
      <p:ext uri="{BB962C8B-B14F-4D97-AF65-F5344CB8AC3E}">
        <p14:creationId xmlns:p14="http://schemas.microsoft.com/office/powerpoint/2010/main" val="3638164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2C5577-529E-4389-A205-57008FE8D588}"/>
              </a:ext>
            </a:extLst>
          </p:cNvPr>
          <p:cNvSpPr>
            <a:spLocks noGrp="1"/>
          </p:cNvSpPr>
          <p:nvPr>
            <p:ph type="title"/>
          </p:nvPr>
        </p:nvSpPr>
        <p:spPr/>
        <p:txBody>
          <a:bodyPr/>
          <a:lstStyle/>
          <a:p>
            <a:r>
              <a:rPr lang="fr-FR"/>
              <a:t>Principes des bases de données relationnelles</a:t>
            </a:r>
          </a:p>
        </p:txBody>
      </p:sp>
      <p:sp>
        <p:nvSpPr>
          <p:cNvPr id="3" name="Espace réservé du texte 2">
            <a:extLst>
              <a:ext uri="{FF2B5EF4-FFF2-40B4-BE49-F238E27FC236}">
                <a16:creationId xmlns:a16="http://schemas.microsoft.com/office/drawing/2014/main" id="{F0B9C18C-E3F5-4178-B572-BA43500A4D67}"/>
              </a:ext>
            </a:extLst>
          </p:cNvPr>
          <p:cNvSpPr>
            <a:spLocks noGrp="1"/>
          </p:cNvSpPr>
          <p:nvPr>
            <p:ph type="body" idx="1"/>
          </p:nvPr>
        </p:nvSpPr>
        <p:spPr/>
        <p:txBody>
          <a:bodyPr/>
          <a:lstStyle/>
          <a:p>
            <a:r>
              <a:rPr lang="fr-FR"/>
              <a:t>Comment sont organisées les données dans les bases relationnelles ?</a:t>
            </a:r>
          </a:p>
        </p:txBody>
      </p:sp>
      <p:sp>
        <p:nvSpPr>
          <p:cNvPr id="6" name="Espace réservé du numéro de diapositive 5">
            <a:extLst>
              <a:ext uri="{FF2B5EF4-FFF2-40B4-BE49-F238E27FC236}">
                <a16:creationId xmlns:a16="http://schemas.microsoft.com/office/drawing/2014/main" id="{8DA27D0C-773B-437B-9A41-C904A5C81A85}"/>
              </a:ext>
            </a:extLst>
          </p:cNvPr>
          <p:cNvSpPr>
            <a:spLocks noGrp="1"/>
          </p:cNvSpPr>
          <p:nvPr>
            <p:ph type="sldNum" sz="quarter" idx="12"/>
          </p:nvPr>
        </p:nvSpPr>
        <p:spPr/>
        <p:txBody>
          <a:bodyPr/>
          <a:lstStyle/>
          <a:p>
            <a:fld id="{27C6CCC6-2BE5-4E42-96A4-D1E8E81A3D8E}" type="slidenum">
              <a:rPr lang="de-DE" smtClean="0"/>
              <a:t>26</a:t>
            </a:fld>
            <a:endParaRPr lang="de-DE"/>
          </a:p>
        </p:txBody>
      </p:sp>
    </p:spTree>
    <p:extLst>
      <p:ext uri="{BB962C8B-B14F-4D97-AF65-F5344CB8AC3E}">
        <p14:creationId xmlns:p14="http://schemas.microsoft.com/office/powerpoint/2010/main" val="15357595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a:t>Le système de gestion de base de données relationnelle (SGBDR)</a:t>
            </a:r>
          </a:p>
          <a:p>
            <a:pPr lvl="1"/>
            <a:r>
              <a:rPr lang="fr-FR"/>
              <a:t>Gère les bases de données</a:t>
            </a:r>
          </a:p>
          <a:p>
            <a:pPr lvl="1"/>
            <a:r>
              <a:rPr lang="fr-FR"/>
              <a:t>Stocke les informations dans les bases de données</a:t>
            </a:r>
          </a:p>
          <a:p>
            <a:pPr lvl="1"/>
            <a:r>
              <a:rPr lang="fr-FR"/>
              <a:t>Fournit une interface et un langage de requête pour accéder aux données de la base</a:t>
            </a:r>
          </a:p>
          <a:p>
            <a:pPr lvl="1"/>
            <a:r>
              <a:rPr lang="fr-FR"/>
              <a:t>Peut fonctionner sur le schéma Client-Serveur (les données sont mises à disposition de plusieurs applications, exemple MySQL), en local (les données sont stockées pour une application, exemple SQLite), en mémoire (les données sont stockées dans la RAM, exemple H2)</a:t>
            </a:r>
          </a:p>
        </p:txBody>
      </p:sp>
      <p:sp>
        <p:nvSpPr>
          <p:cNvPr id="6" name="Espace réservé du numéro de diapositive 5">
            <a:extLst>
              <a:ext uri="{FF2B5EF4-FFF2-40B4-BE49-F238E27FC236}">
                <a16:creationId xmlns:a16="http://schemas.microsoft.com/office/drawing/2014/main" id="{72573BEC-F3E7-4254-B555-20F6B6BBA22E}"/>
              </a:ext>
            </a:extLst>
          </p:cNvPr>
          <p:cNvSpPr>
            <a:spLocks noGrp="1"/>
          </p:cNvSpPr>
          <p:nvPr>
            <p:ph type="sldNum" sz="quarter" idx="12"/>
          </p:nvPr>
        </p:nvSpPr>
        <p:spPr/>
        <p:txBody>
          <a:bodyPr/>
          <a:lstStyle/>
          <a:p>
            <a:fld id="{27C6CCC6-2BE5-4E42-96A4-D1E8E81A3D8E}" type="slidenum">
              <a:rPr lang="de-DE" smtClean="0"/>
              <a:t>27</a:t>
            </a:fld>
            <a:endParaRPr lang="de-DE"/>
          </a:p>
        </p:txBody>
      </p:sp>
    </p:spTree>
    <p:extLst>
      <p:ext uri="{BB962C8B-B14F-4D97-AF65-F5344CB8AC3E}">
        <p14:creationId xmlns:p14="http://schemas.microsoft.com/office/powerpoint/2010/main" val="3886807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0053" y="2230945"/>
            <a:ext cx="10571892" cy="753035"/>
          </a:xfrm>
        </p:spPr>
        <p:txBody>
          <a:bodyPr vert="horz" lIns="91440" tIns="45720" rIns="91440" bIns="45720" rtlCol="0" anchor="t">
            <a:normAutofit/>
          </a:bodyPr>
          <a:lstStyle/>
          <a:p>
            <a:r>
              <a:rPr lang="fr-FR"/>
              <a:t>Dans une base de données relationnelles, les données sont structurées dans </a:t>
            </a:r>
            <a:r>
              <a:rPr lang="fr-FR" b="1"/>
              <a:t>tables</a:t>
            </a:r>
            <a:r>
              <a:rPr lang="fr-FR"/>
              <a:t> composées de </a:t>
            </a:r>
            <a:r>
              <a:rPr lang="fr-FR" b="1"/>
              <a:t>colonnes</a:t>
            </a:r>
          </a:p>
          <a:p>
            <a:endParaRPr lang="fr-FR" b="1"/>
          </a:p>
          <a:p>
            <a:endParaRPr lang="fr-FR" b="1"/>
          </a:p>
        </p:txBody>
      </p:sp>
      <p:sp>
        <p:nvSpPr>
          <p:cNvPr id="10" name="Espace réservé du numéro de diapositive 9">
            <a:extLst>
              <a:ext uri="{FF2B5EF4-FFF2-40B4-BE49-F238E27FC236}">
                <a16:creationId xmlns:a16="http://schemas.microsoft.com/office/drawing/2014/main" id="{78546B34-C415-4FBF-8352-694AFACF2E64}"/>
              </a:ext>
            </a:extLst>
          </p:cNvPr>
          <p:cNvSpPr>
            <a:spLocks noGrp="1"/>
          </p:cNvSpPr>
          <p:nvPr>
            <p:ph type="sldNum" sz="quarter" idx="12"/>
          </p:nvPr>
        </p:nvSpPr>
        <p:spPr/>
        <p:txBody>
          <a:bodyPr/>
          <a:lstStyle/>
          <a:p>
            <a:fld id="{27C6CCC6-2BE5-4E42-96A4-D1E8E81A3D8E}" type="slidenum">
              <a:rPr lang="de-DE" smtClean="0"/>
              <a:t>28</a:t>
            </a:fld>
            <a:endParaRPr lang="de-DE"/>
          </a:p>
        </p:txBody>
      </p:sp>
      <p:graphicFrame>
        <p:nvGraphicFramePr>
          <p:cNvPr id="4" name="Tableau 3">
            <a:extLst>
              <a:ext uri="{FF2B5EF4-FFF2-40B4-BE49-F238E27FC236}">
                <a16:creationId xmlns:a16="http://schemas.microsoft.com/office/drawing/2014/main" id="{0888348B-D066-4205-A4C8-6AFF79D2EDB5}"/>
              </a:ext>
            </a:extLst>
          </p:cNvPr>
          <p:cNvGraphicFramePr>
            <a:graphicFrameLocks noGrp="1"/>
          </p:cNvGraphicFramePr>
          <p:nvPr>
            <p:extLst>
              <p:ext uri="{D42A27DB-BD31-4B8C-83A1-F6EECF244321}">
                <p14:modId xmlns:p14="http://schemas.microsoft.com/office/powerpoint/2010/main" val="1744263116"/>
              </p:ext>
            </p:extLst>
          </p:nvPr>
        </p:nvGraphicFramePr>
        <p:xfrm>
          <a:off x="1723768" y="3385992"/>
          <a:ext cx="8128000" cy="13817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696855272"/>
                    </a:ext>
                  </a:extLst>
                </a:gridCol>
                <a:gridCol w="2032000">
                  <a:extLst>
                    <a:ext uri="{9D8B030D-6E8A-4147-A177-3AD203B41FA5}">
                      <a16:colId xmlns:a16="http://schemas.microsoft.com/office/drawing/2014/main" val="2339036760"/>
                    </a:ext>
                  </a:extLst>
                </a:gridCol>
                <a:gridCol w="2032000">
                  <a:extLst>
                    <a:ext uri="{9D8B030D-6E8A-4147-A177-3AD203B41FA5}">
                      <a16:colId xmlns:a16="http://schemas.microsoft.com/office/drawing/2014/main" val="4245448040"/>
                    </a:ext>
                  </a:extLst>
                </a:gridCol>
                <a:gridCol w="2032000">
                  <a:extLst>
                    <a:ext uri="{9D8B030D-6E8A-4147-A177-3AD203B41FA5}">
                      <a16:colId xmlns:a16="http://schemas.microsoft.com/office/drawing/2014/main" val="1684618143"/>
                    </a:ext>
                  </a:extLst>
                </a:gridCol>
              </a:tblGrid>
              <a:tr h="370840">
                <a:tc>
                  <a:txBody>
                    <a:bodyPr/>
                    <a:lstStyle/>
                    <a:p>
                      <a:r>
                        <a:rPr lang="fr-FR" u="sng"/>
                        <a:t>ID</a:t>
                      </a:r>
                    </a:p>
                  </a:txBody>
                  <a:tcPr/>
                </a:tc>
                <a:tc>
                  <a:txBody>
                    <a:bodyPr/>
                    <a:lstStyle/>
                    <a:p>
                      <a:r>
                        <a:rPr lang="fr-FR"/>
                        <a:t>Nom</a:t>
                      </a:r>
                    </a:p>
                  </a:txBody>
                  <a:tcPr/>
                </a:tc>
                <a:tc>
                  <a:txBody>
                    <a:bodyPr/>
                    <a:lstStyle/>
                    <a:p>
                      <a:r>
                        <a:rPr lang="fr-FR"/>
                        <a:t>Prénom</a:t>
                      </a:r>
                    </a:p>
                  </a:txBody>
                  <a:tcPr/>
                </a:tc>
                <a:tc>
                  <a:txBody>
                    <a:bodyPr/>
                    <a:lstStyle/>
                    <a:p>
                      <a:r>
                        <a:rPr lang="fr-FR"/>
                        <a:t>Date de naissance</a:t>
                      </a:r>
                    </a:p>
                  </a:txBody>
                  <a:tcPr/>
                </a:tc>
                <a:extLst>
                  <a:ext uri="{0D108BD9-81ED-4DB2-BD59-A6C34878D82A}">
                    <a16:rowId xmlns:a16="http://schemas.microsoft.com/office/drawing/2014/main" val="3262443685"/>
                  </a:ext>
                </a:extLst>
              </a:tr>
              <a:tr h="370840">
                <a:tc>
                  <a:txBody>
                    <a:bodyPr/>
                    <a:lstStyle/>
                    <a:p>
                      <a:r>
                        <a:rPr lang="fr-FR"/>
                        <a:t>1</a:t>
                      </a:r>
                    </a:p>
                  </a:txBody>
                  <a:tcPr/>
                </a:tc>
                <a:tc>
                  <a:txBody>
                    <a:bodyPr/>
                    <a:lstStyle/>
                    <a:p>
                      <a:r>
                        <a:rPr lang="fr-FR"/>
                        <a:t>Jean</a:t>
                      </a:r>
                    </a:p>
                  </a:txBody>
                  <a:tcPr/>
                </a:tc>
                <a:tc>
                  <a:txBody>
                    <a:bodyPr/>
                    <a:lstStyle/>
                    <a:p>
                      <a:r>
                        <a:rPr lang="fr-FR"/>
                        <a:t>Marc</a:t>
                      </a:r>
                    </a:p>
                  </a:txBody>
                  <a:tcPr/>
                </a:tc>
                <a:tc>
                  <a:txBody>
                    <a:bodyPr/>
                    <a:lstStyle/>
                    <a:p>
                      <a:r>
                        <a:rPr lang="fr-FR"/>
                        <a:t>01/01/1980</a:t>
                      </a:r>
                    </a:p>
                  </a:txBody>
                  <a:tcPr/>
                </a:tc>
                <a:extLst>
                  <a:ext uri="{0D108BD9-81ED-4DB2-BD59-A6C34878D82A}">
                    <a16:rowId xmlns:a16="http://schemas.microsoft.com/office/drawing/2014/main" val="644644615"/>
                  </a:ext>
                </a:extLst>
              </a:tr>
              <a:tr h="370840">
                <a:tc>
                  <a:txBody>
                    <a:bodyPr/>
                    <a:lstStyle/>
                    <a:p>
                      <a:r>
                        <a:rPr lang="fr-FR"/>
                        <a:t>2</a:t>
                      </a:r>
                    </a:p>
                  </a:txBody>
                  <a:tcPr/>
                </a:tc>
                <a:tc>
                  <a:txBody>
                    <a:bodyPr/>
                    <a:lstStyle/>
                    <a:p>
                      <a:r>
                        <a:rPr lang="fr-FR"/>
                        <a:t>Paul</a:t>
                      </a:r>
                    </a:p>
                  </a:txBody>
                  <a:tcPr/>
                </a:tc>
                <a:tc>
                  <a:txBody>
                    <a:bodyPr/>
                    <a:lstStyle/>
                    <a:p>
                      <a:r>
                        <a:rPr lang="fr-FR"/>
                        <a:t>Lucas</a:t>
                      </a:r>
                    </a:p>
                  </a:txBody>
                  <a:tcPr/>
                </a:tc>
                <a:tc>
                  <a:txBody>
                    <a:bodyPr/>
                    <a:lstStyle/>
                    <a:p>
                      <a:r>
                        <a:rPr lang="fr-FR"/>
                        <a:t>01/01/1990</a:t>
                      </a:r>
                    </a:p>
                  </a:txBody>
                  <a:tcPr/>
                </a:tc>
                <a:extLst>
                  <a:ext uri="{0D108BD9-81ED-4DB2-BD59-A6C34878D82A}">
                    <a16:rowId xmlns:a16="http://schemas.microsoft.com/office/drawing/2014/main" val="1587431500"/>
                  </a:ext>
                </a:extLst>
              </a:tr>
            </a:tbl>
          </a:graphicData>
        </a:graphic>
      </p:graphicFrame>
      <p:sp>
        <p:nvSpPr>
          <p:cNvPr id="6" name="Espace réservé du contenu 2">
            <a:extLst>
              <a:ext uri="{FF2B5EF4-FFF2-40B4-BE49-F238E27FC236}">
                <a16:creationId xmlns:a16="http://schemas.microsoft.com/office/drawing/2014/main" id="{92A42F5C-DB74-489F-92CF-E9B31EE227A2}"/>
              </a:ext>
            </a:extLst>
          </p:cNvPr>
          <p:cNvSpPr txBox="1">
            <a:spLocks/>
          </p:cNvSpPr>
          <p:nvPr/>
        </p:nvSpPr>
        <p:spPr>
          <a:xfrm>
            <a:off x="806589" y="5076322"/>
            <a:ext cx="10563233" cy="1350512"/>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fr-FR"/>
              <a:t>Une table correspond généralement à une </a:t>
            </a:r>
            <a:r>
              <a:rPr lang="fr-FR" b="1"/>
              <a:t>entité</a:t>
            </a:r>
            <a:r>
              <a:rPr lang="fr-FR"/>
              <a:t> du système à modéliser (un client, une facture, etc.)</a:t>
            </a:r>
            <a:endParaRPr lang="fr-FR" b="1"/>
          </a:p>
          <a:p>
            <a:r>
              <a:rPr lang="fr-FR"/>
              <a:t>Une colonne correspond à un </a:t>
            </a:r>
            <a:r>
              <a:rPr lang="fr-FR" b="1"/>
              <a:t>attribut</a:t>
            </a:r>
            <a:r>
              <a:rPr lang="fr-FR"/>
              <a:t> de cette entité</a:t>
            </a:r>
          </a:p>
          <a:p>
            <a:endParaRPr lang="fr-FR" b="1"/>
          </a:p>
          <a:p>
            <a:endParaRPr lang="fr-FR" b="1"/>
          </a:p>
        </p:txBody>
      </p:sp>
    </p:spTree>
    <p:extLst>
      <p:ext uri="{BB962C8B-B14F-4D97-AF65-F5344CB8AC3E}">
        <p14:creationId xmlns:p14="http://schemas.microsoft.com/office/powerpoint/2010/main" val="4015835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a:t>Une </a:t>
            </a:r>
            <a:r>
              <a:rPr lang="fr-FR" b="1"/>
              <a:t>table </a:t>
            </a:r>
            <a:r>
              <a:rPr lang="fr-FR"/>
              <a:t>est composée de </a:t>
            </a:r>
            <a:r>
              <a:rPr lang="fr-FR" b="1"/>
              <a:t>colonnes</a:t>
            </a:r>
            <a:r>
              <a:rPr lang="fr-FR"/>
              <a:t>, chaque colonne correspond à une catégorie d'information</a:t>
            </a:r>
          </a:p>
          <a:p>
            <a:r>
              <a:rPr lang="fr-FR"/>
              <a:t>Chaque </a:t>
            </a:r>
            <a:r>
              <a:rPr lang="fr-FR" b="1"/>
              <a:t>ligne </a:t>
            </a:r>
            <a:r>
              <a:rPr lang="fr-FR"/>
              <a:t>contient les informations, on parle d'</a:t>
            </a:r>
            <a:r>
              <a:rPr lang="fr-FR" b="1"/>
              <a:t>enregistrements</a:t>
            </a:r>
            <a:r>
              <a:rPr lang="fr-FR"/>
              <a:t> ou d'entrées</a:t>
            </a:r>
          </a:p>
          <a:p>
            <a:r>
              <a:rPr lang="fr-FR"/>
              <a:t>L'intersection d'une ligne et d'une colonne s'appelle un </a:t>
            </a:r>
            <a:r>
              <a:rPr lang="fr-FR" b="1"/>
              <a:t>champ</a:t>
            </a:r>
          </a:p>
          <a:p>
            <a:endParaRPr lang="fr-FR"/>
          </a:p>
        </p:txBody>
      </p:sp>
      <p:sp>
        <p:nvSpPr>
          <p:cNvPr id="6" name="Espace réservé du numéro de diapositive 5">
            <a:extLst>
              <a:ext uri="{FF2B5EF4-FFF2-40B4-BE49-F238E27FC236}">
                <a16:creationId xmlns:a16="http://schemas.microsoft.com/office/drawing/2014/main" id="{E69C95FF-5912-4549-9A18-6155CE8DA843}"/>
              </a:ext>
            </a:extLst>
          </p:cNvPr>
          <p:cNvSpPr>
            <a:spLocks noGrp="1"/>
          </p:cNvSpPr>
          <p:nvPr>
            <p:ph type="sldNum" sz="quarter" idx="12"/>
          </p:nvPr>
        </p:nvSpPr>
        <p:spPr/>
        <p:txBody>
          <a:bodyPr/>
          <a:lstStyle/>
          <a:p>
            <a:fld id="{27C6CCC6-2BE5-4E42-96A4-D1E8E81A3D8E}" type="slidenum">
              <a:rPr lang="de-DE" smtClean="0"/>
              <a:t>29</a:t>
            </a:fld>
            <a:endParaRPr lang="de-DE"/>
          </a:p>
        </p:txBody>
      </p:sp>
    </p:spTree>
    <p:extLst>
      <p:ext uri="{BB962C8B-B14F-4D97-AF65-F5344CB8AC3E}">
        <p14:creationId xmlns:p14="http://schemas.microsoft.com/office/powerpoint/2010/main" val="4112476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a:t>Chaque colonne correspond à une donnée différente (par exemple "nom", "adresse", etc.)</a:t>
            </a:r>
          </a:p>
          <a:p>
            <a:r>
              <a:rPr lang="fr-FR"/>
              <a:t>Chaque colonne est associée à un type de donnée (nombre, date, chaîne de caractères, etc.)</a:t>
            </a:r>
          </a:p>
          <a:p>
            <a:r>
              <a:rPr lang="fr-FR"/>
              <a:t>Un champ est la valeur d’une colonne pour un enregistrement donné</a:t>
            </a:r>
          </a:p>
          <a:p>
            <a:r>
              <a:rPr lang="fr-FR"/>
              <a:t>Un champ peut être vide (NULL)</a:t>
            </a:r>
          </a:p>
        </p:txBody>
      </p:sp>
      <p:sp>
        <p:nvSpPr>
          <p:cNvPr id="6" name="Espace réservé du numéro de diapositive 5">
            <a:extLst>
              <a:ext uri="{FF2B5EF4-FFF2-40B4-BE49-F238E27FC236}">
                <a16:creationId xmlns:a16="http://schemas.microsoft.com/office/drawing/2014/main" id="{CFC0EB3B-31E4-480E-BBAE-CEAEE387A9AB}"/>
              </a:ext>
            </a:extLst>
          </p:cNvPr>
          <p:cNvSpPr>
            <a:spLocks noGrp="1"/>
          </p:cNvSpPr>
          <p:nvPr>
            <p:ph type="sldNum" sz="quarter" idx="12"/>
          </p:nvPr>
        </p:nvSpPr>
        <p:spPr/>
        <p:txBody>
          <a:bodyPr/>
          <a:lstStyle/>
          <a:p>
            <a:fld id="{27C6CCC6-2BE5-4E42-96A4-D1E8E81A3D8E}" type="slidenum">
              <a:rPr lang="de-DE" smtClean="0"/>
              <a:t>30</a:t>
            </a:fld>
            <a:endParaRPr lang="de-DE"/>
          </a:p>
        </p:txBody>
      </p:sp>
    </p:spTree>
    <p:extLst>
      <p:ext uri="{BB962C8B-B14F-4D97-AF65-F5344CB8AC3E}">
        <p14:creationId xmlns:p14="http://schemas.microsoft.com/office/powerpoint/2010/main" val="4066148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a:t>Types d’attributs usuels :</a:t>
            </a:r>
          </a:p>
          <a:p>
            <a:pPr lvl="1"/>
            <a:r>
              <a:rPr lang="fr-FR"/>
              <a:t>Booléen (vrai/faux)</a:t>
            </a:r>
          </a:p>
          <a:p>
            <a:pPr lvl="1"/>
            <a:r>
              <a:rPr lang="fr-FR"/>
              <a:t>Nombre</a:t>
            </a:r>
          </a:p>
          <a:p>
            <a:pPr lvl="1"/>
            <a:r>
              <a:rPr lang="fr-FR"/>
              <a:t>Entier</a:t>
            </a:r>
          </a:p>
          <a:p>
            <a:pPr lvl="1"/>
            <a:r>
              <a:rPr lang="fr-FR"/>
              <a:t>Chaîne de caractères, chaîne de caractères longue</a:t>
            </a:r>
          </a:p>
          <a:p>
            <a:pPr lvl="1"/>
            <a:r>
              <a:rPr lang="fr-FR"/>
              <a:t>Date, Temps, Date/Temps</a:t>
            </a:r>
          </a:p>
          <a:p>
            <a:pPr lvl="1"/>
            <a:r>
              <a:rPr lang="fr-FR"/>
              <a:t>Etc.</a:t>
            </a:r>
          </a:p>
        </p:txBody>
      </p:sp>
      <p:sp>
        <p:nvSpPr>
          <p:cNvPr id="6" name="Espace réservé du numéro de diapositive 5">
            <a:extLst>
              <a:ext uri="{FF2B5EF4-FFF2-40B4-BE49-F238E27FC236}">
                <a16:creationId xmlns:a16="http://schemas.microsoft.com/office/drawing/2014/main" id="{6B0B5703-23CC-4A3B-BA8F-636B0EAFD31C}"/>
              </a:ext>
            </a:extLst>
          </p:cNvPr>
          <p:cNvSpPr>
            <a:spLocks noGrp="1"/>
          </p:cNvSpPr>
          <p:nvPr>
            <p:ph type="sldNum" sz="quarter" idx="12"/>
          </p:nvPr>
        </p:nvSpPr>
        <p:spPr/>
        <p:txBody>
          <a:bodyPr/>
          <a:lstStyle/>
          <a:p>
            <a:fld id="{27C6CCC6-2BE5-4E42-96A4-D1E8E81A3D8E}" type="slidenum">
              <a:rPr lang="de-DE" smtClean="0"/>
              <a:t>31</a:t>
            </a:fld>
            <a:endParaRPr lang="de-DE"/>
          </a:p>
        </p:txBody>
      </p:sp>
    </p:spTree>
    <p:extLst>
      <p:ext uri="{BB962C8B-B14F-4D97-AF65-F5344CB8AC3E}">
        <p14:creationId xmlns:p14="http://schemas.microsoft.com/office/powerpoint/2010/main" val="5864949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a:t>Jusqu'ici une base de données n'est pas très différente d'un tableur</a:t>
            </a:r>
          </a:p>
          <a:p>
            <a:r>
              <a:rPr lang="fr-FR"/>
              <a:t>La particularité d'une base de données relationnelle est de pouvoir définir des relations entre les enregistrements de différentes tables</a:t>
            </a:r>
          </a:p>
          <a:p>
            <a:r>
              <a:rPr lang="fr-FR"/>
              <a:t>Pour ce faire, un champ doit pouvoir être identifié de façon unique et doit pouvoir référencer un champ d'une autre table de façon unique</a:t>
            </a:r>
          </a:p>
        </p:txBody>
      </p:sp>
      <p:sp>
        <p:nvSpPr>
          <p:cNvPr id="6" name="Espace réservé du numéro de diapositive 5">
            <a:extLst>
              <a:ext uri="{FF2B5EF4-FFF2-40B4-BE49-F238E27FC236}">
                <a16:creationId xmlns:a16="http://schemas.microsoft.com/office/drawing/2014/main" id="{FACD5040-E3CA-4B8F-B133-64ACE36C7F11}"/>
              </a:ext>
            </a:extLst>
          </p:cNvPr>
          <p:cNvSpPr>
            <a:spLocks noGrp="1"/>
          </p:cNvSpPr>
          <p:nvPr>
            <p:ph type="sldNum" sz="quarter" idx="12"/>
          </p:nvPr>
        </p:nvSpPr>
        <p:spPr/>
        <p:txBody>
          <a:bodyPr/>
          <a:lstStyle/>
          <a:p>
            <a:fld id="{27C6CCC6-2BE5-4E42-96A4-D1E8E81A3D8E}" type="slidenum">
              <a:rPr lang="de-DE" smtClean="0"/>
              <a:t>32</a:t>
            </a:fld>
            <a:endParaRPr lang="de-DE"/>
          </a:p>
        </p:txBody>
      </p:sp>
    </p:spTree>
    <p:extLst>
      <p:ext uri="{BB962C8B-B14F-4D97-AF65-F5344CB8AC3E}">
        <p14:creationId xmlns:p14="http://schemas.microsoft.com/office/powerpoint/2010/main" val="1175040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a:t>Une </a:t>
            </a:r>
            <a:r>
              <a:rPr lang="fr-FR" b="1"/>
              <a:t>clé </a:t>
            </a:r>
            <a:r>
              <a:rPr lang="fr-FR"/>
              <a:t>est un attribut ou un identifiant </a:t>
            </a:r>
            <a:r>
              <a:rPr lang="fr-FR" b="1"/>
              <a:t>unique </a:t>
            </a:r>
            <a:r>
              <a:rPr lang="fr-FR"/>
              <a:t>associé à un enregistrement (deux enregistrements ne peuvent pas avoir la même valeur pour la clé)</a:t>
            </a:r>
          </a:p>
          <a:p>
            <a:r>
              <a:rPr lang="fr-FR"/>
              <a:t>Elle peut être composée d'une ou plusieurs colonnes</a:t>
            </a:r>
          </a:p>
          <a:p>
            <a:r>
              <a:rPr lang="fr-FR"/>
              <a:t>Une clé doit être minimale</a:t>
            </a:r>
          </a:p>
          <a:p>
            <a:r>
              <a:rPr lang="fr-FR"/>
              <a:t>Parmi les clés possibles (ou clés candidate), on définit une </a:t>
            </a:r>
            <a:r>
              <a:rPr lang="fr-FR" b="1"/>
              <a:t>clé primaire</a:t>
            </a:r>
          </a:p>
          <a:p>
            <a:r>
              <a:rPr lang="fr-FR"/>
              <a:t>Le champ correspondant à la clé primaire ne peut pas être laissé vide</a:t>
            </a:r>
          </a:p>
        </p:txBody>
      </p:sp>
      <p:sp>
        <p:nvSpPr>
          <p:cNvPr id="6" name="Espace réservé du numéro de diapositive 5">
            <a:extLst>
              <a:ext uri="{FF2B5EF4-FFF2-40B4-BE49-F238E27FC236}">
                <a16:creationId xmlns:a16="http://schemas.microsoft.com/office/drawing/2014/main" id="{FA398CF3-A059-4191-ABB7-C4CBF106ACDD}"/>
              </a:ext>
            </a:extLst>
          </p:cNvPr>
          <p:cNvSpPr>
            <a:spLocks noGrp="1"/>
          </p:cNvSpPr>
          <p:nvPr>
            <p:ph type="sldNum" sz="quarter" idx="12"/>
          </p:nvPr>
        </p:nvSpPr>
        <p:spPr/>
        <p:txBody>
          <a:bodyPr/>
          <a:lstStyle/>
          <a:p>
            <a:fld id="{27C6CCC6-2BE5-4E42-96A4-D1E8E81A3D8E}" type="slidenum">
              <a:rPr lang="de-DE" smtClean="0"/>
              <a:t>33</a:t>
            </a:fld>
            <a:endParaRPr lang="de-DE"/>
          </a:p>
        </p:txBody>
      </p:sp>
    </p:spTree>
    <p:extLst>
      <p:ext uri="{BB962C8B-B14F-4D97-AF65-F5344CB8AC3E}">
        <p14:creationId xmlns:p14="http://schemas.microsoft.com/office/powerpoint/2010/main" val="35606593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7"/>
            <a:ext cx="10554574" cy="418363"/>
          </a:xfrm>
        </p:spPr>
        <p:txBody>
          <a:bodyPr>
            <a:normAutofit/>
          </a:bodyPr>
          <a:lstStyle/>
          <a:p>
            <a:r>
              <a:rPr lang="fr-FR"/>
              <a:t>Exercice : quelles sont les clés candidates de la table suivante ?</a:t>
            </a:r>
          </a:p>
        </p:txBody>
      </p:sp>
      <p:sp>
        <p:nvSpPr>
          <p:cNvPr id="7" name="Espace réservé du numéro de diapositive 6">
            <a:extLst>
              <a:ext uri="{FF2B5EF4-FFF2-40B4-BE49-F238E27FC236}">
                <a16:creationId xmlns:a16="http://schemas.microsoft.com/office/drawing/2014/main" id="{324D24DC-6526-4584-9176-69070E006035}"/>
              </a:ext>
            </a:extLst>
          </p:cNvPr>
          <p:cNvSpPr>
            <a:spLocks noGrp="1"/>
          </p:cNvSpPr>
          <p:nvPr>
            <p:ph type="sldNum" sz="quarter" idx="12"/>
          </p:nvPr>
        </p:nvSpPr>
        <p:spPr/>
        <p:txBody>
          <a:bodyPr/>
          <a:lstStyle/>
          <a:p>
            <a:fld id="{27C6CCC6-2BE5-4E42-96A4-D1E8E81A3D8E}" type="slidenum">
              <a:rPr lang="de-DE" smtClean="0"/>
              <a:t>34</a:t>
            </a:fld>
            <a:endParaRPr lang="de-DE"/>
          </a:p>
        </p:txBody>
      </p:sp>
      <p:graphicFrame>
        <p:nvGraphicFramePr>
          <p:cNvPr id="4" name="Tableau 3">
            <a:extLst>
              <a:ext uri="{FF2B5EF4-FFF2-40B4-BE49-F238E27FC236}">
                <a16:creationId xmlns:a16="http://schemas.microsoft.com/office/drawing/2014/main" id="{21753C20-FC54-4E14-8CC7-4EB5F6C67EDE}"/>
              </a:ext>
            </a:extLst>
          </p:cNvPr>
          <p:cNvGraphicFramePr>
            <a:graphicFrameLocks noGrp="1"/>
          </p:cNvGraphicFramePr>
          <p:nvPr>
            <p:extLst>
              <p:ext uri="{D42A27DB-BD31-4B8C-83A1-F6EECF244321}">
                <p14:modId xmlns:p14="http://schemas.microsoft.com/office/powerpoint/2010/main" val="589451231"/>
              </p:ext>
            </p:extLst>
          </p:nvPr>
        </p:nvGraphicFramePr>
        <p:xfrm>
          <a:off x="810000" y="2898902"/>
          <a:ext cx="10563224" cy="2834640"/>
        </p:xfrm>
        <a:graphic>
          <a:graphicData uri="http://schemas.openxmlformats.org/drawingml/2006/table">
            <a:tbl>
              <a:tblPr firstRow="1" bandRow="1">
                <a:tableStyleId>{5C22544A-7EE6-4342-B048-85BDC9FD1C3A}</a:tableStyleId>
              </a:tblPr>
              <a:tblGrid>
                <a:gridCol w="1509032">
                  <a:extLst>
                    <a:ext uri="{9D8B030D-6E8A-4147-A177-3AD203B41FA5}">
                      <a16:colId xmlns:a16="http://schemas.microsoft.com/office/drawing/2014/main" val="3009234481"/>
                    </a:ext>
                  </a:extLst>
                </a:gridCol>
                <a:gridCol w="1509032">
                  <a:extLst>
                    <a:ext uri="{9D8B030D-6E8A-4147-A177-3AD203B41FA5}">
                      <a16:colId xmlns:a16="http://schemas.microsoft.com/office/drawing/2014/main" val="4016708832"/>
                    </a:ext>
                  </a:extLst>
                </a:gridCol>
                <a:gridCol w="1509032">
                  <a:extLst>
                    <a:ext uri="{9D8B030D-6E8A-4147-A177-3AD203B41FA5}">
                      <a16:colId xmlns:a16="http://schemas.microsoft.com/office/drawing/2014/main" val="3019142207"/>
                    </a:ext>
                  </a:extLst>
                </a:gridCol>
                <a:gridCol w="1509032">
                  <a:extLst>
                    <a:ext uri="{9D8B030D-6E8A-4147-A177-3AD203B41FA5}">
                      <a16:colId xmlns:a16="http://schemas.microsoft.com/office/drawing/2014/main" val="2567860730"/>
                    </a:ext>
                  </a:extLst>
                </a:gridCol>
                <a:gridCol w="1509032">
                  <a:extLst>
                    <a:ext uri="{9D8B030D-6E8A-4147-A177-3AD203B41FA5}">
                      <a16:colId xmlns:a16="http://schemas.microsoft.com/office/drawing/2014/main" val="2321387769"/>
                    </a:ext>
                  </a:extLst>
                </a:gridCol>
                <a:gridCol w="1509032">
                  <a:extLst>
                    <a:ext uri="{9D8B030D-6E8A-4147-A177-3AD203B41FA5}">
                      <a16:colId xmlns:a16="http://schemas.microsoft.com/office/drawing/2014/main" val="506061128"/>
                    </a:ext>
                  </a:extLst>
                </a:gridCol>
                <a:gridCol w="1509032">
                  <a:extLst>
                    <a:ext uri="{9D8B030D-6E8A-4147-A177-3AD203B41FA5}">
                      <a16:colId xmlns:a16="http://schemas.microsoft.com/office/drawing/2014/main" val="3428974834"/>
                    </a:ext>
                  </a:extLst>
                </a:gridCol>
              </a:tblGrid>
              <a:tr h="0">
                <a:tc>
                  <a:txBody>
                    <a:bodyPr/>
                    <a:lstStyle/>
                    <a:p>
                      <a:r>
                        <a:rPr lang="fr-FR"/>
                        <a:t>immatriculation</a:t>
                      </a:r>
                    </a:p>
                  </a:txBody>
                  <a:tcPr anchor="ctr"/>
                </a:tc>
                <a:tc>
                  <a:txBody>
                    <a:bodyPr/>
                    <a:lstStyle/>
                    <a:p>
                      <a:r>
                        <a:rPr lang="fr-FR" err="1"/>
                        <a:t>pays_immatriculation</a:t>
                      </a:r>
                      <a:endParaRPr lang="fr-FR"/>
                    </a:p>
                  </a:txBody>
                  <a:tcPr anchor="ctr"/>
                </a:tc>
                <a:tc>
                  <a:txBody>
                    <a:bodyPr/>
                    <a:lstStyle/>
                    <a:p>
                      <a:r>
                        <a:rPr lang="fr-FR"/>
                        <a:t>couleur</a:t>
                      </a:r>
                    </a:p>
                  </a:txBody>
                  <a:tcPr anchor="ctr"/>
                </a:tc>
                <a:tc>
                  <a:txBody>
                    <a:bodyPr/>
                    <a:lstStyle/>
                    <a:p>
                      <a:r>
                        <a:rPr lang="fr-FR"/>
                        <a:t>nombre_places</a:t>
                      </a:r>
                    </a:p>
                  </a:txBody>
                  <a:tcPr anchor="ctr"/>
                </a:tc>
                <a:tc>
                  <a:txBody>
                    <a:bodyPr/>
                    <a:lstStyle/>
                    <a:p>
                      <a:r>
                        <a:rPr lang="fr-FR"/>
                        <a:t>propriétaire</a:t>
                      </a:r>
                    </a:p>
                  </a:txBody>
                  <a:tcPr anchor="ctr"/>
                </a:tc>
                <a:tc>
                  <a:txBody>
                    <a:bodyPr/>
                    <a:lstStyle/>
                    <a:p>
                      <a:r>
                        <a:rPr lang="fr-FR" err="1"/>
                        <a:t>prop_num_secu</a:t>
                      </a:r>
                      <a:endParaRPr lang="fr-FR"/>
                    </a:p>
                  </a:txBody>
                  <a:tcPr anchor="ctr"/>
                </a:tc>
                <a:tc>
                  <a:txBody>
                    <a:bodyPr/>
                    <a:lstStyle/>
                    <a:p>
                      <a:r>
                        <a:rPr lang="fr-FR"/>
                        <a:t>prop_num_voiture</a:t>
                      </a:r>
                    </a:p>
                  </a:txBody>
                  <a:tcPr anchor="ctr"/>
                </a:tc>
                <a:extLst>
                  <a:ext uri="{0D108BD9-81ED-4DB2-BD59-A6C34878D82A}">
                    <a16:rowId xmlns:a16="http://schemas.microsoft.com/office/drawing/2014/main" val="829806056"/>
                  </a:ext>
                </a:extLst>
              </a:tr>
              <a:tr h="0">
                <a:tc>
                  <a:txBody>
                    <a:bodyPr/>
                    <a:lstStyle/>
                    <a:p>
                      <a:r>
                        <a:rPr lang="fr-FR"/>
                        <a:t>2983-AA</a:t>
                      </a:r>
                    </a:p>
                  </a:txBody>
                  <a:tcPr anchor="ctr"/>
                </a:tc>
                <a:tc>
                  <a:txBody>
                    <a:bodyPr/>
                    <a:lstStyle/>
                    <a:p>
                      <a:r>
                        <a:rPr lang="fr-FR"/>
                        <a:t>France</a:t>
                      </a:r>
                    </a:p>
                  </a:txBody>
                  <a:tcPr anchor="ctr"/>
                </a:tc>
                <a:tc>
                  <a:txBody>
                    <a:bodyPr/>
                    <a:lstStyle/>
                    <a:p>
                      <a:r>
                        <a:rPr lang="fr-FR"/>
                        <a:t>bleue</a:t>
                      </a:r>
                    </a:p>
                  </a:txBody>
                  <a:tcPr anchor="ctr"/>
                </a:tc>
                <a:tc>
                  <a:txBody>
                    <a:bodyPr/>
                    <a:lstStyle/>
                    <a:p>
                      <a:r>
                        <a:rPr lang="fr-FR"/>
                        <a:t>5</a:t>
                      </a:r>
                    </a:p>
                  </a:txBody>
                  <a:tcPr anchor="ctr"/>
                </a:tc>
                <a:tc>
                  <a:txBody>
                    <a:bodyPr/>
                    <a:lstStyle/>
                    <a:p>
                      <a:r>
                        <a:rPr lang="fr-FR"/>
                        <a:t>Luc</a:t>
                      </a:r>
                    </a:p>
                  </a:txBody>
                  <a:tcPr anchor="ctr"/>
                </a:tc>
                <a:tc>
                  <a:txBody>
                    <a:bodyPr/>
                    <a:lstStyle/>
                    <a:p>
                      <a:r>
                        <a:rPr lang="fr-FR"/>
                        <a:t>1134212</a:t>
                      </a:r>
                    </a:p>
                  </a:txBody>
                  <a:tcPr anchor="ctr"/>
                </a:tc>
                <a:tc>
                  <a:txBody>
                    <a:bodyPr/>
                    <a:lstStyle/>
                    <a:p>
                      <a:r>
                        <a:rPr lang="fr-FR"/>
                        <a:t>1</a:t>
                      </a:r>
                    </a:p>
                  </a:txBody>
                  <a:tcPr anchor="ctr"/>
                </a:tc>
                <a:extLst>
                  <a:ext uri="{0D108BD9-81ED-4DB2-BD59-A6C34878D82A}">
                    <a16:rowId xmlns:a16="http://schemas.microsoft.com/office/drawing/2014/main" val="3677727095"/>
                  </a:ext>
                </a:extLst>
              </a:tr>
              <a:tr h="0">
                <a:tc>
                  <a:txBody>
                    <a:bodyPr/>
                    <a:lstStyle/>
                    <a:p>
                      <a:r>
                        <a:rPr lang="fr-FR"/>
                        <a:t>1923-BD</a:t>
                      </a:r>
                    </a:p>
                  </a:txBody>
                  <a:tcPr anchor="ctr"/>
                </a:tc>
                <a:tc>
                  <a:txBody>
                    <a:bodyPr/>
                    <a:lstStyle/>
                    <a:p>
                      <a:r>
                        <a:rPr lang="fr-FR"/>
                        <a:t>France</a:t>
                      </a:r>
                    </a:p>
                  </a:txBody>
                  <a:tcPr anchor="ctr"/>
                </a:tc>
                <a:tc>
                  <a:txBody>
                    <a:bodyPr/>
                    <a:lstStyle/>
                    <a:p>
                      <a:r>
                        <a:rPr lang="fr-FR"/>
                        <a:t>verte</a:t>
                      </a:r>
                    </a:p>
                  </a:txBody>
                  <a:tcPr anchor="ctr"/>
                </a:tc>
                <a:tc>
                  <a:txBody>
                    <a:bodyPr/>
                    <a:lstStyle/>
                    <a:p>
                      <a:r>
                        <a:rPr lang="fr-FR"/>
                        <a:t>7</a:t>
                      </a:r>
                    </a:p>
                  </a:txBody>
                  <a:tcPr anchor="ctr"/>
                </a:tc>
                <a:tc>
                  <a:txBody>
                    <a:bodyPr/>
                    <a:lstStyle/>
                    <a:p>
                      <a:r>
                        <a:rPr lang="fr-FR"/>
                        <a:t>Lucia</a:t>
                      </a:r>
                    </a:p>
                  </a:txBody>
                  <a:tcPr anchor="ctr"/>
                </a:tc>
                <a:tc>
                  <a:txBody>
                    <a:bodyPr/>
                    <a:lstStyle/>
                    <a:p>
                      <a:r>
                        <a:rPr lang="fr-FR"/>
                        <a:t>2021726</a:t>
                      </a:r>
                    </a:p>
                  </a:txBody>
                  <a:tcPr anchor="ctr"/>
                </a:tc>
                <a:tc>
                  <a:txBody>
                    <a:bodyPr/>
                    <a:lstStyle/>
                    <a:p>
                      <a:r>
                        <a:rPr lang="fr-FR"/>
                        <a:t>1</a:t>
                      </a:r>
                    </a:p>
                  </a:txBody>
                  <a:tcPr anchor="ctr"/>
                </a:tc>
                <a:extLst>
                  <a:ext uri="{0D108BD9-81ED-4DB2-BD59-A6C34878D82A}">
                    <a16:rowId xmlns:a16="http://schemas.microsoft.com/office/drawing/2014/main" val="3376609390"/>
                  </a:ext>
                </a:extLst>
              </a:tr>
              <a:tr h="0">
                <a:tc>
                  <a:txBody>
                    <a:bodyPr/>
                    <a:lstStyle/>
                    <a:p>
                      <a:r>
                        <a:rPr lang="fr-FR"/>
                        <a:t>PLT-28-190</a:t>
                      </a:r>
                    </a:p>
                  </a:txBody>
                  <a:tcPr anchor="ctr"/>
                </a:tc>
                <a:tc>
                  <a:txBody>
                    <a:bodyPr/>
                    <a:lstStyle/>
                    <a:p>
                      <a:r>
                        <a:rPr lang="fr-FR"/>
                        <a:t>Portugal</a:t>
                      </a:r>
                    </a:p>
                  </a:txBody>
                  <a:tcPr anchor="ctr"/>
                </a:tc>
                <a:tc>
                  <a:txBody>
                    <a:bodyPr/>
                    <a:lstStyle/>
                    <a:p>
                      <a:r>
                        <a:rPr lang="fr-FR"/>
                        <a:t>bleue</a:t>
                      </a:r>
                    </a:p>
                  </a:txBody>
                  <a:tcPr anchor="ctr"/>
                </a:tc>
                <a:tc>
                  <a:txBody>
                    <a:bodyPr/>
                    <a:lstStyle/>
                    <a:p>
                      <a:r>
                        <a:rPr lang="fr-FR"/>
                        <a:t>7</a:t>
                      </a:r>
                    </a:p>
                  </a:txBody>
                  <a:tcPr anchor="ctr"/>
                </a:tc>
                <a:tc>
                  <a:txBody>
                    <a:bodyPr/>
                    <a:lstStyle/>
                    <a:p>
                      <a:r>
                        <a:rPr lang="fr-FR"/>
                        <a:t>Gaël</a:t>
                      </a:r>
                    </a:p>
                  </a:txBody>
                  <a:tcPr anchor="ctr"/>
                </a:tc>
                <a:tc>
                  <a:txBody>
                    <a:bodyPr/>
                    <a:lstStyle/>
                    <a:p>
                      <a:r>
                        <a:rPr lang="fr-FR"/>
                        <a:t>1012612</a:t>
                      </a:r>
                    </a:p>
                  </a:txBody>
                  <a:tcPr anchor="ctr"/>
                </a:tc>
                <a:tc>
                  <a:txBody>
                    <a:bodyPr/>
                    <a:lstStyle/>
                    <a:p>
                      <a:r>
                        <a:rPr lang="fr-FR"/>
                        <a:t>1</a:t>
                      </a:r>
                    </a:p>
                  </a:txBody>
                  <a:tcPr anchor="ctr"/>
                </a:tc>
                <a:extLst>
                  <a:ext uri="{0D108BD9-81ED-4DB2-BD59-A6C34878D82A}">
                    <a16:rowId xmlns:a16="http://schemas.microsoft.com/office/drawing/2014/main" val="1854989837"/>
                  </a:ext>
                </a:extLst>
              </a:tr>
              <a:tr h="0">
                <a:tc>
                  <a:txBody>
                    <a:bodyPr/>
                    <a:lstStyle/>
                    <a:p>
                      <a:r>
                        <a:rPr lang="fr-FR"/>
                        <a:t>2383-ZN</a:t>
                      </a:r>
                    </a:p>
                  </a:txBody>
                  <a:tcPr anchor="ctr"/>
                </a:tc>
                <a:tc>
                  <a:txBody>
                    <a:bodyPr/>
                    <a:lstStyle/>
                    <a:p>
                      <a:r>
                        <a:rPr lang="fr-FR"/>
                        <a:t>France</a:t>
                      </a:r>
                    </a:p>
                  </a:txBody>
                  <a:tcPr anchor="ctr"/>
                </a:tc>
                <a:tc>
                  <a:txBody>
                    <a:bodyPr/>
                    <a:lstStyle/>
                    <a:p>
                      <a:r>
                        <a:rPr lang="fr-FR"/>
                        <a:t>noire</a:t>
                      </a:r>
                    </a:p>
                  </a:txBody>
                  <a:tcPr anchor="ctr"/>
                </a:tc>
                <a:tc>
                  <a:txBody>
                    <a:bodyPr/>
                    <a:lstStyle/>
                    <a:p>
                      <a:r>
                        <a:rPr lang="fr-FR"/>
                        <a:t>9</a:t>
                      </a:r>
                    </a:p>
                  </a:txBody>
                  <a:tcPr anchor="ctr"/>
                </a:tc>
                <a:tc>
                  <a:txBody>
                    <a:bodyPr/>
                    <a:lstStyle/>
                    <a:p>
                      <a:r>
                        <a:rPr lang="fr-FR"/>
                        <a:t>Leïla</a:t>
                      </a:r>
                    </a:p>
                  </a:txBody>
                  <a:tcPr anchor="ctr"/>
                </a:tc>
                <a:tc>
                  <a:txBody>
                    <a:bodyPr/>
                    <a:lstStyle/>
                    <a:p>
                      <a:r>
                        <a:rPr lang="fr-FR"/>
                        <a:t>2125312</a:t>
                      </a:r>
                    </a:p>
                  </a:txBody>
                  <a:tcPr anchor="ctr"/>
                </a:tc>
                <a:tc>
                  <a:txBody>
                    <a:bodyPr/>
                    <a:lstStyle/>
                    <a:p>
                      <a:r>
                        <a:rPr lang="fr-FR"/>
                        <a:t>2</a:t>
                      </a:r>
                    </a:p>
                  </a:txBody>
                  <a:tcPr anchor="ctr"/>
                </a:tc>
                <a:extLst>
                  <a:ext uri="{0D108BD9-81ED-4DB2-BD59-A6C34878D82A}">
                    <a16:rowId xmlns:a16="http://schemas.microsoft.com/office/drawing/2014/main" val="1301404165"/>
                  </a:ext>
                </a:extLst>
              </a:tr>
              <a:tr h="0">
                <a:tc>
                  <a:txBody>
                    <a:bodyPr/>
                    <a:lstStyle/>
                    <a:p>
                      <a:r>
                        <a:rPr lang="fr-FR"/>
                        <a:t>1209-NQ</a:t>
                      </a:r>
                    </a:p>
                  </a:txBody>
                  <a:tcPr anchor="ctr"/>
                </a:tc>
                <a:tc>
                  <a:txBody>
                    <a:bodyPr/>
                    <a:lstStyle/>
                    <a:p>
                      <a:r>
                        <a:rPr lang="fr-FR"/>
                        <a:t>France</a:t>
                      </a:r>
                    </a:p>
                  </a:txBody>
                  <a:tcPr anchor="ctr"/>
                </a:tc>
                <a:tc>
                  <a:txBody>
                    <a:bodyPr/>
                    <a:lstStyle/>
                    <a:p>
                      <a:r>
                        <a:rPr lang="fr-FR"/>
                        <a:t>noire</a:t>
                      </a:r>
                    </a:p>
                  </a:txBody>
                  <a:tcPr anchor="ctr"/>
                </a:tc>
                <a:tc>
                  <a:txBody>
                    <a:bodyPr/>
                    <a:lstStyle/>
                    <a:p>
                      <a:r>
                        <a:rPr lang="fr-FR"/>
                        <a:t>5</a:t>
                      </a:r>
                    </a:p>
                  </a:txBody>
                  <a:tcPr anchor="ctr"/>
                </a:tc>
                <a:tc>
                  <a:txBody>
                    <a:bodyPr/>
                    <a:lstStyle/>
                    <a:p>
                      <a:r>
                        <a:rPr lang="fr-FR"/>
                        <a:t>Leïla</a:t>
                      </a:r>
                    </a:p>
                  </a:txBody>
                  <a:tcPr anchor="ctr"/>
                </a:tc>
                <a:tc>
                  <a:txBody>
                    <a:bodyPr/>
                    <a:lstStyle/>
                    <a:p>
                      <a:r>
                        <a:rPr lang="fr-FR"/>
                        <a:t>2125312</a:t>
                      </a:r>
                    </a:p>
                  </a:txBody>
                  <a:tcPr anchor="ctr"/>
                </a:tc>
                <a:tc>
                  <a:txBody>
                    <a:bodyPr/>
                    <a:lstStyle/>
                    <a:p>
                      <a:r>
                        <a:rPr lang="fr-FR"/>
                        <a:t>1</a:t>
                      </a:r>
                    </a:p>
                  </a:txBody>
                  <a:tcPr anchor="ctr"/>
                </a:tc>
                <a:extLst>
                  <a:ext uri="{0D108BD9-81ED-4DB2-BD59-A6C34878D82A}">
                    <a16:rowId xmlns:a16="http://schemas.microsoft.com/office/drawing/2014/main" val="1052036645"/>
                  </a:ext>
                </a:extLst>
              </a:tr>
              <a:tr h="0">
                <a:tc>
                  <a:txBody>
                    <a:bodyPr/>
                    <a:lstStyle/>
                    <a:p>
                      <a:r>
                        <a:rPr lang="fr-FR"/>
                        <a:t>2634-OS</a:t>
                      </a:r>
                    </a:p>
                  </a:txBody>
                  <a:tcPr anchor="ctr"/>
                </a:tc>
                <a:tc>
                  <a:txBody>
                    <a:bodyPr/>
                    <a:lstStyle/>
                    <a:p>
                      <a:r>
                        <a:rPr lang="fr-FR"/>
                        <a:t>France</a:t>
                      </a:r>
                    </a:p>
                  </a:txBody>
                  <a:tcPr anchor="ctr"/>
                </a:tc>
                <a:tc>
                  <a:txBody>
                    <a:bodyPr/>
                    <a:lstStyle/>
                    <a:p>
                      <a:r>
                        <a:rPr lang="fr-FR"/>
                        <a:t>bleue</a:t>
                      </a:r>
                    </a:p>
                  </a:txBody>
                  <a:tcPr anchor="ctr"/>
                </a:tc>
                <a:tc>
                  <a:txBody>
                    <a:bodyPr/>
                    <a:lstStyle/>
                    <a:p>
                      <a:r>
                        <a:rPr lang="fr-FR"/>
                        <a:t>5</a:t>
                      </a:r>
                    </a:p>
                  </a:txBody>
                  <a:tcPr anchor="ctr"/>
                </a:tc>
                <a:tc>
                  <a:txBody>
                    <a:bodyPr/>
                    <a:lstStyle/>
                    <a:p>
                      <a:r>
                        <a:rPr lang="fr-FR"/>
                        <a:t>Gaël</a:t>
                      </a:r>
                    </a:p>
                  </a:txBody>
                  <a:tcPr anchor="ctr"/>
                </a:tc>
                <a:tc>
                  <a:txBody>
                    <a:bodyPr/>
                    <a:lstStyle/>
                    <a:p>
                      <a:r>
                        <a:rPr lang="fr-FR"/>
                        <a:t>1162732</a:t>
                      </a:r>
                    </a:p>
                  </a:txBody>
                  <a:tcPr anchor="ctr"/>
                </a:tc>
                <a:tc>
                  <a:txBody>
                    <a:bodyPr/>
                    <a:lstStyle/>
                    <a:p>
                      <a:r>
                        <a:rPr lang="fr-FR"/>
                        <a:t>1</a:t>
                      </a:r>
                    </a:p>
                  </a:txBody>
                  <a:tcPr anchor="ctr"/>
                </a:tc>
                <a:extLst>
                  <a:ext uri="{0D108BD9-81ED-4DB2-BD59-A6C34878D82A}">
                    <a16:rowId xmlns:a16="http://schemas.microsoft.com/office/drawing/2014/main" val="1972621828"/>
                  </a:ext>
                </a:extLst>
              </a:tr>
            </a:tbl>
          </a:graphicData>
        </a:graphic>
      </p:graphicFrame>
    </p:spTree>
    <p:extLst>
      <p:ext uri="{BB962C8B-B14F-4D97-AF65-F5344CB8AC3E}">
        <p14:creationId xmlns:p14="http://schemas.microsoft.com/office/powerpoint/2010/main" val="33441839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7"/>
            <a:ext cx="10554574" cy="418363"/>
          </a:xfrm>
        </p:spPr>
        <p:txBody>
          <a:bodyPr>
            <a:normAutofit/>
          </a:bodyPr>
          <a:lstStyle/>
          <a:p>
            <a:r>
              <a:rPr lang="fr-FR"/>
              <a:t>(immatriculation, </a:t>
            </a:r>
            <a:r>
              <a:rPr lang="fr-FR" err="1"/>
              <a:t>pays_immatriculation</a:t>
            </a:r>
            <a:r>
              <a:rPr lang="fr-FR"/>
              <a:t>) est une clé</a:t>
            </a:r>
          </a:p>
        </p:txBody>
      </p:sp>
      <p:sp>
        <p:nvSpPr>
          <p:cNvPr id="7" name="Espace réservé du numéro de diapositive 6">
            <a:extLst>
              <a:ext uri="{FF2B5EF4-FFF2-40B4-BE49-F238E27FC236}">
                <a16:creationId xmlns:a16="http://schemas.microsoft.com/office/drawing/2014/main" id="{D27DCBE3-29E0-491B-AC01-B40005878762}"/>
              </a:ext>
            </a:extLst>
          </p:cNvPr>
          <p:cNvSpPr>
            <a:spLocks noGrp="1"/>
          </p:cNvSpPr>
          <p:nvPr>
            <p:ph type="sldNum" sz="quarter" idx="12"/>
          </p:nvPr>
        </p:nvSpPr>
        <p:spPr/>
        <p:txBody>
          <a:bodyPr/>
          <a:lstStyle/>
          <a:p>
            <a:fld id="{27C6CCC6-2BE5-4E42-96A4-D1E8E81A3D8E}" type="slidenum">
              <a:rPr lang="de-DE" smtClean="0"/>
              <a:t>35</a:t>
            </a:fld>
            <a:endParaRPr lang="de-DE"/>
          </a:p>
        </p:txBody>
      </p:sp>
      <p:graphicFrame>
        <p:nvGraphicFramePr>
          <p:cNvPr id="4" name="Tableau 3">
            <a:extLst>
              <a:ext uri="{FF2B5EF4-FFF2-40B4-BE49-F238E27FC236}">
                <a16:creationId xmlns:a16="http://schemas.microsoft.com/office/drawing/2014/main" id="{21753C20-FC54-4E14-8CC7-4EB5F6C67EDE}"/>
              </a:ext>
            </a:extLst>
          </p:cNvPr>
          <p:cNvGraphicFramePr>
            <a:graphicFrameLocks noGrp="1"/>
          </p:cNvGraphicFramePr>
          <p:nvPr>
            <p:extLst>
              <p:ext uri="{D42A27DB-BD31-4B8C-83A1-F6EECF244321}">
                <p14:modId xmlns:p14="http://schemas.microsoft.com/office/powerpoint/2010/main" val="4002938389"/>
              </p:ext>
            </p:extLst>
          </p:nvPr>
        </p:nvGraphicFramePr>
        <p:xfrm>
          <a:off x="810000" y="2898902"/>
          <a:ext cx="10563224" cy="2834640"/>
        </p:xfrm>
        <a:graphic>
          <a:graphicData uri="http://schemas.openxmlformats.org/drawingml/2006/table">
            <a:tbl>
              <a:tblPr firstRow="1" bandRow="1">
                <a:tableStyleId>{5C22544A-7EE6-4342-B048-85BDC9FD1C3A}</a:tableStyleId>
              </a:tblPr>
              <a:tblGrid>
                <a:gridCol w="1509032">
                  <a:extLst>
                    <a:ext uri="{9D8B030D-6E8A-4147-A177-3AD203B41FA5}">
                      <a16:colId xmlns:a16="http://schemas.microsoft.com/office/drawing/2014/main" val="3009234481"/>
                    </a:ext>
                  </a:extLst>
                </a:gridCol>
                <a:gridCol w="1509032">
                  <a:extLst>
                    <a:ext uri="{9D8B030D-6E8A-4147-A177-3AD203B41FA5}">
                      <a16:colId xmlns:a16="http://schemas.microsoft.com/office/drawing/2014/main" val="4016708832"/>
                    </a:ext>
                  </a:extLst>
                </a:gridCol>
                <a:gridCol w="1509032">
                  <a:extLst>
                    <a:ext uri="{9D8B030D-6E8A-4147-A177-3AD203B41FA5}">
                      <a16:colId xmlns:a16="http://schemas.microsoft.com/office/drawing/2014/main" val="3019142207"/>
                    </a:ext>
                  </a:extLst>
                </a:gridCol>
                <a:gridCol w="1509032">
                  <a:extLst>
                    <a:ext uri="{9D8B030D-6E8A-4147-A177-3AD203B41FA5}">
                      <a16:colId xmlns:a16="http://schemas.microsoft.com/office/drawing/2014/main" val="2567860730"/>
                    </a:ext>
                  </a:extLst>
                </a:gridCol>
                <a:gridCol w="1509032">
                  <a:extLst>
                    <a:ext uri="{9D8B030D-6E8A-4147-A177-3AD203B41FA5}">
                      <a16:colId xmlns:a16="http://schemas.microsoft.com/office/drawing/2014/main" val="2321387769"/>
                    </a:ext>
                  </a:extLst>
                </a:gridCol>
                <a:gridCol w="1509032">
                  <a:extLst>
                    <a:ext uri="{9D8B030D-6E8A-4147-A177-3AD203B41FA5}">
                      <a16:colId xmlns:a16="http://schemas.microsoft.com/office/drawing/2014/main" val="506061128"/>
                    </a:ext>
                  </a:extLst>
                </a:gridCol>
                <a:gridCol w="1509032">
                  <a:extLst>
                    <a:ext uri="{9D8B030D-6E8A-4147-A177-3AD203B41FA5}">
                      <a16:colId xmlns:a16="http://schemas.microsoft.com/office/drawing/2014/main" val="3428974834"/>
                    </a:ext>
                  </a:extLst>
                </a:gridCol>
              </a:tblGrid>
              <a:tr h="0">
                <a:tc>
                  <a:txBody>
                    <a:bodyPr/>
                    <a:lstStyle/>
                    <a:p>
                      <a:r>
                        <a:rPr lang="fr-FR" u="sng"/>
                        <a:t>immatriculation</a:t>
                      </a:r>
                    </a:p>
                  </a:txBody>
                  <a:tcPr anchor="ctr">
                    <a:solidFill>
                      <a:schemeClr val="accent4">
                        <a:lumMod val="75000"/>
                      </a:schemeClr>
                    </a:solidFill>
                  </a:tcPr>
                </a:tc>
                <a:tc>
                  <a:txBody>
                    <a:bodyPr/>
                    <a:lstStyle/>
                    <a:p>
                      <a:r>
                        <a:rPr lang="fr-FR" u="sng"/>
                        <a:t>pays_immatriculation</a:t>
                      </a:r>
                    </a:p>
                  </a:txBody>
                  <a:tcPr anchor="ctr">
                    <a:solidFill>
                      <a:schemeClr val="accent4">
                        <a:lumMod val="75000"/>
                      </a:schemeClr>
                    </a:solidFill>
                  </a:tcPr>
                </a:tc>
                <a:tc>
                  <a:txBody>
                    <a:bodyPr/>
                    <a:lstStyle/>
                    <a:p>
                      <a:r>
                        <a:rPr lang="fr-FR"/>
                        <a:t>couleur</a:t>
                      </a:r>
                    </a:p>
                  </a:txBody>
                  <a:tcPr anchor="ctr"/>
                </a:tc>
                <a:tc>
                  <a:txBody>
                    <a:bodyPr/>
                    <a:lstStyle/>
                    <a:p>
                      <a:r>
                        <a:rPr lang="fr-FR"/>
                        <a:t>nombre_places</a:t>
                      </a:r>
                      <a:endParaRPr lang="fr-FR" err="1"/>
                    </a:p>
                  </a:txBody>
                  <a:tcPr anchor="ctr"/>
                </a:tc>
                <a:tc>
                  <a:txBody>
                    <a:bodyPr/>
                    <a:lstStyle/>
                    <a:p>
                      <a:r>
                        <a:rPr lang="fr-FR"/>
                        <a:t>propriétaire</a:t>
                      </a:r>
                    </a:p>
                  </a:txBody>
                  <a:tcPr anchor="ctr"/>
                </a:tc>
                <a:tc>
                  <a:txBody>
                    <a:bodyPr/>
                    <a:lstStyle/>
                    <a:p>
                      <a:r>
                        <a:rPr lang="fr-FR" err="1"/>
                        <a:t>prop_num_secu</a:t>
                      </a:r>
                      <a:endParaRPr lang="fr-FR"/>
                    </a:p>
                  </a:txBody>
                  <a:tcPr anchor="ctr"/>
                </a:tc>
                <a:tc>
                  <a:txBody>
                    <a:bodyPr/>
                    <a:lstStyle/>
                    <a:p>
                      <a:r>
                        <a:rPr lang="fr-FR"/>
                        <a:t>prop_num_voiture</a:t>
                      </a:r>
                      <a:endParaRPr lang="fr-FR" err="1"/>
                    </a:p>
                  </a:txBody>
                  <a:tcPr anchor="ctr"/>
                </a:tc>
                <a:extLst>
                  <a:ext uri="{0D108BD9-81ED-4DB2-BD59-A6C34878D82A}">
                    <a16:rowId xmlns:a16="http://schemas.microsoft.com/office/drawing/2014/main" val="829806056"/>
                  </a:ext>
                </a:extLst>
              </a:tr>
              <a:tr h="0">
                <a:tc>
                  <a:txBody>
                    <a:bodyPr/>
                    <a:lstStyle/>
                    <a:p>
                      <a:r>
                        <a:rPr lang="fr-FR"/>
                        <a:t>2983-AA</a:t>
                      </a:r>
                    </a:p>
                  </a:txBody>
                  <a:tcPr anchor="ctr">
                    <a:solidFill>
                      <a:schemeClr val="accent4">
                        <a:lumMod val="40000"/>
                        <a:lumOff val="60000"/>
                      </a:schemeClr>
                    </a:solidFill>
                  </a:tcPr>
                </a:tc>
                <a:tc>
                  <a:txBody>
                    <a:bodyPr/>
                    <a:lstStyle/>
                    <a:p>
                      <a:r>
                        <a:rPr lang="fr-FR"/>
                        <a:t>France</a:t>
                      </a:r>
                    </a:p>
                  </a:txBody>
                  <a:tcPr anchor="ctr">
                    <a:solidFill>
                      <a:schemeClr val="accent4">
                        <a:lumMod val="40000"/>
                        <a:lumOff val="60000"/>
                      </a:schemeClr>
                    </a:solidFill>
                  </a:tcPr>
                </a:tc>
                <a:tc>
                  <a:txBody>
                    <a:bodyPr/>
                    <a:lstStyle/>
                    <a:p>
                      <a:r>
                        <a:rPr lang="fr-FR"/>
                        <a:t>bleue</a:t>
                      </a:r>
                    </a:p>
                  </a:txBody>
                  <a:tcPr anchor="ctr"/>
                </a:tc>
                <a:tc>
                  <a:txBody>
                    <a:bodyPr/>
                    <a:lstStyle/>
                    <a:p>
                      <a:r>
                        <a:rPr lang="fr-FR"/>
                        <a:t>5</a:t>
                      </a:r>
                    </a:p>
                  </a:txBody>
                  <a:tcPr anchor="ctr"/>
                </a:tc>
                <a:tc>
                  <a:txBody>
                    <a:bodyPr/>
                    <a:lstStyle/>
                    <a:p>
                      <a:r>
                        <a:rPr lang="fr-FR"/>
                        <a:t>Luc</a:t>
                      </a:r>
                    </a:p>
                  </a:txBody>
                  <a:tcPr anchor="ctr"/>
                </a:tc>
                <a:tc>
                  <a:txBody>
                    <a:bodyPr/>
                    <a:lstStyle/>
                    <a:p>
                      <a:r>
                        <a:rPr lang="fr-FR"/>
                        <a:t>1134212</a:t>
                      </a:r>
                    </a:p>
                  </a:txBody>
                  <a:tcPr anchor="ctr"/>
                </a:tc>
                <a:tc>
                  <a:txBody>
                    <a:bodyPr/>
                    <a:lstStyle/>
                    <a:p>
                      <a:r>
                        <a:rPr lang="fr-FR"/>
                        <a:t>1</a:t>
                      </a:r>
                    </a:p>
                  </a:txBody>
                  <a:tcPr anchor="ctr"/>
                </a:tc>
                <a:extLst>
                  <a:ext uri="{0D108BD9-81ED-4DB2-BD59-A6C34878D82A}">
                    <a16:rowId xmlns:a16="http://schemas.microsoft.com/office/drawing/2014/main" val="3677727095"/>
                  </a:ext>
                </a:extLst>
              </a:tr>
              <a:tr h="0">
                <a:tc>
                  <a:txBody>
                    <a:bodyPr/>
                    <a:lstStyle/>
                    <a:p>
                      <a:r>
                        <a:rPr lang="fr-FR"/>
                        <a:t>1923-BD</a:t>
                      </a:r>
                    </a:p>
                  </a:txBody>
                  <a:tcPr anchor="ctr">
                    <a:solidFill>
                      <a:schemeClr val="accent4">
                        <a:lumMod val="40000"/>
                        <a:lumOff val="60000"/>
                      </a:schemeClr>
                    </a:solidFill>
                  </a:tcPr>
                </a:tc>
                <a:tc>
                  <a:txBody>
                    <a:bodyPr/>
                    <a:lstStyle/>
                    <a:p>
                      <a:r>
                        <a:rPr lang="fr-FR"/>
                        <a:t>France</a:t>
                      </a:r>
                    </a:p>
                  </a:txBody>
                  <a:tcPr anchor="ctr">
                    <a:solidFill>
                      <a:schemeClr val="accent4">
                        <a:lumMod val="40000"/>
                        <a:lumOff val="60000"/>
                      </a:schemeClr>
                    </a:solidFill>
                  </a:tcPr>
                </a:tc>
                <a:tc>
                  <a:txBody>
                    <a:bodyPr/>
                    <a:lstStyle/>
                    <a:p>
                      <a:r>
                        <a:rPr lang="fr-FR"/>
                        <a:t>verte</a:t>
                      </a:r>
                    </a:p>
                  </a:txBody>
                  <a:tcPr anchor="ctr"/>
                </a:tc>
                <a:tc>
                  <a:txBody>
                    <a:bodyPr/>
                    <a:lstStyle/>
                    <a:p>
                      <a:r>
                        <a:rPr lang="fr-FR"/>
                        <a:t>7</a:t>
                      </a:r>
                    </a:p>
                  </a:txBody>
                  <a:tcPr anchor="ctr"/>
                </a:tc>
                <a:tc>
                  <a:txBody>
                    <a:bodyPr/>
                    <a:lstStyle/>
                    <a:p>
                      <a:r>
                        <a:rPr lang="fr-FR"/>
                        <a:t>Lucia</a:t>
                      </a:r>
                    </a:p>
                  </a:txBody>
                  <a:tcPr anchor="ctr"/>
                </a:tc>
                <a:tc>
                  <a:txBody>
                    <a:bodyPr/>
                    <a:lstStyle/>
                    <a:p>
                      <a:r>
                        <a:rPr lang="fr-FR"/>
                        <a:t>2021726</a:t>
                      </a:r>
                    </a:p>
                  </a:txBody>
                  <a:tcPr anchor="ctr"/>
                </a:tc>
                <a:tc>
                  <a:txBody>
                    <a:bodyPr/>
                    <a:lstStyle/>
                    <a:p>
                      <a:r>
                        <a:rPr lang="fr-FR"/>
                        <a:t>1</a:t>
                      </a:r>
                    </a:p>
                  </a:txBody>
                  <a:tcPr anchor="ctr"/>
                </a:tc>
                <a:extLst>
                  <a:ext uri="{0D108BD9-81ED-4DB2-BD59-A6C34878D82A}">
                    <a16:rowId xmlns:a16="http://schemas.microsoft.com/office/drawing/2014/main" val="3376609390"/>
                  </a:ext>
                </a:extLst>
              </a:tr>
              <a:tr h="0">
                <a:tc>
                  <a:txBody>
                    <a:bodyPr/>
                    <a:lstStyle/>
                    <a:p>
                      <a:r>
                        <a:rPr lang="fr-FR"/>
                        <a:t>PLT-28-190</a:t>
                      </a:r>
                    </a:p>
                  </a:txBody>
                  <a:tcPr anchor="ctr">
                    <a:solidFill>
                      <a:schemeClr val="accent4">
                        <a:lumMod val="40000"/>
                        <a:lumOff val="60000"/>
                      </a:schemeClr>
                    </a:solidFill>
                  </a:tcPr>
                </a:tc>
                <a:tc>
                  <a:txBody>
                    <a:bodyPr/>
                    <a:lstStyle/>
                    <a:p>
                      <a:r>
                        <a:rPr lang="fr-FR"/>
                        <a:t>Portugal</a:t>
                      </a:r>
                    </a:p>
                  </a:txBody>
                  <a:tcPr anchor="ctr">
                    <a:solidFill>
                      <a:schemeClr val="accent4">
                        <a:lumMod val="40000"/>
                        <a:lumOff val="60000"/>
                      </a:schemeClr>
                    </a:solidFill>
                  </a:tcPr>
                </a:tc>
                <a:tc>
                  <a:txBody>
                    <a:bodyPr/>
                    <a:lstStyle/>
                    <a:p>
                      <a:r>
                        <a:rPr lang="fr-FR"/>
                        <a:t>bleue</a:t>
                      </a:r>
                    </a:p>
                  </a:txBody>
                  <a:tcPr anchor="ctr"/>
                </a:tc>
                <a:tc>
                  <a:txBody>
                    <a:bodyPr/>
                    <a:lstStyle/>
                    <a:p>
                      <a:r>
                        <a:rPr lang="fr-FR"/>
                        <a:t>7</a:t>
                      </a:r>
                    </a:p>
                  </a:txBody>
                  <a:tcPr anchor="ctr"/>
                </a:tc>
                <a:tc>
                  <a:txBody>
                    <a:bodyPr/>
                    <a:lstStyle/>
                    <a:p>
                      <a:r>
                        <a:rPr lang="fr-FR"/>
                        <a:t>Gaël</a:t>
                      </a:r>
                    </a:p>
                  </a:txBody>
                  <a:tcPr anchor="ctr"/>
                </a:tc>
                <a:tc>
                  <a:txBody>
                    <a:bodyPr/>
                    <a:lstStyle/>
                    <a:p>
                      <a:r>
                        <a:rPr lang="fr-FR"/>
                        <a:t>1012612</a:t>
                      </a:r>
                    </a:p>
                  </a:txBody>
                  <a:tcPr anchor="ctr"/>
                </a:tc>
                <a:tc>
                  <a:txBody>
                    <a:bodyPr/>
                    <a:lstStyle/>
                    <a:p>
                      <a:r>
                        <a:rPr lang="fr-FR"/>
                        <a:t>1</a:t>
                      </a:r>
                    </a:p>
                  </a:txBody>
                  <a:tcPr anchor="ctr"/>
                </a:tc>
                <a:extLst>
                  <a:ext uri="{0D108BD9-81ED-4DB2-BD59-A6C34878D82A}">
                    <a16:rowId xmlns:a16="http://schemas.microsoft.com/office/drawing/2014/main" val="1854989837"/>
                  </a:ext>
                </a:extLst>
              </a:tr>
              <a:tr h="0">
                <a:tc>
                  <a:txBody>
                    <a:bodyPr/>
                    <a:lstStyle/>
                    <a:p>
                      <a:r>
                        <a:rPr lang="fr-FR"/>
                        <a:t>2383-ZN</a:t>
                      </a:r>
                    </a:p>
                  </a:txBody>
                  <a:tcPr anchor="ctr">
                    <a:solidFill>
                      <a:schemeClr val="accent4">
                        <a:lumMod val="40000"/>
                        <a:lumOff val="60000"/>
                      </a:schemeClr>
                    </a:solidFill>
                  </a:tcPr>
                </a:tc>
                <a:tc>
                  <a:txBody>
                    <a:bodyPr/>
                    <a:lstStyle/>
                    <a:p>
                      <a:r>
                        <a:rPr lang="fr-FR"/>
                        <a:t>France</a:t>
                      </a:r>
                    </a:p>
                  </a:txBody>
                  <a:tcPr anchor="ctr">
                    <a:solidFill>
                      <a:schemeClr val="accent4">
                        <a:lumMod val="40000"/>
                        <a:lumOff val="60000"/>
                      </a:schemeClr>
                    </a:solidFill>
                  </a:tcPr>
                </a:tc>
                <a:tc>
                  <a:txBody>
                    <a:bodyPr/>
                    <a:lstStyle/>
                    <a:p>
                      <a:r>
                        <a:rPr lang="fr-FR"/>
                        <a:t>noire</a:t>
                      </a:r>
                    </a:p>
                  </a:txBody>
                  <a:tcPr anchor="ctr"/>
                </a:tc>
                <a:tc>
                  <a:txBody>
                    <a:bodyPr/>
                    <a:lstStyle/>
                    <a:p>
                      <a:r>
                        <a:rPr lang="fr-FR"/>
                        <a:t>9</a:t>
                      </a:r>
                    </a:p>
                  </a:txBody>
                  <a:tcPr anchor="ctr"/>
                </a:tc>
                <a:tc>
                  <a:txBody>
                    <a:bodyPr/>
                    <a:lstStyle/>
                    <a:p>
                      <a:r>
                        <a:rPr lang="fr-FR"/>
                        <a:t>Leïla</a:t>
                      </a:r>
                    </a:p>
                  </a:txBody>
                  <a:tcPr anchor="ctr"/>
                </a:tc>
                <a:tc>
                  <a:txBody>
                    <a:bodyPr/>
                    <a:lstStyle/>
                    <a:p>
                      <a:r>
                        <a:rPr lang="fr-FR"/>
                        <a:t>2125312</a:t>
                      </a:r>
                    </a:p>
                  </a:txBody>
                  <a:tcPr anchor="ctr"/>
                </a:tc>
                <a:tc>
                  <a:txBody>
                    <a:bodyPr/>
                    <a:lstStyle/>
                    <a:p>
                      <a:r>
                        <a:rPr lang="fr-FR"/>
                        <a:t>2</a:t>
                      </a:r>
                    </a:p>
                  </a:txBody>
                  <a:tcPr anchor="ctr"/>
                </a:tc>
                <a:extLst>
                  <a:ext uri="{0D108BD9-81ED-4DB2-BD59-A6C34878D82A}">
                    <a16:rowId xmlns:a16="http://schemas.microsoft.com/office/drawing/2014/main" val="1301404165"/>
                  </a:ext>
                </a:extLst>
              </a:tr>
              <a:tr h="0">
                <a:tc>
                  <a:txBody>
                    <a:bodyPr/>
                    <a:lstStyle/>
                    <a:p>
                      <a:r>
                        <a:rPr lang="fr-FR"/>
                        <a:t>1209-NQ</a:t>
                      </a:r>
                    </a:p>
                  </a:txBody>
                  <a:tcPr anchor="ctr">
                    <a:solidFill>
                      <a:schemeClr val="accent4">
                        <a:lumMod val="40000"/>
                        <a:lumOff val="60000"/>
                      </a:schemeClr>
                    </a:solidFill>
                  </a:tcPr>
                </a:tc>
                <a:tc>
                  <a:txBody>
                    <a:bodyPr/>
                    <a:lstStyle/>
                    <a:p>
                      <a:r>
                        <a:rPr lang="fr-FR"/>
                        <a:t>France</a:t>
                      </a:r>
                    </a:p>
                  </a:txBody>
                  <a:tcPr anchor="ctr">
                    <a:solidFill>
                      <a:schemeClr val="accent4">
                        <a:lumMod val="40000"/>
                        <a:lumOff val="60000"/>
                      </a:schemeClr>
                    </a:solidFill>
                  </a:tcPr>
                </a:tc>
                <a:tc>
                  <a:txBody>
                    <a:bodyPr/>
                    <a:lstStyle/>
                    <a:p>
                      <a:r>
                        <a:rPr lang="fr-FR"/>
                        <a:t>noire</a:t>
                      </a:r>
                    </a:p>
                  </a:txBody>
                  <a:tcPr anchor="ctr"/>
                </a:tc>
                <a:tc>
                  <a:txBody>
                    <a:bodyPr/>
                    <a:lstStyle/>
                    <a:p>
                      <a:r>
                        <a:rPr lang="fr-FR"/>
                        <a:t>5</a:t>
                      </a:r>
                    </a:p>
                  </a:txBody>
                  <a:tcPr anchor="ctr"/>
                </a:tc>
                <a:tc>
                  <a:txBody>
                    <a:bodyPr/>
                    <a:lstStyle/>
                    <a:p>
                      <a:r>
                        <a:rPr lang="fr-FR"/>
                        <a:t>Leïla</a:t>
                      </a:r>
                    </a:p>
                  </a:txBody>
                  <a:tcPr anchor="ctr"/>
                </a:tc>
                <a:tc>
                  <a:txBody>
                    <a:bodyPr/>
                    <a:lstStyle/>
                    <a:p>
                      <a:r>
                        <a:rPr lang="fr-FR"/>
                        <a:t>2125312</a:t>
                      </a:r>
                    </a:p>
                  </a:txBody>
                  <a:tcPr anchor="ctr"/>
                </a:tc>
                <a:tc>
                  <a:txBody>
                    <a:bodyPr/>
                    <a:lstStyle/>
                    <a:p>
                      <a:r>
                        <a:rPr lang="fr-FR"/>
                        <a:t>1</a:t>
                      </a:r>
                    </a:p>
                  </a:txBody>
                  <a:tcPr anchor="ctr"/>
                </a:tc>
                <a:extLst>
                  <a:ext uri="{0D108BD9-81ED-4DB2-BD59-A6C34878D82A}">
                    <a16:rowId xmlns:a16="http://schemas.microsoft.com/office/drawing/2014/main" val="1052036645"/>
                  </a:ext>
                </a:extLst>
              </a:tr>
              <a:tr h="0">
                <a:tc>
                  <a:txBody>
                    <a:bodyPr/>
                    <a:lstStyle/>
                    <a:p>
                      <a:r>
                        <a:rPr lang="fr-FR"/>
                        <a:t>2634-OS</a:t>
                      </a:r>
                    </a:p>
                  </a:txBody>
                  <a:tcPr anchor="ctr">
                    <a:solidFill>
                      <a:schemeClr val="accent4">
                        <a:lumMod val="40000"/>
                        <a:lumOff val="60000"/>
                      </a:schemeClr>
                    </a:solidFill>
                  </a:tcPr>
                </a:tc>
                <a:tc>
                  <a:txBody>
                    <a:bodyPr/>
                    <a:lstStyle/>
                    <a:p>
                      <a:r>
                        <a:rPr lang="fr-FR"/>
                        <a:t>France</a:t>
                      </a:r>
                    </a:p>
                  </a:txBody>
                  <a:tcPr anchor="ctr">
                    <a:solidFill>
                      <a:schemeClr val="accent4">
                        <a:lumMod val="40000"/>
                        <a:lumOff val="60000"/>
                      </a:schemeClr>
                    </a:solidFill>
                  </a:tcPr>
                </a:tc>
                <a:tc>
                  <a:txBody>
                    <a:bodyPr/>
                    <a:lstStyle/>
                    <a:p>
                      <a:r>
                        <a:rPr lang="fr-FR"/>
                        <a:t>bleue</a:t>
                      </a:r>
                    </a:p>
                  </a:txBody>
                  <a:tcPr anchor="ctr"/>
                </a:tc>
                <a:tc>
                  <a:txBody>
                    <a:bodyPr/>
                    <a:lstStyle/>
                    <a:p>
                      <a:r>
                        <a:rPr lang="fr-FR"/>
                        <a:t>5</a:t>
                      </a:r>
                    </a:p>
                  </a:txBody>
                  <a:tcPr anchor="ctr"/>
                </a:tc>
                <a:tc>
                  <a:txBody>
                    <a:bodyPr/>
                    <a:lstStyle/>
                    <a:p>
                      <a:r>
                        <a:rPr lang="fr-FR"/>
                        <a:t>Gaël</a:t>
                      </a:r>
                    </a:p>
                  </a:txBody>
                  <a:tcPr anchor="ctr"/>
                </a:tc>
                <a:tc>
                  <a:txBody>
                    <a:bodyPr/>
                    <a:lstStyle/>
                    <a:p>
                      <a:r>
                        <a:rPr lang="fr-FR"/>
                        <a:t>1162732</a:t>
                      </a:r>
                    </a:p>
                  </a:txBody>
                  <a:tcPr anchor="ctr"/>
                </a:tc>
                <a:tc>
                  <a:txBody>
                    <a:bodyPr/>
                    <a:lstStyle/>
                    <a:p>
                      <a:r>
                        <a:rPr lang="fr-FR"/>
                        <a:t>1</a:t>
                      </a:r>
                    </a:p>
                  </a:txBody>
                  <a:tcPr anchor="ctr"/>
                </a:tc>
                <a:extLst>
                  <a:ext uri="{0D108BD9-81ED-4DB2-BD59-A6C34878D82A}">
                    <a16:rowId xmlns:a16="http://schemas.microsoft.com/office/drawing/2014/main" val="1972621828"/>
                  </a:ext>
                </a:extLst>
              </a:tr>
            </a:tbl>
          </a:graphicData>
        </a:graphic>
      </p:graphicFrame>
    </p:spTree>
    <p:extLst>
      <p:ext uri="{BB962C8B-B14F-4D97-AF65-F5344CB8AC3E}">
        <p14:creationId xmlns:p14="http://schemas.microsoft.com/office/powerpoint/2010/main" val="28480052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7"/>
            <a:ext cx="10554574" cy="418363"/>
          </a:xfrm>
        </p:spPr>
        <p:txBody>
          <a:bodyPr>
            <a:normAutofit/>
          </a:bodyPr>
          <a:lstStyle/>
          <a:p>
            <a:r>
              <a:rPr lang="fr-FR"/>
              <a:t>(immatriculation, prop_num_secu) peut aussi être une clé</a:t>
            </a:r>
          </a:p>
        </p:txBody>
      </p:sp>
      <p:sp>
        <p:nvSpPr>
          <p:cNvPr id="7" name="Espace réservé du numéro de diapositive 6">
            <a:extLst>
              <a:ext uri="{FF2B5EF4-FFF2-40B4-BE49-F238E27FC236}">
                <a16:creationId xmlns:a16="http://schemas.microsoft.com/office/drawing/2014/main" id="{6B088505-831B-41D2-AF8D-A229C359A3CD}"/>
              </a:ext>
            </a:extLst>
          </p:cNvPr>
          <p:cNvSpPr>
            <a:spLocks noGrp="1"/>
          </p:cNvSpPr>
          <p:nvPr>
            <p:ph type="sldNum" sz="quarter" idx="12"/>
          </p:nvPr>
        </p:nvSpPr>
        <p:spPr/>
        <p:txBody>
          <a:bodyPr/>
          <a:lstStyle/>
          <a:p>
            <a:fld id="{27C6CCC6-2BE5-4E42-96A4-D1E8E81A3D8E}" type="slidenum">
              <a:rPr lang="de-DE" smtClean="0"/>
              <a:t>36</a:t>
            </a:fld>
            <a:endParaRPr lang="de-DE"/>
          </a:p>
        </p:txBody>
      </p:sp>
      <p:graphicFrame>
        <p:nvGraphicFramePr>
          <p:cNvPr id="4" name="Tableau 3">
            <a:extLst>
              <a:ext uri="{FF2B5EF4-FFF2-40B4-BE49-F238E27FC236}">
                <a16:creationId xmlns:a16="http://schemas.microsoft.com/office/drawing/2014/main" id="{21753C20-FC54-4E14-8CC7-4EB5F6C67EDE}"/>
              </a:ext>
            </a:extLst>
          </p:cNvPr>
          <p:cNvGraphicFramePr>
            <a:graphicFrameLocks noGrp="1"/>
          </p:cNvGraphicFramePr>
          <p:nvPr>
            <p:extLst>
              <p:ext uri="{D42A27DB-BD31-4B8C-83A1-F6EECF244321}">
                <p14:modId xmlns:p14="http://schemas.microsoft.com/office/powerpoint/2010/main" val="106154175"/>
              </p:ext>
            </p:extLst>
          </p:nvPr>
        </p:nvGraphicFramePr>
        <p:xfrm>
          <a:off x="810000" y="2898902"/>
          <a:ext cx="10563224" cy="2834640"/>
        </p:xfrm>
        <a:graphic>
          <a:graphicData uri="http://schemas.openxmlformats.org/drawingml/2006/table">
            <a:tbl>
              <a:tblPr firstRow="1" bandRow="1">
                <a:tableStyleId>{5C22544A-7EE6-4342-B048-85BDC9FD1C3A}</a:tableStyleId>
              </a:tblPr>
              <a:tblGrid>
                <a:gridCol w="1509032">
                  <a:extLst>
                    <a:ext uri="{9D8B030D-6E8A-4147-A177-3AD203B41FA5}">
                      <a16:colId xmlns:a16="http://schemas.microsoft.com/office/drawing/2014/main" val="3009234481"/>
                    </a:ext>
                  </a:extLst>
                </a:gridCol>
                <a:gridCol w="1509032">
                  <a:extLst>
                    <a:ext uri="{9D8B030D-6E8A-4147-A177-3AD203B41FA5}">
                      <a16:colId xmlns:a16="http://schemas.microsoft.com/office/drawing/2014/main" val="4016708832"/>
                    </a:ext>
                  </a:extLst>
                </a:gridCol>
                <a:gridCol w="1509032">
                  <a:extLst>
                    <a:ext uri="{9D8B030D-6E8A-4147-A177-3AD203B41FA5}">
                      <a16:colId xmlns:a16="http://schemas.microsoft.com/office/drawing/2014/main" val="3019142207"/>
                    </a:ext>
                  </a:extLst>
                </a:gridCol>
                <a:gridCol w="1509032">
                  <a:extLst>
                    <a:ext uri="{9D8B030D-6E8A-4147-A177-3AD203B41FA5}">
                      <a16:colId xmlns:a16="http://schemas.microsoft.com/office/drawing/2014/main" val="2567860730"/>
                    </a:ext>
                  </a:extLst>
                </a:gridCol>
                <a:gridCol w="1509032">
                  <a:extLst>
                    <a:ext uri="{9D8B030D-6E8A-4147-A177-3AD203B41FA5}">
                      <a16:colId xmlns:a16="http://schemas.microsoft.com/office/drawing/2014/main" val="2321387769"/>
                    </a:ext>
                  </a:extLst>
                </a:gridCol>
                <a:gridCol w="1509032">
                  <a:extLst>
                    <a:ext uri="{9D8B030D-6E8A-4147-A177-3AD203B41FA5}">
                      <a16:colId xmlns:a16="http://schemas.microsoft.com/office/drawing/2014/main" val="506061128"/>
                    </a:ext>
                  </a:extLst>
                </a:gridCol>
                <a:gridCol w="1509032">
                  <a:extLst>
                    <a:ext uri="{9D8B030D-6E8A-4147-A177-3AD203B41FA5}">
                      <a16:colId xmlns:a16="http://schemas.microsoft.com/office/drawing/2014/main" val="3428974834"/>
                    </a:ext>
                  </a:extLst>
                </a:gridCol>
              </a:tblGrid>
              <a:tr h="549542">
                <a:tc>
                  <a:txBody>
                    <a:bodyPr/>
                    <a:lstStyle/>
                    <a:p>
                      <a:r>
                        <a:rPr lang="fr-FR" u="sng"/>
                        <a:t>immatriculation</a:t>
                      </a:r>
                    </a:p>
                  </a:txBody>
                  <a:tcPr anchor="ctr">
                    <a:solidFill>
                      <a:schemeClr val="accent4">
                        <a:lumMod val="75000"/>
                      </a:schemeClr>
                    </a:solidFill>
                  </a:tcPr>
                </a:tc>
                <a:tc>
                  <a:txBody>
                    <a:bodyPr/>
                    <a:lstStyle/>
                    <a:p>
                      <a:r>
                        <a:rPr lang="fr-FR" err="1"/>
                        <a:t>pays_immatriculation</a:t>
                      </a:r>
                      <a:endParaRPr lang="fr-FR"/>
                    </a:p>
                  </a:txBody>
                  <a:tcPr anchor="ctr"/>
                </a:tc>
                <a:tc>
                  <a:txBody>
                    <a:bodyPr/>
                    <a:lstStyle/>
                    <a:p>
                      <a:r>
                        <a:rPr lang="fr-FR"/>
                        <a:t>couleur</a:t>
                      </a:r>
                    </a:p>
                  </a:txBody>
                  <a:tcPr anchor="ctr"/>
                </a:tc>
                <a:tc>
                  <a:txBody>
                    <a:bodyPr/>
                    <a:lstStyle/>
                    <a:p>
                      <a:r>
                        <a:rPr lang="fr-FR"/>
                        <a:t>nombre_places</a:t>
                      </a:r>
                      <a:endParaRPr lang="fr-FR" err="1"/>
                    </a:p>
                  </a:txBody>
                  <a:tcPr anchor="ctr"/>
                </a:tc>
                <a:tc>
                  <a:txBody>
                    <a:bodyPr/>
                    <a:lstStyle/>
                    <a:p>
                      <a:r>
                        <a:rPr lang="fr-FR"/>
                        <a:t>propriétaire</a:t>
                      </a:r>
                    </a:p>
                  </a:txBody>
                  <a:tcPr anchor="ctr"/>
                </a:tc>
                <a:tc>
                  <a:txBody>
                    <a:bodyPr/>
                    <a:lstStyle/>
                    <a:p>
                      <a:r>
                        <a:rPr lang="fr-FR" u="sng"/>
                        <a:t>prop_num_secu</a:t>
                      </a:r>
                    </a:p>
                  </a:txBody>
                  <a:tcPr anchor="ctr">
                    <a:solidFill>
                      <a:schemeClr val="accent4">
                        <a:lumMod val="75000"/>
                      </a:schemeClr>
                    </a:solidFill>
                  </a:tcPr>
                </a:tc>
                <a:tc>
                  <a:txBody>
                    <a:bodyPr/>
                    <a:lstStyle/>
                    <a:p>
                      <a:r>
                        <a:rPr lang="fr-FR"/>
                        <a:t>prop_num_voiture</a:t>
                      </a:r>
                      <a:endParaRPr lang="fr-FR" err="1"/>
                    </a:p>
                  </a:txBody>
                  <a:tcPr anchor="ctr"/>
                </a:tc>
                <a:extLst>
                  <a:ext uri="{0D108BD9-81ED-4DB2-BD59-A6C34878D82A}">
                    <a16:rowId xmlns:a16="http://schemas.microsoft.com/office/drawing/2014/main" val="829806056"/>
                  </a:ext>
                </a:extLst>
              </a:tr>
              <a:tr h="0">
                <a:tc>
                  <a:txBody>
                    <a:bodyPr/>
                    <a:lstStyle/>
                    <a:p>
                      <a:r>
                        <a:rPr lang="fr-FR"/>
                        <a:t>2983-AA</a:t>
                      </a:r>
                    </a:p>
                  </a:txBody>
                  <a:tcPr anchor="ctr">
                    <a:solidFill>
                      <a:schemeClr val="accent4">
                        <a:lumMod val="40000"/>
                        <a:lumOff val="60000"/>
                      </a:schemeClr>
                    </a:solidFill>
                  </a:tcPr>
                </a:tc>
                <a:tc>
                  <a:txBody>
                    <a:bodyPr/>
                    <a:lstStyle/>
                    <a:p>
                      <a:r>
                        <a:rPr lang="fr-FR"/>
                        <a:t>France</a:t>
                      </a:r>
                    </a:p>
                  </a:txBody>
                  <a:tcPr anchor="ctr"/>
                </a:tc>
                <a:tc>
                  <a:txBody>
                    <a:bodyPr/>
                    <a:lstStyle/>
                    <a:p>
                      <a:r>
                        <a:rPr lang="fr-FR"/>
                        <a:t>bleue</a:t>
                      </a:r>
                    </a:p>
                  </a:txBody>
                  <a:tcPr anchor="ctr"/>
                </a:tc>
                <a:tc>
                  <a:txBody>
                    <a:bodyPr/>
                    <a:lstStyle/>
                    <a:p>
                      <a:r>
                        <a:rPr lang="fr-FR"/>
                        <a:t>5</a:t>
                      </a:r>
                    </a:p>
                  </a:txBody>
                  <a:tcPr anchor="ctr"/>
                </a:tc>
                <a:tc>
                  <a:txBody>
                    <a:bodyPr/>
                    <a:lstStyle/>
                    <a:p>
                      <a:r>
                        <a:rPr lang="fr-FR"/>
                        <a:t>Luc</a:t>
                      </a:r>
                    </a:p>
                  </a:txBody>
                  <a:tcPr anchor="ctr"/>
                </a:tc>
                <a:tc>
                  <a:txBody>
                    <a:bodyPr/>
                    <a:lstStyle/>
                    <a:p>
                      <a:r>
                        <a:rPr lang="fr-FR"/>
                        <a:t>1134212</a:t>
                      </a:r>
                    </a:p>
                  </a:txBody>
                  <a:tcPr anchor="ctr">
                    <a:solidFill>
                      <a:schemeClr val="accent4">
                        <a:lumMod val="40000"/>
                        <a:lumOff val="60000"/>
                      </a:schemeClr>
                    </a:solidFill>
                  </a:tcPr>
                </a:tc>
                <a:tc>
                  <a:txBody>
                    <a:bodyPr/>
                    <a:lstStyle/>
                    <a:p>
                      <a:r>
                        <a:rPr lang="fr-FR"/>
                        <a:t>1</a:t>
                      </a:r>
                    </a:p>
                  </a:txBody>
                  <a:tcPr anchor="ctr"/>
                </a:tc>
                <a:extLst>
                  <a:ext uri="{0D108BD9-81ED-4DB2-BD59-A6C34878D82A}">
                    <a16:rowId xmlns:a16="http://schemas.microsoft.com/office/drawing/2014/main" val="3677727095"/>
                  </a:ext>
                </a:extLst>
              </a:tr>
              <a:tr h="0">
                <a:tc>
                  <a:txBody>
                    <a:bodyPr/>
                    <a:lstStyle/>
                    <a:p>
                      <a:r>
                        <a:rPr lang="fr-FR"/>
                        <a:t>1923-BD</a:t>
                      </a:r>
                    </a:p>
                  </a:txBody>
                  <a:tcPr anchor="ctr">
                    <a:solidFill>
                      <a:schemeClr val="accent4">
                        <a:lumMod val="40000"/>
                        <a:lumOff val="60000"/>
                      </a:schemeClr>
                    </a:solidFill>
                  </a:tcPr>
                </a:tc>
                <a:tc>
                  <a:txBody>
                    <a:bodyPr/>
                    <a:lstStyle/>
                    <a:p>
                      <a:r>
                        <a:rPr lang="fr-FR"/>
                        <a:t>France</a:t>
                      </a:r>
                    </a:p>
                  </a:txBody>
                  <a:tcPr anchor="ctr"/>
                </a:tc>
                <a:tc>
                  <a:txBody>
                    <a:bodyPr/>
                    <a:lstStyle/>
                    <a:p>
                      <a:r>
                        <a:rPr lang="fr-FR"/>
                        <a:t>verte</a:t>
                      </a:r>
                    </a:p>
                  </a:txBody>
                  <a:tcPr anchor="ctr"/>
                </a:tc>
                <a:tc>
                  <a:txBody>
                    <a:bodyPr/>
                    <a:lstStyle/>
                    <a:p>
                      <a:r>
                        <a:rPr lang="fr-FR"/>
                        <a:t>7</a:t>
                      </a:r>
                    </a:p>
                  </a:txBody>
                  <a:tcPr anchor="ctr"/>
                </a:tc>
                <a:tc>
                  <a:txBody>
                    <a:bodyPr/>
                    <a:lstStyle/>
                    <a:p>
                      <a:r>
                        <a:rPr lang="fr-FR"/>
                        <a:t>Lucia</a:t>
                      </a:r>
                    </a:p>
                  </a:txBody>
                  <a:tcPr anchor="ctr"/>
                </a:tc>
                <a:tc>
                  <a:txBody>
                    <a:bodyPr/>
                    <a:lstStyle/>
                    <a:p>
                      <a:r>
                        <a:rPr lang="fr-FR"/>
                        <a:t>2021726</a:t>
                      </a:r>
                    </a:p>
                  </a:txBody>
                  <a:tcPr anchor="ctr">
                    <a:solidFill>
                      <a:schemeClr val="accent4">
                        <a:lumMod val="40000"/>
                        <a:lumOff val="60000"/>
                      </a:schemeClr>
                    </a:solidFill>
                  </a:tcPr>
                </a:tc>
                <a:tc>
                  <a:txBody>
                    <a:bodyPr/>
                    <a:lstStyle/>
                    <a:p>
                      <a:r>
                        <a:rPr lang="fr-FR"/>
                        <a:t>1</a:t>
                      </a:r>
                    </a:p>
                  </a:txBody>
                  <a:tcPr anchor="ctr"/>
                </a:tc>
                <a:extLst>
                  <a:ext uri="{0D108BD9-81ED-4DB2-BD59-A6C34878D82A}">
                    <a16:rowId xmlns:a16="http://schemas.microsoft.com/office/drawing/2014/main" val="3376609390"/>
                  </a:ext>
                </a:extLst>
              </a:tr>
              <a:tr h="0">
                <a:tc>
                  <a:txBody>
                    <a:bodyPr/>
                    <a:lstStyle/>
                    <a:p>
                      <a:r>
                        <a:rPr lang="fr-FR"/>
                        <a:t>PLT-28-190</a:t>
                      </a:r>
                    </a:p>
                  </a:txBody>
                  <a:tcPr anchor="ctr">
                    <a:solidFill>
                      <a:schemeClr val="accent4">
                        <a:lumMod val="40000"/>
                        <a:lumOff val="60000"/>
                      </a:schemeClr>
                    </a:solidFill>
                  </a:tcPr>
                </a:tc>
                <a:tc>
                  <a:txBody>
                    <a:bodyPr/>
                    <a:lstStyle/>
                    <a:p>
                      <a:r>
                        <a:rPr lang="fr-FR"/>
                        <a:t>Portugal</a:t>
                      </a:r>
                    </a:p>
                  </a:txBody>
                  <a:tcPr anchor="ctr"/>
                </a:tc>
                <a:tc>
                  <a:txBody>
                    <a:bodyPr/>
                    <a:lstStyle/>
                    <a:p>
                      <a:r>
                        <a:rPr lang="fr-FR"/>
                        <a:t>bleue</a:t>
                      </a:r>
                    </a:p>
                  </a:txBody>
                  <a:tcPr anchor="ctr"/>
                </a:tc>
                <a:tc>
                  <a:txBody>
                    <a:bodyPr/>
                    <a:lstStyle/>
                    <a:p>
                      <a:r>
                        <a:rPr lang="fr-FR"/>
                        <a:t>7</a:t>
                      </a:r>
                    </a:p>
                  </a:txBody>
                  <a:tcPr anchor="ctr"/>
                </a:tc>
                <a:tc>
                  <a:txBody>
                    <a:bodyPr/>
                    <a:lstStyle/>
                    <a:p>
                      <a:r>
                        <a:rPr lang="fr-FR"/>
                        <a:t>Gaël</a:t>
                      </a:r>
                    </a:p>
                  </a:txBody>
                  <a:tcPr anchor="ctr"/>
                </a:tc>
                <a:tc>
                  <a:txBody>
                    <a:bodyPr/>
                    <a:lstStyle/>
                    <a:p>
                      <a:r>
                        <a:rPr lang="fr-FR"/>
                        <a:t>1012612</a:t>
                      </a:r>
                    </a:p>
                  </a:txBody>
                  <a:tcPr anchor="ctr">
                    <a:solidFill>
                      <a:schemeClr val="accent4">
                        <a:lumMod val="40000"/>
                        <a:lumOff val="60000"/>
                      </a:schemeClr>
                    </a:solidFill>
                  </a:tcPr>
                </a:tc>
                <a:tc>
                  <a:txBody>
                    <a:bodyPr/>
                    <a:lstStyle/>
                    <a:p>
                      <a:r>
                        <a:rPr lang="fr-FR"/>
                        <a:t>1</a:t>
                      </a:r>
                    </a:p>
                  </a:txBody>
                  <a:tcPr anchor="ctr"/>
                </a:tc>
                <a:extLst>
                  <a:ext uri="{0D108BD9-81ED-4DB2-BD59-A6C34878D82A}">
                    <a16:rowId xmlns:a16="http://schemas.microsoft.com/office/drawing/2014/main" val="1854989837"/>
                  </a:ext>
                </a:extLst>
              </a:tr>
              <a:tr h="0">
                <a:tc>
                  <a:txBody>
                    <a:bodyPr/>
                    <a:lstStyle/>
                    <a:p>
                      <a:r>
                        <a:rPr lang="fr-FR"/>
                        <a:t>2383-ZN</a:t>
                      </a:r>
                    </a:p>
                  </a:txBody>
                  <a:tcPr anchor="ctr">
                    <a:solidFill>
                      <a:schemeClr val="accent4">
                        <a:lumMod val="40000"/>
                        <a:lumOff val="60000"/>
                      </a:schemeClr>
                    </a:solidFill>
                  </a:tcPr>
                </a:tc>
                <a:tc>
                  <a:txBody>
                    <a:bodyPr/>
                    <a:lstStyle/>
                    <a:p>
                      <a:r>
                        <a:rPr lang="fr-FR"/>
                        <a:t>France</a:t>
                      </a:r>
                    </a:p>
                  </a:txBody>
                  <a:tcPr anchor="ctr"/>
                </a:tc>
                <a:tc>
                  <a:txBody>
                    <a:bodyPr/>
                    <a:lstStyle/>
                    <a:p>
                      <a:r>
                        <a:rPr lang="fr-FR"/>
                        <a:t>noire</a:t>
                      </a:r>
                    </a:p>
                  </a:txBody>
                  <a:tcPr anchor="ctr"/>
                </a:tc>
                <a:tc>
                  <a:txBody>
                    <a:bodyPr/>
                    <a:lstStyle/>
                    <a:p>
                      <a:r>
                        <a:rPr lang="fr-FR"/>
                        <a:t>9</a:t>
                      </a:r>
                    </a:p>
                  </a:txBody>
                  <a:tcPr anchor="ctr"/>
                </a:tc>
                <a:tc>
                  <a:txBody>
                    <a:bodyPr/>
                    <a:lstStyle/>
                    <a:p>
                      <a:r>
                        <a:rPr lang="fr-FR"/>
                        <a:t>Leïla</a:t>
                      </a:r>
                    </a:p>
                  </a:txBody>
                  <a:tcPr anchor="ctr"/>
                </a:tc>
                <a:tc>
                  <a:txBody>
                    <a:bodyPr/>
                    <a:lstStyle/>
                    <a:p>
                      <a:r>
                        <a:rPr lang="fr-FR"/>
                        <a:t>2125312</a:t>
                      </a:r>
                    </a:p>
                  </a:txBody>
                  <a:tcPr anchor="ctr">
                    <a:solidFill>
                      <a:schemeClr val="accent4">
                        <a:lumMod val="40000"/>
                        <a:lumOff val="60000"/>
                      </a:schemeClr>
                    </a:solidFill>
                  </a:tcPr>
                </a:tc>
                <a:tc>
                  <a:txBody>
                    <a:bodyPr/>
                    <a:lstStyle/>
                    <a:p>
                      <a:r>
                        <a:rPr lang="fr-FR"/>
                        <a:t>2</a:t>
                      </a:r>
                    </a:p>
                  </a:txBody>
                  <a:tcPr anchor="ctr"/>
                </a:tc>
                <a:extLst>
                  <a:ext uri="{0D108BD9-81ED-4DB2-BD59-A6C34878D82A}">
                    <a16:rowId xmlns:a16="http://schemas.microsoft.com/office/drawing/2014/main" val="1301404165"/>
                  </a:ext>
                </a:extLst>
              </a:tr>
              <a:tr h="0">
                <a:tc>
                  <a:txBody>
                    <a:bodyPr/>
                    <a:lstStyle/>
                    <a:p>
                      <a:r>
                        <a:rPr lang="fr-FR"/>
                        <a:t>1209-NQ</a:t>
                      </a:r>
                    </a:p>
                  </a:txBody>
                  <a:tcPr anchor="ctr">
                    <a:solidFill>
                      <a:schemeClr val="accent4">
                        <a:lumMod val="40000"/>
                        <a:lumOff val="60000"/>
                      </a:schemeClr>
                    </a:solidFill>
                  </a:tcPr>
                </a:tc>
                <a:tc>
                  <a:txBody>
                    <a:bodyPr/>
                    <a:lstStyle/>
                    <a:p>
                      <a:r>
                        <a:rPr lang="fr-FR"/>
                        <a:t>France</a:t>
                      </a:r>
                    </a:p>
                  </a:txBody>
                  <a:tcPr anchor="ctr"/>
                </a:tc>
                <a:tc>
                  <a:txBody>
                    <a:bodyPr/>
                    <a:lstStyle/>
                    <a:p>
                      <a:r>
                        <a:rPr lang="fr-FR"/>
                        <a:t>noire</a:t>
                      </a:r>
                    </a:p>
                  </a:txBody>
                  <a:tcPr anchor="ctr"/>
                </a:tc>
                <a:tc>
                  <a:txBody>
                    <a:bodyPr/>
                    <a:lstStyle/>
                    <a:p>
                      <a:r>
                        <a:rPr lang="fr-FR"/>
                        <a:t>5</a:t>
                      </a:r>
                    </a:p>
                  </a:txBody>
                  <a:tcPr anchor="ctr"/>
                </a:tc>
                <a:tc>
                  <a:txBody>
                    <a:bodyPr/>
                    <a:lstStyle/>
                    <a:p>
                      <a:r>
                        <a:rPr lang="fr-FR"/>
                        <a:t>Leïla</a:t>
                      </a:r>
                    </a:p>
                  </a:txBody>
                  <a:tcPr anchor="ctr"/>
                </a:tc>
                <a:tc>
                  <a:txBody>
                    <a:bodyPr/>
                    <a:lstStyle/>
                    <a:p>
                      <a:r>
                        <a:rPr lang="fr-FR"/>
                        <a:t>2125312</a:t>
                      </a:r>
                    </a:p>
                  </a:txBody>
                  <a:tcPr anchor="ctr">
                    <a:solidFill>
                      <a:schemeClr val="accent4">
                        <a:lumMod val="40000"/>
                        <a:lumOff val="60000"/>
                      </a:schemeClr>
                    </a:solidFill>
                  </a:tcPr>
                </a:tc>
                <a:tc>
                  <a:txBody>
                    <a:bodyPr/>
                    <a:lstStyle/>
                    <a:p>
                      <a:r>
                        <a:rPr lang="fr-FR"/>
                        <a:t>1</a:t>
                      </a:r>
                    </a:p>
                  </a:txBody>
                  <a:tcPr anchor="ctr"/>
                </a:tc>
                <a:extLst>
                  <a:ext uri="{0D108BD9-81ED-4DB2-BD59-A6C34878D82A}">
                    <a16:rowId xmlns:a16="http://schemas.microsoft.com/office/drawing/2014/main" val="1052036645"/>
                  </a:ext>
                </a:extLst>
              </a:tr>
              <a:tr h="0">
                <a:tc>
                  <a:txBody>
                    <a:bodyPr/>
                    <a:lstStyle/>
                    <a:p>
                      <a:r>
                        <a:rPr lang="fr-FR"/>
                        <a:t>2634-OS</a:t>
                      </a:r>
                    </a:p>
                  </a:txBody>
                  <a:tcPr anchor="ctr">
                    <a:solidFill>
                      <a:schemeClr val="accent4">
                        <a:lumMod val="40000"/>
                        <a:lumOff val="60000"/>
                      </a:schemeClr>
                    </a:solidFill>
                  </a:tcPr>
                </a:tc>
                <a:tc>
                  <a:txBody>
                    <a:bodyPr/>
                    <a:lstStyle/>
                    <a:p>
                      <a:r>
                        <a:rPr lang="fr-FR"/>
                        <a:t>France</a:t>
                      </a:r>
                    </a:p>
                  </a:txBody>
                  <a:tcPr anchor="ctr"/>
                </a:tc>
                <a:tc>
                  <a:txBody>
                    <a:bodyPr/>
                    <a:lstStyle/>
                    <a:p>
                      <a:r>
                        <a:rPr lang="fr-FR"/>
                        <a:t>bleue</a:t>
                      </a:r>
                    </a:p>
                  </a:txBody>
                  <a:tcPr anchor="ctr"/>
                </a:tc>
                <a:tc>
                  <a:txBody>
                    <a:bodyPr/>
                    <a:lstStyle/>
                    <a:p>
                      <a:r>
                        <a:rPr lang="fr-FR"/>
                        <a:t>5</a:t>
                      </a:r>
                    </a:p>
                  </a:txBody>
                  <a:tcPr anchor="ctr"/>
                </a:tc>
                <a:tc>
                  <a:txBody>
                    <a:bodyPr/>
                    <a:lstStyle/>
                    <a:p>
                      <a:r>
                        <a:rPr lang="fr-FR"/>
                        <a:t>Gaël</a:t>
                      </a:r>
                    </a:p>
                  </a:txBody>
                  <a:tcPr anchor="ctr"/>
                </a:tc>
                <a:tc>
                  <a:txBody>
                    <a:bodyPr/>
                    <a:lstStyle/>
                    <a:p>
                      <a:r>
                        <a:rPr lang="fr-FR"/>
                        <a:t>1162732</a:t>
                      </a:r>
                    </a:p>
                  </a:txBody>
                  <a:tcPr anchor="ctr">
                    <a:solidFill>
                      <a:schemeClr val="accent4">
                        <a:lumMod val="40000"/>
                        <a:lumOff val="60000"/>
                      </a:schemeClr>
                    </a:solidFill>
                  </a:tcPr>
                </a:tc>
                <a:tc>
                  <a:txBody>
                    <a:bodyPr/>
                    <a:lstStyle/>
                    <a:p>
                      <a:r>
                        <a:rPr lang="fr-FR"/>
                        <a:t>1</a:t>
                      </a:r>
                    </a:p>
                  </a:txBody>
                  <a:tcPr anchor="ctr"/>
                </a:tc>
                <a:extLst>
                  <a:ext uri="{0D108BD9-81ED-4DB2-BD59-A6C34878D82A}">
                    <a16:rowId xmlns:a16="http://schemas.microsoft.com/office/drawing/2014/main" val="1972621828"/>
                  </a:ext>
                </a:extLst>
              </a:tr>
            </a:tbl>
          </a:graphicData>
        </a:graphic>
      </p:graphicFrame>
    </p:spTree>
    <p:extLst>
      <p:ext uri="{BB962C8B-B14F-4D97-AF65-F5344CB8AC3E}">
        <p14:creationId xmlns:p14="http://schemas.microsoft.com/office/powerpoint/2010/main" val="792128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7"/>
            <a:ext cx="10554574" cy="1120433"/>
          </a:xfrm>
        </p:spPr>
        <p:txBody>
          <a:bodyPr>
            <a:normAutofit fontScale="92500" lnSpcReduction="20000"/>
          </a:bodyPr>
          <a:lstStyle/>
          <a:p>
            <a:r>
              <a:rPr lang="fr-FR"/>
              <a:t>Remarque : on peut toujours créer une </a:t>
            </a:r>
            <a:r>
              <a:rPr lang="fr-FR" b="1"/>
              <a:t>clé artificielle </a:t>
            </a:r>
            <a:r>
              <a:rPr lang="fr-FR"/>
              <a:t>(nécessaire s’il n’y a pas de clé candidate naturelle)</a:t>
            </a:r>
          </a:p>
          <a:p>
            <a:r>
              <a:rPr lang="fr-FR"/>
              <a:t>L’utilisation d’une clé artificielle est souvent préférée (pour éviter de se rendre compte trop tard qu’une clé n’en était pas vraiment une)</a:t>
            </a:r>
          </a:p>
        </p:txBody>
      </p:sp>
      <p:sp>
        <p:nvSpPr>
          <p:cNvPr id="7" name="Espace réservé du numéro de diapositive 6">
            <a:extLst>
              <a:ext uri="{FF2B5EF4-FFF2-40B4-BE49-F238E27FC236}">
                <a16:creationId xmlns:a16="http://schemas.microsoft.com/office/drawing/2014/main" id="{E1B8CFD1-A0AA-4821-BFDE-EF4070A81C91}"/>
              </a:ext>
            </a:extLst>
          </p:cNvPr>
          <p:cNvSpPr>
            <a:spLocks noGrp="1"/>
          </p:cNvSpPr>
          <p:nvPr>
            <p:ph type="sldNum" sz="quarter" idx="12"/>
          </p:nvPr>
        </p:nvSpPr>
        <p:spPr/>
        <p:txBody>
          <a:bodyPr/>
          <a:lstStyle/>
          <a:p>
            <a:fld id="{27C6CCC6-2BE5-4E42-96A4-D1E8E81A3D8E}" type="slidenum">
              <a:rPr lang="de-DE" smtClean="0"/>
              <a:t>37</a:t>
            </a:fld>
            <a:endParaRPr lang="de-DE"/>
          </a:p>
        </p:txBody>
      </p:sp>
      <p:graphicFrame>
        <p:nvGraphicFramePr>
          <p:cNvPr id="4" name="Tableau 3">
            <a:extLst>
              <a:ext uri="{FF2B5EF4-FFF2-40B4-BE49-F238E27FC236}">
                <a16:creationId xmlns:a16="http://schemas.microsoft.com/office/drawing/2014/main" id="{21753C20-FC54-4E14-8CC7-4EB5F6C67EDE}"/>
              </a:ext>
            </a:extLst>
          </p:cNvPr>
          <p:cNvGraphicFramePr>
            <a:graphicFrameLocks noGrp="1"/>
          </p:cNvGraphicFramePr>
          <p:nvPr>
            <p:extLst>
              <p:ext uri="{D42A27DB-BD31-4B8C-83A1-F6EECF244321}">
                <p14:modId xmlns:p14="http://schemas.microsoft.com/office/powerpoint/2010/main" val="994423171"/>
              </p:ext>
            </p:extLst>
          </p:nvPr>
        </p:nvGraphicFramePr>
        <p:xfrm>
          <a:off x="818774" y="3515280"/>
          <a:ext cx="10563224" cy="3108960"/>
        </p:xfrm>
        <a:graphic>
          <a:graphicData uri="http://schemas.openxmlformats.org/drawingml/2006/table">
            <a:tbl>
              <a:tblPr firstRow="1" bandRow="1">
                <a:tableStyleId>{5C22544A-7EE6-4342-B048-85BDC9FD1C3A}</a:tableStyleId>
              </a:tblPr>
              <a:tblGrid>
                <a:gridCol w="724510">
                  <a:extLst>
                    <a:ext uri="{9D8B030D-6E8A-4147-A177-3AD203B41FA5}">
                      <a16:colId xmlns:a16="http://schemas.microsoft.com/office/drawing/2014/main" val="1341904087"/>
                    </a:ext>
                  </a:extLst>
                </a:gridCol>
                <a:gridCol w="1916296">
                  <a:extLst>
                    <a:ext uri="{9D8B030D-6E8A-4147-A177-3AD203B41FA5}">
                      <a16:colId xmlns:a16="http://schemas.microsoft.com/office/drawing/2014/main" val="3009234481"/>
                    </a:ext>
                  </a:extLst>
                </a:gridCol>
                <a:gridCol w="1320403">
                  <a:extLst>
                    <a:ext uri="{9D8B030D-6E8A-4147-A177-3AD203B41FA5}">
                      <a16:colId xmlns:a16="http://schemas.microsoft.com/office/drawing/2014/main" val="4016708832"/>
                    </a:ext>
                  </a:extLst>
                </a:gridCol>
                <a:gridCol w="1320403">
                  <a:extLst>
                    <a:ext uri="{9D8B030D-6E8A-4147-A177-3AD203B41FA5}">
                      <a16:colId xmlns:a16="http://schemas.microsoft.com/office/drawing/2014/main" val="3019142207"/>
                    </a:ext>
                  </a:extLst>
                </a:gridCol>
                <a:gridCol w="1320403">
                  <a:extLst>
                    <a:ext uri="{9D8B030D-6E8A-4147-A177-3AD203B41FA5}">
                      <a16:colId xmlns:a16="http://schemas.microsoft.com/office/drawing/2014/main" val="2567860730"/>
                    </a:ext>
                  </a:extLst>
                </a:gridCol>
                <a:gridCol w="1320403">
                  <a:extLst>
                    <a:ext uri="{9D8B030D-6E8A-4147-A177-3AD203B41FA5}">
                      <a16:colId xmlns:a16="http://schemas.microsoft.com/office/drawing/2014/main" val="2321387769"/>
                    </a:ext>
                  </a:extLst>
                </a:gridCol>
                <a:gridCol w="1320403">
                  <a:extLst>
                    <a:ext uri="{9D8B030D-6E8A-4147-A177-3AD203B41FA5}">
                      <a16:colId xmlns:a16="http://schemas.microsoft.com/office/drawing/2014/main" val="506061128"/>
                    </a:ext>
                  </a:extLst>
                </a:gridCol>
                <a:gridCol w="1320403">
                  <a:extLst>
                    <a:ext uri="{9D8B030D-6E8A-4147-A177-3AD203B41FA5}">
                      <a16:colId xmlns:a16="http://schemas.microsoft.com/office/drawing/2014/main" val="3428974834"/>
                    </a:ext>
                  </a:extLst>
                </a:gridCol>
              </a:tblGrid>
              <a:tr h="0">
                <a:tc>
                  <a:txBody>
                    <a:bodyPr/>
                    <a:lstStyle/>
                    <a:p>
                      <a:r>
                        <a:rPr lang="fr-FR" u="sng"/>
                        <a:t>ID</a:t>
                      </a:r>
                    </a:p>
                  </a:txBody>
                  <a:tcPr anchor="ctr">
                    <a:solidFill>
                      <a:schemeClr val="accent4">
                        <a:lumMod val="75000"/>
                      </a:schemeClr>
                    </a:solidFill>
                  </a:tcPr>
                </a:tc>
                <a:tc>
                  <a:txBody>
                    <a:bodyPr/>
                    <a:lstStyle/>
                    <a:p>
                      <a:r>
                        <a:rPr lang="fr-FR"/>
                        <a:t>immatriculation</a:t>
                      </a:r>
                    </a:p>
                  </a:txBody>
                  <a:tcPr anchor="ctr"/>
                </a:tc>
                <a:tc>
                  <a:txBody>
                    <a:bodyPr/>
                    <a:lstStyle/>
                    <a:p>
                      <a:r>
                        <a:rPr lang="fr-FR" err="1"/>
                        <a:t>pays_immatriculation</a:t>
                      </a:r>
                      <a:endParaRPr lang="fr-FR"/>
                    </a:p>
                  </a:txBody>
                  <a:tcPr anchor="ctr"/>
                </a:tc>
                <a:tc>
                  <a:txBody>
                    <a:bodyPr/>
                    <a:lstStyle/>
                    <a:p>
                      <a:r>
                        <a:rPr lang="fr-FR"/>
                        <a:t>couleur</a:t>
                      </a:r>
                    </a:p>
                  </a:txBody>
                  <a:tcPr anchor="ctr"/>
                </a:tc>
                <a:tc>
                  <a:txBody>
                    <a:bodyPr/>
                    <a:lstStyle/>
                    <a:p>
                      <a:r>
                        <a:rPr lang="fr-FR" err="1"/>
                        <a:t>nombre_places</a:t>
                      </a:r>
                      <a:endParaRPr lang="fr-FR"/>
                    </a:p>
                  </a:txBody>
                  <a:tcPr anchor="ctr"/>
                </a:tc>
                <a:tc>
                  <a:txBody>
                    <a:bodyPr/>
                    <a:lstStyle/>
                    <a:p>
                      <a:r>
                        <a:rPr lang="fr-FR"/>
                        <a:t>propriétaire</a:t>
                      </a:r>
                    </a:p>
                  </a:txBody>
                  <a:tcPr anchor="ctr"/>
                </a:tc>
                <a:tc>
                  <a:txBody>
                    <a:bodyPr/>
                    <a:lstStyle/>
                    <a:p>
                      <a:r>
                        <a:rPr lang="fr-FR"/>
                        <a:t>prop_num_secu</a:t>
                      </a:r>
                    </a:p>
                  </a:txBody>
                  <a:tcPr anchor="ctr"/>
                </a:tc>
                <a:tc>
                  <a:txBody>
                    <a:bodyPr/>
                    <a:lstStyle/>
                    <a:p>
                      <a:r>
                        <a:rPr lang="fr-FR"/>
                        <a:t>prop_num_voiture</a:t>
                      </a:r>
                    </a:p>
                  </a:txBody>
                  <a:tcPr anchor="ctr"/>
                </a:tc>
                <a:extLst>
                  <a:ext uri="{0D108BD9-81ED-4DB2-BD59-A6C34878D82A}">
                    <a16:rowId xmlns:a16="http://schemas.microsoft.com/office/drawing/2014/main" val="829806056"/>
                  </a:ext>
                </a:extLst>
              </a:tr>
              <a:tr h="0">
                <a:tc>
                  <a:txBody>
                    <a:bodyPr/>
                    <a:lstStyle/>
                    <a:p>
                      <a:r>
                        <a:rPr lang="fr-FR"/>
                        <a:t>1</a:t>
                      </a:r>
                    </a:p>
                  </a:txBody>
                  <a:tcPr anchor="ctr">
                    <a:solidFill>
                      <a:schemeClr val="accent4">
                        <a:lumMod val="40000"/>
                        <a:lumOff val="60000"/>
                      </a:schemeClr>
                    </a:solidFill>
                  </a:tcPr>
                </a:tc>
                <a:tc>
                  <a:txBody>
                    <a:bodyPr/>
                    <a:lstStyle/>
                    <a:p>
                      <a:r>
                        <a:rPr lang="fr-FR"/>
                        <a:t>2983-AA</a:t>
                      </a:r>
                    </a:p>
                  </a:txBody>
                  <a:tcPr anchor="ctr"/>
                </a:tc>
                <a:tc>
                  <a:txBody>
                    <a:bodyPr/>
                    <a:lstStyle/>
                    <a:p>
                      <a:r>
                        <a:rPr lang="fr-FR"/>
                        <a:t>France</a:t>
                      </a:r>
                    </a:p>
                  </a:txBody>
                  <a:tcPr anchor="ctr"/>
                </a:tc>
                <a:tc>
                  <a:txBody>
                    <a:bodyPr/>
                    <a:lstStyle/>
                    <a:p>
                      <a:r>
                        <a:rPr lang="fr-FR"/>
                        <a:t>bleue</a:t>
                      </a:r>
                    </a:p>
                  </a:txBody>
                  <a:tcPr anchor="ctr"/>
                </a:tc>
                <a:tc>
                  <a:txBody>
                    <a:bodyPr/>
                    <a:lstStyle/>
                    <a:p>
                      <a:r>
                        <a:rPr lang="fr-FR"/>
                        <a:t>5</a:t>
                      </a:r>
                    </a:p>
                  </a:txBody>
                  <a:tcPr anchor="ctr"/>
                </a:tc>
                <a:tc>
                  <a:txBody>
                    <a:bodyPr/>
                    <a:lstStyle/>
                    <a:p>
                      <a:r>
                        <a:rPr lang="fr-FR"/>
                        <a:t>Luc</a:t>
                      </a:r>
                    </a:p>
                  </a:txBody>
                  <a:tcPr anchor="ctr"/>
                </a:tc>
                <a:tc>
                  <a:txBody>
                    <a:bodyPr/>
                    <a:lstStyle/>
                    <a:p>
                      <a:r>
                        <a:rPr lang="fr-FR"/>
                        <a:t>1134212</a:t>
                      </a:r>
                    </a:p>
                  </a:txBody>
                  <a:tcPr anchor="ctr"/>
                </a:tc>
                <a:tc>
                  <a:txBody>
                    <a:bodyPr/>
                    <a:lstStyle/>
                    <a:p>
                      <a:r>
                        <a:rPr lang="fr-FR"/>
                        <a:t>1</a:t>
                      </a:r>
                    </a:p>
                  </a:txBody>
                  <a:tcPr anchor="ctr"/>
                </a:tc>
                <a:extLst>
                  <a:ext uri="{0D108BD9-81ED-4DB2-BD59-A6C34878D82A}">
                    <a16:rowId xmlns:a16="http://schemas.microsoft.com/office/drawing/2014/main" val="3677727095"/>
                  </a:ext>
                </a:extLst>
              </a:tr>
              <a:tr h="0">
                <a:tc>
                  <a:txBody>
                    <a:bodyPr/>
                    <a:lstStyle/>
                    <a:p>
                      <a:r>
                        <a:rPr lang="fr-FR"/>
                        <a:t>2</a:t>
                      </a:r>
                    </a:p>
                  </a:txBody>
                  <a:tcPr anchor="ctr">
                    <a:solidFill>
                      <a:schemeClr val="accent4">
                        <a:lumMod val="40000"/>
                        <a:lumOff val="60000"/>
                      </a:schemeClr>
                    </a:solidFill>
                  </a:tcPr>
                </a:tc>
                <a:tc>
                  <a:txBody>
                    <a:bodyPr/>
                    <a:lstStyle/>
                    <a:p>
                      <a:r>
                        <a:rPr lang="fr-FR"/>
                        <a:t>1923-BD</a:t>
                      </a:r>
                    </a:p>
                  </a:txBody>
                  <a:tcPr anchor="ctr"/>
                </a:tc>
                <a:tc>
                  <a:txBody>
                    <a:bodyPr/>
                    <a:lstStyle/>
                    <a:p>
                      <a:r>
                        <a:rPr lang="fr-FR"/>
                        <a:t>France</a:t>
                      </a:r>
                    </a:p>
                  </a:txBody>
                  <a:tcPr anchor="ctr"/>
                </a:tc>
                <a:tc>
                  <a:txBody>
                    <a:bodyPr/>
                    <a:lstStyle/>
                    <a:p>
                      <a:r>
                        <a:rPr lang="fr-FR"/>
                        <a:t>verte</a:t>
                      </a:r>
                    </a:p>
                  </a:txBody>
                  <a:tcPr anchor="ctr"/>
                </a:tc>
                <a:tc>
                  <a:txBody>
                    <a:bodyPr/>
                    <a:lstStyle/>
                    <a:p>
                      <a:r>
                        <a:rPr lang="fr-FR"/>
                        <a:t>7</a:t>
                      </a:r>
                    </a:p>
                  </a:txBody>
                  <a:tcPr anchor="ctr"/>
                </a:tc>
                <a:tc>
                  <a:txBody>
                    <a:bodyPr/>
                    <a:lstStyle/>
                    <a:p>
                      <a:r>
                        <a:rPr lang="fr-FR"/>
                        <a:t>Lucia</a:t>
                      </a:r>
                    </a:p>
                  </a:txBody>
                  <a:tcPr anchor="ctr"/>
                </a:tc>
                <a:tc>
                  <a:txBody>
                    <a:bodyPr/>
                    <a:lstStyle/>
                    <a:p>
                      <a:r>
                        <a:rPr lang="fr-FR"/>
                        <a:t>2021726</a:t>
                      </a:r>
                    </a:p>
                  </a:txBody>
                  <a:tcPr anchor="ctr"/>
                </a:tc>
                <a:tc>
                  <a:txBody>
                    <a:bodyPr/>
                    <a:lstStyle/>
                    <a:p>
                      <a:r>
                        <a:rPr lang="fr-FR"/>
                        <a:t>1</a:t>
                      </a:r>
                    </a:p>
                  </a:txBody>
                  <a:tcPr anchor="ctr"/>
                </a:tc>
                <a:extLst>
                  <a:ext uri="{0D108BD9-81ED-4DB2-BD59-A6C34878D82A}">
                    <a16:rowId xmlns:a16="http://schemas.microsoft.com/office/drawing/2014/main" val="3376609390"/>
                  </a:ext>
                </a:extLst>
              </a:tr>
              <a:tr h="0">
                <a:tc>
                  <a:txBody>
                    <a:bodyPr/>
                    <a:lstStyle/>
                    <a:p>
                      <a:r>
                        <a:rPr lang="fr-FR"/>
                        <a:t>3</a:t>
                      </a:r>
                    </a:p>
                  </a:txBody>
                  <a:tcPr anchor="ctr">
                    <a:solidFill>
                      <a:schemeClr val="accent4">
                        <a:lumMod val="40000"/>
                        <a:lumOff val="60000"/>
                      </a:schemeClr>
                    </a:solidFill>
                  </a:tcPr>
                </a:tc>
                <a:tc>
                  <a:txBody>
                    <a:bodyPr/>
                    <a:lstStyle/>
                    <a:p>
                      <a:r>
                        <a:rPr lang="fr-FR"/>
                        <a:t>PLT-28-190</a:t>
                      </a:r>
                    </a:p>
                  </a:txBody>
                  <a:tcPr anchor="ctr"/>
                </a:tc>
                <a:tc>
                  <a:txBody>
                    <a:bodyPr/>
                    <a:lstStyle/>
                    <a:p>
                      <a:r>
                        <a:rPr lang="fr-FR"/>
                        <a:t>Portugal</a:t>
                      </a:r>
                    </a:p>
                  </a:txBody>
                  <a:tcPr anchor="ctr"/>
                </a:tc>
                <a:tc>
                  <a:txBody>
                    <a:bodyPr/>
                    <a:lstStyle/>
                    <a:p>
                      <a:r>
                        <a:rPr lang="fr-FR"/>
                        <a:t>bleue</a:t>
                      </a:r>
                    </a:p>
                  </a:txBody>
                  <a:tcPr anchor="ctr"/>
                </a:tc>
                <a:tc>
                  <a:txBody>
                    <a:bodyPr/>
                    <a:lstStyle/>
                    <a:p>
                      <a:r>
                        <a:rPr lang="fr-FR"/>
                        <a:t>7</a:t>
                      </a:r>
                    </a:p>
                  </a:txBody>
                  <a:tcPr anchor="ctr"/>
                </a:tc>
                <a:tc>
                  <a:txBody>
                    <a:bodyPr/>
                    <a:lstStyle/>
                    <a:p>
                      <a:r>
                        <a:rPr lang="fr-FR"/>
                        <a:t>Gaël</a:t>
                      </a:r>
                    </a:p>
                  </a:txBody>
                  <a:tcPr anchor="ctr"/>
                </a:tc>
                <a:tc>
                  <a:txBody>
                    <a:bodyPr/>
                    <a:lstStyle/>
                    <a:p>
                      <a:r>
                        <a:rPr lang="fr-FR"/>
                        <a:t>1012612</a:t>
                      </a:r>
                    </a:p>
                  </a:txBody>
                  <a:tcPr anchor="ctr"/>
                </a:tc>
                <a:tc>
                  <a:txBody>
                    <a:bodyPr/>
                    <a:lstStyle/>
                    <a:p>
                      <a:r>
                        <a:rPr lang="fr-FR"/>
                        <a:t>1</a:t>
                      </a:r>
                    </a:p>
                  </a:txBody>
                  <a:tcPr anchor="ctr"/>
                </a:tc>
                <a:extLst>
                  <a:ext uri="{0D108BD9-81ED-4DB2-BD59-A6C34878D82A}">
                    <a16:rowId xmlns:a16="http://schemas.microsoft.com/office/drawing/2014/main" val="1854989837"/>
                  </a:ext>
                </a:extLst>
              </a:tr>
              <a:tr h="0">
                <a:tc>
                  <a:txBody>
                    <a:bodyPr/>
                    <a:lstStyle/>
                    <a:p>
                      <a:r>
                        <a:rPr lang="fr-FR"/>
                        <a:t>4</a:t>
                      </a:r>
                    </a:p>
                  </a:txBody>
                  <a:tcPr anchor="ctr">
                    <a:solidFill>
                      <a:schemeClr val="accent4">
                        <a:lumMod val="40000"/>
                        <a:lumOff val="60000"/>
                      </a:schemeClr>
                    </a:solidFill>
                  </a:tcPr>
                </a:tc>
                <a:tc>
                  <a:txBody>
                    <a:bodyPr/>
                    <a:lstStyle/>
                    <a:p>
                      <a:r>
                        <a:rPr lang="fr-FR"/>
                        <a:t>2383-ZN</a:t>
                      </a:r>
                    </a:p>
                  </a:txBody>
                  <a:tcPr anchor="ctr"/>
                </a:tc>
                <a:tc>
                  <a:txBody>
                    <a:bodyPr/>
                    <a:lstStyle/>
                    <a:p>
                      <a:r>
                        <a:rPr lang="fr-FR"/>
                        <a:t>France</a:t>
                      </a:r>
                    </a:p>
                  </a:txBody>
                  <a:tcPr anchor="ctr"/>
                </a:tc>
                <a:tc>
                  <a:txBody>
                    <a:bodyPr/>
                    <a:lstStyle/>
                    <a:p>
                      <a:r>
                        <a:rPr lang="fr-FR"/>
                        <a:t>noire</a:t>
                      </a:r>
                    </a:p>
                  </a:txBody>
                  <a:tcPr anchor="ctr"/>
                </a:tc>
                <a:tc>
                  <a:txBody>
                    <a:bodyPr/>
                    <a:lstStyle/>
                    <a:p>
                      <a:r>
                        <a:rPr lang="fr-FR"/>
                        <a:t>9</a:t>
                      </a:r>
                    </a:p>
                  </a:txBody>
                  <a:tcPr anchor="ctr"/>
                </a:tc>
                <a:tc>
                  <a:txBody>
                    <a:bodyPr/>
                    <a:lstStyle/>
                    <a:p>
                      <a:r>
                        <a:rPr lang="fr-FR"/>
                        <a:t>Leïla</a:t>
                      </a:r>
                    </a:p>
                  </a:txBody>
                  <a:tcPr anchor="ctr"/>
                </a:tc>
                <a:tc>
                  <a:txBody>
                    <a:bodyPr/>
                    <a:lstStyle/>
                    <a:p>
                      <a:r>
                        <a:rPr lang="fr-FR"/>
                        <a:t>2125312</a:t>
                      </a:r>
                    </a:p>
                  </a:txBody>
                  <a:tcPr anchor="ctr"/>
                </a:tc>
                <a:tc>
                  <a:txBody>
                    <a:bodyPr/>
                    <a:lstStyle/>
                    <a:p>
                      <a:r>
                        <a:rPr lang="fr-FR"/>
                        <a:t>2</a:t>
                      </a:r>
                    </a:p>
                  </a:txBody>
                  <a:tcPr anchor="ctr"/>
                </a:tc>
                <a:extLst>
                  <a:ext uri="{0D108BD9-81ED-4DB2-BD59-A6C34878D82A}">
                    <a16:rowId xmlns:a16="http://schemas.microsoft.com/office/drawing/2014/main" val="1301404165"/>
                  </a:ext>
                </a:extLst>
              </a:tr>
              <a:tr h="0">
                <a:tc>
                  <a:txBody>
                    <a:bodyPr/>
                    <a:lstStyle/>
                    <a:p>
                      <a:r>
                        <a:rPr lang="fr-FR"/>
                        <a:t>5</a:t>
                      </a:r>
                    </a:p>
                  </a:txBody>
                  <a:tcPr anchor="ctr">
                    <a:solidFill>
                      <a:schemeClr val="accent4">
                        <a:lumMod val="40000"/>
                        <a:lumOff val="60000"/>
                      </a:schemeClr>
                    </a:solidFill>
                  </a:tcPr>
                </a:tc>
                <a:tc>
                  <a:txBody>
                    <a:bodyPr/>
                    <a:lstStyle/>
                    <a:p>
                      <a:r>
                        <a:rPr lang="fr-FR"/>
                        <a:t>1209-NQ</a:t>
                      </a:r>
                    </a:p>
                  </a:txBody>
                  <a:tcPr anchor="ctr"/>
                </a:tc>
                <a:tc>
                  <a:txBody>
                    <a:bodyPr/>
                    <a:lstStyle/>
                    <a:p>
                      <a:r>
                        <a:rPr lang="fr-FR"/>
                        <a:t>France</a:t>
                      </a:r>
                    </a:p>
                  </a:txBody>
                  <a:tcPr anchor="ctr"/>
                </a:tc>
                <a:tc>
                  <a:txBody>
                    <a:bodyPr/>
                    <a:lstStyle/>
                    <a:p>
                      <a:r>
                        <a:rPr lang="fr-FR"/>
                        <a:t>noire</a:t>
                      </a:r>
                    </a:p>
                  </a:txBody>
                  <a:tcPr anchor="ctr"/>
                </a:tc>
                <a:tc>
                  <a:txBody>
                    <a:bodyPr/>
                    <a:lstStyle/>
                    <a:p>
                      <a:r>
                        <a:rPr lang="fr-FR"/>
                        <a:t>5</a:t>
                      </a:r>
                    </a:p>
                  </a:txBody>
                  <a:tcPr anchor="ctr"/>
                </a:tc>
                <a:tc>
                  <a:txBody>
                    <a:bodyPr/>
                    <a:lstStyle/>
                    <a:p>
                      <a:r>
                        <a:rPr lang="fr-FR"/>
                        <a:t>Leïla</a:t>
                      </a:r>
                    </a:p>
                  </a:txBody>
                  <a:tcPr anchor="ctr"/>
                </a:tc>
                <a:tc>
                  <a:txBody>
                    <a:bodyPr/>
                    <a:lstStyle/>
                    <a:p>
                      <a:r>
                        <a:rPr lang="fr-FR"/>
                        <a:t>2125312</a:t>
                      </a:r>
                    </a:p>
                  </a:txBody>
                  <a:tcPr anchor="ctr"/>
                </a:tc>
                <a:tc>
                  <a:txBody>
                    <a:bodyPr/>
                    <a:lstStyle/>
                    <a:p>
                      <a:r>
                        <a:rPr lang="fr-FR"/>
                        <a:t>1</a:t>
                      </a:r>
                    </a:p>
                  </a:txBody>
                  <a:tcPr anchor="ctr"/>
                </a:tc>
                <a:extLst>
                  <a:ext uri="{0D108BD9-81ED-4DB2-BD59-A6C34878D82A}">
                    <a16:rowId xmlns:a16="http://schemas.microsoft.com/office/drawing/2014/main" val="1052036645"/>
                  </a:ext>
                </a:extLst>
              </a:tr>
              <a:tr h="0">
                <a:tc>
                  <a:txBody>
                    <a:bodyPr/>
                    <a:lstStyle/>
                    <a:p>
                      <a:r>
                        <a:rPr lang="fr-FR"/>
                        <a:t>6</a:t>
                      </a:r>
                    </a:p>
                  </a:txBody>
                  <a:tcPr anchor="ctr">
                    <a:solidFill>
                      <a:schemeClr val="accent4">
                        <a:lumMod val="40000"/>
                        <a:lumOff val="60000"/>
                      </a:schemeClr>
                    </a:solidFill>
                  </a:tcPr>
                </a:tc>
                <a:tc>
                  <a:txBody>
                    <a:bodyPr/>
                    <a:lstStyle/>
                    <a:p>
                      <a:r>
                        <a:rPr lang="fr-FR"/>
                        <a:t>2634-OS</a:t>
                      </a:r>
                    </a:p>
                  </a:txBody>
                  <a:tcPr anchor="ctr"/>
                </a:tc>
                <a:tc>
                  <a:txBody>
                    <a:bodyPr/>
                    <a:lstStyle/>
                    <a:p>
                      <a:r>
                        <a:rPr lang="fr-FR"/>
                        <a:t>France</a:t>
                      </a:r>
                    </a:p>
                  </a:txBody>
                  <a:tcPr anchor="ctr"/>
                </a:tc>
                <a:tc>
                  <a:txBody>
                    <a:bodyPr/>
                    <a:lstStyle/>
                    <a:p>
                      <a:r>
                        <a:rPr lang="fr-FR"/>
                        <a:t>bleue</a:t>
                      </a:r>
                    </a:p>
                  </a:txBody>
                  <a:tcPr anchor="ctr"/>
                </a:tc>
                <a:tc>
                  <a:txBody>
                    <a:bodyPr/>
                    <a:lstStyle/>
                    <a:p>
                      <a:r>
                        <a:rPr lang="fr-FR"/>
                        <a:t>5</a:t>
                      </a:r>
                    </a:p>
                  </a:txBody>
                  <a:tcPr anchor="ctr"/>
                </a:tc>
                <a:tc>
                  <a:txBody>
                    <a:bodyPr/>
                    <a:lstStyle/>
                    <a:p>
                      <a:r>
                        <a:rPr lang="fr-FR"/>
                        <a:t>Gaël</a:t>
                      </a:r>
                    </a:p>
                  </a:txBody>
                  <a:tcPr anchor="ctr"/>
                </a:tc>
                <a:tc>
                  <a:txBody>
                    <a:bodyPr/>
                    <a:lstStyle/>
                    <a:p>
                      <a:r>
                        <a:rPr lang="fr-FR"/>
                        <a:t>1162732</a:t>
                      </a:r>
                    </a:p>
                  </a:txBody>
                  <a:tcPr anchor="ctr"/>
                </a:tc>
                <a:tc>
                  <a:txBody>
                    <a:bodyPr/>
                    <a:lstStyle/>
                    <a:p>
                      <a:r>
                        <a:rPr lang="fr-FR"/>
                        <a:t>1</a:t>
                      </a:r>
                    </a:p>
                  </a:txBody>
                  <a:tcPr anchor="ctr"/>
                </a:tc>
                <a:extLst>
                  <a:ext uri="{0D108BD9-81ED-4DB2-BD59-A6C34878D82A}">
                    <a16:rowId xmlns:a16="http://schemas.microsoft.com/office/drawing/2014/main" val="1972621828"/>
                  </a:ext>
                </a:extLst>
              </a:tr>
            </a:tbl>
          </a:graphicData>
        </a:graphic>
      </p:graphicFrame>
    </p:spTree>
    <p:extLst>
      <p:ext uri="{BB962C8B-B14F-4D97-AF65-F5344CB8AC3E}">
        <p14:creationId xmlns:p14="http://schemas.microsoft.com/office/powerpoint/2010/main" val="41524063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D6A1A-153A-4DE4-AC1D-E874F5425BEC}"/>
              </a:ext>
            </a:extLst>
          </p:cNvPr>
          <p:cNvSpPr>
            <a:spLocks noGrp="1"/>
          </p:cNvSpPr>
          <p:nvPr>
            <p:ph type="title"/>
          </p:nvPr>
        </p:nvSpPr>
        <p:spPr/>
        <p:txBody>
          <a:bodyPr/>
          <a:lstStyle/>
          <a:p>
            <a:r>
              <a:rPr lang="fr-FR"/>
              <a:t>Base de données relationnelles</a:t>
            </a:r>
          </a:p>
        </p:txBody>
      </p:sp>
      <p:sp>
        <p:nvSpPr>
          <p:cNvPr id="3" name="Content Placeholder 2">
            <a:extLst>
              <a:ext uri="{FF2B5EF4-FFF2-40B4-BE49-F238E27FC236}">
                <a16:creationId xmlns:a16="http://schemas.microsoft.com/office/drawing/2014/main" id="{81EBDC30-3112-47C7-B7CD-FD21EAC2F90B}"/>
              </a:ext>
            </a:extLst>
          </p:cNvPr>
          <p:cNvSpPr>
            <a:spLocks noGrp="1"/>
          </p:cNvSpPr>
          <p:nvPr>
            <p:ph idx="1"/>
          </p:nvPr>
        </p:nvSpPr>
        <p:spPr/>
        <p:txBody>
          <a:bodyPr anchor="t"/>
          <a:lstStyle/>
          <a:p>
            <a:r>
              <a:rPr lang="fr-FR"/>
              <a:t>Par convention la clé primaire est soulignée dans la table</a:t>
            </a:r>
          </a:p>
        </p:txBody>
      </p:sp>
      <p:sp>
        <p:nvSpPr>
          <p:cNvPr id="7" name="Espace réservé du numéro de diapositive 6">
            <a:extLst>
              <a:ext uri="{FF2B5EF4-FFF2-40B4-BE49-F238E27FC236}">
                <a16:creationId xmlns:a16="http://schemas.microsoft.com/office/drawing/2014/main" id="{C940B06E-8008-482F-83CF-F5F235A453FD}"/>
              </a:ext>
            </a:extLst>
          </p:cNvPr>
          <p:cNvSpPr>
            <a:spLocks noGrp="1"/>
          </p:cNvSpPr>
          <p:nvPr>
            <p:ph type="sldNum" sz="quarter" idx="12"/>
          </p:nvPr>
        </p:nvSpPr>
        <p:spPr/>
        <p:txBody>
          <a:bodyPr/>
          <a:lstStyle/>
          <a:p>
            <a:fld id="{27C6CCC6-2BE5-4E42-96A4-D1E8E81A3D8E}" type="slidenum">
              <a:rPr lang="de-DE" smtClean="0"/>
              <a:t>38</a:t>
            </a:fld>
            <a:endParaRPr lang="de-DE"/>
          </a:p>
        </p:txBody>
      </p:sp>
      <p:graphicFrame>
        <p:nvGraphicFramePr>
          <p:cNvPr id="4" name="Tableau 3">
            <a:extLst>
              <a:ext uri="{FF2B5EF4-FFF2-40B4-BE49-F238E27FC236}">
                <a16:creationId xmlns:a16="http://schemas.microsoft.com/office/drawing/2014/main" id="{B7EBC201-860D-4EA8-A19A-64E670E38935}"/>
              </a:ext>
            </a:extLst>
          </p:cNvPr>
          <p:cNvGraphicFramePr>
            <a:graphicFrameLocks noGrp="1"/>
          </p:cNvGraphicFramePr>
          <p:nvPr>
            <p:extLst>
              <p:ext uri="{D42A27DB-BD31-4B8C-83A1-F6EECF244321}">
                <p14:modId xmlns:p14="http://schemas.microsoft.com/office/powerpoint/2010/main" val="2513055929"/>
              </p:ext>
            </p:extLst>
          </p:nvPr>
        </p:nvGraphicFramePr>
        <p:xfrm>
          <a:off x="810000" y="2898902"/>
          <a:ext cx="10563224" cy="2834640"/>
        </p:xfrm>
        <a:graphic>
          <a:graphicData uri="http://schemas.openxmlformats.org/drawingml/2006/table">
            <a:tbl>
              <a:tblPr firstRow="1" bandRow="1">
                <a:tableStyleId>{5C22544A-7EE6-4342-B048-85BDC9FD1C3A}</a:tableStyleId>
              </a:tblPr>
              <a:tblGrid>
                <a:gridCol w="1509032">
                  <a:extLst>
                    <a:ext uri="{9D8B030D-6E8A-4147-A177-3AD203B41FA5}">
                      <a16:colId xmlns:a16="http://schemas.microsoft.com/office/drawing/2014/main" val="3009234481"/>
                    </a:ext>
                  </a:extLst>
                </a:gridCol>
                <a:gridCol w="1509032">
                  <a:extLst>
                    <a:ext uri="{9D8B030D-6E8A-4147-A177-3AD203B41FA5}">
                      <a16:colId xmlns:a16="http://schemas.microsoft.com/office/drawing/2014/main" val="4016708832"/>
                    </a:ext>
                  </a:extLst>
                </a:gridCol>
                <a:gridCol w="1509032">
                  <a:extLst>
                    <a:ext uri="{9D8B030D-6E8A-4147-A177-3AD203B41FA5}">
                      <a16:colId xmlns:a16="http://schemas.microsoft.com/office/drawing/2014/main" val="3019142207"/>
                    </a:ext>
                  </a:extLst>
                </a:gridCol>
                <a:gridCol w="1509032">
                  <a:extLst>
                    <a:ext uri="{9D8B030D-6E8A-4147-A177-3AD203B41FA5}">
                      <a16:colId xmlns:a16="http://schemas.microsoft.com/office/drawing/2014/main" val="2567860730"/>
                    </a:ext>
                  </a:extLst>
                </a:gridCol>
                <a:gridCol w="1509032">
                  <a:extLst>
                    <a:ext uri="{9D8B030D-6E8A-4147-A177-3AD203B41FA5}">
                      <a16:colId xmlns:a16="http://schemas.microsoft.com/office/drawing/2014/main" val="2321387769"/>
                    </a:ext>
                  </a:extLst>
                </a:gridCol>
                <a:gridCol w="1509032">
                  <a:extLst>
                    <a:ext uri="{9D8B030D-6E8A-4147-A177-3AD203B41FA5}">
                      <a16:colId xmlns:a16="http://schemas.microsoft.com/office/drawing/2014/main" val="506061128"/>
                    </a:ext>
                  </a:extLst>
                </a:gridCol>
                <a:gridCol w="1509032">
                  <a:extLst>
                    <a:ext uri="{9D8B030D-6E8A-4147-A177-3AD203B41FA5}">
                      <a16:colId xmlns:a16="http://schemas.microsoft.com/office/drawing/2014/main" val="3428974834"/>
                    </a:ext>
                  </a:extLst>
                </a:gridCol>
              </a:tblGrid>
              <a:tr h="549542">
                <a:tc>
                  <a:txBody>
                    <a:bodyPr/>
                    <a:lstStyle/>
                    <a:p>
                      <a:r>
                        <a:rPr lang="fr-FR" u="sng"/>
                        <a:t>immatriculation</a:t>
                      </a:r>
                    </a:p>
                  </a:txBody>
                  <a:tcPr anchor="ctr">
                    <a:solidFill>
                      <a:srgbClr val="00C6BB"/>
                    </a:solidFill>
                  </a:tcPr>
                </a:tc>
                <a:tc>
                  <a:txBody>
                    <a:bodyPr/>
                    <a:lstStyle/>
                    <a:p>
                      <a:r>
                        <a:rPr lang="fr-FR" u="none" dirty="0" err="1"/>
                        <a:t>pays_immatriculation</a:t>
                      </a:r>
                      <a:endParaRPr lang="fr-FR" u="none" dirty="0"/>
                    </a:p>
                  </a:txBody>
                  <a:tcPr anchor="ctr"/>
                </a:tc>
                <a:tc>
                  <a:txBody>
                    <a:bodyPr/>
                    <a:lstStyle/>
                    <a:p>
                      <a:r>
                        <a:rPr lang="fr-FR"/>
                        <a:t>couleur</a:t>
                      </a:r>
                    </a:p>
                  </a:txBody>
                  <a:tcPr anchor="ctr"/>
                </a:tc>
                <a:tc>
                  <a:txBody>
                    <a:bodyPr/>
                    <a:lstStyle/>
                    <a:p>
                      <a:r>
                        <a:rPr lang="fr-FR"/>
                        <a:t>nombre_places</a:t>
                      </a:r>
                      <a:endParaRPr lang="fr-FR" err="1"/>
                    </a:p>
                  </a:txBody>
                  <a:tcPr anchor="ctr"/>
                </a:tc>
                <a:tc>
                  <a:txBody>
                    <a:bodyPr/>
                    <a:lstStyle/>
                    <a:p>
                      <a:r>
                        <a:rPr lang="fr-FR"/>
                        <a:t>propriétaire</a:t>
                      </a:r>
                    </a:p>
                  </a:txBody>
                  <a:tcPr anchor="ctr"/>
                </a:tc>
                <a:tc>
                  <a:txBody>
                    <a:bodyPr/>
                    <a:lstStyle/>
                    <a:p>
                      <a:r>
                        <a:rPr lang="fr-FR" u="sng" dirty="0" err="1"/>
                        <a:t>prop_num_secu</a:t>
                      </a:r>
                      <a:endParaRPr lang="fr-FR" u="sng" dirty="0"/>
                    </a:p>
                  </a:txBody>
                  <a:tcPr anchor="ctr">
                    <a:solidFill>
                      <a:srgbClr val="00C6BB"/>
                    </a:solidFill>
                  </a:tcPr>
                </a:tc>
                <a:tc>
                  <a:txBody>
                    <a:bodyPr/>
                    <a:lstStyle/>
                    <a:p>
                      <a:r>
                        <a:rPr lang="fr-FR"/>
                        <a:t>prop_num_voiture</a:t>
                      </a:r>
                      <a:endParaRPr lang="fr-FR" err="1"/>
                    </a:p>
                  </a:txBody>
                  <a:tcPr anchor="ctr"/>
                </a:tc>
                <a:extLst>
                  <a:ext uri="{0D108BD9-81ED-4DB2-BD59-A6C34878D82A}">
                    <a16:rowId xmlns:a16="http://schemas.microsoft.com/office/drawing/2014/main" val="829806056"/>
                  </a:ext>
                </a:extLst>
              </a:tr>
              <a:tr h="0">
                <a:tc>
                  <a:txBody>
                    <a:bodyPr/>
                    <a:lstStyle/>
                    <a:p>
                      <a:r>
                        <a:rPr lang="fr-FR"/>
                        <a:t>2983-AA</a:t>
                      </a:r>
                    </a:p>
                  </a:txBody>
                  <a:tcPr anchor="ctr">
                    <a:solidFill>
                      <a:srgbClr val="CBEAE7"/>
                    </a:solidFill>
                  </a:tcPr>
                </a:tc>
                <a:tc>
                  <a:txBody>
                    <a:bodyPr/>
                    <a:lstStyle/>
                    <a:p>
                      <a:r>
                        <a:rPr lang="fr-FR"/>
                        <a:t>France</a:t>
                      </a:r>
                    </a:p>
                  </a:txBody>
                  <a:tcPr anchor="ctr"/>
                </a:tc>
                <a:tc>
                  <a:txBody>
                    <a:bodyPr/>
                    <a:lstStyle/>
                    <a:p>
                      <a:r>
                        <a:rPr lang="fr-FR"/>
                        <a:t>bleue</a:t>
                      </a:r>
                    </a:p>
                  </a:txBody>
                  <a:tcPr anchor="ctr"/>
                </a:tc>
                <a:tc>
                  <a:txBody>
                    <a:bodyPr/>
                    <a:lstStyle/>
                    <a:p>
                      <a:r>
                        <a:rPr lang="fr-FR"/>
                        <a:t>5</a:t>
                      </a:r>
                    </a:p>
                  </a:txBody>
                  <a:tcPr anchor="ctr"/>
                </a:tc>
                <a:tc>
                  <a:txBody>
                    <a:bodyPr/>
                    <a:lstStyle/>
                    <a:p>
                      <a:r>
                        <a:rPr lang="fr-FR"/>
                        <a:t>Luc</a:t>
                      </a:r>
                    </a:p>
                  </a:txBody>
                  <a:tcPr anchor="ctr"/>
                </a:tc>
                <a:tc>
                  <a:txBody>
                    <a:bodyPr/>
                    <a:lstStyle/>
                    <a:p>
                      <a:r>
                        <a:rPr lang="fr-FR"/>
                        <a:t>1134212</a:t>
                      </a:r>
                    </a:p>
                  </a:txBody>
                  <a:tcPr anchor="ctr">
                    <a:solidFill>
                      <a:srgbClr val="CBEAE7"/>
                    </a:solidFill>
                  </a:tcPr>
                </a:tc>
                <a:tc>
                  <a:txBody>
                    <a:bodyPr/>
                    <a:lstStyle/>
                    <a:p>
                      <a:r>
                        <a:rPr lang="fr-FR"/>
                        <a:t>1</a:t>
                      </a:r>
                    </a:p>
                  </a:txBody>
                  <a:tcPr anchor="ctr"/>
                </a:tc>
                <a:extLst>
                  <a:ext uri="{0D108BD9-81ED-4DB2-BD59-A6C34878D82A}">
                    <a16:rowId xmlns:a16="http://schemas.microsoft.com/office/drawing/2014/main" val="3677727095"/>
                  </a:ext>
                </a:extLst>
              </a:tr>
              <a:tr h="0">
                <a:tc>
                  <a:txBody>
                    <a:bodyPr/>
                    <a:lstStyle/>
                    <a:p>
                      <a:r>
                        <a:rPr lang="fr-FR"/>
                        <a:t>1923-BD</a:t>
                      </a:r>
                    </a:p>
                  </a:txBody>
                  <a:tcPr anchor="ctr">
                    <a:solidFill>
                      <a:srgbClr val="E7F5F3"/>
                    </a:solidFill>
                  </a:tcPr>
                </a:tc>
                <a:tc>
                  <a:txBody>
                    <a:bodyPr/>
                    <a:lstStyle/>
                    <a:p>
                      <a:r>
                        <a:rPr lang="fr-FR"/>
                        <a:t>France</a:t>
                      </a:r>
                    </a:p>
                  </a:txBody>
                  <a:tcPr anchor="ctr"/>
                </a:tc>
                <a:tc>
                  <a:txBody>
                    <a:bodyPr/>
                    <a:lstStyle/>
                    <a:p>
                      <a:r>
                        <a:rPr lang="fr-FR"/>
                        <a:t>verte</a:t>
                      </a:r>
                    </a:p>
                  </a:txBody>
                  <a:tcPr anchor="ctr"/>
                </a:tc>
                <a:tc>
                  <a:txBody>
                    <a:bodyPr/>
                    <a:lstStyle/>
                    <a:p>
                      <a:r>
                        <a:rPr lang="fr-FR"/>
                        <a:t>7</a:t>
                      </a:r>
                    </a:p>
                  </a:txBody>
                  <a:tcPr anchor="ctr"/>
                </a:tc>
                <a:tc>
                  <a:txBody>
                    <a:bodyPr/>
                    <a:lstStyle/>
                    <a:p>
                      <a:r>
                        <a:rPr lang="fr-FR"/>
                        <a:t>Lucia</a:t>
                      </a:r>
                    </a:p>
                  </a:txBody>
                  <a:tcPr anchor="ctr"/>
                </a:tc>
                <a:tc>
                  <a:txBody>
                    <a:bodyPr/>
                    <a:lstStyle/>
                    <a:p>
                      <a:r>
                        <a:rPr lang="fr-FR"/>
                        <a:t>2021726</a:t>
                      </a:r>
                    </a:p>
                  </a:txBody>
                  <a:tcPr anchor="ctr">
                    <a:solidFill>
                      <a:srgbClr val="E7F5F3"/>
                    </a:solidFill>
                  </a:tcPr>
                </a:tc>
                <a:tc>
                  <a:txBody>
                    <a:bodyPr/>
                    <a:lstStyle/>
                    <a:p>
                      <a:r>
                        <a:rPr lang="fr-FR"/>
                        <a:t>1</a:t>
                      </a:r>
                    </a:p>
                  </a:txBody>
                  <a:tcPr anchor="ctr"/>
                </a:tc>
                <a:extLst>
                  <a:ext uri="{0D108BD9-81ED-4DB2-BD59-A6C34878D82A}">
                    <a16:rowId xmlns:a16="http://schemas.microsoft.com/office/drawing/2014/main" val="3376609390"/>
                  </a:ext>
                </a:extLst>
              </a:tr>
              <a:tr h="0">
                <a:tc>
                  <a:txBody>
                    <a:bodyPr/>
                    <a:lstStyle/>
                    <a:p>
                      <a:r>
                        <a:rPr lang="fr-FR"/>
                        <a:t>PLT-28-190</a:t>
                      </a:r>
                    </a:p>
                  </a:txBody>
                  <a:tcPr anchor="ctr">
                    <a:solidFill>
                      <a:srgbClr val="CBEAE7"/>
                    </a:solidFill>
                  </a:tcPr>
                </a:tc>
                <a:tc>
                  <a:txBody>
                    <a:bodyPr/>
                    <a:lstStyle/>
                    <a:p>
                      <a:r>
                        <a:rPr lang="fr-FR"/>
                        <a:t>Portugal</a:t>
                      </a:r>
                    </a:p>
                  </a:txBody>
                  <a:tcPr anchor="ctr"/>
                </a:tc>
                <a:tc>
                  <a:txBody>
                    <a:bodyPr/>
                    <a:lstStyle/>
                    <a:p>
                      <a:r>
                        <a:rPr lang="fr-FR"/>
                        <a:t>bleue</a:t>
                      </a:r>
                    </a:p>
                  </a:txBody>
                  <a:tcPr anchor="ctr"/>
                </a:tc>
                <a:tc>
                  <a:txBody>
                    <a:bodyPr/>
                    <a:lstStyle/>
                    <a:p>
                      <a:r>
                        <a:rPr lang="fr-FR"/>
                        <a:t>7</a:t>
                      </a:r>
                    </a:p>
                  </a:txBody>
                  <a:tcPr anchor="ctr"/>
                </a:tc>
                <a:tc>
                  <a:txBody>
                    <a:bodyPr/>
                    <a:lstStyle/>
                    <a:p>
                      <a:r>
                        <a:rPr lang="fr-FR"/>
                        <a:t>Gaël</a:t>
                      </a:r>
                    </a:p>
                  </a:txBody>
                  <a:tcPr anchor="ctr"/>
                </a:tc>
                <a:tc>
                  <a:txBody>
                    <a:bodyPr/>
                    <a:lstStyle/>
                    <a:p>
                      <a:r>
                        <a:rPr lang="fr-FR"/>
                        <a:t>1012612</a:t>
                      </a:r>
                    </a:p>
                  </a:txBody>
                  <a:tcPr anchor="ctr">
                    <a:solidFill>
                      <a:srgbClr val="CBEAE7"/>
                    </a:solidFill>
                  </a:tcPr>
                </a:tc>
                <a:tc>
                  <a:txBody>
                    <a:bodyPr/>
                    <a:lstStyle/>
                    <a:p>
                      <a:r>
                        <a:rPr lang="fr-FR"/>
                        <a:t>1</a:t>
                      </a:r>
                    </a:p>
                  </a:txBody>
                  <a:tcPr anchor="ctr"/>
                </a:tc>
                <a:extLst>
                  <a:ext uri="{0D108BD9-81ED-4DB2-BD59-A6C34878D82A}">
                    <a16:rowId xmlns:a16="http://schemas.microsoft.com/office/drawing/2014/main" val="1854989837"/>
                  </a:ext>
                </a:extLst>
              </a:tr>
              <a:tr h="0">
                <a:tc>
                  <a:txBody>
                    <a:bodyPr/>
                    <a:lstStyle/>
                    <a:p>
                      <a:r>
                        <a:rPr lang="fr-FR"/>
                        <a:t>2383-ZN</a:t>
                      </a:r>
                    </a:p>
                  </a:txBody>
                  <a:tcPr anchor="ctr">
                    <a:solidFill>
                      <a:srgbClr val="E7F5F3"/>
                    </a:solidFill>
                  </a:tcPr>
                </a:tc>
                <a:tc>
                  <a:txBody>
                    <a:bodyPr/>
                    <a:lstStyle/>
                    <a:p>
                      <a:r>
                        <a:rPr lang="fr-FR"/>
                        <a:t>France</a:t>
                      </a:r>
                    </a:p>
                  </a:txBody>
                  <a:tcPr anchor="ctr"/>
                </a:tc>
                <a:tc>
                  <a:txBody>
                    <a:bodyPr/>
                    <a:lstStyle/>
                    <a:p>
                      <a:r>
                        <a:rPr lang="fr-FR"/>
                        <a:t>noire</a:t>
                      </a:r>
                    </a:p>
                  </a:txBody>
                  <a:tcPr anchor="ctr"/>
                </a:tc>
                <a:tc>
                  <a:txBody>
                    <a:bodyPr/>
                    <a:lstStyle/>
                    <a:p>
                      <a:r>
                        <a:rPr lang="fr-FR"/>
                        <a:t>9</a:t>
                      </a:r>
                    </a:p>
                  </a:txBody>
                  <a:tcPr anchor="ctr"/>
                </a:tc>
                <a:tc>
                  <a:txBody>
                    <a:bodyPr/>
                    <a:lstStyle/>
                    <a:p>
                      <a:r>
                        <a:rPr lang="fr-FR"/>
                        <a:t>Leïla</a:t>
                      </a:r>
                    </a:p>
                  </a:txBody>
                  <a:tcPr anchor="ctr"/>
                </a:tc>
                <a:tc>
                  <a:txBody>
                    <a:bodyPr/>
                    <a:lstStyle/>
                    <a:p>
                      <a:r>
                        <a:rPr lang="fr-FR"/>
                        <a:t>2125312</a:t>
                      </a:r>
                    </a:p>
                  </a:txBody>
                  <a:tcPr anchor="ctr">
                    <a:solidFill>
                      <a:srgbClr val="E7F5F3"/>
                    </a:solidFill>
                  </a:tcPr>
                </a:tc>
                <a:tc>
                  <a:txBody>
                    <a:bodyPr/>
                    <a:lstStyle/>
                    <a:p>
                      <a:r>
                        <a:rPr lang="fr-FR"/>
                        <a:t>2</a:t>
                      </a:r>
                    </a:p>
                  </a:txBody>
                  <a:tcPr anchor="ctr"/>
                </a:tc>
                <a:extLst>
                  <a:ext uri="{0D108BD9-81ED-4DB2-BD59-A6C34878D82A}">
                    <a16:rowId xmlns:a16="http://schemas.microsoft.com/office/drawing/2014/main" val="1301404165"/>
                  </a:ext>
                </a:extLst>
              </a:tr>
              <a:tr h="0">
                <a:tc>
                  <a:txBody>
                    <a:bodyPr/>
                    <a:lstStyle/>
                    <a:p>
                      <a:r>
                        <a:rPr lang="fr-FR"/>
                        <a:t>1209-NQ</a:t>
                      </a:r>
                    </a:p>
                  </a:txBody>
                  <a:tcPr anchor="ctr">
                    <a:solidFill>
                      <a:srgbClr val="CBEAE7"/>
                    </a:solidFill>
                  </a:tcPr>
                </a:tc>
                <a:tc>
                  <a:txBody>
                    <a:bodyPr/>
                    <a:lstStyle/>
                    <a:p>
                      <a:r>
                        <a:rPr lang="fr-FR"/>
                        <a:t>France</a:t>
                      </a:r>
                    </a:p>
                  </a:txBody>
                  <a:tcPr anchor="ctr"/>
                </a:tc>
                <a:tc>
                  <a:txBody>
                    <a:bodyPr/>
                    <a:lstStyle/>
                    <a:p>
                      <a:r>
                        <a:rPr lang="fr-FR"/>
                        <a:t>noire</a:t>
                      </a:r>
                    </a:p>
                  </a:txBody>
                  <a:tcPr anchor="ctr"/>
                </a:tc>
                <a:tc>
                  <a:txBody>
                    <a:bodyPr/>
                    <a:lstStyle/>
                    <a:p>
                      <a:r>
                        <a:rPr lang="fr-FR"/>
                        <a:t>5</a:t>
                      </a:r>
                    </a:p>
                  </a:txBody>
                  <a:tcPr anchor="ctr"/>
                </a:tc>
                <a:tc>
                  <a:txBody>
                    <a:bodyPr/>
                    <a:lstStyle/>
                    <a:p>
                      <a:r>
                        <a:rPr lang="fr-FR"/>
                        <a:t>Leïla</a:t>
                      </a:r>
                    </a:p>
                  </a:txBody>
                  <a:tcPr anchor="ctr"/>
                </a:tc>
                <a:tc>
                  <a:txBody>
                    <a:bodyPr/>
                    <a:lstStyle/>
                    <a:p>
                      <a:r>
                        <a:rPr lang="fr-FR"/>
                        <a:t>2125312</a:t>
                      </a:r>
                    </a:p>
                  </a:txBody>
                  <a:tcPr anchor="ctr">
                    <a:solidFill>
                      <a:srgbClr val="CBEAE7"/>
                    </a:solidFill>
                  </a:tcPr>
                </a:tc>
                <a:tc>
                  <a:txBody>
                    <a:bodyPr/>
                    <a:lstStyle/>
                    <a:p>
                      <a:r>
                        <a:rPr lang="fr-FR"/>
                        <a:t>1</a:t>
                      </a:r>
                    </a:p>
                  </a:txBody>
                  <a:tcPr anchor="ctr"/>
                </a:tc>
                <a:extLst>
                  <a:ext uri="{0D108BD9-81ED-4DB2-BD59-A6C34878D82A}">
                    <a16:rowId xmlns:a16="http://schemas.microsoft.com/office/drawing/2014/main" val="1052036645"/>
                  </a:ext>
                </a:extLst>
              </a:tr>
              <a:tr h="0">
                <a:tc>
                  <a:txBody>
                    <a:bodyPr/>
                    <a:lstStyle/>
                    <a:p>
                      <a:r>
                        <a:rPr lang="fr-FR"/>
                        <a:t>2634-OS</a:t>
                      </a:r>
                    </a:p>
                  </a:txBody>
                  <a:tcPr anchor="ctr">
                    <a:solidFill>
                      <a:srgbClr val="E7F5F3"/>
                    </a:solidFill>
                  </a:tcPr>
                </a:tc>
                <a:tc>
                  <a:txBody>
                    <a:bodyPr/>
                    <a:lstStyle/>
                    <a:p>
                      <a:r>
                        <a:rPr lang="fr-FR"/>
                        <a:t>France</a:t>
                      </a:r>
                    </a:p>
                  </a:txBody>
                  <a:tcPr anchor="ctr"/>
                </a:tc>
                <a:tc>
                  <a:txBody>
                    <a:bodyPr/>
                    <a:lstStyle/>
                    <a:p>
                      <a:r>
                        <a:rPr lang="fr-FR"/>
                        <a:t>bleue</a:t>
                      </a:r>
                    </a:p>
                  </a:txBody>
                  <a:tcPr anchor="ctr"/>
                </a:tc>
                <a:tc>
                  <a:txBody>
                    <a:bodyPr/>
                    <a:lstStyle/>
                    <a:p>
                      <a:r>
                        <a:rPr lang="fr-FR"/>
                        <a:t>5</a:t>
                      </a:r>
                    </a:p>
                  </a:txBody>
                  <a:tcPr anchor="ctr"/>
                </a:tc>
                <a:tc>
                  <a:txBody>
                    <a:bodyPr/>
                    <a:lstStyle/>
                    <a:p>
                      <a:r>
                        <a:rPr lang="fr-FR"/>
                        <a:t>Gaël</a:t>
                      </a:r>
                    </a:p>
                  </a:txBody>
                  <a:tcPr anchor="ctr"/>
                </a:tc>
                <a:tc>
                  <a:txBody>
                    <a:bodyPr/>
                    <a:lstStyle/>
                    <a:p>
                      <a:r>
                        <a:rPr lang="fr-FR"/>
                        <a:t>1162732</a:t>
                      </a:r>
                    </a:p>
                  </a:txBody>
                  <a:tcPr anchor="ctr">
                    <a:solidFill>
                      <a:srgbClr val="E7F5F3"/>
                    </a:solidFill>
                  </a:tcPr>
                </a:tc>
                <a:tc>
                  <a:txBody>
                    <a:bodyPr/>
                    <a:lstStyle/>
                    <a:p>
                      <a:r>
                        <a:rPr lang="fr-FR" dirty="0"/>
                        <a:t>1</a:t>
                      </a:r>
                    </a:p>
                  </a:txBody>
                  <a:tcPr anchor="ctr"/>
                </a:tc>
                <a:extLst>
                  <a:ext uri="{0D108BD9-81ED-4DB2-BD59-A6C34878D82A}">
                    <a16:rowId xmlns:a16="http://schemas.microsoft.com/office/drawing/2014/main" val="1972621828"/>
                  </a:ext>
                </a:extLst>
              </a:tr>
            </a:tbl>
          </a:graphicData>
        </a:graphic>
      </p:graphicFrame>
    </p:spTree>
    <p:extLst>
      <p:ext uri="{BB962C8B-B14F-4D97-AF65-F5344CB8AC3E}">
        <p14:creationId xmlns:p14="http://schemas.microsoft.com/office/powerpoint/2010/main" val="1661206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vert="horz" lIns="91440" tIns="45720" rIns="91440" bIns="45720" rtlCol="0" anchor="t">
            <a:normAutofit/>
          </a:bodyPr>
          <a:lstStyle/>
          <a:p>
            <a:r>
              <a:rPr lang="fr-FR"/>
              <a:t>Les </a:t>
            </a:r>
            <a:r>
              <a:rPr lang="fr-FR" b="1"/>
              <a:t>clés étrangères</a:t>
            </a:r>
            <a:r>
              <a:rPr lang="fr-FR"/>
              <a:t> sont des références aux clés primaires d'autres tables</a:t>
            </a:r>
          </a:p>
          <a:p>
            <a:r>
              <a:rPr lang="fr-FR"/>
              <a:t>Elles représentent une relation entre deux tables</a:t>
            </a:r>
          </a:p>
        </p:txBody>
      </p:sp>
      <p:sp>
        <p:nvSpPr>
          <p:cNvPr id="8" name="Espace réservé du numéro de diapositive 7">
            <a:extLst>
              <a:ext uri="{FF2B5EF4-FFF2-40B4-BE49-F238E27FC236}">
                <a16:creationId xmlns:a16="http://schemas.microsoft.com/office/drawing/2014/main" id="{596EBA1D-58C0-41DE-BE75-BD555E2DF23D}"/>
              </a:ext>
            </a:extLst>
          </p:cNvPr>
          <p:cNvSpPr>
            <a:spLocks noGrp="1"/>
          </p:cNvSpPr>
          <p:nvPr>
            <p:ph type="sldNum" sz="quarter" idx="12"/>
          </p:nvPr>
        </p:nvSpPr>
        <p:spPr/>
        <p:txBody>
          <a:bodyPr/>
          <a:lstStyle/>
          <a:p>
            <a:fld id="{27C6CCC6-2BE5-4E42-96A4-D1E8E81A3D8E}" type="slidenum">
              <a:rPr lang="de-DE" smtClean="0"/>
              <a:t>39</a:t>
            </a:fld>
            <a:endParaRPr lang="de-DE"/>
          </a:p>
        </p:txBody>
      </p:sp>
      <p:graphicFrame>
        <p:nvGraphicFramePr>
          <p:cNvPr id="5" name="Tableau 3">
            <a:extLst>
              <a:ext uri="{FF2B5EF4-FFF2-40B4-BE49-F238E27FC236}">
                <a16:creationId xmlns:a16="http://schemas.microsoft.com/office/drawing/2014/main" id="{5D8C2102-7C32-4A95-A9DE-76FAFE49354A}"/>
              </a:ext>
            </a:extLst>
          </p:cNvPr>
          <p:cNvGraphicFramePr>
            <a:graphicFrameLocks noGrp="1"/>
          </p:cNvGraphicFramePr>
          <p:nvPr>
            <p:extLst>
              <p:ext uri="{D42A27DB-BD31-4B8C-83A1-F6EECF244321}">
                <p14:modId xmlns:p14="http://schemas.microsoft.com/office/powerpoint/2010/main" val="312773113"/>
              </p:ext>
            </p:extLst>
          </p:nvPr>
        </p:nvGraphicFramePr>
        <p:xfrm>
          <a:off x="890050" y="3323239"/>
          <a:ext cx="3690438" cy="1381760"/>
        </p:xfrm>
        <a:graphic>
          <a:graphicData uri="http://schemas.openxmlformats.org/drawingml/2006/table">
            <a:tbl>
              <a:tblPr firstRow="1" bandRow="1">
                <a:tableStyleId>{5C22544A-7EE6-4342-B048-85BDC9FD1C3A}</a:tableStyleId>
              </a:tblPr>
              <a:tblGrid>
                <a:gridCol w="415171">
                  <a:extLst>
                    <a:ext uri="{9D8B030D-6E8A-4147-A177-3AD203B41FA5}">
                      <a16:colId xmlns:a16="http://schemas.microsoft.com/office/drawing/2014/main" val="2696855272"/>
                    </a:ext>
                  </a:extLst>
                </a:gridCol>
                <a:gridCol w="797858">
                  <a:extLst>
                    <a:ext uri="{9D8B030D-6E8A-4147-A177-3AD203B41FA5}">
                      <a16:colId xmlns:a16="http://schemas.microsoft.com/office/drawing/2014/main" val="2339036760"/>
                    </a:ext>
                  </a:extLst>
                </a:gridCol>
                <a:gridCol w="974430">
                  <a:extLst>
                    <a:ext uri="{9D8B030D-6E8A-4147-A177-3AD203B41FA5}">
                      <a16:colId xmlns:a16="http://schemas.microsoft.com/office/drawing/2014/main" val="4245448040"/>
                    </a:ext>
                  </a:extLst>
                </a:gridCol>
                <a:gridCol w="1502979">
                  <a:extLst>
                    <a:ext uri="{9D8B030D-6E8A-4147-A177-3AD203B41FA5}">
                      <a16:colId xmlns:a16="http://schemas.microsoft.com/office/drawing/2014/main" val="1684618143"/>
                    </a:ext>
                  </a:extLst>
                </a:gridCol>
              </a:tblGrid>
              <a:tr h="370840">
                <a:tc>
                  <a:txBody>
                    <a:bodyPr/>
                    <a:lstStyle/>
                    <a:p>
                      <a:r>
                        <a:rPr lang="fr-FR" u="sng"/>
                        <a:t>ID</a:t>
                      </a:r>
                    </a:p>
                  </a:txBody>
                  <a:tcPr/>
                </a:tc>
                <a:tc>
                  <a:txBody>
                    <a:bodyPr/>
                    <a:lstStyle/>
                    <a:p>
                      <a:r>
                        <a:rPr lang="fr-FR"/>
                        <a:t>Nom</a:t>
                      </a:r>
                    </a:p>
                  </a:txBody>
                  <a:tcPr/>
                </a:tc>
                <a:tc>
                  <a:txBody>
                    <a:bodyPr/>
                    <a:lstStyle/>
                    <a:p>
                      <a:r>
                        <a:rPr lang="fr-FR"/>
                        <a:t>Prénom</a:t>
                      </a:r>
                    </a:p>
                  </a:txBody>
                  <a:tcPr/>
                </a:tc>
                <a:tc>
                  <a:txBody>
                    <a:bodyPr/>
                    <a:lstStyle/>
                    <a:p>
                      <a:r>
                        <a:rPr lang="fr-FR"/>
                        <a:t>Date de naissance</a:t>
                      </a:r>
                    </a:p>
                  </a:txBody>
                  <a:tcPr/>
                </a:tc>
                <a:extLst>
                  <a:ext uri="{0D108BD9-81ED-4DB2-BD59-A6C34878D82A}">
                    <a16:rowId xmlns:a16="http://schemas.microsoft.com/office/drawing/2014/main" val="3262443685"/>
                  </a:ext>
                </a:extLst>
              </a:tr>
              <a:tr h="370840">
                <a:tc>
                  <a:txBody>
                    <a:bodyPr/>
                    <a:lstStyle/>
                    <a:p>
                      <a:r>
                        <a:rPr lang="fr-FR"/>
                        <a:t>1</a:t>
                      </a:r>
                    </a:p>
                  </a:txBody>
                  <a:tcPr/>
                </a:tc>
                <a:tc>
                  <a:txBody>
                    <a:bodyPr/>
                    <a:lstStyle/>
                    <a:p>
                      <a:r>
                        <a:rPr lang="fr-FR"/>
                        <a:t>Jean</a:t>
                      </a:r>
                    </a:p>
                  </a:txBody>
                  <a:tcPr/>
                </a:tc>
                <a:tc>
                  <a:txBody>
                    <a:bodyPr/>
                    <a:lstStyle/>
                    <a:p>
                      <a:r>
                        <a:rPr lang="fr-FR"/>
                        <a:t>Marc</a:t>
                      </a:r>
                    </a:p>
                  </a:txBody>
                  <a:tcPr/>
                </a:tc>
                <a:tc>
                  <a:txBody>
                    <a:bodyPr/>
                    <a:lstStyle/>
                    <a:p>
                      <a:r>
                        <a:rPr lang="fr-FR"/>
                        <a:t>01/01/1980</a:t>
                      </a:r>
                    </a:p>
                  </a:txBody>
                  <a:tcPr/>
                </a:tc>
                <a:extLst>
                  <a:ext uri="{0D108BD9-81ED-4DB2-BD59-A6C34878D82A}">
                    <a16:rowId xmlns:a16="http://schemas.microsoft.com/office/drawing/2014/main" val="644644615"/>
                  </a:ext>
                </a:extLst>
              </a:tr>
              <a:tr h="370840">
                <a:tc>
                  <a:txBody>
                    <a:bodyPr/>
                    <a:lstStyle/>
                    <a:p>
                      <a:r>
                        <a:rPr lang="fr-FR"/>
                        <a:t>2</a:t>
                      </a:r>
                    </a:p>
                  </a:txBody>
                  <a:tcPr/>
                </a:tc>
                <a:tc>
                  <a:txBody>
                    <a:bodyPr/>
                    <a:lstStyle/>
                    <a:p>
                      <a:r>
                        <a:rPr lang="fr-FR"/>
                        <a:t>Paul</a:t>
                      </a:r>
                    </a:p>
                  </a:txBody>
                  <a:tcPr/>
                </a:tc>
                <a:tc>
                  <a:txBody>
                    <a:bodyPr/>
                    <a:lstStyle/>
                    <a:p>
                      <a:r>
                        <a:rPr lang="fr-FR"/>
                        <a:t>Lucas</a:t>
                      </a:r>
                    </a:p>
                  </a:txBody>
                  <a:tcPr/>
                </a:tc>
                <a:tc>
                  <a:txBody>
                    <a:bodyPr/>
                    <a:lstStyle/>
                    <a:p>
                      <a:r>
                        <a:rPr lang="fr-FR"/>
                        <a:t>01/01/1990</a:t>
                      </a:r>
                    </a:p>
                  </a:txBody>
                  <a:tcPr/>
                </a:tc>
                <a:extLst>
                  <a:ext uri="{0D108BD9-81ED-4DB2-BD59-A6C34878D82A}">
                    <a16:rowId xmlns:a16="http://schemas.microsoft.com/office/drawing/2014/main" val="1587431500"/>
                  </a:ext>
                </a:extLst>
              </a:tr>
            </a:tbl>
          </a:graphicData>
        </a:graphic>
      </p:graphicFrame>
      <p:graphicFrame>
        <p:nvGraphicFramePr>
          <p:cNvPr id="6" name="Tableau 3">
            <a:extLst>
              <a:ext uri="{FF2B5EF4-FFF2-40B4-BE49-F238E27FC236}">
                <a16:creationId xmlns:a16="http://schemas.microsoft.com/office/drawing/2014/main" id="{B499B18B-96C1-43B8-81E2-E724F2A29436}"/>
              </a:ext>
            </a:extLst>
          </p:cNvPr>
          <p:cNvGraphicFramePr>
            <a:graphicFrameLocks noGrp="1"/>
          </p:cNvGraphicFramePr>
          <p:nvPr>
            <p:extLst>
              <p:ext uri="{D42A27DB-BD31-4B8C-83A1-F6EECF244321}">
                <p14:modId xmlns:p14="http://schemas.microsoft.com/office/powerpoint/2010/main" val="2337391958"/>
              </p:ext>
            </p:extLst>
          </p:nvPr>
        </p:nvGraphicFramePr>
        <p:xfrm>
          <a:off x="6680334" y="4755045"/>
          <a:ext cx="5063516" cy="1483359"/>
        </p:xfrm>
        <a:graphic>
          <a:graphicData uri="http://schemas.openxmlformats.org/drawingml/2006/table">
            <a:tbl>
              <a:tblPr firstRow="1" bandRow="1">
                <a:tableStyleId>{5C22544A-7EE6-4342-B048-85BDC9FD1C3A}</a:tableStyleId>
              </a:tblPr>
              <a:tblGrid>
                <a:gridCol w="408848">
                  <a:extLst>
                    <a:ext uri="{9D8B030D-6E8A-4147-A177-3AD203B41FA5}">
                      <a16:colId xmlns:a16="http://schemas.microsoft.com/office/drawing/2014/main" val="2696855272"/>
                    </a:ext>
                  </a:extLst>
                </a:gridCol>
                <a:gridCol w="2398568">
                  <a:extLst>
                    <a:ext uri="{9D8B030D-6E8A-4147-A177-3AD203B41FA5}">
                      <a16:colId xmlns:a16="http://schemas.microsoft.com/office/drawing/2014/main" val="2339036760"/>
                    </a:ext>
                  </a:extLst>
                </a:gridCol>
                <a:gridCol w="1073726">
                  <a:extLst>
                    <a:ext uri="{9D8B030D-6E8A-4147-A177-3AD203B41FA5}">
                      <a16:colId xmlns:a16="http://schemas.microsoft.com/office/drawing/2014/main" val="1800572407"/>
                    </a:ext>
                  </a:extLst>
                </a:gridCol>
                <a:gridCol w="1182374">
                  <a:extLst>
                    <a:ext uri="{9D8B030D-6E8A-4147-A177-3AD203B41FA5}">
                      <a16:colId xmlns:a16="http://schemas.microsoft.com/office/drawing/2014/main" val="1684618143"/>
                    </a:ext>
                  </a:extLst>
                </a:gridCol>
              </a:tblGrid>
              <a:tr h="370840">
                <a:tc>
                  <a:txBody>
                    <a:bodyPr/>
                    <a:lstStyle/>
                    <a:p>
                      <a:r>
                        <a:rPr lang="fr-FR" u="sng"/>
                        <a:t>ID</a:t>
                      </a:r>
                    </a:p>
                  </a:txBody>
                  <a:tcPr/>
                </a:tc>
                <a:tc>
                  <a:txBody>
                    <a:bodyPr/>
                    <a:lstStyle/>
                    <a:p>
                      <a:r>
                        <a:rPr lang="fr-FR"/>
                        <a:t>Facture</a:t>
                      </a:r>
                    </a:p>
                  </a:txBody>
                  <a:tcPr/>
                </a:tc>
                <a:tc>
                  <a:txBody>
                    <a:bodyPr/>
                    <a:lstStyle/>
                    <a:p>
                      <a:pPr lvl="0">
                        <a:buNone/>
                      </a:pPr>
                      <a:r>
                        <a:rPr lang="fr-FR"/>
                        <a:t>Prix</a:t>
                      </a:r>
                    </a:p>
                  </a:txBody>
                  <a:tcPr/>
                </a:tc>
                <a:tc>
                  <a:txBody>
                    <a:bodyPr/>
                    <a:lstStyle/>
                    <a:p>
                      <a:r>
                        <a:rPr lang="fr-FR"/>
                        <a:t>ID_Client</a:t>
                      </a:r>
                    </a:p>
                  </a:txBody>
                  <a:tcPr/>
                </a:tc>
                <a:extLst>
                  <a:ext uri="{0D108BD9-81ED-4DB2-BD59-A6C34878D82A}">
                    <a16:rowId xmlns:a16="http://schemas.microsoft.com/office/drawing/2014/main" val="3262443685"/>
                  </a:ext>
                </a:extLst>
              </a:tr>
              <a:tr h="370840">
                <a:tc>
                  <a:txBody>
                    <a:bodyPr/>
                    <a:lstStyle/>
                    <a:p>
                      <a:r>
                        <a:rPr lang="fr-FR"/>
                        <a:t>1</a:t>
                      </a:r>
                    </a:p>
                  </a:txBody>
                  <a:tcPr/>
                </a:tc>
                <a:tc>
                  <a:txBody>
                    <a:bodyPr/>
                    <a:lstStyle/>
                    <a:p>
                      <a:r>
                        <a:rPr lang="fr-FR"/>
                        <a:t>Achat tablette</a:t>
                      </a:r>
                    </a:p>
                  </a:txBody>
                  <a:tcPr/>
                </a:tc>
                <a:tc>
                  <a:txBody>
                    <a:bodyPr/>
                    <a:lstStyle/>
                    <a:p>
                      <a:pPr lvl="0">
                        <a:buNone/>
                      </a:pPr>
                      <a:r>
                        <a:rPr lang="fr-FR"/>
                        <a:t>250,00</a:t>
                      </a:r>
                    </a:p>
                  </a:txBody>
                  <a:tcPr/>
                </a:tc>
                <a:tc>
                  <a:txBody>
                    <a:bodyPr/>
                    <a:lstStyle/>
                    <a:p>
                      <a:r>
                        <a:rPr lang="fr-FR"/>
                        <a:t>1</a:t>
                      </a:r>
                    </a:p>
                  </a:txBody>
                  <a:tcPr/>
                </a:tc>
                <a:extLst>
                  <a:ext uri="{0D108BD9-81ED-4DB2-BD59-A6C34878D82A}">
                    <a16:rowId xmlns:a16="http://schemas.microsoft.com/office/drawing/2014/main" val="644644615"/>
                  </a:ext>
                </a:extLst>
              </a:tr>
              <a:tr h="370840">
                <a:tc>
                  <a:txBody>
                    <a:bodyPr/>
                    <a:lstStyle/>
                    <a:p>
                      <a:r>
                        <a:rPr lang="fr-FR"/>
                        <a:t>2</a:t>
                      </a:r>
                    </a:p>
                  </a:txBody>
                  <a:tcPr/>
                </a:tc>
                <a:tc>
                  <a:txBody>
                    <a:bodyPr/>
                    <a:lstStyle/>
                    <a:p>
                      <a:r>
                        <a:rPr lang="fr-FR"/>
                        <a:t>Achat PC</a:t>
                      </a:r>
                    </a:p>
                  </a:txBody>
                  <a:tcPr/>
                </a:tc>
                <a:tc>
                  <a:txBody>
                    <a:bodyPr/>
                    <a:lstStyle/>
                    <a:p>
                      <a:pPr lvl="0">
                        <a:buNone/>
                      </a:pPr>
                      <a:r>
                        <a:rPr lang="fr-FR"/>
                        <a:t>500,00</a:t>
                      </a:r>
                    </a:p>
                  </a:txBody>
                  <a:tcPr/>
                </a:tc>
                <a:tc>
                  <a:txBody>
                    <a:bodyPr/>
                    <a:lstStyle/>
                    <a:p>
                      <a:pPr lvl="0">
                        <a:buNone/>
                      </a:pPr>
                      <a:r>
                        <a:rPr lang="fr-FR"/>
                        <a:t>1</a:t>
                      </a:r>
                    </a:p>
                  </a:txBody>
                  <a:tcPr/>
                </a:tc>
                <a:extLst>
                  <a:ext uri="{0D108BD9-81ED-4DB2-BD59-A6C34878D82A}">
                    <a16:rowId xmlns:a16="http://schemas.microsoft.com/office/drawing/2014/main" val="1587431500"/>
                  </a:ext>
                </a:extLst>
              </a:tr>
              <a:tr h="370839">
                <a:tc>
                  <a:txBody>
                    <a:bodyPr/>
                    <a:lstStyle/>
                    <a:p>
                      <a:pPr lvl="0">
                        <a:buNone/>
                      </a:pPr>
                      <a:r>
                        <a:rPr lang="fr-FR"/>
                        <a:t>3</a:t>
                      </a:r>
                    </a:p>
                  </a:txBody>
                  <a:tcPr/>
                </a:tc>
                <a:tc>
                  <a:txBody>
                    <a:bodyPr/>
                    <a:lstStyle/>
                    <a:p>
                      <a:pPr lvl="0">
                        <a:buNone/>
                      </a:pPr>
                      <a:r>
                        <a:rPr lang="fr-FR"/>
                        <a:t>Achat téléphone</a:t>
                      </a:r>
                    </a:p>
                  </a:txBody>
                  <a:tcPr/>
                </a:tc>
                <a:tc>
                  <a:txBody>
                    <a:bodyPr/>
                    <a:lstStyle/>
                    <a:p>
                      <a:pPr lvl="0">
                        <a:buNone/>
                      </a:pPr>
                      <a:r>
                        <a:rPr lang="fr-FR"/>
                        <a:t>600,00</a:t>
                      </a:r>
                    </a:p>
                  </a:txBody>
                  <a:tcPr/>
                </a:tc>
                <a:tc>
                  <a:txBody>
                    <a:bodyPr/>
                    <a:lstStyle/>
                    <a:p>
                      <a:pPr lvl="0">
                        <a:buNone/>
                      </a:pPr>
                      <a:r>
                        <a:rPr lang="fr-FR"/>
                        <a:t>2</a:t>
                      </a:r>
                    </a:p>
                  </a:txBody>
                  <a:tcPr/>
                </a:tc>
                <a:extLst>
                  <a:ext uri="{0D108BD9-81ED-4DB2-BD59-A6C34878D82A}">
                    <a16:rowId xmlns:a16="http://schemas.microsoft.com/office/drawing/2014/main" val="2352285617"/>
                  </a:ext>
                </a:extLst>
              </a:tr>
            </a:tbl>
          </a:graphicData>
        </a:graphic>
      </p:graphicFrame>
      <p:cxnSp>
        <p:nvCxnSpPr>
          <p:cNvPr id="12" name="Straight Arrow Connector 11">
            <a:extLst>
              <a:ext uri="{FF2B5EF4-FFF2-40B4-BE49-F238E27FC236}">
                <a16:creationId xmlns:a16="http://schemas.microsoft.com/office/drawing/2014/main" id="{3402C7DF-52C5-4CCC-BD5B-7CE8136D4421}"/>
              </a:ext>
            </a:extLst>
          </p:cNvPr>
          <p:cNvCxnSpPr/>
          <p:nvPr/>
        </p:nvCxnSpPr>
        <p:spPr>
          <a:xfrm flipH="1" flipV="1">
            <a:off x="4652529" y="4132984"/>
            <a:ext cx="1960419" cy="1181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E797538-D561-4348-AB1E-BAAB9BAD83D9}"/>
              </a:ext>
            </a:extLst>
          </p:cNvPr>
          <p:cNvCxnSpPr>
            <a:cxnSpLocks/>
          </p:cNvCxnSpPr>
          <p:nvPr/>
        </p:nvCxnSpPr>
        <p:spPr>
          <a:xfrm flipH="1" flipV="1">
            <a:off x="4626552" y="4132985"/>
            <a:ext cx="2012373" cy="1536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B7F8E19-EE0E-43F2-B75C-7D35C0C56A61}"/>
              </a:ext>
            </a:extLst>
          </p:cNvPr>
          <p:cNvCxnSpPr>
            <a:cxnSpLocks/>
          </p:cNvCxnSpPr>
          <p:nvPr/>
        </p:nvCxnSpPr>
        <p:spPr>
          <a:xfrm flipH="1" flipV="1">
            <a:off x="4591916" y="4531301"/>
            <a:ext cx="2072986" cy="1501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8E60B68-1AA8-4248-9CCD-1B9766D686E6}"/>
              </a:ext>
            </a:extLst>
          </p:cNvPr>
          <p:cNvCxnSpPr/>
          <p:nvPr/>
        </p:nvCxnSpPr>
        <p:spPr>
          <a:xfrm flipH="1">
            <a:off x="10977995" y="4175413"/>
            <a:ext cx="3464" cy="524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2AF3BABE-8C2C-4D01-B0C8-1E820E0A61DC}"/>
              </a:ext>
            </a:extLst>
          </p:cNvPr>
          <p:cNvSpPr/>
          <p:nvPr/>
        </p:nvSpPr>
        <p:spPr>
          <a:xfrm>
            <a:off x="9193356" y="3357129"/>
            <a:ext cx="2173431" cy="69272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Clé étrangère</a:t>
            </a:r>
          </a:p>
        </p:txBody>
      </p:sp>
    </p:spTree>
    <p:extLst>
      <p:ext uri="{BB962C8B-B14F-4D97-AF65-F5344CB8AC3E}">
        <p14:creationId xmlns:p14="http://schemas.microsoft.com/office/powerpoint/2010/main" val="24187866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4452758"/>
            <a:ext cx="10554574" cy="1406040"/>
          </a:xfrm>
        </p:spPr>
        <p:txBody>
          <a:bodyPr vert="horz" lIns="91440" tIns="45720" rIns="91440" bIns="45720" rtlCol="0" anchor="t">
            <a:normAutofit/>
          </a:bodyPr>
          <a:lstStyle/>
          <a:p>
            <a:r>
              <a:rPr lang="fr-FR" dirty="0"/>
              <a:t>On lit ici : </a:t>
            </a:r>
          </a:p>
          <a:p>
            <a:pPr lvl="1"/>
            <a:r>
              <a:rPr lang="fr-FR" dirty="0"/>
              <a:t>« le client 1 (c’est-à-dire Jean MARC) possède deux factures </a:t>
            </a:r>
            <a:r>
              <a:rPr lang="fr-FR" i="1" dirty="0"/>
              <a:t>Achat tablette (1) </a:t>
            </a:r>
            <a:r>
              <a:rPr lang="fr-FR" dirty="0"/>
              <a:t>et </a:t>
            </a:r>
            <a:r>
              <a:rPr lang="fr-FR" i="1" dirty="0"/>
              <a:t>Achat PC (2)</a:t>
            </a:r>
            <a:r>
              <a:rPr lang="fr-FR" dirty="0"/>
              <a:t> »</a:t>
            </a:r>
          </a:p>
          <a:p>
            <a:pPr lvl="1"/>
            <a:r>
              <a:rPr lang="fr-FR" dirty="0"/>
              <a:t>« le client 2 (c’est-à-dire Lucas PAUL) possède une facture </a:t>
            </a:r>
            <a:r>
              <a:rPr lang="fr-FR" i="1" dirty="0"/>
              <a:t>Achat téléphone (3)</a:t>
            </a:r>
            <a:r>
              <a:rPr lang="fr-FR" dirty="0"/>
              <a:t>  »</a:t>
            </a:r>
          </a:p>
        </p:txBody>
      </p:sp>
      <p:sp>
        <p:nvSpPr>
          <p:cNvPr id="8" name="Espace réservé du numéro de diapositive 7">
            <a:extLst>
              <a:ext uri="{FF2B5EF4-FFF2-40B4-BE49-F238E27FC236}">
                <a16:creationId xmlns:a16="http://schemas.microsoft.com/office/drawing/2014/main" id="{596EBA1D-58C0-41DE-BE75-BD555E2DF23D}"/>
              </a:ext>
            </a:extLst>
          </p:cNvPr>
          <p:cNvSpPr>
            <a:spLocks noGrp="1"/>
          </p:cNvSpPr>
          <p:nvPr>
            <p:ph type="sldNum" sz="quarter" idx="12"/>
          </p:nvPr>
        </p:nvSpPr>
        <p:spPr/>
        <p:txBody>
          <a:bodyPr/>
          <a:lstStyle/>
          <a:p>
            <a:fld id="{27C6CCC6-2BE5-4E42-96A4-D1E8E81A3D8E}" type="slidenum">
              <a:rPr lang="de-DE" smtClean="0"/>
              <a:t>40</a:t>
            </a:fld>
            <a:endParaRPr lang="de-DE"/>
          </a:p>
        </p:txBody>
      </p:sp>
      <p:graphicFrame>
        <p:nvGraphicFramePr>
          <p:cNvPr id="5" name="Tableau 3">
            <a:extLst>
              <a:ext uri="{FF2B5EF4-FFF2-40B4-BE49-F238E27FC236}">
                <a16:creationId xmlns:a16="http://schemas.microsoft.com/office/drawing/2014/main" id="{5D8C2102-7C32-4A95-A9DE-76FAFE49354A}"/>
              </a:ext>
            </a:extLst>
          </p:cNvPr>
          <p:cNvGraphicFramePr>
            <a:graphicFrameLocks noGrp="1"/>
          </p:cNvGraphicFramePr>
          <p:nvPr>
            <p:extLst>
              <p:ext uri="{D42A27DB-BD31-4B8C-83A1-F6EECF244321}">
                <p14:modId xmlns:p14="http://schemas.microsoft.com/office/powerpoint/2010/main" val="476295831"/>
              </p:ext>
            </p:extLst>
          </p:nvPr>
        </p:nvGraphicFramePr>
        <p:xfrm>
          <a:off x="810000" y="2462113"/>
          <a:ext cx="3690438" cy="1381760"/>
        </p:xfrm>
        <a:graphic>
          <a:graphicData uri="http://schemas.openxmlformats.org/drawingml/2006/table">
            <a:tbl>
              <a:tblPr firstRow="1" bandRow="1">
                <a:tableStyleId>{5C22544A-7EE6-4342-B048-85BDC9FD1C3A}</a:tableStyleId>
              </a:tblPr>
              <a:tblGrid>
                <a:gridCol w="415171">
                  <a:extLst>
                    <a:ext uri="{9D8B030D-6E8A-4147-A177-3AD203B41FA5}">
                      <a16:colId xmlns:a16="http://schemas.microsoft.com/office/drawing/2014/main" val="2696855272"/>
                    </a:ext>
                  </a:extLst>
                </a:gridCol>
                <a:gridCol w="797858">
                  <a:extLst>
                    <a:ext uri="{9D8B030D-6E8A-4147-A177-3AD203B41FA5}">
                      <a16:colId xmlns:a16="http://schemas.microsoft.com/office/drawing/2014/main" val="2339036760"/>
                    </a:ext>
                  </a:extLst>
                </a:gridCol>
                <a:gridCol w="974430">
                  <a:extLst>
                    <a:ext uri="{9D8B030D-6E8A-4147-A177-3AD203B41FA5}">
                      <a16:colId xmlns:a16="http://schemas.microsoft.com/office/drawing/2014/main" val="4245448040"/>
                    </a:ext>
                  </a:extLst>
                </a:gridCol>
                <a:gridCol w="1502979">
                  <a:extLst>
                    <a:ext uri="{9D8B030D-6E8A-4147-A177-3AD203B41FA5}">
                      <a16:colId xmlns:a16="http://schemas.microsoft.com/office/drawing/2014/main" val="1684618143"/>
                    </a:ext>
                  </a:extLst>
                </a:gridCol>
              </a:tblGrid>
              <a:tr h="370840">
                <a:tc>
                  <a:txBody>
                    <a:bodyPr/>
                    <a:lstStyle/>
                    <a:p>
                      <a:r>
                        <a:rPr lang="fr-FR" u="sng"/>
                        <a:t>ID</a:t>
                      </a:r>
                    </a:p>
                  </a:txBody>
                  <a:tcPr/>
                </a:tc>
                <a:tc>
                  <a:txBody>
                    <a:bodyPr/>
                    <a:lstStyle/>
                    <a:p>
                      <a:r>
                        <a:rPr lang="fr-FR"/>
                        <a:t>Nom</a:t>
                      </a:r>
                    </a:p>
                  </a:txBody>
                  <a:tcPr/>
                </a:tc>
                <a:tc>
                  <a:txBody>
                    <a:bodyPr/>
                    <a:lstStyle/>
                    <a:p>
                      <a:r>
                        <a:rPr lang="fr-FR"/>
                        <a:t>Prénom</a:t>
                      </a:r>
                    </a:p>
                  </a:txBody>
                  <a:tcPr/>
                </a:tc>
                <a:tc>
                  <a:txBody>
                    <a:bodyPr/>
                    <a:lstStyle/>
                    <a:p>
                      <a:r>
                        <a:rPr lang="fr-FR"/>
                        <a:t>Date de naissance</a:t>
                      </a:r>
                    </a:p>
                  </a:txBody>
                  <a:tcPr/>
                </a:tc>
                <a:extLst>
                  <a:ext uri="{0D108BD9-81ED-4DB2-BD59-A6C34878D82A}">
                    <a16:rowId xmlns:a16="http://schemas.microsoft.com/office/drawing/2014/main" val="3262443685"/>
                  </a:ext>
                </a:extLst>
              </a:tr>
              <a:tr h="370840">
                <a:tc>
                  <a:txBody>
                    <a:bodyPr/>
                    <a:lstStyle/>
                    <a:p>
                      <a:r>
                        <a:rPr lang="fr-FR"/>
                        <a:t>1</a:t>
                      </a:r>
                    </a:p>
                  </a:txBody>
                  <a:tcPr/>
                </a:tc>
                <a:tc>
                  <a:txBody>
                    <a:bodyPr/>
                    <a:lstStyle/>
                    <a:p>
                      <a:r>
                        <a:rPr lang="fr-FR"/>
                        <a:t>Jean</a:t>
                      </a:r>
                    </a:p>
                  </a:txBody>
                  <a:tcPr/>
                </a:tc>
                <a:tc>
                  <a:txBody>
                    <a:bodyPr/>
                    <a:lstStyle/>
                    <a:p>
                      <a:r>
                        <a:rPr lang="fr-FR"/>
                        <a:t>Marc</a:t>
                      </a:r>
                    </a:p>
                  </a:txBody>
                  <a:tcPr/>
                </a:tc>
                <a:tc>
                  <a:txBody>
                    <a:bodyPr/>
                    <a:lstStyle/>
                    <a:p>
                      <a:r>
                        <a:rPr lang="fr-FR"/>
                        <a:t>01/01/1980</a:t>
                      </a:r>
                    </a:p>
                  </a:txBody>
                  <a:tcPr/>
                </a:tc>
                <a:extLst>
                  <a:ext uri="{0D108BD9-81ED-4DB2-BD59-A6C34878D82A}">
                    <a16:rowId xmlns:a16="http://schemas.microsoft.com/office/drawing/2014/main" val="644644615"/>
                  </a:ext>
                </a:extLst>
              </a:tr>
              <a:tr h="370840">
                <a:tc>
                  <a:txBody>
                    <a:bodyPr/>
                    <a:lstStyle/>
                    <a:p>
                      <a:r>
                        <a:rPr lang="fr-FR"/>
                        <a:t>2</a:t>
                      </a:r>
                    </a:p>
                  </a:txBody>
                  <a:tcPr/>
                </a:tc>
                <a:tc>
                  <a:txBody>
                    <a:bodyPr/>
                    <a:lstStyle/>
                    <a:p>
                      <a:r>
                        <a:rPr lang="fr-FR"/>
                        <a:t>Paul</a:t>
                      </a:r>
                    </a:p>
                  </a:txBody>
                  <a:tcPr/>
                </a:tc>
                <a:tc>
                  <a:txBody>
                    <a:bodyPr/>
                    <a:lstStyle/>
                    <a:p>
                      <a:r>
                        <a:rPr lang="fr-FR"/>
                        <a:t>Lucas</a:t>
                      </a:r>
                    </a:p>
                  </a:txBody>
                  <a:tcPr/>
                </a:tc>
                <a:tc>
                  <a:txBody>
                    <a:bodyPr/>
                    <a:lstStyle/>
                    <a:p>
                      <a:r>
                        <a:rPr lang="fr-FR"/>
                        <a:t>01/01/1990</a:t>
                      </a:r>
                    </a:p>
                  </a:txBody>
                  <a:tcPr/>
                </a:tc>
                <a:extLst>
                  <a:ext uri="{0D108BD9-81ED-4DB2-BD59-A6C34878D82A}">
                    <a16:rowId xmlns:a16="http://schemas.microsoft.com/office/drawing/2014/main" val="1587431500"/>
                  </a:ext>
                </a:extLst>
              </a:tr>
            </a:tbl>
          </a:graphicData>
        </a:graphic>
      </p:graphicFrame>
      <p:graphicFrame>
        <p:nvGraphicFramePr>
          <p:cNvPr id="6" name="Tableau 3">
            <a:extLst>
              <a:ext uri="{FF2B5EF4-FFF2-40B4-BE49-F238E27FC236}">
                <a16:creationId xmlns:a16="http://schemas.microsoft.com/office/drawing/2014/main" id="{B499B18B-96C1-43B8-81E2-E724F2A29436}"/>
              </a:ext>
            </a:extLst>
          </p:cNvPr>
          <p:cNvGraphicFramePr>
            <a:graphicFrameLocks noGrp="1"/>
          </p:cNvGraphicFramePr>
          <p:nvPr>
            <p:extLst>
              <p:ext uri="{D42A27DB-BD31-4B8C-83A1-F6EECF244321}">
                <p14:modId xmlns:p14="http://schemas.microsoft.com/office/powerpoint/2010/main" val="2531946791"/>
              </p:ext>
            </p:extLst>
          </p:nvPr>
        </p:nvGraphicFramePr>
        <p:xfrm>
          <a:off x="6638925" y="2411313"/>
          <a:ext cx="5063516" cy="1483359"/>
        </p:xfrm>
        <a:graphic>
          <a:graphicData uri="http://schemas.openxmlformats.org/drawingml/2006/table">
            <a:tbl>
              <a:tblPr firstRow="1" bandRow="1">
                <a:tableStyleId>{5C22544A-7EE6-4342-B048-85BDC9FD1C3A}</a:tableStyleId>
              </a:tblPr>
              <a:tblGrid>
                <a:gridCol w="408848">
                  <a:extLst>
                    <a:ext uri="{9D8B030D-6E8A-4147-A177-3AD203B41FA5}">
                      <a16:colId xmlns:a16="http://schemas.microsoft.com/office/drawing/2014/main" val="2696855272"/>
                    </a:ext>
                  </a:extLst>
                </a:gridCol>
                <a:gridCol w="2398568">
                  <a:extLst>
                    <a:ext uri="{9D8B030D-6E8A-4147-A177-3AD203B41FA5}">
                      <a16:colId xmlns:a16="http://schemas.microsoft.com/office/drawing/2014/main" val="2339036760"/>
                    </a:ext>
                  </a:extLst>
                </a:gridCol>
                <a:gridCol w="1073726">
                  <a:extLst>
                    <a:ext uri="{9D8B030D-6E8A-4147-A177-3AD203B41FA5}">
                      <a16:colId xmlns:a16="http://schemas.microsoft.com/office/drawing/2014/main" val="1800572407"/>
                    </a:ext>
                  </a:extLst>
                </a:gridCol>
                <a:gridCol w="1182374">
                  <a:extLst>
                    <a:ext uri="{9D8B030D-6E8A-4147-A177-3AD203B41FA5}">
                      <a16:colId xmlns:a16="http://schemas.microsoft.com/office/drawing/2014/main" val="1684618143"/>
                    </a:ext>
                  </a:extLst>
                </a:gridCol>
              </a:tblGrid>
              <a:tr h="370840">
                <a:tc>
                  <a:txBody>
                    <a:bodyPr/>
                    <a:lstStyle/>
                    <a:p>
                      <a:r>
                        <a:rPr lang="fr-FR" u="sng"/>
                        <a:t>ID</a:t>
                      </a:r>
                    </a:p>
                  </a:txBody>
                  <a:tcPr/>
                </a:tc>
                <a:tc>
                  <a:txBody>
                    <a:bodyPr/>
                    <a:lstStyle/>
                    <a:p>
                      <a:r>
                        <a:rPr lang="fr-FR"/>
                        <a:t>Facture</a:t>
                      </a:r>
                    </a:p>
                  </a:txBody>
                  <a:tcPr/>
                </a:tc>
                <a:tc>
                  <a:txBody>
                    <a:bodyPr/>
                    <a:lstStyle/>
                    <a:p>
                      <a:pPr lvl="0">
                        <a:buNone/>
                      </a:pPr>
                      <a:r>
                        <a:rPr lang="fr-FR"/>
                        <a:t>Prix</a:t>
                      </a:r>
                    </a:p>
                  </a:txBody>
                  <a:tcPr/>
                </a:tc>
                <a:tc>
                  <a:txBody>
                    <a:bodyPr/>
                    <a:lstStyle/>
                    <a:p>
                      <a:r>
                        <a:rPr lang="fr-FR" dirty="0" err="1"/>
                        <a:t>ID_Client</a:t>
                      </a:r>
                      <a:endParaRPr lang="fr-FR" dirty="0"/>
                    </a:p>
                  </a:txBody>
                  <a:tcPr/>
                </a:tc>
                <a:extLst>
                  <a:ext uri="{0D108BD9-81ED-4DB2-BD59-A6C34878D82A}">
                    <a16:rowId xmlns:a16="http://schemas.microsoft.com/office/drawing/2014/main" val="3262443685"/>
                  </a:ext>
                </a:extLst>
              </a:tr>
              <a:tr h="370840">
                <a:tc>
                  <a:txBody>
                    <a:bodyPr/>
                    <a:lstStyle/>
                    <a:p>
                      <a:r>
                        <a:rPr lang="fr-FR"/>
                        <a:t>1</a:t>
                      </a:r>
                    </a:p>
                  </a:txBody>
                  <a:tcPr/>
                </a:tc>
                <a:tc>
                  <a:txBody>
                    <a:bodyPr/>
                    <a:lstStyle/>
                    <a:p>
                      <a:r>
                        <a:rPr lang="fr-FR"/>
                        <a:t>Achat tablette</a:t>
                      </a:r>
                    </a:p>
                  </a:txBody>
                  <a:tcPr/>
                </a:tc>
                <a:tc>
                  <a:txBody>
                    <a:bodyPr/>
                    <a:lstStyle/>
                    <a:p>
                      <a:pPr lvl="0">
                        <a:buNone/>
                      </a:pPr>
                      <a:r>
                        <a:rPr lang="fr-FR"/>
                        <a:t>250,00</a:t>
                      </a:r>
                    </a:p>
                  </a:txBody>
                  <a:tcPr/>
                </a:tc>
                <a:tc>
                  <a:txBody>
                    <a:bodyPr/>
                    <a:lstStyle/>
                    <a:p>
                      <a:r>
                        <a:rPr lang="fr-FR"/>
                        <a:t>1</a:t>
                      </a:r>
                    </a:p>
                  </a:txBody>
                  <a:tcPr/>
                </a:tc>
                <a:extLst>
                  <a:ext uri="{0D108BD9-81ED-4DB2-BD59-A6C34878D82A}">
                    <a16:rowId xmlns:a16="http://schemas.microsoft.com/office/drawing/2014/main" val="644644615"/>
                  </a:ext>
                </a:extLst>
              </a:tr>
              <a:tr h="370840">
                <a:tc>
                  <a:txBody>
                    <a:bodyPr/>
                    <a:lstStyle/>
                    <a:p>
                      <a:r>
                        <a:rPr lang="fr-FR"/>
                        <a:t>2</a:t>
                      </a:r>
                    </a:p>
                  </a:txBody>
                  <a:tcPr/>
                </a:tc>
                <a:tc>
                  <a:txBody>
                    <a:bodyPr/>
                    <a:lstStyle/>
                    <a:p>
                      <a:r>
                        <a:rPr lang="fr-FR"/>
                        <a:t>Achat PC</a:t>
                      </a:r>
                    </a:p>
                  </a:txBody>
                  <a:tcPr/>
                </a:tc>
                <a:tc>
                  <a:txBody>
                    <a:bodyPr/>
                    <a:lstStyle/>
                    <a:p>
                      <a:pPr lvl="0">
                        <a:buNone/>
                      </a:pPr>
                      <a:r>
                        <a:rPr lang="fr-FR"/>
                        <a:t>500,00</a:t>
                      </a:r>
                    </a:p>
                  </a:txBody>
                  <a:tcPr/>
                </a:tc>
                <a:tc>
                  <a:txBody>
                    <a:bodyPr/>
                    <a:lstStyle/>
                    <a:p>
                      <a:pPr lvl="0">
                        <a:buNone/>
                      </a:pPr>
                      <a:r>
                        <a:rPr lang="fr-FR"/>
                        <a:t>1</a:t>
                      </a:r>
                    </a:p>
                  </a:txBody>
                  <a:tcPr/>
                </a:tc>
                <a:extLst>
                  <a:ext uri="{0D108BD9-81ED-4DB2-BD59-A6C34878D82A}">
                    <a16:rowId xmlns:a16="http://schemas.microsoft.com/office/drawing/2014/main" val="1587431500"/>
                  </a:ext>
                </a:extLst>
              </a:tr>
              <a:tr h="370839">
                <a:tc>
                  <a:txBody>
                    <a:bodyPr/>
                    <a:lstStyle/>
                    <a:p>
                      <a:pPr lvl="0">
                        <a:buNone/>
                      </a:pPr>
                      <a:r>
                        <a:rPr lang="fr-FR"/>
                        <a:t>3</a:t>
                      </a:r>
                    </a:p>
                  </a:txBody>
                  <a:tcPr/>
                </a:tc>
                <a:tc>
                  <a:txBody>
                    <a:bodyPr/>
                    <a:lstStyle/>
                    <a:p>
                      <a:pPr lvl="0">
                        <a:buNone/>
                      </a:pPr>
                      <a:r>
                        <a:rPr lang="fr-FR"/>
                        <a:t>Achat téléphone</a:t>
                      </a:r>
                    </a:p>
                  </a:txBody>
                  <a:tcPr/>
                </a:tc>
                <a:tc>
                  <a:txBody>
                    <a:bodyPr/>
                    <a:lstStyle/>
                    <a:p>
                      <a:pPr lvl="0">
                        <a:buNone/>
                      </a:pPr>
                      <a:r>
                        <a:rPr lang="fr-FR"/>
                        <a:t>600,00</a:t>
                      </a:r>
                    </a:p>
                  </a:txBody>
                  <a:tcPr/>
                </a:tc>
                <a:tc>
                  <a:txBody>
                    <a:bodyPr/>
                    <a:lstStyle/>
                    <a:p>
                      <a:pPr lvl="0">
                        <a:buNone/>
                      </a:pPr>
                      <a:r>
                        <a:rPr lang="fr-FR" dirty="0"/>
                        <a:t>2</a:t>
                      </a:r>
                    </a:p>
                  </a:txBody>
                  <a:tcPr/>
                </a:tc>
                <a:extLst>
                  <a:ext uri="{0D108BD9-81ED-4DB2-BD59-A6C34878D82A}">
                    <a16:rowId xmlns:a16="http://schemas.microsoft.com/office/drawing/2014/main" val="2352285617"/>
                  </a:ext>
                </a:extLst>
              </a:tr>
            </a:tbl>
          </a:graphicData>
        </a:graphic>
      </p:graphicFrame>
      <p:cxnSp>
        <p:nvCxnSpPr>
          <p:cNvPr id="12" name="Straight Arrow Connector 11">
            <a:extLst>
              <a:ext uri="{FF2B5EF4-FFF2-40B4-BE49-F238E27FC236}">
                <a16:creationId xmlns:a16="http://schemas.microsoft.com/office/drawing/2014/main" id="{3402C7DF-52C5-4CCC-BD5B-7CE8136D4421}"/>
              </a:ext>
            </a:extLst>
          </p:cNvPr>
          <p:cNvCxnSpPr>
            <a:cxnSpLocks/>
          </p:cNvCxnSpPr>
          <p:nvPr/>
        </p:nvCxnSpPr>
        <p:spPr>
          <a:xfrm flipH="1">
            <a:off x="4591916" y="3020198"/>
            <a:ext cx="2047010" cy="233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E797538-D561-4348-AB1E-BAAB9BAD83D9}"/>
              </a:ext>
            </a:extLst>
          </p:cNvPr>
          <p:cNvCxnSpPr>
            <a:cxnSpLocks/>
          </p:cNvCxnSpPr>
          <p:nvPr/>
        </p:nvCxnSpPr>
        <p:spPr>
          <a:xfrm flipH="1" flipV="1">
            <a:off x="4591916" y="3311277"/>
            <a:ext cx="2047008" cy="79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B7F8E19-EE0E-43F2-B75C-7D35C0C56A61}"/>
              </a:ext>
            </a:extLst>
          </p:cNvPr>
          <p:cNvCxnSpPr>
            <a:cxnSpLocks/>
          </p:cNvCxnSpPr>
          <p:nvPr/>
        </p:nvCxnSpPr>
        <p:spPr>
          <a:xfrm flipH="1">
            <a:off x="4591916" y="3684851"/>
            <a:ext cx="195949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19228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a:t>Types de relation :</a:t>
            </a:r>
          </a:p>
          <a:p>
            <a:pPr lvl="1"/>
            <a:r>
              <a:rPr lang="fr-FR"/>
              <a:t>1:1 : un élément de la table A est relié à un seul élément de la table B</a:t>
            </a:r>
          </a:p>
          <a:p>
            <a:pPr lvl="1"/>
            <a:r>
              <a:rPr lang="fr-FR"/>
              <a:t>1:N : un élément de la table A peut se rapporter à plusieurs éléments de la table B (cf. exemple précédent)</a:t>
            </a:r>
          </a:p>
          <a:p>
            <a:pPr lvl="1"/>
            <a:r>
              <a:rPr lang="fr-FR"/>
              <a:t>N:M : un élément de la table A peut se rapporter à plusieurs éléments de la table B et un élément de la table B peut se rapport à plusieurs éléments de la table A (nécessite l'utilisation d'une table de jointure)</a:t>
            </a:r>
          </a:p>
        </p:txBody>
      </p:sp>
      <p:sp>
        <p:nvSpPr>
          <p:cNvPr id="6" name="Espace réservé du numéro de diapositive 5">
            <a:extLst>
              <a:ext uri="{FF2B5EF4-FFF2-40B4-BE49-F238E27FC236}">
                <a16:creationId xmlns:a16="http://schemas.microsoft.com/office/drawing/2014/main" id="{6E0E0835-18C7-47E1-984E-FF7141960860}"/>
              </a:ext>
            </a:extLst>
          </p:cNvPr>
          <p:cNvSpPr>
            <a:spLocks noGrp="1"/>
          </p:cNvSpPr>
          <p:nvPr>
            <p:ph type="sldNum" sz="quarter" idx="12"/>
          </p:nvPr>
        </p:nvSpPr>
        <p:spPr/>
        <p:txBody>
          <a:bodyPr/>
          <a:lstStyle/>
          <a:p>
            <a:fld id="{27C6CCC6-2BE5-4E42-96A4-D1E8E81A3D8E}" type="slidenum">
              <a:rPr lang="de-DE" smtClean="0"/>
              <a:t>41</a:t>
            </a:fld>
            <a:endParaRPr lang="de-DE"/>
          </a:p>
        </p:txBody>
      </p:sp>
    </p:spTree>
    <p:extLst>
      <p:ext uri="{BB962C8B-B14F-4D97-AF65-F5344CB8AC3E}">
        <p14:creationId xmlns:p14="http://schemas.microsoft.com/office/powerpoint/2010/main" val="16925415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pPr marL="285750" indent="-285750"/>
            <a:r>
              <a:rPr lang="fr-FR"/>
              <a:t>Exemple de relation 1:1 : un compte est associé à un joueur (usage peu courant)</a:t>
            </a:r>
          </a:p>
          <a:p>
            <a:pPr marL="285750" indent="-285750"/>
            <a:r>
              <a:rPr lang="fr-FR"/>
              <a:t>Exemple de relation 1:N : plusieurs commandes sont associées à un client (usage très courant)</a:t>
            </a:r>
          </a:p>
          <a:p>
            <a:pPr marL="285750" indent="-285750"/>
            <a:r>
              <a:rPr lang="fr-FR"/>
              <a:t>Exemple de relation N:M : un étudiant est inscrit à plusieurs UV, une UV est associée à plusieurs étudiants</a:t>
            </a:r>
          </a:p>
        </p:txBody>
      </p:sp>
      <p:sp>
        <p:nvSpPr>
          <p:cNvPr id="6" name="Espace réservé du numéro de diapositive 5">
            <a:extLst>
              <a:ext uri="{FF2B5EF4-FFF2-40B4-BE49-F238E27FC236}">
                <a16:creationId xmlns:a16="http://schemas.microsoft.com/office/drawing/2014/main" id="{4D2C7B3C-1ED0-4CE7-ABE6-F2C478826032}"/>
              </a:ext>
            </a:extLst>
          </p:cNvPr>
          <p:cNvSpPr>
            <a:spLocks noGrp="1"/>
          </p:cNvSpPr>
          <p:nvPr>
            <p:ph type="sldNum" sz="quarter" idx="12"/>
          </p:nvPr>
        </p:nvSpPr>
        <p:spPr/>
        <p:txBody>
          <a:bodyPr/>
          <a:lstStyle/>
          <a:p>
            <a:fld id="{27C6CCC6-2BE5-4E42-96A4-D1E8E81A3D8E}" type="slidenum">
              <a:rPr lang="de-DE" smtClean="0"/>
              <a:t>42</a:t>
            </a:fld>
            <a:endParaRPr lang="de-DE"/>
          </a:p>
        </p:txBody>
      </p:sp>
    </p:spTree>
    <p:extLst>
      <p:ext uri="{BB962C8B-B14F-4D97-AF65-F5344CB8AC3E}">
        <p14:creationId xmlns:p14="http://schemas.microsoft.com/office/powerpoint/2010/main" val="2136924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pPr marL="285750" indent="-285750"/>
            <a:r>
              <a:rPr lang="fr-FR" dirty="0"/>
              <a:t>Quelques exercices :</a:t>
            </a:r>
          </a:p>
          <a:p>
            <a:pPr marL="685800" lvl="1"/>
            <a:r>
              <a:rPr lang="fr-FR" dirty="0"/>
              <a:t>Ecrire la/les table(s) pour enregistrer les résultats de matchs de foots (équipes participantes, score de chaque équipe)</a:t>
            </a:r>
          </a:p>
          <a:p>
            <a:pPr marL="685800" lvl="1"/>
            <a:r>
              <a:rPr lang="fr-FR" dirty="0">
                <a:ea typeface="+mn-lt"/>
                <a:cs typeface="+mn-lt"/>
              </a:rPr>
              <a:t>Ecrire la/les tables(s) pour enregistrer des </a:t>
            </a:r>
            <a:r>
              <a:rPr lang="fr-FR" dirty="0" err="1">
                <a:ea typeface="+mn-lt"/>
                <a:cs typeface="+mn-lt"/>
              </a:rPr>
              <a:t>posts</a:t>
            </a:r>
            <a:r>
              <a:rPr lang="fr-FR" dirty="0">
                <a:ea typeface="+mn-lt"/>
                <a:cs typeface="+mn-lt"/>
              </a:rPr>
              <a:t> (titre et contenu) sur un blog et les commentaires </a:t>
            </a:r>
            <a:r>
              <a:rPr lang="fr-FR">
                <a:ea typeface="+mn-lt"/>
                <a:cs typeface="+mn-lt"/>
              </a:rPr>
              <a:t>(contenu) </a:t>
            </a:r>
            <a:r>
              <a:rPr lang="fr-FR" dirty="0">
                <a:ea typeface="+mn-lt"/>
                <a:cs typeface="+mn-lt"/>
              </a:rPr>
              <a:t>associés</a:t>
            </a:r>
          </a:p>
        </p:txBody>
      </p:sp>
      <p:sp>
        <p:nvSpPr>
          <p:cNvPr id="6" name="Espace réservé du numéro de diapositive 5">
            <a:extLst>
              <a:ext uri="{FF2B5EF4-FFF2-40B4-BE49-F238E27FC236}">
                <a16:creationId xmlns:a16="http://schemas.microsoft.com/office/drawing/2014/main" id="{B084F210-8DDA-4A05-8D3F-933A473943DD}"/>
              </a:ext>
            </a:extLst>
          </p:cNvPr>
          <p:cNvSpPr>
            <a:spLocks noGrp="1"/>
          </p:cNvSpPr>
          <p:nvPr>
            <p:ph type="sldNum" sz="quarter" idx="12"/>
          </p:nvPr>
        </p:nvSpPr>
        <p:spPr/>
        <p:txBody>
          <a:bodyPr/>
          <a:lstStyle/>
          <a:p>
            <a:fld id="{27C6CCC6-2BE5-4E42-96A4-D1E8E81A3D8E}" type="slidenum">
              <a:rPr lang="de-DE" smtClean="0"/>
              <a:t>43</a:t>
            </a:fld>
            <a:endParaRPr lang="de-DE"/>
          </a:p>
        </p:txBody>
      </p:sp>
    </p:spTree>
    <p:extLst>
      <p:ext uri="{BB962C8B-B14F-4D97-AF65-F5344CB8AC3E}">
        <p14:creationId xmlns:p14="http://schemas.microsoft.com/office/powerpoint/2010/main" val="37232711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vert="horz" lIns="91440" tIns="45720" rIns="91440" bIns="45720" rtlCol="0" anchor="t">
            <a:normAutofit/>
          </a:bodyPr>
          <a:lstStyle/>
          <a:p>
            <a:pPr marL="285750" indent="-285750"/>
            <a:r>
              <a:rPr lang="fr-FR"/>
              <a:t>Pour les résultats des matchs de foot, plusieurs approches</a:t>
            </a:r>
          </a:p>
          <a:p>
            <a:pPr marL="285750" indent="-285750"/>
            <a:r>
              <a:rPr lang="fr-FR"/>
              <a:t>Approche avec une seule table :</a:t>
            </a:r>
          </a:p>
          <a:p>
            <a:pPr marL="0" indent="0">
              <a:buNone/>
            </a:pPr>
            <a:endParaRPr lang="fr-FR"/>
          </a:p>
        </p:txBody>
      </p:sp>
      <p:sp>
        <p:nvSpPr>
          <p:cNvPr id="7" name="Espace réservé du numéro de diapositive 6">
            <a:extLst>
              <a:ext uri="{FF2B5EF4-FFF2-40B4-BE49-F238E27FC236}">
                <a16:creationId xmlns:a16="http://schemas.microsoft.com/office/drawing/2014/main" id="{AF1CD0AB-CD7E-43C8-9317-419C1C9EA2D3}"/>
              </a:ext>
            </a:extLst>
          </p:cNvPr>
          <p:cNvSpPr>
            <a:spLocks noGrp="1"/>
          </p:cNvSpPr>
          <p:nvPr>
            <p:ph type="sldNum" sz="quarter" idx="12"/>
          </p:nvPr>
        </p:nvSpPr>
        <p:spPr/>
        <p:txBody>
          <a:bodyPr/>
          <a:lstStyle/>
          <a:p>
            <a:fld id="{27C6CCC6-2BE5-4E42-96A4-D1E8E81A3D8E}" type="slidenum">
              <a:rPr lang="de-DE" smtClean="0"/>
              <a:t>44</a:t>
            </a:fld>
            <a:endParaRPr lang="de-DE"/>
          </a:p>
        </p:txBody>
      </p:sp>
      <p:graphicFrame>
        <p:nvGraphicFramePr>
          <p:cNvPr id="5" name="Tableau 3">
            <a:extLst>
              <a:ext uri="{FF2B5EF4-FFF2-40B4-BE49-F238E27FC236}">
                <a16:creationId xmlns:a16="http://schemas.microsoft.com/office/drawing/2014/main" id="{4C405755-2D96-42A9-8299-A509C4259489}"/>
              </a:ext>
            </a:extLst>
          </p:cNvPr>
          <p:cNvGraphicFramePr>
            <a:graphicFrameLocks noGrp="1"/>
          </p:cNvGraphicFramePr>
          <p:nvPr>
            <p:extLst>
              <p:ext uri="{D42A27DB-BD31-4B8C-83A1-F6EECF244321}">
                <p14:modId xmlns:p14="http://schemas.microsoft.com/office/powerpoint/2010/main" val="457457370"/>
              </p:ext>
            </p:extLst>
          </p:nvPr>
        </p:nvGraphicFramePr>
        <p:xfrm>
          <a:off x="1051925" y="3404227"/>
          <a:ext cx="10106946" cy="1992760"/>
        </p:xfrm>
        <a:graphic>
          <a:graphicData uri="http://schemas.openxmlformats.org/drawingml/2006/table">
            <a:tbl>
              <a:tblPr firstRow="1" bandRow="1">
                <a:tableStyleId>{5C22544A-7EE6-4342-B048-85BDC9FD1C3A}</a:tableStyleId>
              </a:tblPr>
              <a:tblGrid>
                <a:gridCol w="666750">
                  <a:extLst>
                    <a:ext uri="{9D8B030D-6E8A-4147-A177-3AD203B41FA5}">
                      <a16:colId xmlns:a16="http://schemas.microsoft.com/office/drawing/2014/main" val="2696855272"/>
                    </a:ext>
                  </a:extLst>
                </a:gridCol>
                <a:gridCol w="2940088">
                  <a:extLst>
                    <a:ext uri="{9D8B030D-6E8A-4147-A177-3AD203B41FA5}">
                      <a16:colId xmlns:a16="http://schemas.microsoft.com/office/drawing/2014/main" val="2339036760"/>
                    </a:ext>
                  </a:extLst>
                </a:gridCol>
                <a:gridCol w="2537111">
                  <a:extLst>
                    <a:ext uri="{9D8B030D-6E8A-4147-A177-3AD203B41FA5}">
                      <a16:colId xmlns:a16="http://schemas.microsoft.com/office/drawing/2014/main" val="1800572407"/>
                    </a:ext>
                  </a:extLst>
                </a:gridCol>
                <a:gridCol w="1951407">
                  <a:extLst>
                    <a:ext uri="{9D8B030D-6E8A-4147-A177-3AD203B41FA5}">
                      <a16:colId xmlns:a16="http://schemas.microsoft.com/office/drawing/2014/main" val="1684618143"/>
                    </a:ext>
                  </a:extLst>
                </a:gridCol>
                <a:gridCol w="2011590">
                  <a:extLst>
                    <a:ext uri="{9D8B030D-6E8A-4147-A177-3AD203B41FA5}">
                      <a16:colId xmlns:a16="http://schemas.microsoft.com/office/drawing/2014/main" val="2699872985"/>
                    </a:ext>
                  </a:extLst>
                </a:gridCol>
              </a:tblGrid>
              <a:tr h="589086">
                <a:tc>
                  <a:txBody>
                    <a:bodyPr/>
                    <a:lstStyle/>
                    <a:p>
                      <a:r>
                        <a:rPr lang="fr-FR" u="sng"/>
                        <a:t>ID</a:t>
                      </a:r>
                    </a:p>
                  </a:txBody>
                  <a:tcPr/>
                </a:tc>
                <a:tc>
                  <a:txBody>
                    <a:bodyPr/>
                    <a:lstStyle/>
                    <a:p>
                      <a:r>
                        <a:rPr lang="fr-FR"/>
                        <a:t>Equipe 1</a:t>
                      </a:r>
                    </a:p>
                  </a:txBody>
                  <a:tcPr/>
                </a:tc>
                <a:tc>
                  <a:txBody>
                    <a:bodyPr/>
                    <a:lstStyle/>
                    <a:p>
                      <a:pPr lvl="0">
                        <a:buNone/>
                      </a:pPr>
                      <a:r>
                        <a:rPr lang="fr-FR"/>
                        <a:t>Equipe 2</a:t>
                      </a:r>
                    </a:p>
                  </a:txBody>
                  <a:tcPr/>
                </a:tc>
                <a:tc>
                  <a:txBody>
                    <a:bodyPr/>
                    <a:lstStyle/>
                    <a:p>
                      <a:r>
                        <a:rPr lang="fr-FR"/>
                        <a:t>Score équipe 1</a:t>
                      </a:r>
                    </a:p>
                  </a:txBody>
                  <a:tcPr/>
                </a:tc>
                <a:tc>
                  <a:txBody>
                    <a:bodyPr/>
                    <a:lstStyle/>
                    <a:p>
                      <a:pPr lvl="0">
                        <a:buNone/>
                      </a:pPr>
                      <a:r>
                        <a:rPr lang="fr-FR"/>
                        <a:t>Score équipe 2</a:t>
                      </a:r>
                    </a:p>
                  </a:txBody>
                  <a:tcPr/>
                </a:tc>
                <a:extLst>
                  <a:ext uri="{0D108BD9-81ED-4DB2-BD59-A6C34878D82A}">
                    <a16:rowId xmlns:a16="http://schemas.microsoft.com/office/drawing/2014/main" val="3262443685"/>
                  </a:ext>
                </a:extLst>
              </a:tr>
              <a:tr h="518957">
                <a:tc>
                  <a:txBody>
                    <a:bodyPr/>
                    <a:lstStyle/>
                    <a:p>
                      <a:r>
                        <a:rPr lang="fr-FR"/>
                        <a:t>1</a:t>
                      </a:r>
                    </a:p>
                  </a:txBody>
                  <a:tcPr/>
                </a:tc>
                <a:tc>
                  <a:txBody>
                    <a:bodyPr/>
                    <a:lstStyle/>
                    <a:p>
                      <a:r>
                        <a:rPr lang="fr-FR"/>
                        <a:t>Bourg Palette</a:t>
                      </a:r>
                    </a:p>
                  </a:txBody>
                  <a:tcPr/>
                </a:tc>
                <a:tc>
                  <a:txBody>
                    <a:bodyPr/>
                    <a:lstStyle/>
                    <a:p>
                      <a:pPr lvl="0">
                        <a:buNone/>
                      </a:pPr>
                      <a:r>
                        <a:rPr lang="fr-FR" err="1"/>
                        <a:t>Jadielle</a:t>
                      </a:r>
                      <a:endParaRPr lang="fr-FR"/>
                    </a:p>
                  </a:txBody>
                  <a:tcPr/>
                </a:tc>
                <a:tc>
                  <a:txBody>
                    <a:bodyPr/>
                    <a:lstStyle/>
                    <a:p>
                      <a:r>
                        <a:rPr lang="fr-FR"/>
                        <a:t>1</a:t>
                      </a:r>
                    </a:p>
                  </a:txBody>
                  <a:tcPr/>
                </a:tc>
                <a:tc>
                  <a:txBody>
                    <a:bodyPr/>
                    <a:lstStyle/>
                    <a:p>
                      <a:pPr lvl="0">
                        <a:buNone/>
                      </a:pPr>
                      <a:r>
                        <a:rPr lang="fr-FR"/>
                        <a:t>3</a:t>
                      </a:r>
                    </a:p>
                  </a:txBody>
                  <a:tcPr/>
                </a:tc>
                <a:extLst>
                  <a:ext uri="{0D108BD9-81ED-4DB2-BD59-A6C34878D82A}">
                    <a16:rowId xmlns:a16="http://schemas.microsoft.com/office/drawing/2014/main" val="644644615"/>
                  </a:ext>
                </a:extLst>
              </a:tr>
              <a:tr h="364672">
                <a:tc>
                  <a:txBody>
                    <a:bodyPr/>
                    <a:lstStyle/>
                    <a:p>
                      <a:r>
                        <a:rPr lang="fr-FR"/>
                        <a:t>2</a:t>
                      </a:r>
                    </a:p>
                  </a:txBody>
                  <a:tcPr/>
                </a:tc>
                <a:tc>
                  <a:txBody>
                    <a:bodyPr/>
                    <a:lstStyle/>
                    <a:p>
                      <a:r>
                        <a:rPr lang="fr-FR" err="1"/>
                        <a:t>Azuria</a:t>
                      </a:r>
                      <a:endParaRPr lang="fr-FR"/>
                    </a:p>
                  </a:txBody>
                  <a:tcPr/>
                </a:tc>
                <a:tc>
                  <a:txBody>
                    <a:bodyPr/>
                    <a:lstStyle/>
                    <a:p>
                      <a:pPr lvl="0">
                        <a:buNone/>
                      </a:pPr>
                      <a:r>
                        <a:rPr lang="fr-FR"/>
                        <a:t>Lavanville</a:t>
                      </a:r>
                    </a:p>
                  </a:txBody>
                  <a:tcPr/>
                </a:tc>
                <a:tc>
                  <a:txBody>
                    <a:bodyPr/>
                    <a:lstStyle/>
                    <a:p>
                      <a:pPr lvl="0">
                        <a:buNone/>
                      </a:pPr>
                      <a:r>
                        <a:rPr lang="fr-FR"/>
                        <a:t>1</a:t>
                      </a:r>
                    </a:p>
                  </a:txBody>
                  <a:tcPr/>
                </a:tc>
                <a:tc>
                  <a:txBody>
                    <a:bodyPr/>
                    <a:lstStyle/>
                    <a:p>
                      <a:pPr lvl="0">
                        <a:buNone/>
                      </a:pPr>
                      <a:r>
                        <a:rPr lang="fr-FR"/>
                        <a:t>2</a:t>
                      </a:r>
                    </a:p>
                  </a:txBody>
                  <a:tcPr/>
                </a:tc>
                <a:extLst>
                  <a:ext uri="{0D108BD9-81ED-4DB2-BD59-A6C34878D82A}">
                    <a16:rowId xmlns:a16="http://schemas.microsoft.com/office/drawing/2014/main" val="1587431500"/>
                  </a:ext>
                </a:extLst>
              </a:tr>
              <a:tr h="518957">
                <a:tc>
                  <a:txBody>
                    <a:bodyPr/>
                    <a:lstStyle/>
                    <a:p>
                      <a:pPr lvl="0">
                        <a:buNone/>
                      </a:pPr>
                      <a:r>
                        <a:rPr lang="fr-FR"/>
                        <a:t>3</a:t>
                      </a:r>
                    </a:p>
                  </a:txBody>
                  <a:tcPr/>
                </a:tc>
                <a:tc>
                  <a:txBody>
                    <a:bodyPr/>
                    <a:lstStyle/>
                    <a:p>
                      <a:pPr lvl="0">
                        <a:buNone/>
                      </a:pPr>
                      <a:r>
                        <a:rPr lang="fr-FR"/>
                        <a:t>Lavanville</a:t>
                      </a:r>
                    </a:p>
                  </a:txBody>
                  <a:tcPr/>
                </a:tc>
                <a:tc>
                  <a:txBody>
                    <a:bodyPr/>
                    <a:lstStyle/>
                    <a:p>
                      <a:pPr lvl="0">
                        <a:buNone/>
                      </a:pPr>
                      <a:r>
                        <a:rPr lang="fr-FR"/>
                        <a:t>Bourg Palette</a:t>
                      </a:r>
                    </a:p>
                  </a:txBody>
                  <a:tcPr/>
                </a:tc>
                <a:tc>
                  <a:txBody>
                    <a:bodyPr/>
                    <a:lstStyle/>
                    <a:p>
                      <a:pPr lvl="0">
                        <a:buNone/>
                      </a:pPr>
                      <a:r>
                        <a:rPr lang="fr-FR"/>
                        <a:t>2</a:t>
                      </a:r>
                    </a:p>
                  </a:txBody>
                  <a:tcPr/>
                </a:tc>
                <a:tc>
                  <a:txBody>
                    <a:bodyPr/>
                    <a:lstStyle/>
                    <a:p>
                      <a:pPr lvl="0">
                        <a:buNone/>
                      </a:pPr>
                      <a:r>
                        <a:rPr lang="fr-FR"/>
                        <a:t>1</a:t>
                      </a:r>
                    </a:p>
                  </a:txBody>
                  <a:tcPr/>
                </a:tc>
                <a:extLst>
                  <a:ext uri="{0D108BD9-81ED-4DB2-BD59-A6C34878D82A}">
                    <a16:rowId xmlns:a16="http://schemas.microsoft.com/office/drawing/2014/main" val="2352285617"/>
                  </a:ext>
                </a:extLst>
              </a:tr>
            </a:tbl>
          </a:graphicData>
        </a:graphic>
      </p:graphicFrame>
    </p:spTree>
    <p:extLst>
      <p:ext uri="{BB962C8B-B14F-4D97-AF65-F5344CB8AC3E}">
        <p14:creationId xmlns:p14="http://schemas.microsoft.com/office/powerpoint/2010/main" val="28979490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vert="horz" lIns="91440" tIns="45720" rIns="91440" bIns="45720" rtlCol="0" anchor="t">
            <a:normAutofit/>
          </a:bodyPr>
          <a:lstStyle/>
          <a:p>
            <a:pPr marL="285750" indent="-285750"/>
            <a:r>
              <a:rPr lang="fr-FR"/>
              <a:t>Approche avec deux tables :</a:t>
            </a:r>
          </a:p>
          <a:p>
            <a:pPr marL="0" indent="0">
              <a:buNone/>
            </a:pPr>
            <a:endParaRPr lang="fr-FR"/>
          </a:p>
        </p:txBody>
      </p:sp>
      <p:sp>
        <p:nvSpPr>
          <p:cNvPr id="8" name="Espace réservé du numéro de diapositive 7">
            <a:extLst>
              <a:ext uri="{FF2B5EF4-FFF2-40B4-BE49-F238E27FC236}">
                <a16:creationId xmlns:a16="http://schemas.microsoft.com/office/drawing/2014/main" id="{4E671273-EAB3-469F-9BD3-69B99946DE9F}"/>
              </a:ext>
            </a:extLst>
          </p:cNvPr>
          <p:cNvSpPr>
            <a:spLocks noGrp="1"/>
          </p:cNvSpPr>
          <p:nvPr>
            <p:ph type="sldNum" sz="quarter" idx="12"/>
          </p:nvPr>
        </p:nvSpPr>
        <p:spPr/>
        <p:txBody>
          <a:bodyPr/>
          <a:lstStyle/>
          <a:p>
            <a:fld id="{27C6CCC6-2BE5-4E42-96A4-D1E8E81A3D8E}" type="slidenum">
              <a:rPr lang="de-DE" smtClean="0"/>
              <a:t>45</a:t>
            </a:fld>
            <a:endParaRPr lang="de-DE"/>
          </a:p>
        </p:txBody>
      </p:sp>
      <p:graphicFrame>
        <p:nvGraphicFramePr>
          <p:cNvPr id="5" name="Tableau 3">
            <a:extLst>
              <a:ext uri="{FF2B5EF4-FFF2-40B4-BE49-F238E27FC236}">
                <a16:creationId xmlns:a16="http://schemas.microsoft.com/office/drawing/2014/main" id="{4C405755-2D96-42A9-8299-A509C4259489}"/>
              </a:ext>
            </a:extLst>
          </p:cNvPr>
          <p:cNvGraphicFramePr>
            <a:graphicFrameLocks noGrp="1"/>
          </p:cNvGraphicFramePr>
          <p:nvPr>
            <p:extLst>
              <p:ext uri="{D42A27DB-BD31-4B8C-83A1-F6EECF244321}">
                <p14:modId xmlns:p14="http://schemas.microsoft.com/office/powerpoint/2010/main" val="3658879164"/>
              </p:ext>
            </p:extLst>
          </p:nvPr>
        </p:nvGraphicFramePr>
        <p:xfrm>
          <a:off x="803733" y="3044161"/>
          <a:ext cx="7010633" cy="1992760"/>
        </p:xfrm>
        <a:graphic>
          <a:graphicData uri="http://schemas.openxmlformats.org/drawingml/2006/table">
            <a:tbl>
              <a:tblPr firstRow="1" bandRow="1">
                <a:tableStyleId>{5C22544A-7EE6-4342-B048-85BDC9FD1C3A}</a:tableStyleId>
              </a:tblPr>
              <a:tblGrid>
                <a:gridCol w="666750">
                  <a:extLst>
                    <a:ext uri="{9D8B030D-6E8A-4147-A177-3AD203B41FA5}">
                      <a16:colId xmlns:a16="http://schemas.microsoft.com/office/drawing/2014/main" val="2696855272"/>
                    </a:ext>
                  </a:extLst>
                </a:gridCol>
                <a:gridCol w="1259417">
                  <a:extLst>
                    <a:ext uri="{9D8B030D-6E8A-4147-A177-3AD203B41FA5}">
                      <a16:colId xmlns:a16="http://schemas.microsoft.com/office/drawing/2014/main" val="2339036760"/>
                    </a:ext>
                  </a:extLst>
                </a:gridCol>
                <a:gridCol w="1266737">
                  <a:extLst>
                    <a:ext uri="{9D8B030D-6E8A-4147-A177-3AD203B41FA5}">
                      <a16:colId xmlns:a16="http://schemas.microsoft.com/office/drawing/2014/main" val="1800572407"/>
                    </a:ext>
                  </a:extLst>
                </a:gridCol>
                <a:gridCol w="1921079">
                  <a:extLst>
                    <a:ext uri="{9D8B030D-6E8A-4147-A177-3AD203B41FA5}">
                      <a16:colId xmlns:a16="http://schemas.microsoft.com/office/drawing/2014/main" val="1684618143"/>
                    </a:ext>
                  </a:extLst>
                </a:gridCol>
                <a:gridCol w="1896650">
                  <a:extLst>
                    <a:ext uri="{9D8B030D-6E8A-4147-A177-3AD203B41FA5}">
                      <a16:colId xmlns:a16="http://schemas.microsoft.com/office/drawing/2014/main" val="2699872985"/>
                    </a:ext>
                  </a:extLst>
                </a:gridCol>
              </a:tblGrid>
              <a:tr h="589086">
                <a:tc>
                  <a:txBody>
                    <a:bodyPr/>
                    <a:lstStyle/>
                    <a:p>
                      <a:r>
                        <a:rPr lang="fr-FR" u="sng"/>
                        <a:t>ID</a:t>
                      </a:r>
                    </a:p>
                  </a:txBody>
                  <a:tcPr/>
                </a:tc>
                <a:tc>
                  <a:txBody>
                    <a:bodyPr/>
                    <a:lstStyle/>
                    <a:p>
                      <a:r>
                        <a:rPr lang="fr-FR"/>
                        <a:t>Equipe 1</a:t>
                      </a:r>
                    </a:p>
                  </a:txBody>
                  <a:tcPr/>
                </a:tc>
                <a:tc>
                  <a:txBody>
                    <a:bodyPr/>
                    <a:lstStyle/>
                    <a:p>
                      <a:pPr lvl="0">
                        <a:buNone/>
                      </a:pPr>
                      <a:r>
                        <a:rPr lang="fr-FR"/>
                        <a:t>Equipe 2</a:t>
                      </a:r>
                    </a:p>
                  </a:txBody>
                  <a:tcPr/>
                </a:tc>
                <a:tc>
                  <a:txBody>
                    <a:bodyPr/>
                    <a:lstStyle/>
                    <a:p>
                      <a:r>
                        <a:rPr lang="fr-FR"/>
                        <a:t>Score équipe 1</a:t>
                      </a:r>
                    </a:p>
                  </a:txBody>
                  <a:tcPr/>
                </a:tc>
                <a:tc>
                  <a:txBody>
                    <a:bodyPr/>
                    <a:lstStyle/>
                    <a:p>
                      <a:pPr lvl="0">
                        <a:buNone/>
                      </a:pPr>
                      <a:r>
                        <a:rPr lang="fr-FR"/>
                        <a:t>Score équipe 2</a:t>
                      </a:r>
                    </a:p>
                  </a:txBody>
                  <a:tcPr/>
                </a:tc>
                <a:extLst>
                  <a:ext uri="{0D108BD9-81ED-4DB2-BD59-A6C34878D82A}">
                    <a16:rowId xmlns:a16="http://schemas.microsoft.com/office/drawing/2014/main" val="3262443685"/>
                  </a:ext>
                </a:extLst>
              </a:tr>
              <a:tr h="518957">
                <a:tc>
                  <a:txBody>
                    <a:bodyPr/>
                    <a:lstStyle/>
                    <a:p>
                      <a:r>
                        <a:rPr lang="fr-FR"/>
                        <a:t>1</a:t>
                      </a:r>
                    </a:p>
                  </a:txBody>
                  <a:tcPr/>
                </a:tc>
                <a:tc>
                  <a:txBody>
                    <a:bodyPr/>
                    <a:lstStyle/>
                    <a:p>
                      <a:r>
                        <a:rPr lang="fr-FR"/>
                        <a:t>1</a:t>
                      </a:r>
                    </a:p>
                  </a:txBody>
                  <a:tcPr/>
                </a:tc>
                <a:tc>
                  <a:txBody>
                    <a:bodyPr/>
                    <a:lstStyle/>
                    <a:p>
                      <a:pPr lvl="0">
                        <a:buNone/>
                      </a:pPr>
                      <a:r>
                        <a:rPr lang="fr-FR"/>
                        <a:t>4</a:t>
                      </a:r>
                    </a:p>
                  </a:txBody>
                  <a:tcPr/>
                </a:tc>
                <a:tc>
                  <a:txBody>
                    <a:bodyPr/>
                    <a:lstStyle/>
                    <a:p>
                      <a:r>
                        <a:rPr lang="fr-FR"/>
                        <a:t>1</a:t>
                      </a:r>
                    </a:p>
                  </a:txBody>
                  <a:tcPr/>
                </a:tc>
                <a:tc>
                  <a:txBody>
                    <a:bodyPr/>
                    <a:lstStyle/>
                    <a:p>
                      <a:pPr lvl="0">
                        <a:buNone/>
                      </a:pPr>
                      <a:r>
                        <a:rPr lang="fr-FR"/>
                        <a:t>3</a:t>
                      </a:r>
                    </a:p>
                  </a:txBody>
                  <a:tcPr/>
                </a:tc>
                <a:extLst>
                  <a:ext uri="{0D108BD9-81ED-4DB2-BD59-A6C34878D82A}">
                    <a16:rowId xmlns:a16="http://schemas.microsoft.com/office/drawing/2014/main" val="644644615"/>
                  </a:ext>
                </a:extLst>
              </a:tr>
              <a:tr h="364672">
                <a:tc>
                  <a:txBody>
                    <a:bodyPr/>
                    <a:lstStyle/>
                    <a:p>
                      <a:r>
                        <a:rPr lang="fr-FR"/>
                        <a:t>2</a:t>
                      </a:r>
                    </a:p>
                  </a:txBody>
                  <a:tcPr/>
                </a:tc>
                <a:tc>
                  <a:txBody>
                    <a:bodyPr/>
                    <a:lstStyle/>
                    <a:p>
                      <a:r>
                        <a:rPr lang="fr-FR"/>
                        <a:t>2</a:t>
                      </a:r>
                    </a:p>
                  </a:txBody>
                  <a:tcPr/>
                </a:tc>
                <a:tc>
                  <a:txBody>
                    <a:bodyPr/>
                    <a:lstStyle/>
                    <a:p>
                      <a:pPr lvl="0">
                        <a:buNone/>
                      </a:pPr>
                      <a:r>
                        <a:rPr lang="fr-FR"/>
                        <a:t>3</a:t>
                      </a:r>
                    </a:p>
                  </a:txBody>
                  <a:tcPr/>
                </a:tc>
                <a:tc>
                  <a:txBody>
                    <a:bodyPr/>
                    <a:lstStyle/>
                    <a:p>
                      <a:pPr lvl="0">
                        <a:buNone/>
                      </a:pPr>
                      <a:r>
                        <a:rPr lang="fr-FR"/>
                        <a:t>1</a:t>
                      </a:r>
                    </a:p>
                  </a:txBody>
                  <a:tcPr/>
                </a:tc>
                <a:tc>
                  <a:txBody>
                    <a:bodyPr/>
                    <a:lstStyle/>
                    <a:p>
                      <a:pPr lvl="0">
                        <a:buNone/>
                      </a:pPr>
                      <a:r>
                        <a:rPr lang="fr-FR"/>
                        <a:t>2</a:t>
                      </a:r>
                    </a:p>
                  </a:txBody>
                  <a:tcPr/>
                </a:tc>
                <a:extLst>
                  <a:ext uri="{0D108BD9-81ED-4DB2-BD59-A6C34878D82A}">
                    <a16:rowId xmlns:a16="http://schemas.microsoft.com/office/drawing/2014/main" val="1587431500"/>
                  </a:ext>
                </a:extLst>
              </a:tr>
              <a:tr h="518957">
                <a:tc>
                  <a:txBody>
                    <a:bodyPr/>
                    <a:lstStyle/>
                    <a:p>
                      <a:pPr lvl="0">
                        <a:buNone/>
                      </a:pPr>
                      <a:r>
                        <a:rPr lang="fr-FR"/>
                        <a:t>3</a:t>
                      </a:r>
                    </a:p>
                  </a:txBody>
                  <a:tcPr/>
                </a:tc>
                <a:tc>
                  <a:txBody>
                    <a:bodyPr/>
                    <a:lstStyle/>
                    <a:p>
                      <a:pPr lvl="0">
                        <a:buNone/>
                      </a:pPr>
                      <a:r>
                        <a:rPr lang="fr-FR"/>
                        <a:t>3</a:t>
                      </a:r>
                    </a:p>
                  </a:txBody>
                  <a:tcPr/>
                </a:tc>
                <a:tc>
                  <a:txBody>
                    <a:bodyPr/>
                    <a:lstStyle/>
                    <a:p>
                      <a:pPr lvl="0">
                        <a:buNone/>
                      </a:pPr>
                      <a:r>
                        <a:rPr lang="fr-FR"/>
                        <a:t>1</a:t>
                      </a:r>
                    </a:p>
                  </a:txBody>
                  <a:tcPr/>
                </a:tc>
                <a:tc>
                  <a:txBody>
                    <a:bodyPr/>
                    <a:lstStyle/>
                    <a:p>
                      <a:pPr lvl="0">
                        <a:buNone/>
                      </a:pPr>
                      <a:r>
                        <a:rPr lang="fr-FR"/>
                        <a:t>2</a:t>
                      </a:r>
                    </a:p>
                  </a:txBody>
                  <a:tcPr/>
                </a:tc>
                <a:tc>
                  <a:txBody>
                    <a:bodyPr/>
                    <a:lstStyle/>
                    <a:p>
                      <a:pPr lvl="0">
                        <a:buNone/>
                      </a:pPr>
                      <a:r>
                        <a:rPr lang="fr-FR"/>
                        <a:t>1</a:t>
                      </a:r>
                    </a:p>
                  </a:txBody>
                  <a:tcPr/>
                </a:tc>
                <a:extLst>
                  <a:ext uri="{0D108BD9-81ED-4DB2-BD59-A6C34878D82A}">
                    <a16:rowId xmlns:a16="http://schemas.microsoft.com/office/drawing/2014/main" val="2352285617"/>
                  </a:ext>
                </a:extLst>
              </a:tr>
            </a:tbl>
          </a:graphicData>
        </a:graphic>
      </p:graphicFrame>
      <p:graphicFrame>
        <p:nvGraphicFramePr>
          <p:cNvPr id="6" name="Tableau 3">
            <a:extLst>
              <a:ext uri="{FF2B5EF4-FFF2-40B4-BE49-F238E27FC236}">
                <a16:creationId xmlns:a16="http://schemas.microsoft.com/office/drawing/2014/main" id="{BC6E87E3-C3B7-4F82-8E4C-11C8EA6FB780}"/>
              </a:ext>
            </a:extLst>
          </p:cNvPr>
          <p:cNvGraphicFramePr>
            <a:graphicFrameLocks noGrp="1"/>
          </p:cNvGraphicFramePr>
          <p:nvPr>
            <p:extLst>
              <p:ext uri="{D42A27DB-BD31-4B8C-83A1-F6EECF244321}">
                <p14:modId xmlns:p14="http://schemas.microsoft.com/office/powerpoint/2010/main" val="1299348888"/>
              </p:ext>
            </p:extLst>
          </p:nvPr>
        </p:nvGraphicFramePr>
        <p:xfrm>
          <a:off x="8923793" y="3044161"/>
          <a:ext cx="2449493" cy="2511717"/>
        </p:xfrm>
        <a:graphic>
          <a:graphicData uri="http://schemas.openxmlformats.org/drawingml/2006/table">
            <a:tbl>
              <a:tblPr firstRow="1" bandRow="1">
                <a:tableStyleId>{5C22544A-7EE6-4342-B048-85BDC9FD1C3A}</a:tableStyleId>
              </a:tblPr>
              <a:tblGrid>
                <a:gridCol w="528414">
                  <a:extLst>
                    <a:ext uri="{9D8B030D-6E8A-4147-A177-3AD203B41FA5}">
                      <a16:colId xmlns:a16="http://schemas.microsoft.com/office/drawing/2014/main" val="2696855272"/>
                    </a:ext>
                  </a:extLst>
                </a:gridCol>
                <a:gridCol w="1921079">
                  <a:extLst>
                    <a:ext uri="{9D8B030D-6E8A-4147-A177-3AD203B41FA5}">
                      <a16:colId xmlns:a16="http://schemas.microsoft.com/office/drawing/2014/main" val="2339036760"/>
                    </a:ext>
                  </a:extLst>
                </a:gridCol>
              </a:tblGrid>
              <a:tr h="589086">
                <a:tc>
                  <a:txBody>
                    <a:bodyPr/>
                    <a:lstStyle/>
                    <a:p>
                      <a:r>
                        <a:rPr lang="fr-FR" u="sng"/>
                        <a:t>ID</a:t>
                      </a:r>
                    </a:p>
                  </a:txBody>
                  <a:tcPr/>
                </a:tc>
                <a:tc>
                  <a:txBody>
                    <a:bodyPr/>
                    <a:lstStyle/>
                    <a:p>
                      <a:r>
                        <a:rPr lang="fr-FR"/>
                        <a:t>Nom Equipe</a:t>
                      </a:r>
                    </a:p>
                  </a:txBody>
                  <a:tcPr/>
                </a:tc>
                <a:extLst>
                  <a:ext uri="{0D108BD9-81ED-4DB2-BD59-A6C34878D82A}">
                    <a16:rowId xmlns:a16="http://schemas.microsoft.com/office/drawing/2014/main" val="3262443685"/>
                  </a:ext>
                </a:extLst>
              </a:tr>
              <a:tr h="518957">
                <a:tc>
                  <a:txBody>
                    <a:bodyPr/>
                    <a:lstStyle/>
                    <a:p>
                      <a:r>
                        <a:rPr lang="fr-FR"/>
                        <a:t>1</a:t>
                      </a:r>
                    </a:p>
                  </a:txBody>
                  <a:tcPr/>
                </a:tc>
                <a:tc>
                  <a:txBody>
                    <a:bodyPr/>
                    <a:lstStyle/>
                    <a:p>
                      <a:r>
                        <a:rPr lang="fr-FR"/>
                        <a:t>Bourg Palette</a:t>
                      </a:r>
                    </a:p>
                  </a:txBody>
                  <a:tcPr/>
                </a:tc>
                <a:extLst>
                  <a:ext uri="{0D108BD9-81ED-4DB2-BD59-A6C34878D82A}">
                    <a16:rowId xmlns:a16="http://schemas.microsoft.com/office/drawing/2014/main" val="644644615"/>
                  </a:ext>
                </a:extLst>
              </a:tr>
              <a:tr h="364672">
                <a:tc>
                  <a:txBody>
                    <a:bodyPr/>
                    <a:lstStyle/>
                    <a:p>
                      <a:r>
                        <a:rPr lang="fr-FR"/>
                        <a:t>2</a:t>
                      </a:r>
                    </a:p>
                  </a:txBody>
                  <a:tcPr/>
                </a:tc>
                <a:tc>
                  <a:txBody>
                    <a:bodyPr/>
                    <a:lstStyle/>
                    <a:p>
                      <a:r>
                        <a:rPr lang="fr-FR" err="1"/>
                        <a:t>Azuria</a:t>
                      </a:r>
                      <a:endParaRPr lang="fr-FR"/>
                    </a:p>
                  </a:txBody>
                  <a:tcPr/>
                </a:tc>
                <a:extLst>
                  <a:ext uri="{0D108BD9-81ED-4DB2-BD59-A6C34878D82A}">
                    <a16:rowId xmlns:a16="http://schemas.microsoft.com/office/drawing/2014/main" val="1587431500"/>
                  </a:ext>
                </a:extLst>
              </a:tr>
              <a:tr h="518957">
                <a:tc>
                  <a:txBody>
                    <a:bodyPr/>
                    <a:lstStyle/>
                    <a:p>
                      <a:pPr lvl="0">
                        <a:buNone/>
                      </a:pPr>
                      <a:r>
                        <a:rPr lang="fr-FR"/>
                        <a:t>3</a:t>
                      </a:r>
                    </a:p>
                  </a:txBody>
                  <a:tcPr/>
                </a:tc>
                <a:tc>
                  <a:txBody>
                    <a:bodyPr/>
                    <a:lstStyle/>
                    <a:p>
                      <a:pPr lvl="0">
                        <a:buNone/>
                      </a:pPr>
                      <a:r>
                        <a:rPr lang="fr-FR"/>
                        <a:t>Lavanville</a:t>
                      </a:r>
                    </a:p>
                  </a:txBody>
                  <a:tcPr/>
                </a:tc>
                <a:extLst>
                  <a:ext uri="{0D108BD9-81ED-4DB2-BD59-A6C34878D82A}">
                    <a16:rowId xmlns:a16="http://schemas.microsoft.com/office/drawing/2014/main" val="2352285617"/>
                  </a:ext>
                </a:extLst>
              </a:tr>
              <a:tr h="518957">
                <a:tc>
                  <a:txBody>
                    <a:bodyPr/>
                    <a:lstStyle/>
                    <a:p>
                      <a:pPr lvl="0">
                        <a:buNone/>
                      </a:pPr>
                      <a:r>
                        <a:rPr lang="fr-FR"/>
                        <a:t>4</a:t>
                      </a:r>
                    </a:p>
                  </a:txBody>
                  <a:tcPr/>
                </a:tc>
                <a:tc>
                  <a:txBody>
                    <a:bodyPr/>
                    <a:lstStyle/>
                    <a:p>
                      <a:pPr lvl="0">
                        <a:buNone/>
                      </a:pPr>
                      <a:r>
                        <a:rPr lang="fr-FR" err="1"/>
                        <a:t>Jadielle</a:t>
                      </a:r>
                      <a:endParaRPr lang="fr-FR"/>
                    </a:p>
                  </a:txBody>
                  <a:tcPr/>
                </a:tc>
                <a:extLst>
                  <a:ext uri="{0D108BD9-81ED-4DB2-BD59-A6C34878D82A}">
                    <a16:rowId xmlns:a16="http://schemas.microsoft.com/office/drawing/2014/main" val="1540629632"/>
                  </a:ext>
                </a:extLst>
              </a:tr>
            </a:tbl>
          </a:graphicData>
        </a:graphic>
      </p:graphicFrame>
    </p:spTree>
    <p:extLst>
      <p:ext uri="{BB962C8B-B14F-4D97-AF65-F5344CB8AC3E}">
        <p14:creationId xmlns:p14="http://schemas.microsoft.com/office/powerpoint/2010/main" val="12400502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vert="horz" lIns="91440" tIns="45720" rIns="91440" bIns="45720" rtlCol="0" anchor="ctr">
            <a:normAutofit/>
          </a:bodyPr>
          <a:lstStyle/>
          <a:p>
            <a:pPr marL="285750" indent="-285750"/>
            <a:r>
              <a:rPr lang="fr-FR"/>
              <a:t>L’approche avec deux tables (et une relation) est préférable</a:t>
            </a:r>
          </a:p>
          <a:p>
            <a:pPr marL="685800" lvl="1"/>
            <a:r>
              <a:rPr lang="fr-FR"/>
              <a:t>Evite la redondance des données (le nom de l’équipe n’est pas réécrit plusieurs fois)</a:t>
            </a:r>
          </a:p>
          <a:p>
            <a:pPr marL="685800" lvl="1"/>
            <a:r>
              <a:rPr lang="fr-FR"/>
              <a:t>Permet de rajouter facilement des attributs (par exemple rajouter le nom du stade dans la table des équipes sans modifier la table des scores)</a:t>
            </a:r>
          </a:p>
        </p:txBody>
      </p:sp>
      <p:sp>
        <p:nvSpPr>
          <p:cNvPr id="6" name="Espace réservé du numéro de diapositive 5">
            <a:extLst>
              <a:ext uri="{FF2B5EF4-FFF2-40B4-BE49-F238E27FC236}">
                <a16:creationId xmlns:a16="http://schemas.microsoft.com/office/drawing/2014/main" id="{9589F732-D274-4E6E-A6D4-D398F1B8601C}"/>
              </a:ext>
            </a:extLst>
          </p:cNvPr>
          <p:cNvSpPr>
            <a:spLocks noGrp="1"/>
          </p:cNvSpPr>
          <p:nvPr>
            <p:ph type="sldNum" sz="quarter" idx="12"/>
          </p:nvPr>
        </p:nvSpPr>
        <p:spPr/>
        <p:txBody>
          <a:bodyPr/>
          <a:lstStyle/>
          <a:p>
            <a:fld id="{27C6CCC6-2BE5-4E42-96A4-D1E8E81A3D8E}" type="slidenum">
              <a:rPr lang="de-DE" smtClean="0"/>
              <a:t>46</a:t>
            </a:fld>
            <a:endParaRPr lang="de-DE"/>
          </a:p>
        </p:txBody>
      </p:sp>
    </p:spTree>
    <p:extLst>
      <p:ext uri="{BB962C8B-B14F-4D97-AF65-F5344CB8AC3E}">
        <p14:creationId xmlns:p14="http://schemas.microsoft.com/office/powerpoint/2010/main" val="16510121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vert="horz" lIns="91440" tIns="45720" rIns="91440" bIns="45720" rtlCol="0" anchor="t">
            <a:normAutofit/>
          </a:bodyPr>
          <a:lstStyle/>
          <a:p>
            <a:pPr marL="285750" indent="-285750"/>
            <a:r>
              <a:rPr lang="fr-FR"/>
              <a:t>Pour les </a:t>
            </a:r>
            <a:r>
              <a:rPr lang="fr-FR" err="1"/>
              <a:t>posts</a:t>
            </a:r>
            <a:r>
              <a:rPr lang="fr-FR"/>
              <a:t> de blog avec commentaire :</a:t>
            </a:r>
          </a:p>
          <a:p>
            <a:pPr marL="685800" lvl="1"/>
            <a:r>
              <a:rPr lang="fr-FR"/>
              <a:t>Deux entités : Post et Commentaire</a:t>
            </a:r>
          </a:p>
          <a:p>
            <a:pPr marL="685800" lvl="1"/>
            <a:r>
              <a:rPr lang="fr-FR"/>
              <a:t>Relation 1:N entre les deux (1 post possède N commentaires)</a:t>
            </a:r>
          </a:p>
          <a:p>
            <a:pPr marL="685800" lvl="1"/>
            <a:endParaRPr lang="fr-FR"/>
          </a:p>
          <a:p>
            <a:pPr marL="685800" lvl="1"/>
            <a:endParaRPr lang="fr-FR"/>
          </a:p>
        </p:txBody>
      </p:sp>
      <p:sp>
        <p:nvSpPr>
          <p:cNvPr id="8" name="Espace réservé du numéro de diapositive 7">
            <a:extLst>
              <a:ext uri="{FF2B5EF4-FFF2-40B4-BE49-F238E27FC236}">
                <a16:creationId xmlns:a16="http://schemas.microsoft.com/office/drawing/2014/main" id="{4CB646E3-0EAD-4E82-9DF6-BB01F51CA0C8}"/>
              </a:ext>
            </a:extLst>
          </p:cNvPr>
          <p:cNvSpPr>
            <a:spLocks noGrp="1"/>
          </p:cNvSpPr>
          <p:nvPr>
            <p:ph type="sldNum" sz="quarter" idx="12"/>
          </p:nvPr>
        </p:nvSpPr>
        <p:spPr/>
        <p:txBody>
          <a:bodyPr/>
          <a:lstStyle/>
          <a:p>
            <a:fld id="{27C6CCC6-2BE5-4E42-96A4-D1E8E81A3D8E}" type="slidenum">
              <a:rPr lang="de-DE" smtClean="0"/>
              <a:t>47</a:t>
            </a:fld>
            <a:endParaRPr lang="de-DE"/>
          </a:p>
        </p:txBody>
      </p:sp>
      <p:graphicFrame>
        <p:nvGraphicFramePr>
          <p:cNvPr id="4" name="Tableau 3">
            <a:extLst>
              <a:ext uri="{FF2B5EF4-FFF2-40B4-BE49-F238E27FC236}">
                <a16:creationId xmlns:a16="http://schemas.microsoft.com/office/drawing/2014/main" id="{2CBDC58A-2711-4B35-8DCD-830A80BECADD}"/>
              </a:ext>
            </a:extLst>
          </p:cNvPr>
          <p:cNvGraphicFramePr>
            <a:graphicFrameLocks noGrp="1"/>
          </p:cNvGraphicFramePr>
          <p:nvPr>
            <p:extLst>
              <p:ext uri="{D42A27DB-BD31-4B8C-83A1-F6EECF244321}">
                <p14:modId xmlns:p14="http://schemas.microsoft.com/office/powerpoint/2010/main" val="2013593748"/>
              </p:ext>
            </p:extLst>
          </p:nvPr>
        </p:nvGraphicFramePr>
        <p:xfrm>
          <a:off x="492857" y="3597834"/>
          <a:ext cx="4389537" cy="2511717"/>
        </p:xfrm>
        <a:graphic>
          <a:graphicData uri="http://schemas.openxmlformats.org/drawingml/2006/table">
            <a:tbl>
              <a:tblPr firstRow="1" bandRow="1">
                <a:tableStyleId>{5C22544A-7EE6-4342-B048-85BDC9FD1C3A}</a:tableStyleId>
              </a:tblPr>
              <a:tblGrid>
                <a:gridCol w="589323">
                  <a:extLst>
                    <a:ext uri="{9D8B030D-6E8A-4147-A177-3AD203B41FA5}">
                      <a16:colId xmlns:a16="http://schemas.microsoft.com/office/drawing/2014/main" val="2696855272"/>
                    </a:ext>
                  </a:extLst>
                </a:gridCol>
                <a:gridCol w="1122424">
                  <a:extLst>
                    <a:ext uri="{9D8B030D-6E8A-4147-A177-3AD203B41FA5}">
                      <a16:colId xmlns:a16="http://schemas.microsoft.com/office/drawing/2014/main" val="2339036760"/>
                    </a:ext>
                  </a:extLst>
                </a:gridCol>
                <a:gridCol w="1338895">
                  <a:extLst>
                    <a:ext uri="{9D8B030D-6E8A-4147-A177-3AD203B41FA5}">
                      <a16:colId xmlns:a16="http://schemas.microsoft.com/office/drawing/2014/main" val="1557291614"/>
                    </a:ext>
                  </a:extLst>
                </a:gridCol>
                <a:gridCol w="1338895">
                  <a:extLst>
                    <a:ext uri="{9D8B030D-6E8A-4147-A177-3AD203B41FA5}">
                      <a16:colId xmlns:a16="http://schemas.microsoft.com/office/drawing/2014/main" val="448887734"/>
                    </a:ext>
                  </a:extLst>
                </a:gridCol>
              </a:tblGrid>
              <a:tr h="589086">
                <a:tc>
                  <a:txBody>
                    <a:bodyPr/>
                    <a:lstStyle/>
                    <a:p>
                      <a:r>
                        <a:rPr lang="fr-FR" u="sng"/>
                        <a:t>ID</a:t>
                      </a:r>
                    </a:p>
                  </a:txBody>
                  <a:tcPr/>
                </a:tc>
                <a:tc>
                  <a:txBody>
                    <a:bodyPr/>
                    <a:lstStyle/>
                    <a:p>
                      <a:r>
                        <a:rPr lang="fr-FR"/>
                        <a:t>Titre</a:t>
                      </a:r>
                    </a:p>
                  </a:txBody>
                  <a:tcPr/>
                </a:tc>
                <a:tc>
                  <a:txBody>
                    <a:bodyPr/>
                    <a:lstStyle/>
                    <a:p>
                      <a:r>
                        <a:rPr lang="fr-FR"/>
                        <a:t>Contenu</a:t>
                      </a:r>
                    </a:p>
                  </a:txBody>
                  <a:tcPr/>
                </a:tc>
                <a:tc>
                  <a:txBody>
                    <a:bodyPr/>
                    <a:lstStyle/>
                    <a:p>
                      <a:r>
                        <a:rPr lang="fr-FR"/>
                        <a:t>Date</a:t>
                      </a:r>
                    </a:p>
                  </a:txBody>
                  <a:tcPr/>
                </a:tc>
                <a:extLst>
                  <a:ext uri="{0D108BD9-81ED-4DB2-BD59-A6C34878D82A}">
                    <a16:rowId xmlns:a16="http://schemas.microsoft.com/office/drawing/2014/main" val="3262443685"/>
                  </a:ext>
                </a:extLst>
              </a:tr>
              <a:tr h="518957">
                <a:tc>
                  <a:txBody>
                    <a:bodyPr/>
                    <a:lstStyle/>
                    <a:p>
                      <a:r>
                        <a:rPr lang="fr-FR"/>
                        <a:t>1</a:t>
                      </a:r>
                    </a:p>
                  </a:txBody>
                  <a:tcPr/>
                </a:tc>
                <a:tc>
                  <a:txBody>
                    <a:bodyPr/>
                    <a:lstStyle/>
                    <a:p>
                      <a:r>
                        <a:rPr lang="fr-FR"/>
                        <a:t>Post 1</a:t>
                      </a:r>
                    </a:p>
                  </a:txBody>
                  <a:tcPr/>
                </a:tc>
                <a:tc>
                  <a:txBody>
                    <a:bodyPr/>
                    <a:lstStyle/>
                    <a:p>
                      <a:r>
                        <a:rPr lang="fr-FR" err="1"/>
                        <a:t>Blabla</a:t>
                      </a:r>
                      <a:r>
                        <a:rPr lang="fr-FR"/>
                        <a:t>…</a:t>
                      </a:r>
                    </a:p>
                  </a:txBody>
                  <a:tcPr/>
                </a:tc>
                <a:tc>
                  <a:txBody>
                    <a:bodyPr/>
                    <a:lstStyle/>
                    <a:p>
                      <a:r>
                        <a:rPr lang="fr-FR"/>
                        <a:t>01/02/19</a:t>
                      </a:r>
                    </a:p>
                  </a:txBody>
                  <a:tcPr/>
                </a:tc>
                <a:extLst>
                  <a:ext uri="{0D108BD9-81ED-4DB2-BD59-A6C34878D82A}">
                    <a16:rowId xmlns:a16="http://schemas.microsoft.com/office/drawing/2014/main" val="644644615"/>
                  </a:ext>
                </a:extLst>
              </a:tr>
              <a:tr h="364672">
                <a:tc>
                  <a:txBody>
                    <a:bodyPr/>
                    <a:lstStyle/>
                    <a:p>
                      <a:r>
                        <a:rPr lang="fr-FR"/>
                        <a:t>2</a:t>
                      </a:r>
                    </a:p>
                  </a:txBody>
                  <a:tcPr/>
                </a:tc>
                <a:tc>
                  <a:txBody>
                    <a:bodyPr/>
                    <a:lstStyle/>
                    <a:p>
                      <a:r>
                        <a:rPr lang="fr-FR"/>
                        <a:t>Post 2</a:t>
                      </a:r>
                    </a:p>
                  </a:txBody>
                  <a:tcPr/>
                </a:tc>
                <a:tc>
                  <a:txBody>
                    <a:bodyPr/>
                    <a:lstStyle/>
                    <a:p>
                      <a:r>
                        <a:rPr lang="fr-FR" err="1"/>
                        <a:t>Bleble</a:t>
                      </a:r>
                      <a:r>
                        <a:rPr lang="fr-FR"/>
                        <a:t>…</a:t>
                      </a:r>
                    </a:p>
                  </a:txBody>
                  <a:tcPr/>
                </a:tc>
                <a:tc>
                  <a:txBody>
                    <a:bodyPr/>
                    <a:lstStyle/>
                    <a:p>
                      <a:r>
                        <a:rPr lang="fr-FR"/>
                        <a:t>05/03/19</a:t>
                      </a:r>
                    </a:p>
                  </a:txBody>
                  <a:tcPr/>
                </a:tc>
                <a:extLst>
                  <a:ext uri="{0D108BD9-81ED-4DB2-BD59-A6C34878D82A}">
                    <a16:rowId xmlns:a16="http://schemas.microsoft.com/office/drawing/2014/main" val="1587431500"/>
                  </a:ext>
                </a:extLst>
              </a:tr>
              <a:tr h="518957">
                <a:tc>
                  <a:txBody>
                    <a:bodyPr/>
                    <a:lstStyle/>
                    <a:p>
                      <a:pPr lvl="0">
                        <a:buNone/>
                      </a:pPr>
                      <a:r>
                        <a:rPr lang="fr-FR"/>
                        <a:t>3</a:t>
                      </a:r>
                    </a:p>
                  </a:txBody>
                  <a:tcPr/>
                </a:tc>
                <a:tc>
                  <a:txBody>
                    <a:bodyPr/>
                    <a:lstStyle/>
                    <a:p>
                      <a:pPr lvl="0">
                        <a:buNone/>
                      </a:pPr>
                      <a:r>
                        <a:rPr lang="fr-FR"/>
                        <a:t>Post 3</a:t>
                      </a:r>
                    </a:p>
                  </a:txBody>
                  <a:tcPr/>
                </a:tc>
                <a:tc>
                  <a:txBody>
                    <a:bodyPr/>
                    <a:lstStyle/>
                    <a:p>
                      <a:pPr lvl="0">
                        <a:buNone/>
                      </a:pPr>
                      <a:r>
                        <a:rPr lang="fr-FR" err="1"/>
                        <a:t>Blibli</a:t>
                      </a:r>
                      <a:r>
                        <a:rPr lang="fr-FR"/>
                        <a:t>…</a:t>
                      </a:r>
                    </a:p>
                  </a:txBody>
                  <a:tcPr/>
                </a:tc>
                <a:tc>
                  <a:txBody>
                    <a:bodyPr/>
                    <a:lstStyle/>
                    <a:p>
                      <a:pPr lvl="0">
                        <a:buNone/>
                      </a:pPr>
                      <a:r>
                        <a:rPr lang="fr-FR"/>
                        <a:t>10/04/19</a:t>
                      </a:r>
                    </a:p>
                  </a:txBody>
                  <a:tcPr/>
                </a:tc>
                <a:extLst>
                  <a:ext uri="{0D108BD9-81ED-4DB2-BD59-A6C34878D82A}">
                    <a16:rowId xmlns:a16="http://schemas.microsoft.com/office/drawing/2014/main" val="2352285617"/>
                  </a:ext>
                </a:extLst>
              </a:tr>
              <a:tr h="518957">
                <a:tc>
                  <a:txBody>
                    <a:bodyPr/>
                    <a:lstStyle/>
                    <a:p>
                      <a:pPr lvl="0">
                        <a:buNone/>
                      </a:pPr>
                      <a:r>
                        <a:rPr lang="fr-FR"/>
                        <a:t>4</a:t>
                      </a:r>
                    </a:p>
                  </a:txBody>
                  <a:tcPr/>
                </a:tc>
                <a:tc>
                  <a:txBody>
                    <a:bodyPr/>
                    <a:lstStyle/>
                    <a:p>
                      <a:pPr lvl="0">
                        <a:buNone/>
                      </a:pPr>
                      <a:r>
                        <a:rPr lang="fr-FR"/>
                        <a:t>Post 4</a:t>
                      </a:r>
                    </a:p>
                  </a:txBody>
                  <a:tcPr/>
                </a:tc>
                <a:tc>
                  <a:txBody>
                    <a:bodyPr/>
                    <a:lstStyle/>
                    <a:p>
                      <a:pPr lvl="0">
                        <a:buNone/>
                      </a:pPr>
                      <a:r>
                        <a:rPr lang="fr-FR" err="1"/>
                        <a:t>Bloblo</a:t>
                      </a:r>
                      <a:r>
                        <a:rPr lang="fr-FR"/>
                        <a:t>…</a:t>
                      </a:r>
                    </a:p>
                  </a:txBody>
                  <a:tcPr/>
                </a:tc>
                <a:tc>
                  <a:txBody>
                    <a:bodyPr/>
                    <a:lstStyle/>
                    <a:p>
                      <a:pPr lvl="0">
                        <a:buNone/>
                      </a:pPr>
                      <a:r>
                        <a:rPr lang="fr-FR"/>
                        <a:t>15/05/19</a:t>
                      </a:r>
                    </a:p>
                  </a:txBody>
                  <a:tcPr/>
                </a:tc>
                <a:extLst>
                  <a:ext uri="{0D108BD9-81ED-4DB2-BD59-A6C34878D82A}">
                    <a16:rowId xmlns:a16="http://schemas.microsoft.com/office/drawing/2014/main" val="1540629632"/>
                  </a:ext>
                </a:extLst>
              </a:tr>
            </a:tbl>
          </a:graphicData>
        </a:graphic>
      </p:graphicFrame>
      <p:graphicFrame>
        <p:nvGraphicFramePr>
          <p:cNvPr id="5" name="Tableau 4">
            <a:extLst>
              <a:ext uri="{FF2B5EF4-FFF2-40B4-BE49-F238E27FC236}">
                <a16:creationId xmlns:a16="http://schemas.microsoft.com/office/drawing/2014/main" id="{7229069E-A6FC-49DC-85F1-810DEFCDA60D}"/>
              </a:ext>
            </a:extLst>
          </p:cNvPr>
          <p:cNvGraphicFramePr>
            <a:graphicFrameLocks noGrp="1"/>
          </p:cNvGraphicFramePr>
          <p:nvPr>
            <p:extLst>
              <p:ext uri="{D42A27DB-BD31-4B8C-83A1-F6EECF244321}">
                <p14:modId xmlns:p14="http://schemas.microsoft.com/office/powerpoint/2010/main" val="2674858735"/>
              </p:ext>
            </p:extLst>
          </p:nvPr>
        </p:nvGraphicFramePr>
        <p:xfrm>
          <a:off x="5933071" y="3597834"/>
          <a:ext cx="5232676" cy="2511717"/>
        </p:xfrm>
        <a:graphic>
          <a:graphicData uri="http://schemas.openxmlformats.org/drawingml/2006/table">
            <a:tbl>
              <a:tblPr firstRow="1" bandRow="1">
                <a:tableStyleId>{5C22544A-7EE6-4342-B048-85BDC9FD1C3A}</a:tableStyleId>
              </a:tblPr>
              <a:tblGrid>
                <a:gridCol w="654130">
                  <a:extLst>
                    <a:ext uri="{9D8B030D-6E8A-4147-A177-3AD203B41FA5}">
                      <a16:colId xmlns:a16="http://schemas.microsoft.com/office/drawing/2014/main" val="2696855272"/>
                    </a:ext>
                  </a:extLst>
                </a:gridCol>
                <a:gridCol w="1776623">
                  <a:extLst>
                    <a:ext uri="{9D8B030D-6E8A-4147-A177-3AD203B41FA5}">
                      <a16:colId xmlns:a16="http://schemas.microsoft.com/office/drawing/2014/main" val="2339036760"/>
                    </a:ext>
                  </a:extLst>
                </a:gridCol>
                <a:gridCol w="1315793">
                  <a:extLst>
                    <a:ext uri="{9D8B030D-6E8A-4147-A177-3AD203B41FA5}">
                      <a16:colId xmlns:a16="http://schemas.microsoft.com/office/drawing/2014/main" val="448887734"/>
                    </a:ext>
                  </a:extLst>
                </a:gridCol>
                <a:gridCol w="1486130">
                  <a:extLst>
                    <a:ext uri="{9D8B030D-6E8A-4147-A177-3AD203B41FA5}">
                      <a16:colId xmlns:a16="http://schemas.microsoft.com/office/drawing/2014/main" val="1642785765"/>
                    </a:ext>
                  </a:extLst>
                </a:gridCol>
              </a:tblGrid>
              <a:tr h="589086">
                <a:tc>
                  <a:txBody>
                    <a:bodyPr/>
                    <a:lstStyle/>
                    <a:p>
                      <a:r>
                        <a:rPr lang="fr-FR" u="sng"/>
                        <a:t>ID</a:t>
                      </a:r>
                    </a:p>
                  </a:txBody>
                  <a:tcPr/>
                </a:tc>
                <a:tc>
                  <a:txBody>
                    <a:bodyPr/>
                    <a:lstStyle/>
                    <a:p>
                      <a:r>
                        <a:rPr lang="fr-FR"/>
                        <a:t>Commentaire</a:t>
                      </a:r>
                    </a:p>
                  </a:txBody>
                  <a:tcPr/>
                </a:tc>
                <a:tc>
                  <a:txBody>
                    <a:bodyPr/>
                    <a:lstStyle/>
                    <a:p>
                      <a:r>
                        <a:rPr lang="fr-FR"/>
                        <a:t>Date</a:t>
                      </a:r>
                    </a:p>
                  </a:txBody>
                  <a:tcPr/>
                </a:tc>
                <a:tc>
                  <a:txBody>
                    <a:bodyPr/>
                    <a:lstStyle/>
                    <a:p>
                      <a:r>
                        <a:rPr lang="fr-FR"/>
                        <a:t>ID Post</a:t>
                      </a:r>
                    </a:p>
                  </a:txBody>
                  <a:tcPr/>
                </a:tc>
                <a:extLst>
                  <a:ext uri="{0D108BD9-81ED-4DB2-BD59-A6C34878D82A}">
                    <a16:rowId xmlns:a16="http://schemas.microsoft.com/office/drawing/2014/main" val="3262443685"/>
                  </a:ext>
                </a:extLst>
              </a:tr>
              <a:tr h="518957">
                <a:tc>
                  <a:txBody>
                    <a:bodyPr/>
                    <a:lstStyle/>
                    <a:p>
                      <a:r>
                        <a:rPr lang="fr-FR"/>
                        <a:t>1</a:t>
                      </a:r>
                    </a:p>
                  </a:txBody>
                  <a:tcPr/>
                </a:tc>
                <a:tc>
                  <a:txBody>
                    <a:bodyPr/>
                    <a:lstStyle/>
                    <a:p>
                      <a:r>
                        <a:rPr lang="fr-FR"/>
                        <a:t>First</a:t>
                      </a:r>
                    </a:p>
                  </a:txBody>
                  <a:tcPr/>
                </a:tc>
                <a:tc>
                  <a:txBody>
                    <a:bodyPr/>
                    <a:lstStyle/>
                    <a:p>
                      <a:r>
                        <a:rPr lang="fr-FR"/>
                        <a:t>05/02/19</a:t>
                      </a:r>
                    </a:p>
                  </a:txBody>
                  <a:tcPr/>
                </a:tc>
                <a:tc>
                  <a:txBody>
                    <a:bodyPr/>
                    <a:lstStyle/>
                    <a:p>
                      <a:r>
                        <a:rPr lang="fr-FR"/>
                        <a:t>1</a:t>
                      </a:r>
                    </a:p>
                  </a:txBody>
                  <a:tcPr/>
                </a:tc>
                <a:extLst>
                  <a:ext uri="{0D108BD9-81ED-4DB2-BD59-A6C34878D82A}">
                    <a16:rowId xmlns:a16="http://schemas.microsoft.com/office/drawing/2014/main" val="644644615"/>
                  </a:ext>
                </a:extLst>
              </a:tr>
              <a:tr h="364672">
                <a:tc>
                  <a:txBody>
                    <a:bodyPr/>
                    <a:lstStyle/>
                    <a:p>
                      <a:r>
                        <a:rPr lang="fr-FR"/>
                        <a:t>2</a:t>
                      </a:r>
                    </a:p>
                  </a:txBody>
                  <a:tcPr/>
                </a:tc>
                <a:tc>
                  <a:txBody>
                    <a:bodyPr/>
                    <a:lstStyle/>
                    <a:p>
                      <a:r>
                        <a:rPr lang="fr-FR"/>
                        <a:t>C’est nul</a:t>
                      </a:r>
                    </a:p>
                  </a:txBody>
                  <a:tcPr/>
                </a:tc>
                <a:tc>
                  <a:txBody>
                    <a:bodyPr/>
                    <a:lstStyle/>
                    <a:p>
                      <a:r>
                        <a:rPr lang="fr-FR"/>
                        <a:t>06/02/19</a:t>
                      </a:r>
                    </a:p>
                  </a:txBody>
                  <a:tcPr/>
                </a:tc>
                <a:tc>
                  <a:txBody>
                    <a:bodyPr/>
                    <a:lstStyle/>
                    <a:p>
                      <a:r>
                        <a:rPr lang="fr-FR"/>
                        <a:t>1</a:t>
                      </a:r>
                    </a:p>
                  </a:txBody>
                  <a:tcPr/>
                </a:tc>
                <a:extLst>
                  <a:ext uri="{0D108BD9-81ED-4DB2-BD59-A6C34878D82A}">
                    <a16:rowId xmlns:a16="http://schemas.microsoft.com/office/drawing/2014/main" val="1587431500"/>
                  </a:ext>
                </a:extLst>
              </a:tr>
              <a:tr h="518957">
                <a:tc>
                  <a:txBody>
                    <a:bodyPr/>
                    <a:lstStyle/>
                    <a:p>
                      <a:pPr lvl="0">
                        <a:buNone/>
                      </a:pPr>
                      <a:r>
                        <a:rPr lang="fr-FR"/>
                        <a:t>3</a:t>
                      </a:r>
                    </a:p>
                  </a:txBody>
                  <a:tcPr/>
                </a:tc>
                <a:tc>
                  <a:txBody>
                    <a:bodyPr/>
                    <a:lstStyle/>
                    <a:p>
                      <a:pPr lvl="0">
                        <a:buNone/>
                      </a:pPr>
                      <a:r>
                        <a:rPr lang="fr-FR"/>
                        <a:t>Up</a:t>
                      </a:r>
                    </a:p>
                  </a:txBody>
                  <a:tcPr/>
                </a:tc>
                <a:tc>
                  <a:txBody>
                    <a:bodyPr/>
                    <a:lstStyle/>
                    <a:p>
                      <a:pPr lvl="0">
                        <a:buNone/>
                      </a:pPr>
                      <a:r>
                        <a:rPr lang="fr-FR"/>
                        <a:t>06/02/19</a:t>
                      </a:r>
                    </a:p>
                  </a:txBody>
                  <a:tcPr/>
                </a:tc>
                <a:tc>
                  <a:txBody>
                    <a:bodyPr/>
                    <a:lstStyle/>
                    <a:p>
                      <a:pPr lvl="0">
                        <a:buNone/>
                      </a:pPr>
                      <a:r>
                        <a:rPr lang="fr-FR"/>
                        <a:t>1</a:t>
                      </a:r>
                    </a:p>
                  </a:txBody>
                  <a:tcPr/>
                </a:tc>
                <a:extLst>
                  <a:ext uri="{0D108BD9-81ED-4DB2-BD59-A6C34878D82A}">
                    <a16:rowId xmlns:a16="http://schemas.microsoft.com/office/drawing/2014/main" val="2352285617"/>
                  </a:ext>
                </a:extLst>
              </a:tr>
              <a:tr h="518957">
                <a:tc>
                  <a:txBody>
                    <a:bodyPr/>
                    <a:lstStyle/>
                    <a:p>
                      <a:pPr lvl="0">
                        <a:buNone/>
                      </a:pPr>
                      <a:r>
                        <a:rPr lang="fr-FR"/>
                        <a:t>4</a:t>
                      </a:r>
                    </a:p>
                  </a:txBody>
                  <a:tcPr/>
                </a:tc>
                <a:tc>
                  <a:txBody>
                    <a:bodyPr/>
                    <a:lstStyle/>
                    <a:p>
                      <a:pPr lvl="0">
                        <a:buNone/>
                      </a:pPr>
                      <a:r>
                        <a:rPr lang="fr-FR"/>
                        <a:t>First</a:t>
                      </a:r>
                    </a:p>
                  </a:txBody>
                  <a:tcPr/>
                </a:tc>
                <a:tc>
                  <a:txBody>
                    <a:bodyPr/>
                    <a:lstStyle/>
                    <a:p>
                      <a:pPr lvl="0">
                        <a:buNone/>
                      </a:pPr>
                      <a:r>
                        <a:rPr lang="fr-FR"/>
                        <a:t>06/03/19</a:t>
                      </a:r>
                    </a:p>
                  </a:txBody>
                  <a:tcPr/>
                </a:tc>
                <a:tc>
                  <a:txBody>
                    <a:bodyPr/>
                    <a:lstStyle/>
                    <a:p>
                      <a:pPr lvl="0">
                        <a:buNone/>
                      </a:pPr>
                      <a:r>
                        <a:rPr lang="fr-FR"/>
                        <a:t>2</a:t>
                      </a:r>
                    </a:p>
                  </a:txBody>
                  <a:tcPr/>
                </a:tc>
                <a:extLst>
                  <a:ext uri="{0D108BD9-81ED-4DB2-BD59-A6C34878D82A}">
                    <a16:rowId xmlns:a16="http://schemas.microsoft.com/office/drawing/2014/main" val="1540629632"/>
                  </a:ext>
                </a:extLst>
              </a:tr>
            </a:tbl>
          </a:graphicData>
        </a:graphic>
      </p:graphicFrame>
    </p:spTree>
    <p:extLst>
      <p:ext uri="{BB962C8B-B14F-4D97-AF65-F5344CB8AC3E}">
        <p14:creationId xmlns:p14="http://schemas.microsoft.com/office/powerpoint/2010/main" val="1414109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vert="horz" lIns="91440" tIns="45720" rIns="91440" bIns="45720" rtlCol="0" anchor="ctr">
            <a:normAutofit/>
          </a:bodyPr>
          <a:lstStyle/>
          <a:p>
            <a:pPr marL="285750" indent="-285750"/>
            <a:r>
              <a:rPr lang="fr-FR"/>
              <a:t>Exercice : écrire les tables pour représenter la relation N:M suivante « Un étudiant suit une ou plusieurs UV, une UV est suivie par un ou plusieurs étudiants »</a:t>
            </a:r>
          </a:p>
          <a:p>
            <a:pPr marL="685800" lvl="1"/>
            <a:endParaRPr lang="fr-FR"/>
          </a:p>
        </p:txBody>
      </p:sp>
      <p:sp>
        <p:nvSpPr>
          <p:cNvPr id="6" name="Espace réservé du numéro de diapositive 5">
            <a:extLst>
              <a:ext uri="{FF2B5EF4-FFF2-40B4-BE49-F238E27FC236}">
                <a16:creationId xmlns:a16="http://schemas.microsoft.com/office/drawing/2014/main" id="{00A6DF68-8E24-4DC7-9CA6-48A9513B6353}"/>
              </a:ext>
            </a:extLst>
          </p:cNvPr>
          <p:cNvSpPr>
            <a:spLocks noGrp="1"/>
          </p:cNvSpPr>
          <p:nvPr>
            <p:ph type="sldNum" sz="quarter" idx="12"/>
          </p:nvPr>
        </p:nvSpPr>
        <p:spPr/>
        <p:txBody>
          <a:bodyPr/>
          <a:lstStyle/>
          <a:p>
            <a:fld id="{27C6CCC6-2BE5-4E42-96A4-D1E8E81A3D8E}" type="slidenum">
              <a:rPr lang="de-DE" smtClean="0"/>
              <a:t>48</a:t>
            </a:fld>
            <a:endParaRPr lang="de-DE"/>
          </a:p>
        </p:txBody>
      </p:sp>
    </p:spTree>
    <p:extLst>
      <p:ext uri="{BB962C8B-B14F-4D97-AF65-F5344CB8AC3E}">
        <p14:creationId xmlns:p14="http://schemas.microsoft.com/office/powerpoint/2010/main" val="10432841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8" name="Espace réservé du numéro de diapositive 7">
            <a:extLst>
              <a:ext uri="{FF2B5EF4-FFF2-40B4-BE49-F238E27FC236}">
                <a16:creationId xmlns:a16="http://schemas.microsoft.com/office/drawing/2014/main" id="{F706456F-6EA2-4E10-8614-19A245483734}"/>
              </a:ext>
            </a:extLst>
          </p:cNvPr>
          <p:cNvSpPr>
            <a:spLocks noGrp="1"/>
          </p:cNvSpPr>
          <p:nvPr>
            <p:ph type="sldNum" sz="quarter" idx="12"/>
          </p:nvPr>
        </p:nvSpPr>
        <p:spPr/>
        <p:txBody>
          <a:bodyPr/>
          <a:lstStyle/>
          <a:p>
            <a:fld id="{27C6CCC6-2BE5-4E42-96A4-D1E8E81A3D8E}" type="slidenum">
              <a:rPr lang="de-DE" smtClean="0"/>
              <a:t>49</a:t>
            </a:fld>
            <a:endParaRPr lang="de-DE"/>
          </a:p>
        </p:txBody>
      </p:sp>
      <p:graphicFrame>
        <p:nvGraphicFramePr>
          <p:cNvPr id="4" name="Tableau 3">
            <a:extLst>
              <a:ext uri="{FF2B5EF4-FFF2-40B4-BE49-F238E27FC236}">
                <a16:creationId xmlns:a16="http://schemas.microsoft.com/office/drawing/2014/main" id="{A2FFD409-95F4-41B0-8B0C-E6C1B8DC16F3}"/>
              </a:ext>
            </a:extLst>
          </p:cNvPr>
          <p:cNvGraphicFramePr>
            <a:graphicFrameLocks noGrp="1"/>
          </p:cNvGraphicFramePr>
          <p:nvPr>
            <p:extLst>
              <p:ext uri="{D42A27DB-BD31-4B8C-83A1-F6EECF244321}">
                <p14:modId xmlns:p14="http://schemas.microsoft.com/office/powerpoint/2010/main" val="1284132649"/>
              </p:ext>
            </p:extLst>
          </p:nvPr>
        </p:nvGraphicFramePr>
        <p:xfrm>
          <a:off x="4808875" y="2540821"/>
          <a:ext cx="2574247" cy="3314369"/>
        </p:xfrm>
        <a:graphic>
          <a:graphicData uri="http://schemas.openxmlformats.org/drawingml/2006/table">
            <a:tbl>
              <a:tblPr firstRow="1" bandRow="1">
                <a:tableStyleId>{5C22544A-7EE6-4342-B048-85BDC9FD1C3A}</a:tableStyleId>
              </a:tblPr>
              <a:tblGrid>
                <a:gridCol w="1039738">
                  <a:extLst>
                    <a:ext uri="{9D8B030D-6E8A-4147-A177-3AD203B41FA5}">
                      <a16:colId xmlns:a16="http://schemas.microsoft.com/office/drawing/2014/main" val="2339036760"/>
                    </a:ext>
                  </a:extLst>
                </a:gridCol>
                <a:gridCol w="1534509">
                  <a:extLst>
                    <a:ext uri="{9D8B030D-6E8A-4147-A177-3AD203B41FA5}">
                      <a16:colId xmlns:a16="http://schemas.microsoft.com/office/drawing/2014/main" val="1557291614"/>
                    </a:ext>
                  </a:extLst>
                </a:gridCol>
              </a:tblGrid>
              <a:tr h="469097">
                <a:tc>
                  <a:txBody>
                    <a:bodyPr/>
                    <a:lstStyle/>
                    <a:p>
                      <a:r>
                        <a:rPr lang="fr-FR" u="sng" dirty="0"/>
                        <a:t>ID_UV</a:t>
                      </a:r>
                    </a:p>
                  </a:txBody>
                  <a:tcPr/>
                </a:tc>
                <a:tc>
                  <a:txBody>
                    <a:bodyPr/>
                    <a:lstStyle/>
                    <a:p>
                      <a:r>
                        <a:rPr lang="fr-FR" u="sng" dirty="0" err="1"/>
                        <a:t>ID_Etudiant</a:t>
                      </a:r>
                      <a:endParaRPr lang="fr-FR" u="sng" dirty="0"/>
                    </a:p>
                  </a:txBody>
                  <a:tcPr/>
                </a:tc>
                <a:extLst>
                  <a:ext uri="{0D108BD9-81ED-4DB2-BD59-A6C34878D82A}">
                    <a16:rowId xmlns:a16="http://schemas.microsoft.com/office/drawing/2014/main" val="3262443685"/>
                  </a:ext>
                </a:extLst>
              </a:tr>
              <a:tr h="413252">
                <a:tc>
                  <a:txBody>
                    <a:bodyPr/>
                    <a:lstStyle/>
                    <a:p>
                      <a:r>
                        <a:rPr lang="fr-FR"/>
                        <a:t>1</a:t>
                      </a:r>
                    </a:p>
                  </a:txBody>
                  <a:tcPr/>
                </a:tc>
                <a:tc>
                  <a:txBody>
                    <a:bodyPr/>
                    <a:lstStyle/>
                    <a:p>
                      <a:r>
                        <a:rPr lang="fr-FR"/>
                        <a:t>1</a:t>
                      </a:r>
                    </a:p>
                  </a:txBody>
                  <a:tcPr/>
                </a:tc>
                <a:extLst>
                  <a:ext uri="{0D108BD9-81ED-4DB2-BD59-A6C34878D82A}">
                    <a16:rowId xmlns:a16="http://schemas.microsoft.com/office/drawing/2014/main" val="644644615"/>
                  </a:ext>
                </a:extLst>
              </a:tr>
              <a:tr h="291259">
                <a:tc>
                  <a:txBody>
                    <a:bodyPr/>
                    <a:lstStyle/>
                    <a:p>
                      <a:r>
                        <a:rPr lang="fr-FR"/>
                        <a:t>1</a:t>
                      </a:r>
                    </a:p>
                  </a:txBody>
                  <a:tcPr/>
                </a:tc>
                <a:tc>
                  <a:txBody>
                    <a:bodyPr/>
                    <a:lstStyle/>
                    <a:p>
                      <a:r>
                        <a:rPr lang="fr-FR"/>
                        <a:t>2</a:t>
                      </a:r>
                    </a:p>
                  </a:txBody>
                  <a:tcPr/>
                </a:tc>
                <a:extLst>
                  <a:ext uri="{0D108BD9-81ED-4DB2-BD59-A6C34878D82A}">
                    <a16:rowId xmlns:a16="http://schemas.microsoft.com/office/drawing/2014/main" val="1587431500"/>
                  </a:ext>
                </a:extLst>
              </a:tr>
              <a:tr h="413252">
                <a:tc>
                  <a:txBody>
                    <a:bodyPr/>
                    <a:lstStyle/>
                    <a:p>
                      <a:pPr lvl="0">
                        <a:buNone/>
                      </a:pPr>
                      <a:r>
                        <a:rPr lang="fr-FR"/>
                        <a:t>1</a:t>
                      </a:r>
                    </a:p>
                  </a:txBody>
                  <a:tcPr/>
                </a:tc>
                <a:tc>
                  <a:txBody>
                    <a:bodyPr/>
                    <a:lstStyle/>
                    <a:p>
                      <a:pPr lvl="0">
                        <a:buNone/>
                      </a:pPr>
                      <a:r>
                        <a:rPr lang="fr-FR"/>
                        <a:t>3</a:t>
                      </a:r>
                    </a:p>
                  </a:txBody>
                  <a:tcPr/>
                </a:tc>
                <a:extLst>
                  <a:ext uri="{0D108BD9-81ED-4DB2-BD59-A6C34878D82A}">
                    <a16:rowId xmlns:a16="http://schemas.microsoft.com/office/drawing/2014/main" val="2352285617"/>
                  </a:ext>
                </a:extLst>
              </a:tr>
              <a:tr h="413252">
                <a:tc>
                  <a:txBody>
                    <a:bodyPr/>
                    <a:lstStyle/>
                    <a:p>
                      <a:pPr lvl="0">
                        <a:buNone/>
                      </a:pPr>
                      <a:r>
                        <a:rPr lang="fr-FR"/>
                        <a:t>2</a:t>
                      </a:r>
                    </a:p>
                  </a:txBody>
                  <a:tcPr/>
                </a:tc>
                <a:tc>
                  <a:txBody>
                    <a:bodyPr/>
                    <a:lstStyle/>
                    <a:p>
                      <a:pPr lvl="0">
                        <a:buNone/>
                      </a:pPr>
                      <a:r>
                        <a:rPr lang="fr-FR"/>
                        <a:t>1</a:t>
                      </a:r>
                    </a:p>
                  </a:txBody>
                  <a:tcPr/>
                </a:tc>
                <a:extLst>
                  <a:ext uri="{0D108BD9-81ED-4DB2-BD59-A6C34878D82A}">
                    <a16:rowId xmlns:a16="http://schemas.microsoft.com/office/drawing/2014/main" val="1540629632"/>
                  </a:ext>
                </a:extLst>
              </a:tr>
              <a:tr h="413252">
                <a:tc>
                  <a:txBody>
                    <a:bodyPr/>
                    <a:lstStyle/>
                    <a:p>
                      <a:pPr lvl="0">
                        <a:buNone/>
                      </a:pPr>
                      <a:r>
                        <a:rPr lang="fr-FR"/>
                        <a:t>2</a:t>
                      </a:r>
                    </a:p>
                  </a:txBody>
                  <a:tcPr/>
                </a:tc>
                <a:tc>
                  <a:txBody>
                    <a:bodyPr/>
                    <a:lstStyle/>
                    <a:p>
                      <a:pPr lvl="0">
                        <a:buNone/>
                      </a:pPr>
                      <a:r>
                        <a:rPr lang="fr-FR"/>
                        <a:t>3</a:t>
                      </a:r>
                    </a:p>
                  </a:txBody>
                  <a:tcPr/>
                </a:tc>
                <a:extLst>
                  <a:ext uri="{0D108BD9-81ED-4DB2-BD59-A6C34878D82A}">
                    <a16:rowId xmlns:a16="http://schemas.microsoft.com/office/drawing/2014/main" val="112069318"/>
                  </a:ext>
                </a:extLst>
              </a:tr>
              <a:tr h="413252">
                <a:tc>
                  <a:txBody>
                    <a:bodyPr/>
                    <a:lstStyle/>
                    <a:p>
                      <a:pPr lvl="0">
                        <a:buNone/>
                      </a:pPr>
                      <a:r>
                        <a:rPr lang="fr-FR"/>
                        <a:t>2</a:t>
                      </a:r>
                    </a:p>
                  </a:txBody>
                  <a:tcPr/>
                </a:tc>
                <a:tc>
                  <a:txBody>
                    <a:bodyPr/>
                    <a:lstStyle/>
                    <a:p>
                      <a:pPr lvl="0">
                        <a:buNone/>
                      </a:pPr>
                      <a:r>
                        <a:rPr lang="fr-FR"/>
                        <a:t>4</a:t>
                      </a:r>
                    </a:p>
                  </a:txBody>
                  <a:tcPr/>
                </a:tc>
                <a:extLst>
                  <a:ext uri="{0D108BD9-81ED-4DB2-BD59-A6C34878D82A}">
                    <a16:rowId xmlns:a16="http://schemas.microsoft.com/office/drawing/2014/main" val="355512339"/>
                  </a:ext>
                </a:extLst>
              </a:tr>
              <a:tr h="413252">
                <a:tc>
                  <a:txBody>
                    <a:bodyPr/>
                    <a:lstStyle/>
                    <a:p>
                      <a:pPr lvl="0">
                        <a:buNone/>
                      </a:pPr>
                      <a:r>
                        <a:rPr lang="fr-FR"/>
                        <a:t>4</a:t>
                      </a:r>
                    </a:p>
                  </a:txBody>
                  <a:tcPr/>
                </a:tc>
                <a:tc>
                  <a:txBody>
                    <a:bodyPr/>
                    <a:lstStyle/>
                    <a:p>
                      <a:pPr lvl="0">
                        <a:buNone/>
                      </a:pPr>
                      <a:r>
                        <a:rPr lang="fr-FR" dirty="0"/>
                        <a:t>1</a:t>
                      </a:r>
                    </a:p>
                  </a:txBody>
                  <a:tcPr/>
                </a:tc>
                <a:extLst>
                  <a:ext uri="{0D108BD9-81ED-4DB2-BD59-A6C34878D82A}">
                    <a16:rowId xmlns:a16="http://schemas.microsoft.com/office/drawing/2014/main" val="2101214777"/>
                  </a:ext>
                </a:extLst>
              </a:tr>
            </a:tbl>
          </a:graphicData>
        </a:graphic>
      </p:graphicFrame>
      <p:graphicFrame>
        <p:nvGraphicFramePr>
          <p:cNvPr id="5" name="Tableau 4">
            <a:extLst>
              <a:ext uri="{FF2B5EF4-FFF2-40B4-BE49-F238E27FC236}">
                <a16:creationId xmlns:a16="http://schemas.microsoft.com/office/drawing/2014/main" id="{AE2798BD-4F0F-48B7-A1A9-CCF4F900B3AD}"/>
              </a:ext>
            </a:extLst>
          </p:cNvPr>
          <p:cNvGraphicFramePr>
            <a:graphicFrameLocks noGrp="1"/>
          </p:cNvGraphicFramePr>
          <p:nvPr>
            <p:extLst>
              <p:ext uri="{D42A27DB-BD31-4B8C-83A1-F6EECF244321}">
                <p14:modId xmlns:p14="http://schemas.microsoft.com/office/powerpoint/2010/main" val="125238527"/>
              </p:ext>
            </p:extLst>
          </p:nvPr>
        </p:nvGraphicFramePr>
        <p:xfrm>
          <a:off x="359258" y="2540821"/>
          <a:ext cx="3314347" cy="2632840"/>
        </p:xfrm>
        <a:graphic>
          <a:graphicData uri="http://schemas.openxmlformats.org/drawingml/2006/table">
            <a:tbl>
              <a:tblPr firstRow="1" bandRow="1">
                <a:tableStyleId>{5C22544A-7EE6-4342-B048-85BDC9FD1C3A}</a:tableStyleId>
              </a:tblPr>
              <a:tblGrid>
                <a:gridCol w="640266">
                  <a:extLst>
                    <a:ext uri="{9D8B030D-6E8A-4147-A177-3AD203B41FA5}">
                      <a16:colId xmlns:a16="http://schemas.microsoft.com/office/drawing/2014/main" val="2696855272"/>
                    </a:ext>
                  </a:extLst>
                </a:gridCol>
                <a:gridCol w="920783">
                  <a:extLst>
                    <a:ext uri="{9D8B030D-6E8A-4147-A177-3AD203B41FA5}">
                      <a16:colId xmlns:a16="http://schemas.microsoft.com/office/drawing/2014/main" val="2339036760"/>
                    </a:ext>
                  </a:extLst>
                </a:gridCol>
                <a:gridCol w="1753298">
                  <a:extLst>
                    <a:ext uri="{9D8B030D-6E8A-4147-A177-3AD203B41FA5}">
                      <a16:colId xmlns:a16="http://schemas.microsoft.com/office/drawing/2014/main" val="1557291614"/>
                    </a:ext>
                  </a:extLst>
                </a:gridCol>
              </a:tblGrid>
              <a:tr h="589086">
                <a:tc>
                  <a:txBody>
                    <a:bodyPr/>
                    <a:lstStyle/>
                    <a:p>
                      <a:r>
                        <a:rPr lang="fr-FR" u="sng" dirty="0"/>
                        <a:t>ID</a:t>
                      </a:r>
                    </a:p>
                  </a:txBody>
                  <a:tcPr/>
                </a:tc>
                <a:tc>
                  <a:txBody>
                    <a:bodyPr/>
                    <a:lstStyle/>
                    <a:p>
                      <a:r>
                        <a:rPr lang="fr-FR"/>
                        <a:t>UV</a:t>
                      </a:r>
                    </a:p>
                  </a:txBody>
                  <a:tcPr/>
                </a:tc>
                <a:tc>
                  <a:txBody>
                    <a:bodyPr/>
                    <a:lstStyle/>
                    <a:p>
                      <a:r>
                        <a:rPr lang="fr-FR"/>
                        <a:t>Description</a:t>
                      </a:r>
                    </a:p>
                  </a:txBody>
                  <a:tcPr/>
                </a:tc>
                <a:extLst>
                  <a:ext uri="{0D108BD9-81ED-4DB2-BD59-A6C34878D82A}">
                    <a16:rowId xmlns:a16="http://schemas.microsoft.com/office/drawing/2014/main" val="3262443685"/>
                  </a:ext>
                </a:extLst>
              </a:tr>
              <a:tr h="518957">
                <a:tc>
                  <a:txBody>
                    <a:bodyPr/>
                    <a:lstStyle/>
                    <a:p>
                      <a:r>
                        <a:rPr lang="fr-FR"/>
                        <a:t>1</a:t>
                      </a:r>
                    </a:p>
                  </a:txBody>
                  <a:tcPr/>
                </a:tc>
                <a:tc>
                  <a:txBody>
                    <a:bodyPr/>
                    <a:lstStyle/>
                    <a:p>
                      <a:r>
                        <a:rPr lang="fr-FR"/>
                        <a:t>IFD1</a:t>
                      </a:r>
                    </a:p>
                  </a:txBody>
                  <a:tcPr/>
                </a:tc>
                <a:tc>
                  <a:txBody>
                    <a:bodyPr/>
                    <a:lstStyle/>
                    <a:p>
                      <a:r>
                        <a:rPr lang="fr-FR"/>
                        <a:t>Base de données</a:t>
                      </a:r>
                    </a:p>
                  </a:txBody>
                  <a:tcPr/>
                </a:tc>
                <a:extLst>
                  <a:ext uri="{0D108BD9-81ED-4DB2-BD59-A6C34878D82A}">
                    <a16:rowId xmlns:a16="http://schemas.microsoft.com/office/drawing/2014/main" val="644644615"/>
                  </a:ext>
                </a:extLst>
              </a:tr>
              <a:tr h="364672">
                <a:tc>
                  <a:txBody>
                    <a:bodyPr/>
                    <a:lstStyle/>
                    <a:p>
                      <a:r>
                        <a:rPr lang="fr-FR"/>
                        <a:t>2</a:t>
                      </a:r>
                    </a:p>
                  </a:txBody>
                  <a:tcPr/>
                </a:tc>
                <a:tc>
                  <a:txBody>
                    <a:bodyPr/>
                    <a:lstStyle/>
                    <a:p>
                      <a:r>
                        <a:rPr lang="fr-FR"/>
                        <a:t>IFD2</a:t>
                      </a:r>
                    </a:p>
                  </a:txBody>
                  <a:tcPr/>
                </a:tc>
                <a:tc>
                  <a:txBody>
                    <a:bodyPr/>
                    <a:lstStyle/>
                    <a:p>
                      <a:r>
                        <a:rPr lang="fr-FR"/>
                        <a:t>Arduino</a:t>
                      </a:r>
                    </a:p>
                  </a:txBody>
                  <a:tcPr/>
                </a:tc>
                <a:extLst>
                  <a:ext uri="{0D108BD9-81ED-4DB2-BD59-A6C34878D82A}">
                    <a16:rowId xmlns:a16="http://schemas.microsoft.com/office/drawing/2014/main" val="1587431500"/>
                  </a:ext>
                </a:extLst>
              </a:tr>
              <a:tr h="518957">
                <a:tc>
                  <a:txBody>
                    <a:bodyPr/>
                    <a:lstStyle/>
                    <a:p>
                      <a:pPr lvl="0">
                        <a:buNone/>
                      </a:pPr>
                      <a:r>
                        <a:rPr lang="fr-FR"/>
                        <a:t>3</a:t>
                      </a:r>
                    </a:p>
                  </a:txBody>
                  <a:tcPr/>
                </a:tc>
                <a:tc>
                  <a:txBody>
                    <a:bodyPr/>
                    <a:lstStyle/>
                    <a:p>
                      <a:pPr lvl="0">
                        <a:buNone/>
                      </a:pPr>
                      <a:r>
                        <a:rPr lang="fr-FR"/>
                        <a:t>LP24</a:t>
                      </a:r>
                    </a:p>
                  </a:txBody>
                  <a:tcPr/>
                </a:tc>
                <a:tc>
                  <a:txBody>
                    <a:bodyPr/>
                    <a:lstStyle/>
                    <a:p>
                      <a:pPr lvl="0">
                        <a:buNone/>
                      </a:pPr>
                      <a:r>
                        <a:rPr lang="fr-FR"/>
                        <a:t>OOP</a:t>
                      </a:r>
                    </a:p>
                  </a:txBody>
                  <a:tcPr/>
                </a:tc>
                <a:extLst>
                  <a:ext uri="{0D108BD9-81ED-4DB2-BD59-A6C34878D82A}">
                    <a16:rowId xmlns:a16="http://schemas.microsoft.com/office/drawing/2014/main" val="2352285617"/>
                  </a:ext>
                </a:extLst>
              </a:tr>
              <a:tr h="518957">
                <a:tc>
                  <a:txBody>
                    <a:bodyPr/>
                    <a:lstStyle/>
                    <a:p>
                      <a:pPr lvl="0">
                        <a:buNone/>
                      </a:pPr>
                      <a:r>
                        <a:rPr lang="fr-FR"/>
                        <a:t>4</a:t>
                      </a:r>
                    </a:p>
                  </a:txBody>
                  <a:tcPr/>
                </a:tc>
                <a:tc>
                  <a:txBody>
                    <a:bodyPr/>
                    <a:lstStyle/>
                    <a:p>
                      <a:pPr lvl="0">
                        <a:buNone/>
                      </a:pPr>
                      <a:r>
                        <a:rPr lang="fr-FR"/>
                        <a:t>LO27</a:t>
                      </a:r>
                    </a:p>
                  </a:txBody>
                  <a:tcPr/>
                </a:tc>
                <a:tc>
                  <a:txBody>
                    <a:bodyPr/>
                    <a:lstStyle/>
                    <a:p>
                      <a:pPr lvl="0">
                        <a:buNone/>
                      </a:pPr>
                      <a:r>
                        <a:rPr lang="fr-FR" dirty="0" err="1"/>
                        <a:t>Algorithmic</a:t>
                      </a:r>
                      <a:endParaRPr lang="fr-FR" dirty="0"/>
                    </a:p>
                  </a:txBody>
                  <a:tcPr/>
                </a:tc>
                <a:extLst>
                  <a:ext uri="{0D108BD9-81ED-4DB2-BD59-A6C34878D82A}">
                    <a16:rowId xmlns:a16="http://schemas.microsoft.com/office/drawing/2014/main" val="1540629632"/>
                  </a:ext>
                </a:extLst>
              </a:tr>
            </a:tbl>
          </a:graphicData>
        </a:graphic>
      </p:graphicFrame>
      <p:graphicFrame>
        <p:nvGraphicFramePr>
          <p:cNvPr id="6" name="Tableau 5">
            <a:extLst>
              <a:ext uri="{FF2B5EF4-FFF2-40B4-BE49-F238E27FC236}">
                <a16:creationId xmlns:a16="http://schemas.microsoft.com/office/drawing/2014/main" id="{316B774B-14CD-415F-9885-B2FF5CAB9359}"/>
              </a:ext>
            </a:extLst>
          </p:cNvPr>
          <p:cNvGraphicFramePr>
            <a:graphicFrameLocks noGrp="1"/>
          </p:cNvGraphicFramePr>
          <p:nvPr>
            <p:extLst>
              <p:ext uri="{D42A27DB-BD31-4B8C-83A1-F6EECF244321}">
                <p14:modId xmlns:p14="http://schemas.microsoft.com/office/powerpoint/2010/main" val="1982089555"/>
              </p:ext>
            </p:extLst>
          </p:nvPr>
        </p:nvGraphicFramePr>
        <p:xfrm>
          <a:off x="8331355" y="2540821"/>
          <a:ext cx="3050643" cy="2562711"/>
        </p:xfrm>
        <a:graphic>
          <a:graphicData uri="http://schemas.openxmlformats.org/drawingml/2006/table">
            <a:tbl>
              <a:tblPr firstRow="1" bandRow="1">
                <a:tableStyleId>{5C22544A-7EE6-4342-B048-85BDC9FD1C3A}</a:tableStyleId>
              </a:tblPr>
              <a:tblGrid>
                <a:gridCol w="589324">
                  <a:extLst>
                    <a:ext uri="{9D8B030D-6E8A-4147-A177-3AD203B41FA5}">
                      <a16:colId xmlns:a16="http://schemas.microsoft.com/office/drawing/2014/main" val="2696855272"/>
                    </a:ext>
                  </a:extLst>
                </a:gridCol>
                <a:gridCol w="847521">
                  <a:extLst>
                    <a:ext uri="{9D8B030D-6E8A-4147-A177-3AD203B41FA5}">
                      <a16:colId xmlns:a16="http://schemas.microsoft.com/office/drawing/2014/main" val="2339036760"/>
                    </a:ext>
                  </a:extLst>
                </a:gridCol>
                <a:gridCol w="1613798">
                  <a:extLst>
                    <a:ext uri="{9D8B030D-6E8A-4147-A177-3AD203B41FA5}">
                      <a16:colId xmlns:a16="http://schemas.microsoft.com/office/drawing/2014/main" val="1557291614"/>
                    </a:ext>
                  </a:extLst>
                </a:gridCol>
              </a:tblGrid>
              <a:tr h="589086">
                <a:tc>
                  <a:txBody>
                    <a:bodyPr/>
                    <a:lstStyle/>
                    <a:p>
                      <a:r>
                        <a:rPr lang="fr-FR" u="sng" dirty="0"/>
                        <a:t>ID</a:t>
                      </a:r>
                    </a:p>
                  </a:txBody>
                  <a:tcPr/>
                </a:tc>
                <a:tc>
                  <a:txBody>
                    <a:bodyPr/>
                    <a:lstStyle/>
                    <a:p>
                      <a:r>
                        <a:rPr lang="fr-FR"/>
                        <a:t>Nom</a:t>
                      </a:r>
                    </a:p>
                  </a:txBody>
                  <a:tcPr/>
                </a:tc>
                <a:tc>
                  <a:txBody>
                    <a:bodyPr/>
                    <a:lstStyle/>
                    <a:p>
                      <a:r>
                        <a:rPr lang="fr-FR"/>
                        <a:t>Date de naissance</a:t>
                      </a:r>
                    </a:p>
                  </a:txBody>
                  <a:tcPr/>
                </a:tc>
                <a:extLst>
                  <a:ext uri="{0D108BD9-81ED-4DB2-BD59-A6C34878D82A}">
                    <a16:rowId xmlns:a16="http://schemas.microsoft.com/office/drawing/2014/main" val="3262443685"/>
                  </a:ext>
                </a:extLst>
              </a:tr>
              <a:tr h="518957">
                <a:tc>
                  <a:txBody>
                    <a:bodyPr/>
                    <a:lstStyle/>
                    <a:p>
                      <a:r>
                        <a:rPr lang="fr-FR"/>
                        <a:t>1</a:t>
                      </a:r>
                    </a:p>
                  </a:txBody>
                  <a:tcPr/>
                </a:tc>
                <a:tc>
                  <a:txBody>
                    <a:bodyPr/>
                    <a:lstStyle/>
                    <a:p>
                      <a:r>
                        <a:rPr lang="fr-FR"/>
                        <a:t>JOHN</a:t>
                      </a:r>
                    </a:p>
                  </a:txBody>
                  <a:tcPr/>
                </a:tc>
                <a:tc>
                  <a:txBody>
                    <a:bodyPr/>
                    <a:lstStyle/>
                    <a:p>
                      <a:r>
                        <a:rPr lang="fr-FR"/>
                        <a:t>05/05/1999</a:t>
                      </a:r>
                    </a:p>
                  </a:txBody>
                  <a:tcPr/>
                </a:tc>
                <a:extLst>
                  <a:ext uri="{0D108BD9-81ED-4DB2-BD59-A6C34878D82A}">
                    <a16:rowId xmlns:a16="http://schemas.microsoft.com/office/drawing/2014/main" val="644644615"/>
                  </a:ext>
                </a:extLst>
              </a:tr>
              <a:tr h="364672">
                <a:tc>
                  <a:txBody>
                    <a:bodyPr/>
                    <a:lstStyle/>
                    <a:p>
                      <a:r>
                        <a:rPr lang="fr-FR"/>
                        <a:t>2</a:t>
                      </a:r>
                    </a:p>
                  </a:txBody>
                  <a:tcPr/>
                </a:tc>
                <a:tc>
                  <a:txBody>
                    <a:bodyPr/>
                    <a:lstStyle/>
                    <a:p>
                      <a:r>
                        <a:rPr lang="fr-FR"/>
                        <a:t>SMITH</a:t>
                      </a:r>
                    </a:p>
                  </a:txBody>
                  <a:tcPr/>
                </a:tc>
                <a:tc>
                  <a:txBody>
                    <a:bodyPr/>
                    <a:lstStyle/>
                    <a:p>
                      <a:r>
                        <a:rPr lang="fr-FR"/>
                        <a:t>06/05/1999</a:t>
                      </a:r>
                    </a:p>
                  </a:txBody>
                  <a:tcPr/>
                </a:tc>
                <a:extLst>
                  <a:ext uri="{0D108BD9-81ED-4DB2-BD59-A6C34878D82A}">
                    <a16:rowId xmlns:a16="http://schemas.microsoft.com/office/drawing/2014/main" val="1587431500"/>
                  </a:ext>
                </a:extLst>
              </a:tr>
              <a:tr h="518957">
                <a:tc>
                  <a:txBody>
                    <a:bodyPr/>
                    <a:lstStyle/>
                    <a:p>
                      <a:pPr lvl="0">
                        <a:buNone/>
                      </a:pPr>
                      <a:r>
                        <a:rPr lang="fr-FR"/>
                        <a:t>3</a:t>
                      </a:r>
                    </a:p>
                  </a:txBody>
                  <a:tcPr/>
                </a:tc>
                <a:tc>
                  <a:txBody>
                    <a:bodyPr/>
                    <a:lstStyle/>
                    <a:p>
                      <a:pPr lvl="0">
                        <a:buNone/>
                      </a:pPr>
                      <a:r>
                        <a:rPr lang="fr-FR"/>
                        <a:t>BILL</a:t>
                      </a:r>
                    </a:p>
                  </a:txBody>
                  <a:tcPr/>
                </a:tc>
                <a:tc>
                  <a:txBody>
                    <a:bodyPr/>
                    <a:lstStyle/>
                    <a:p>
                      <a:r>
                        <a:rPr lang="fr-FR"/>
                        <a:t>05/06/1999</a:t>
                      </a:r>
                    </a:p>
                  </a:txBody>
                  <a:tcPr/>
                </a:tc>
                <a:extLst>
                  <a:ext uri="{0D108BD9-81ED-4DB2-BD59-A6C34878D82A}">
                    <a16:rowId xmlns:a16="http://schemas.microsoft.com/office/drawing/2014/main" val="2352285617"/>
                  </a:ext>
                </a:extLst>
              </a:tr>
              <a:tr h="518957">
                <a:tc>
                  <a:txBody>
                    <a:bodyPr/>
                    <a:lstStyle/>
                    <a:p>
                      <a:pPr lvl="0">
                        <a:buNone/>
                      </a:pPr>
                      <a:r>
                        <a:rPr lang="fr-FR"/>
                        <a:t>4</a:t>
                      </a:r>
                    </a:p>
                  </a:txBody>
                  <a:tcPr/>
                </a:tc>
                <a:tc>
                  <a:txBody>
                    <a:bodyPr/>
                    <a:lstStyle/>
                    <a:p>
                      <a:pPr lvl="0">
                        <a:buNone/>
                      </a:pPr>
                      <a:r>
                        <a:rPr lang="fr-FR"/>
                        <a:t>JOE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dirty="0"/>
                        <a:t>05/05/2001</a:t>
                      </a:r>
                    </a:p>
                  </a:txBody>
                  <a:tcPr/>
                </a:tc>
                <a:extLst>
                  <a:ext uri="{0D108BD9-81ED-4DB2-BD59-A6C34878D82A}">
                    <a16:rowId xmlns:a16="http://schemas.microsoft.com/office/drawing/2014/main" val="1540629632"/>
                  </a:ext>
                </a:extLst>
              </a:tr>
            </a:tbl>
          </a:graphicData>
        </a:graphic>
      </p:graphicFrame>
    </p:spTree>
    <p:extLst>
      <p:ext uri="{BB962C8B-B14F-4D97-AF65-F5344CB8AC3E}">
        <p14:creationId xmlns:p14="http://schemas.microsoft.com/office/powerpoint/2010/main" val="41680260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vert="horz" lIns="91440" tIns="45720" rIns="91440" bIns="45720" rtlCol="0" anchor="ctr">
            <a:normAutofit/>
          </a:bodyPr>
          <a:lstStyle/>
          <a:p>
            <a:pPr marL="285750" indent="-285750"/>
            <a:r>
              <a:rPr lang="fr-FR"/>
              <a:t>Exercice : un site internet d’e-commerce possède des clients, un client peut avoir un parrain qui est lui-même un client, écrire les tables nécessaires</a:t>
            </a:r>
          </a:p>
          <a:p>
            <a:pPr marL="685800" lvl="1"/>
            <a:endParaRPr lang="fr-FR"/>
          </a:p>
        </p:txBody>
      </p:sp>
      <p:sp>
        <p:nvSpPr>
          <p:cNvPr id="6" name="Espace réservé du numéro de diapositive 5">
            <a:extLst>
              <a:ext uri="{FF2B5EF4-FFF2-40B4-BE49-F238E27FC236}">
                <a16:creationId xmlns:a16="http://schemas.microsoft.com/office/drawing/2014/main" id="{0CBB29DE-9B07-4275-95C9-923095855A99}"/>
              </a:ext>
            </a:extLst>
          </p:cNvPr>
          <p:cNvSpPr>
            <a:spLocks noGrp="1"/>
          </p:cNvSpPr>
          <p:nvPr>
            <p:ph type="sldNum" sz="quarter" idx="12"/>
          </p:nvPr>
        </p:nvSpPr>
        <p:spPr/>
        <p:txBody>
          <a:bodyPr/>
          <a:lstStyle/>
          <a:p>
            <a:fld id="{27C6CCC6-2BE5-4E42-96A4-D1E8E81A3D8E}" type="slidenum">
              <a:rPr lang="de-DE" smtClean="0"/>
              <a:t>50</a:t>
            </a:fld>
            <a:endParaRPr lang="de-DE"/>
          </a:p>
        </p:txBody>
      </p:sp>
    </p:spTree>
    <p:extLst>
      <p:ext uri="{BB962C8B-B14F-4D97-AF65-F5344CB8AC3E}">
        <p14:creationId xmlns:p14="http://schemas.microsoft.com/office/powerpoint/2010/main" val="21107496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6" name="Espace réservé du numéro de diapositive 5">
            <a:extLst>
              <a:ext uri="{FF2B5EF4-FFF2-40B4-BE49-F238E27FC236}">
                <a16:creationId xmlns:a16="http://schemas.microsoft.com/office/drawing/2014/main" id="{405934C8-784B-49FC-A0F4-F91C950EC677}"/>
              </a:ext>
            </a:extLst>
          </p:cNvPr>
          <p:cNvSpPr>
            <a:spLocks noGrp="1"/>
          </p:cNvSpPr>
          <p:nvPr>
            <p:ph type="sldNum" sz="quarter" idx="12"/>
          </p:nvPr>
        </p:nvSpPr>
        <p:spPr/>
        <p:txBody>
          <a:bodyPr/>
          <a:lstStyle/>
          <a:p>
            <a:fld id="{27C6CCC6-2BE5-4E42-96A4-D1E8E81A3D8E}" type="slidenum">
              <a:rPr lang="de-DE" smtClean="0"/>
              <a:t>51</a:t>
            </a:fld>
            <a:endParaRPr lang="de-DE"/>
          </a:p>
        </p:txBody>
      </p:sp>
      <p:graphicFrame>
        <p:nvGraphicFramePr>
          <p:cNvPr id="4" name="Tableau 3">
            <a:extLst>
              <a:ext uri="{FF2B5EF4-FFF2-40B4-BE49-F238E27FC236}">
                <a16:creationId xmlns:a16="http://schemas.microsoft.com/office/drawing/2014/main" id="{B10BA6FB-D01C-4E58-A7E2-6065EA7CD656}"/>
              </a:ext>
            </a:extLst>
          </p:cNvPr>
          <p:cNvGraphicFramePr>
            <a:graphicFrameLocks noGrp="1"/>
          </p:cNvGraphicFramePr>
          <p:nvPr>
            <p:extLst>
              <p:ext uri="{D42A27DB-BD31-4B8C-83A1-F6EECF244321}">
                <p14:modId xmlns:p14="http://schemas.microsoft.com/office/powerpoint/2010/main" val="3137562377"/>
              </p:ext>
            </p:extLst>
          </p:nvPr>
        </p:nvGraphicFramePr>
        <p:xfrm>
          <a:off x="2048310" y="3035772"/>
          <a:ext cx="8095377" cy="2511717"/>
        </p:xfrm>
        <a:graphic>
          <a:graphicData uri="http://schemas.openxmlformats.org/drawingml/2006/table">
            <a:tbl>
              <a:tblPr firstRow="1" bandRow="1">
                <a:tableStyleId>{5C22544A-7EE6-4342-B048-85BDC9FD1C3A}</a:tableStyleId>
              </a:tblPr>
              <a:tblGrid>
                <a:gridCol w="1269758">
                  <a:extLst>
                    <a:ext uri="{9D8B030D-6E8A-4147-A177-3AD203B41FA5}">
                      <a16:colId xmlns:a16="http://schemas.microsoft.com/office/drawing/2014/main" val="2696855272"/>
                    </a:ext>
                  </a:extLst>
                </a:gridCol>
                <a:gridCol w="1574111">
                  <a:extLst>
                    <a:ext uri="{9D8B030D-6E8A-4147-A177-3AD203B41FA5}">
                      <a16:colId xmlns:a16="http://schemas.microsoft.com/office/drawing/2014/main" val="2339036760"/>
                    </a:ext>
                  </a:extLst>
                </a:gridCol>
                <a:gridCol w="3729051">
                  <a:extLst>
                    <a:ext uri="{9D8B030D-6E8A-4147-A177-3AD203B41FA5}">
                      <a16:colId xmlns:a16="http://schemas.microsoft.com/office/drawing/2014/main" val="1557291614"/>
                    </a:ext>
                  </a:extLst>
                </a:gridCol>
                <a:gridCol w="1522457">
                  <a:extLst>
                    <a:ext uri="{9D8B030D-6E8A-4147-A177-3AD203B41FA5}">
                      <a16:colId xmlns:a16="http://schemas.microsoft.com/office/drawing/2014/main" val="3683214651"/>
                    </a:ext>
                  </a:extLst>
                </a:gridCol>
              </a:tblGrid>
              <a:tr h="589086">
                <a:tc>
                  <a:txBody>
                    <a:bodyPr/>
                    <a:lstStyle/>
                    <a:p>
                      <a:r>
                        <a:rPr lang="fr-FR" u="sng" dirty="0"/>
                        <a:t>ID</a:t>
                      </a:r>
                    </a:p>
                  </a:txBody>
                  <a:tcPr/>
                </a:tc>
                <a:tc>
                  <a:txBody>
                    <a:bodyPr/>
                    <a:lstStyle/>
                    <a:p>
                      <a:r>
                        <a:rPr lang="fr-FR"/>
                        <a:t>Nom</a:t>
                      </a:r>
                    </a:p>
                  </a:txBody>
                  <a:tcPr/>
                </a:tc>
                <a:tc>
                  <a:txBody>
                    <a:bodyPr/>
                    <a:lstStyle/>
                    <a:p>
                      <a:r>
                        <a:rPr lang="fr-FR"/>
                        <a:t>Email</a:t>
                      </a:r>
                    </a:p>
                  </a:txBody>
                  <a:tcPr/>
                </a:tc>
                <a:tc>
                  <a:txBody>
                    <a:bodyPr/>
                    <a:lstStyle/>
                    <a:p>
                      <a:r>
                        <a:rPr lang="fr-FR" err="1"/>
                        <a:t>ID_Parrain</a:t>
                      </a:r>
                      <a:endParaRPr lang="fr-FR"/>
                    </a:p>
                  </a:txBody>
                  <a:tcPr/>
                </a:tc>
                <a:extLst>
                  <a:ext uri="{0D108BD9-81ED-4DB2-BD59-A6C34878D82A}">
                    <a16:rowId xmlns:a16="http://schemas.microsoft.com/office/drawing/2014/main" val="3262443685"/>
                  </a:ext>
                </a:extLst>
              </a:tr>
              <a:tr h="518957">
                <a:tc>
                  <a:txBody>
                    <a:bodyPr/>
                    <a:lstStyle/>
                    <a:p>
                      <a:r>
                        <a:rPr lang="fr-FR"/>
                        <a:t>1</a:t>
                      </a:r>
                    </a:p>
                  </a:txBody>
                  <a:tcPr/>
                </a:tc>
                <a:tc>
                  <a:txBody>
                    <a:bodyPr/>
                    <a:lstStyle/>
                    <a:p>
                      <a:r>
                        <a:rPr lang="fr-FR"/>
                        <a:t>JOHN</a:t>
                      </a:r>
                    </a:p>
                  </a:txBody>
                  <a:tcPr/>
                </a:tc>
                <a:tc>
                  <a:txBody>
                    <a:bodyPr/>
                    <a:lstStyle/>
                    <a:p>
                      <a:r>
                        <a:rPr lang="fr-FR">
                          <a:hlinkClick r:id="rId2"/>
                        </a:rPr>
                        <a:t>john@gmail.com</a:t>
                      </a:r>
                      <a:endParaRPr lang="fr-FR"/>
                    </a:p>
                  </a:txBody>
                  <a:tcPr/>
                </a:tc>
                <a:tc>
                  <a:txBody>
                    <a:bodyPr/>
                    <a:lstStyle/>
                    <a:p>
                      <a:endParaRPr lang="fr-FR"/>
                    </a:p>
                  </a:txBody>
                  <a:tcPr/>
                </a:tc>
                <a:extLst>
                  <a:ext uri="{0D108BD9-81ED-4DB2-BD59-A6C34878D82A}">
                    <a16:rowId xmlns:a16="http://schemas.microsoft.com/office/drawing/2014/main" val="644644615"/>
                  </a:ext>
                </a:extLst>
              </a:tr>
              <a:tr h="364672">
                <a:tc>
                  <a:txBody>
                    <a:bodyPr/>
                    <a:lstStyle/>
                    <a:p>
                      <a:r>
                        <a:rPr lang="fr-FR"/>
                        <a:t>2</a:t>
                      </a:r>
                    </a:p>
                  </a:txBody>
                  <a:tcPr/>
                </a:tc>
                <a:tc>
                  <a:txBody>
                    <a:bodyPr/>
                    <a:lstStyle/>
                    <a:p>
                      <a:r>
                        <a:rPr lang="fr-FR"/>
                        <a:t>SMITH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a:hlinkClick r:id="rId3"/>
                        </a:rPr>
                        <a:t>smith@hotmail.com</a:t>
                      </a:r>
                      <a:endParaRPr lang="fr-FR"/>
                    </a:p>
                  </a:txBody>
                  <a:tcPr/>
                </a:tc>
                <a:tc>
                  <a:txBody>
                    <a:bodyPr/>
                    <a:lstStyle/>
                    <a:p>
                      <a:r>
                        <a:rPr lang="fr-FR"/>
                        <a:t>1</a:t>
                      </a:r>
                    </a:p>
                  </a:txBody>
                  <a:tcPr/>
                </a:tc>
                <a:extLst>
                  <a:ext uri="{0D108BD9-81ED-4DB2-BD59-A6C34878D82A}">
                    <a16:rowId xmlns:a16="http://schemas.microsoft.com/office/drawing/2014/main" val="1587431500"/>
                  </a:ext>
                </a:extLst>
              </a:tr>
              <a:tr h="518957">
                <a:tc>
                  <a:txBody>
                    <a:bodyPr/>
                    <a:lstStyle/>
                    <a:p>
                      <a:pPr lvl="0">
                        <a:buNone/>
                      </a:pPr>
                      <a:r>
                        <a:rPr lang="fr-FR"/>
                        <a:t>3</a:t>
                      </a:r>
                    </a:p>
                  </a:txBody>
                  <a:tcPr/>
                </a:tc>
                <a:tc>
                  <a:txBody>
                    <a:bodyPr/>
                    <a:lstStyle/>
                    <a:p>
                      <a:pPr lvl="0">
                        <a:buNone/>
                      </a:pPr>
                      <a:r>
                        <a:rPr lang="fr-FR"/>
                        <a:t>JOHNSON</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a:hlinkClick r:id="rId4"/>
                        </a:rPr>
                        <a:t>johnson@gmail.com</a:t>
                      </a:r>
                      <a:endParaRPr lang="fr-FR"/>
                    </a:p>
                  </a:txBody>
                  <a:tcPr/>
                </a:tc>
                <a:tc>
                  <a:txBody>
                    <a:bodyPr/>
                    <a:lstStyle/>
                    <a:p>
                      <a:pPr lvl="0">
                        <a:buNone/>
                      </a:pPr>
                      <a:r>
                        <a:rPr lang="fr-FR"/>
                        <a:t>1</a:t>
                      </a:r>
                    </a:p>
                  </a:txBody>
                  <a:tcPr/>
                </a:tc>
                <a:extLst>
                  <a:ext uri="{0D108BD9-81ED-4DB2-BD59-A6C34878D82A}">
                    <a16:rowId xmlns:a16="http://schemas.microsoft.com/office/drawing/2014/main" val="2352285617"/>
                  </a:ext>
                </a:extLst>
              </a:tr>
              <a:tr h="518957">
                <a:tc>
                  <a:txBody>
                    <a:bodyPr/>
                    <a:lstStyle/>
                    <a:p>
                      <a:pPr lvl="0">
                        <a:buNone/>
                      </a:pPr>
                      <a:r>
                        <a:rPr lang="fr-FR"/>
                        <a:t>4</a:t>
                      </a:r>
                    </a:p>
                  </a:txBody>
                  <a:tcPr/>
                </a:tc>
                <a:tc>
                  <a:txBody>
                    <a:bodyPr/>
                    <a:lstStyle/>
                    <a:p>
                      <a:pPr lvl="0">
                        <a:buNone/>
                      </a:pPr>
                      <a:r>
                        <a:rPr lang="fr-FR"/>
                        <a:t>JOE</a:t>
                      </a:r>
                    </a:p>
                  </a:txBody>
                  <a:tcPr/>
                </a:tc>
                <a:tc>
                  <a:txBody>
                    <a:bodyPr/>
                    <a:lstStyle/>
                    <a:p>
                      <a:pPr lvl="0">
                        <a:buNone/>
                      </a:pPr>
                      <a:r>
                        <a:rPr lang="fr-FR">
                          <a:hlinkClick r:id="rId5"/>
                        </a:rPr>
                        <a:t>joe@live.com</a:t>
                      </a:r>
                      <a:endParaRPr lang="fr-FR"/>
                    </a:p>
                  </a:txBody>
                  <a:tcPr/>
                </a:tc>
                <a:tc>
                  <a:txBody>
                    <a:bodyPr/>
                    <a:lstStyle/>
                    <a:p>
                      <a:pPr lvl="0">
                        <a:buNone/>
                      </a:pPr>
                      <a:r>
                        <a:rPr lang="fr-FR" dirty="0"/>
                        <a:t>2</a:t>
                      </a:r>
                    </a:p>
                  </a:txBody>
                  <a:tcPr/>
                </a:tc>
                <a:extLst>
                  <a:ext uri="{0D108BD9-81ED-4DB2-BD59-A6C34878D82A}">
                    <a16:rowId xmlns:a16="http://schemas.microsoft.com/office/drawing/2014/main" val="1540629632"/>
                  </a:ext>
                </a:extLst>
              </a:tr>
            </a:tbl>
          </a:graphicData>
        </a:graphic>
      </p:graphicFrame>
    </p:spTree>
    <p:extLst>
      <p:ext uri="{BB962C8B-B14F-4D97-AF65-F5344CB8AC3E}">
        <p14:creationId xmlns:p14="http://schemas.microsoft.com/office/powerpoint/2010/main" val="23357574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Base de données relationnelles</a:t>
            </a:r>
          </a:p>
        </p:txBody>
      </p:sp>
      <p:sp>
        <p:nvSpPr>
          <p:cNvPr id="3" name="Espace réservé du contenu 2">
            <a:extLst>
              <a:ext uri="{FF2B5EF4-FFF2-40B4-BE49-F238E27FC236}">
                <a16:creationId xmlns:a16="http://schemas.microsoft.com/office/drawing/2014/main" id="{A0B3EF4E-5146-4C9B-ADDD-583D40B869C4}"/>
              </a:ext>
            </a:extLst>
          </p:cNvPr>
          <p:cNvSpPr>
            <a:spLocks noGrp="1"/>
          </p:cNvSpPr>
          <p:nvPr>
            <p:ph idx="1"/>
          </p:nvPr>
        </p:nvSpPr>
        <p:spPr/>
        <p:txBody>
          <a:bodyPr/>
          <a:lstStyle/>
          <a:p>
            <a:r>
              <a:rPr lang="fr-FR" dirty="0"/>
              <a:t>Il s’agit d’une relation 1:N (un parrain peut avoir un ou plusieurs filleuls)</a:t>
            </a:r>
          </a:p>
          <a:p>
            <a:r>
              <a:rPr lang="fr-FR" dirty="0"/>
              <a:t>Une table peut se référencer elle-même</a:t>
            </a:r>
          </a:p>
        </p:txBody>
      </p:sp>
      <p:sp>
        <p:nvSpPr>
          <p:cNvPr id="6" name="Espace réservé du numéro de diapositive 5">
            <a:extLst>
              <a:ext uri="{FF2B5EF4-FFF2-40B4-BE49-F238E27FC236}">
                <a16:creationId xmlns:a16="http://schemas.microsoft.com/office/drawing/2014/main" id="{5136CF75-3DB0-474F-950D-7BBD5139A1B9}"/>
              </a:ext>
            </a:extLst>
          </p:cNvPr>
          <p:cNvSpPr>
            <a:spLocks noGrp="1"/>
          </p:cNvSpPr>
          <p:nvPr>
            <p:ph type="sldNum" sz="quarter" idx="12"/>
          </p:nvPr>
        </p:nvSpPr>
        <p:spPr/>
        <p:txBody>
          <a:bodyPr/>
          <a:lstStyle/>
          <a:p>
            <a:fld id="{27C6CCC6-2BE5-4E42-96A4-D1E8E81A3D8E}" type="slidenum">
              <a:rPr lang="de-DE" smtClean="0"/>
              <a:t>52</a:t>
            </a:fld>
            <a:endParaRPr lang="de-DE"/>
          </a:p>
        </p:txBody>
      </p:sp>
    </p:spTree>
    <p:extLst>
      <p:ext uri="{BB962C8B-B14F-4D97-AF65-F5344CB8AC3E}">
        <p14:creationId xmlns:p14="http://schemas.microsoft.com/office/powerpoint/2010/main" val="13126803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2C5577-529E-4389-A205-57008FE8D588}"/>
              </a:ext>
            </a:extLst>
          </p:cNvPr>
          <p:cNvSpPr>
            <a:spLocks noGrp="1"/>
          </p:cNvSpPr>
          <p:nvPr>
            <p:ph type="title"/>
          </p:nvPr>
        </p:nvSpPr>
        <p:spPr/>
        <p:txBody>
          <a:bodyPr/>
          <a:lstStyle/>
          <a:p>
            <a:r>
              <a:rPr lang="fr-FR" dirty="0"/>
              <a:t>Architecture d’un SGBDR</a:t>
            </a:r>
          </a:p>
        </p:txBody>
      </p:sp>
      <p:sp>
        <p:nvSpPr>
          <p:cNvPr id="3" name="Espace réservé du texte 2">
            <a:extLst>
              <a:ext uri="{FF2B5EF4-FFF2-40B4-BE49-F238E27FC236}">
                <a16:creationId xmlns:a16="http://schemas.microsoft.com/office/drawing/2014/main" id="{F0B9C18C-E3F5-4178-B572-BA43500A4D67}"/>
              </a:ext>
            </a:extLst>
          </p:cNvPr>
          <p:cNvSpPr>
            <a:spLocks noGrp="1"/>
          </p:cNvSpPr>
          <p:nvPr>
            <p:ph type="body" idx="1"/>
          </p:nvPr>
        </p:nvSpPr>
        <p:spPr/>
        <p:txBody>
          <a:bodyPr/>
          <a:lstStyle/>
          <a:p>
            <a:r>
              <a:rPr lang="fr-FR" dirty="0"/>
              <a:t>Quels sont les modules d’un système de gestion de base de données relationnelles ?</a:t>
            </a:r>
          </a:p>
        </p:txBody>
      </p:sp>
      <p:sp>
        <p:nvSpPr>
          <p:cNvPr id="6" name="Espace réservé du numéro de diapositive 5">
            <a:extLst>
              <a:ext uri="{FF2B5EF4-FFF2-40B4-BE49-F238E27FC236}">
                <a16:creationId xmlns:a16="http://schemas.microsoft.com/office/drawing/2014/main" id="{CAB67938-23E6-43A3-871A-96BD30B0246F}"/>
              </a:ext>
            </a:extLst>
          </p:cNvPr>
          <p:cNvSpPr>
            <a:spLocks noGrp="1"/>
          </p:cNvSpPr>
          <p:nvPr>
            <p:ph type="sldNum" sz="quarter" idx="12"/>
          </p:nvPr>
        </p:nvSpPr>
        <p:spPr/>
        <p:txBody>
          <a:bodyPr/>
          <a:lstStyle/>
          <a:p>
            <a:fld id="{27C6CCC6-2BE5-4E42-96A4-D1E8E81A3D8E}" type="slidenum">
              <a:rPr lang="de-DE" smtClean="0"/>
              <a:t>53</a:t>
            </a:fld>
            <a:endParaRPr lang="de-DE"/>
          </a:p>
        </p:txBody>
      </p:sp>
    </p:spTree>
    <p:extLst>
      <p:ext uri="{BB962C8B-B14F-4D97-AF65-F5344CB8AC3E}">
        <p14:creationId xmlns:p14="http://schemas.microsoft.com/office/powerpoint/2010/main" val="232157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D50766-58F6-4C0A-8193-0CA4B6E6C15F}"/>
              </a:ext>
            </a:extLst>
          </p:cNvPr>
          <p:cNvSpPr>
            <a:spLocks noGrp="1"/>
          </p:cNvSpPr>
          <p:nvPr>
            <p:ph type="title"/>
          </p:nvPr>
        </p:nvSpPr>
        <p:spPr/>
        <p:txBody>
          <a:bodyPr/>
          <a:lstStyle/>
          <a:p>
            <a:r>
              <a:rPr lang="fr-FR" dirty="0"/>
              <a:t>Description</a:t>
            </a:r>
          </a:p>
        </p:txBody>
      </p:sp>
      <p:sp>
        <p:nvSpPr>
          <p:cNvPr id="3" name="Espace réservé du contenu 2">
            <a:extLst>
              <a:ext uri="{FF2B5EF4-FFF2-40B4-BE49-F238E27FC236}">
                <a16:creationId xmlns:a16="http://schemas.microsoft.com/office/drawing/2014/main" id="{50A0E68C-056B-4FBD-8B03-6612B2594E39}"/>
              </a:ext>
            </a:extLst>
          </p:cNvPr>
          <p:cNvSpPr>
            <a:spLocks noGrp="1"/>
          </p:cNvSpPr>
          <p:nvPr>
            <p:ph idx="1"/>
          </p:nvPr>
        </p:nvSpPr>
        <p:spPr/>
        <p:txBody>
          <a:bodyPr/>
          <a:lstStyle/>
          <a:p>
            <a:r>
              <a:rPr lang="fr-FR" dirty="0"/>
              <a:t>Le SGBDR sert à stocker des données de façon relationnelle (cf. la section précédente)</a:t>
            </a:r>
          </a:p>
          <a:p>
            <a:r>
              <a:rPr lang="fr-FR" dirty="0"/>
              <a:t>Il offre également des fonctionnalités de requêtage, d’optimisation, de gestion des transactions, de sécurité, de redondance, etc.</a:t>
            </a:r>
          </a:p>
          <a:p>
            <a:r>
              <a:rPr lang="fr-FR" dirty="0"/>
              <a:t>Ces différentes fonctionnalités sont assurées par différents modules composants le SGBDR</a:t>
            </a:r>
          </a:p>
        </p:txBody>
      </p:sp>
      <p:sp>
        <p:nvSpPr>
          <p:cNvPr id="4" name="Espace réservé du numéro de diapositive 3">
            <a:extLst>
              <a:ext uri="{FF2B5EF4-FFF2-40B4-BE49-F238E27FC236}">
                <a16:creationId xmlns:a16="http://schemas.microsoft.com/office/drawing/2014/main" id="{558D8655-81E5-47CF-B2D0-6D171645A6B2}"/>
              </a:ext>
            </a:extLst>
          </p:cNvPr>
          <p:cNvSpPr>
            <a:spLocks noGrp="1"/>
          </p:cNvSpPr>
          <p:nvPr>
            <p:ph type="sldNum" sz="quarter" idx="12"/>
          </p:nvPr>
        </p:nvSpPr>
        <p:spPr/>
        <p:txBody>
          <a:bodyPr/>
          <a:lstStyle/>
          <a:p>
            <a:fld id="{27C6CCC6-2BE5-4E42-96A4-D1E8E81A3D8E}" type="slidenum">
              <a:rPr lang="de-DE" smtClean="0"/>
              <a:t>54</a:t>
            </a:fld>
            <a:endParaRPr lang="de-DE"/>
          </a:p>
        </p:txBody>
      </p:sp>
    </p:spTree>
    <p:extLst>
      <p:ext uri="{BB962C8B-B14F-4D97-AF65-F5344CB8AC3E}">
        <p14:creationId xmlns:p14="http://schemas.microsoft.com/office/powerpoint/2010/main" val="6960162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D50766-58F6-4C0A-8193-0CA4B6E6C15F}"/>
              </a:ext>
            </a:extLst>
          </p:cNvPr>
          <p:cNvSpPr>
            <a:spLocks noGrp="1"/>
          </p:cNvSpPr>
          <p:nvPr>
            <p:ph type="title"/>
          </p:nvPr>
        </p:nvSpPr>
        <p:spPr/>
        <p:txBody>
          <a:bodyPr/>
          <a:lstStyle/>
          <a:p>
            <a:r>
              <a:rPr lang="fr-FR" dirty="0"/>
              <a:t>Gestionnaire de données</a:t>
            </a:r>
          </a:p>
        </p:txBody>
      </p:sp>
      <p:sp>
        <p:nvSpPr>
          <p:cNvPr id="3" name="Espace réservé du contenu 2">
            <a:extLst>
              <a:ext uri="{FF2B5EF4-FFF2-40B4-BE49-F238E27FC236}">
                <a16:creationId xmlns:a16="http://schemas.microsoft.com/office/drawing/2014/main" id="{50A0E68C-056B-4FBD-8B03-6612B2594E39}"/>
              </a:ext>
            </a:extLst>
          </p:cNvPr>
          <p:cNvSpPr>
            <a:spLocks noGrp="1"/>
          </p:cNvSpPr>
          <p:nvPr>
            <p:ph idx="1"/>
          </p:nvPr>
        </p:nvSpPr>
        <p:spPr/>
        <p:txBody>
          <a:bodyPr/>
          <a:lstStyle/>
          <a:p>
            <a:r>
              <a:rPr lang="fr-FR" dirty="0"/>
              <a:t>Le </a:t>
            </a:r>
            <a:r>
              <a:rPr lang="fr-FR" b="1" dirty="0"/>
              <a:t>gestionnaire de données</a:t>
            </a:r>
            <a:r>
              <a:rPr lang="fr-FR" dirty="0"/>
              <a:t> assure la </a:t>
            </a:r>
            <a:r>
              <a:rPr lang="fr-FR" dirty="0" err="1"/>
              <a:t>persistence</a:t>
            </a:r>
            <a:r>
              <a:rPr lang="fr-FR" dirty="0"/>
              <a:t> des données</a:t>
            </a:r>
          </a:p>
          <a:p>
            <a:r>
              <a:rPr lang="fr-FR" dirty="0"/>
              <a:t>Il gère également la structure de la base de données, la gestion de la cohérence et de l’intégrité de la BDD</a:t>
            </a:r>
          </a:p>
        </p:txBody>
      </p:sp>
      <p:sp>
        <p:nvSpPr>
          <p:cNvPr id="4" name="Espace réservé du numéro de diapositive 3">
            <a:extLst>
              <a:ext uri="{FF2B5EF4-FFF2-40B4-BE49-F238E27FC236}">
                <a16:creationId xmlns:a16="http://schemas.microsoft.com/office/drawing/2014/main" id="{558D8655-81E5-47CF-B2D0-6D171645A6B2}"/>
              </a:ext>
            </a:extLst>
          </p:cNvPr>
          <p:cNvSpPr>
            <a:spLocks noGrp="1"/>
          </p:cNvSpPr>
          <p:nvPr>
            <p:ph type="sldNum" sz="quarter" idx="12"/>
          </p:nvPr>
        </p:nvSpPr>
        <p:spPr/>
        <p:txBody>
          <a:bodyPr/>
          <a:lstStyle/>
          <a:p>
            <a:fld id="{27C6CCC6-2BE5-4E42-96A4-D1E8E81A3D8E}" type="slidenum">
              <a:rPr lang="de-DE" smtClean="0"/>
              <a:t>55</a:t>
            </a:fld>
            <a:endParaRPr lang="de-DE"/>
          </a:p>
        </p:txBody>
      </p:sp>
    </p:spTree>
    <p:extLst>
      <p:ext uri="{BB962C8B-B14F-4D97-AF65-F5344CB8AC3E}">
        <p14:creationId xmlns:p14="http://schemas.microsoft.com/office/powerpoint/2010/main" val="41632203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D50766-58F6-4C0A-8193-0CA4B6E6C15F}"/>
              </a:ext>
            </a:extLst>
          </p:cNvPr>
          <p:cNvSpPr>
            <a:spLocks noGrp="1"/>
          </p:cNvSpPr>
          <p:nvPr>
            <p:ph type="title"/>
          </p:nvPr>
        </p:nvSpPr>
        <p:spPr/>
        <p:txBody>
          <a:bodyPr/>
          <a:lstStyle/>
          <a:p>
            <a:r>
              <a:rPr lang="fr-FR" dirty="0"/>
              <a:t>Analyseur de requêtes</a:t>
            </a:r>
          </a:p>
        </p:txBody>
      </p:sp>
      <p:sp>
        <p:nvSpPr>
          <p:cNvPr id="3" name="Espace réservé du contenu 2">
            <a:extLst>
              <a:ext uri="{FF2B5EF4-FFF2-40B4-BE49-F238E27FC236}">
                <a16:creationId xmlns:a16="http://schemas.microsoft.com/office/drawing/2014/main" id="{50A0E68C-056B-4FBD-8B03-6612B2594E39}"/>
              </a:ext>
            </a:extLst>
          </p:cNvPr>
          <p:cNvSpPr>
            <a:spLocks noGrp="1"/>
          </p:cNvSpPr>
          <p:nvPr>
            <p:ph idx="1"/>
          </p:nvPr>
        </p:nvSpPr>
        <p:spPr/>
        <p:txBody>
          <a:bodyPr/>
          <a:lstStyle/>
          <a:p>
            <a:r>
              <a:rPr lang="fr-FR" dirty="0"/>
              <a:t>L’</a:t>
            </a:r>
            <a:r>
              <a:rPr lang="fr-FR" b="1" dirty="0"/>
              <a:t>analyseur de requêtes</a:t>
            </a:r>
            <a:r>
              <a:rPr lang="fr-FR" dirty="0"/>
              <a:t> convertit une requête en langage informatique (généralement SQL) en une séquence d’instruction capable de répondre à la demande</a:t>
            </a:r>
          </a:p>
          <a:p>
            <a:pPr lvl="1"/>
            <a:r>
              <a:rPr lang="fr-FR" dirty="0"/>
              <a:t>Analyse lexicale : découpage de la requête en </a:t>
            </a:r>
            <a:r>
              <a:rPr lang="fr-FR" dirty="0" err="1"/>
              <a:t>tokens</a:t>
            </a:r>
            <a:endParaRPr lang="fr-FR" dirty="0"/>
          </a:p>
          <a:p>
            <a:pPr lvl="1"/>
            <a:r>
              <a:rPr lang="fr-FR" dirty="0"/>
              <a:t>Analyse syntaxique : vérification de la syntaxe</a:t>
            </a:r>
          </a:p>
          <a:p>
            <a:pPr lvl="1"/>
            <a:r>
              <a:rPr lang="fr-FR" dirty="0"/>
              <a:t>Analyse sémantique : validation de la cohérence de la requête et de la structure BDD</a:t>
            </a:r>
          </a:p>
          <a:p>
            <a:pPr lvl="1"/>
            <a:r>
              <a:rPr lang="fr-FR" dirty="0"/>
              <a:t>Vérification des autorisations</a:t>
            </a:r>
          </a:p>
          <a:p>
            <a:pPr lvl="1"/>
            <a:r>
              <a:rPr lang="fr-FR" dirty="0"/>
              <a:t>Construction du plan d’exécution</a:t>
            </a:r>
          </a:p>
        </p:txBody>
      </p:sp>
      <p:sp>
        <p:nvSpPr>
          <p:cNvPr id="4" name="Espace réservé du numéro de diapositive 3">
            <a:extLst>
              <a:ext uri="{FF2B5EF4-FFF2-40B4-BE49-F238E27FC236}">
                <a16:creationId xmlns:a16="http://schemas.microsoft.com/office/drawing/2014/main" id="{558D8655-81E5-47CF-B2D0-6D171645A6B2}"/>
              </a:ext>
            </a:extLst>
          </p:cNvPr>
          <p:cNvSpPr>
            <a:spLocks noGrp="1"/>
          </p:cNvSpPr>
          <p:nvPr>
            <p:ph type="sldNum" sz="quarter" idx="12"/>
          </p:nvPr>
        </p:nvSpPr>
        <p:spPr/>
        <p:txBody>
          <a:bodyPr/>
          <a:lstStyle/>
          <a:p>
            <a:fld id="{27C6CCC6-2BE5-4E42-96A4-D1E8E81A3D8E}" type="slidenum">
              <a:rPr lang="de-DE" smtClean="0"/>
              <a:t>56</a:t>
            </a:fld>
            <a:endParaRPr lang="de-DE"/>
          </a:p>
        </p:txBody>
      </p:sp>
    </p:spTree>
    <p:extLst>
      <p:ext uri="{BB962C8B-B14F-4D97-AF65-F5344CB8AC3E}">
        <p14:creationId xmlns:p14="http://schemas.microsoft.com/office/powerpoint/2010/main" val="20893239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D50766-58F6-4C0A-8193-0CA4B6E6C15F}"/>
              </a:ext>
            </a:extLst>
          </p:cNvPr>
          <p:cNvSpPr>
            <a:spLocks noGrp="1"/>
          </p:cNvSpPr>
          <p:nvPr>
            <p:ph type="title"/>
          </p:nvPr>
        </p:nvSpPr>
        <p:spPr/>
        <p:txBody>
          <a:bodyPr/>
          <a:lstStyle/>
          <a:p>
            <a:r>
              <a:rPr lang="fr-FR" dirty="0"/>
              <a:t>Optimiseur de requêtes</a:t>
            </a:r>
          </a:p>
        </p:txBody>
      </p:sp>
      <p:sp>
        <p:nvSpPr>
          <p:cNvPr id="3" name="Espace réservé du contenu 2">
            <a:extLst>
              <a:ext uri="{FF2B5EF4-FFF2-40B4-BE49-F238E27FC236}">
                <a16:creationId xmlns:a16="http://schemas.microsoft.com/office/drawing/2014/main" id="{50A0E68C-056B-4FBD-8B03-6612B2594E39}"/>
              </a:ext>
            </a:extLst>
          </p:cNvPr>
          <p:cNvSpPr>
            <a:spLocks noGrp="1"/>
          </p:cNvSpPr>
          <p:nvPr>
            <p:ph idx="1"/>
          </p:nvPr>
        </p:nvSpPr>
        <p:spPr/>
        <p:txBody>
          <a:bodyPr/>
          <a:lstStyle/>
          <a:p>
            <a:r>
              <a:rPr lang="fr-FR" dirty="0"/>
              <a:t>L’</a:t>
            </a:r>
            <a:r>
              <a:rPr lang="fr-FR" b="1" dirty="0"/>
              <a:t>optimiseur de requêtes </a:t>
            </a:r>
            <a:r>
              <a:rPr lang="fr-FR" dirty="0"/>
              <a:t>permet d’améliorer la rapidité d’exécution d’une requête, il repose sur les mécanismes suivants :</a:t>
            </a:r>
          </a:p>
          <a:p>
            <a:pPr lvl="1"/>
            <a:r>
              <a:rPr lang="fr-FR" dirty="0"/>
              <a:t>Sélection parmi les plans d’exécution possibles</a:t>
            </a:r>
          </a:p>
          <a:p>
            <a:pPr lvl="1"/>
            <a:r>
              <a:rPr lang="fr-FR" dirty="0" err="1"/>
              <a:t>Ré-écriture</a:t>
            </a:r>
            <a:r>
              <a:rPr lang="fr-FR" dirty="0"/>
              <a:t> de requête</a:t>
            </a:r>
          </a:p>
          <a:p>
            <a:pPr lvl="1"/>
            <a:r>
              <a:rPr lang="fr-FR" dirty="0"/>
              <a:t>Utilisation d’index</a:t>
            </a:r>
          </a:p>
          <a:p>
            <a:pPr lvl="1"/>
            <a:r>
              <a:rPr lang="fr-FR" dirty="0"/>
              <a:t>Sélection d’algorithme de jointure</a:t>
            </a:r>
          </a:p>
          <a:p>
            <a:pPr lvl="1"/>
            <a:r>
              <a:rPr lang="fr-FR" dirty="0"/>
              <a:t>Gestion de la concurrence (limitation du blocage des ressources)</a:t>
            </a:r>
          </a:p>
        </p:txBody>
      </p:sp>
      <p:sp>
        <p:nvSpPr>
          <p:cNvPr id="4" name="Espace réservé du numéro de diapositive 3">
            <a:extLst>
              <a:ext uri="{FF2B5EF4-FFF2-40B4-BE49-F238E27FC236}">
                <a16:creationId xmlns:a16="http://schemas.microsoft.com/office/drawing/2014/main" id="{558D8655-81E5-47CF-B2D0-6D171645A6B2}"/>
              </a:ext>
            </a:extLst>
          </p:cNvPr>
          <p:cNvSpPr>
            <a:spLocks noGrp="1"/>
          </p:cNvSpPr>
          <p:nvPr>
            <p:ph type="sldNum" sz="quarter" idx="12"/>
          </p:nvPr>
        </p:nvSpPr>
        <p:spPr/>
        <p:txBody>
          <a:bodyPr/>
          <a:lstStyle/>
          <a:p>
            <a:fld id="{27C6CCC6-2BE5-4E42-96A4-D1E8E81A3D8E}" type="slidenum">
              <a:rPr lang="de-DE" smtClean="0"/>
              <a:t>57</a:t>
            </a:fld>
            <a:endParaRPr lang="de-DE"/>
          </a:p>
        </p:txBody>
      </p:sp>
    </p:spTree>
    <p:extLst>
      <p:ext uri="{BB962C8B-B14F-4D97-AF65-F5344CB8AC3E}">
        <p14:creationId xmlns:p14="http://schemas.microsoft.com/office/powerpoint/2010/main" val="28722279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D50766-58F6-4C0A-8193-0CA4B6E6C15F}"/>
              </a:ext>
            </a:extLst>
          </p:cNvPr>
          <p:cNvSpPr>
            <a:spLocks noGrp="1"/>
          </p:cNvSpPr>
          <p:nvPr>
            <p:ph type="title"/>
          </p:nvPr>
        </p:nvSpPr>
        <p:spPr/>
        <p:txBody>
          <a:bodyPr/>
          <a:lstStyle/>
          <a:p>
            <a:r>
              <a:rPr lang="fr-FR" dirty="0"/>
              <a:t>Plan d’exécution</a:t>
            </a:r>
          </a:p>
        </p:txBody>
      </p:sp>
      <p:sp>
        <p:nvSpPr>
          <p:cNvPr id="3" name="Espace réservé du contenu 2">
            <a:extLst>
              <a:ext uri="{FF2B5EF4-FFF2-40B4-BE49-F238E27FC236}">
                <a16:creationId xmlns:a16="http://schemas.microsoft.com/office/drawing/2014/main" id="{50A0E68C-056B-4FBD-8B03-6612B2594E39}"/>
              </a:ext>
            </a:extLst>
          </p:cNvPr>
          <p:cNvSpPr>
            <a:spLocks noGrp="1"/>
          </p:cNvSpPr>
          <p:nvPr>
            <p:ph idx="1"/>
          </p:nvPr>
        </p:nvSpPr>
        <p:spPr/>
        <p:txBody>
          <a:bodyPr/>
          <a:lstStyle/>
          <a:p>
            <a:r>
              <a:rPr lang="fr-FR" dirty="0"/>
              <a:t>Le </a:t>
            </a:r>
            <a:r>
              <a:rPr lang="fr-FR" b="1" dirty="0"/>
              <a:t>plan d’exécution</a:t>
            </a:r>
            <a:r>
              <a:rPr lang="fr-FR" dirty="0"/>
              <a:t> issu de l’analyseur et de l’optimiseur de requête décrit comment les données seront accédées, notamment : </a:t>
            </a:r>
          </a:p>
          <a:p>
            <a:pPr lvl="1"/>
            <a:r>
              <a:rPr lang="fr-FR" dirty="0"/>
              <a:t>Dans quel ordre les données seront récupérées (si elles proviennent de plusieurs tables)</a:t>
            </a:r>
          </a:p>
          <a:p>
            <a:pPr lvl="1"/>
            <a:r>
              <a:rPr lang="fr-FR" dirty="0"/>
              <a:t>Comment les liens entre les données seront réalisés, sur la base de quels index</a:t>
            </a:r>
          </a:p>
          <a:p>
            <a:r>
              <a:rPr lang="fr-FR" dirty="0"/>
              <a:t>La plupart des SGBDR proposent des fonctionnalités de visualisation du plan d’exécution, cela permet au développeur d’identifier d’éventuels problèmes d’optimisation des requêtes</a:t>
            </a:r>
          </a:p>
        </p:txBody>
      </p:sp>
      <p:sp>
        <p:nvSpPr>
          <p:cNvPr id="4" name="Espace réservé du numéro de diapositive 3">
            <a:extLst>
              <a:ext uri="{FF2B5EF4-FFF2-40B4-BE49-F238E27FC236}">
                <a16:creationId xmlns:a16="http://schemas.microsoft.com/office/drawing/2014/main" id="{558D8655-81E5-47CF-B2D0-6D171645A6B2}"/>
              </a:ext>
            </a:extLst>
          </p:cNvPr>
          <p:cNvSpPr>
            <a:spLocks noGrp="1"/>
          </p:cNvSpPr>
          <p:nvPr>
            <p:ph type="sldNum" sz="quarter" idx="12"/>
          </p:nvPr>
        </p:nvSpPr>
        <p:spPr/>
        <p:txBody>
          <a:bodyPr/>
          <a:lstStyle/>
          <a:p>
            <a:fld id="{27C6CCC6-2BE5-4E42-96A4-D1E8E81A3D8E}" type="slidenum">
              <a:rPr lang="de-DE" smtClean="0"/>
              <a:t>58</a:t>
            </a:fld>
            <a:endParaRPr lang="de-DE"/>
          </a:p>
        </p:txBody>
      </p:sp>
    </p:spTree>
    <p:extLst>
      <p:ext uri="{BB962C8B-B14F-4D97-AF65-F5344CB8AC3E}">
        <p14:creationId xmlns:p14="http://schemas.microsoft.com/office/powerpoint/2010/main" val="22991301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D50766-58F6-4C0A-8193-0CA4B6E6C15F}"/>
              </a:ext>
            </a:extLst>
          </p:cNvPr>
          <p:cNvSpPr>
            <a:spLocks noGrp="1"/>
          </p:cNvSpPr>
          <p:nvPr>
            <p:ph type="title"/>
          </p:nvPr>
        </p:nvSpPr>
        <p:spPr/>
        <p:txBody>
          <a:bodyPr/>
          <a:lstStyle/>
          <a:p>
            <a:r>
              <a:rPr lang="fr-FR" dirty="0"/>
              <a:t>Gestionnaire de transactions</a:t>
            </a:r>
          </a:p>
        </p:txBody>
      </p:sp>
      <p:sp>
        <p:nvSpPr>
          <p:cNvPr id="3" name="Espace réservé du contenu 2">
            <a:extLst>
              <a:ext uri="{FF2B5EF4-FFF2-40B4-BE49-F238E27FC236}">
                <a16:creationId xmlns:a16="http://schemas.microsoft.com/office/drawing/2014/main" id="{50A0E68C-056B-4FBD-8B03-6612B2594E39}"/>
              </a:ext>
            </a:extLst>
          </p:cNvPr>
          <p:cNvSpPr>
            <a:spLocks noGrp="1"/>
          </p:cNvSpPr>
          <p:nvPr>
            <p:ph idx="1"/>
          </p:nvPr>
        </p:nvSpPr>
        <p:spPr/>
        <p:txBody>
          <a:bodyPr/>
          <a:lstStyle/>
          <a:p>
            <a:r>
              <a:rPr lang="fr-FR" dirty="0"/>
              <a:t>Une </a:t>
            </a:r>
            <a:r>
              <a:rPr lang="fr-FR" b="1" dirty="0"/>
              <a:t>transaction</a:t>
            </a:r>
            <a:r>
              <a:rPr lang="fr-FR" dirty="0"/>
              <a:t> est une unité d’exécution composée d’une ou plusieurs opérations d’accès à la BDD (consultation ou mise à jour) devant être exécutées solidairement (soit toutes les requêtes de la transaction sont exécutées, soit elles sont toutes annulées) – elles sont notamment utilisées pour gérer les accès concurrent à la base</a:t>
            </a:r>
            <a:endParaRPr lang="fr-FR" b="1" dirty="0"/>
          </a:p>
          <a:p>
            <a:r>
              <a:rPr lang="fr-FR" dirty="0"/>
              <a:t>Le </a:t>
            </a:r>
            <a:r>
              <a:rPr lang="fr-FR" b="1" dirty="0"/>
              <a:t>gestionnaire de transactions </a:t>
            </a:r>
            <a:r>
              <a:rPr lang="fr-FR" dirty="0"/>
              <a:t>intervient après l’optimiseur de requête pour exécuter les requêtes sous la forme d’une transaction</a:t>
            </a:r>
          </a:p>
        </p:txBody>
      </p:sp>
      <p:sp>
        <p:nvSpPr>
          <p:cNvPr id="4" name="Espace réservé du numéro de diapositive 3">
            <a:extLst>
              <a:ext uri="{FF2B5EF4-FFF2-40B4-BE49-F238E27FC236}">
                <a16:creationId xmlns:a16="http://schemas.microsoft.com/office/drawing/2014/main" id="{558D8655-81E5-47CF-B2D0-6D171645A6B2}"/>
              </a:ext>
            </a:extLst>
          </p:cNvPr>
          <p:cNvSpPr>
            <a:spLocks noGrp="1"/>
          </p:cNvSpPr>
          <p:nvPr>
            <p:ph type="sldNum" sz="quarter" idx="12"/>
          </p:nvPr>
        </p:nvSpPr>
        <p:spPr/>
        <p:txBody>
          <a:bodyPr/>
          <a:lstStyle/>
          <a:p>
            <a:fld id="{27C6CCC6-2BE5-4E42-96A4-D1E8E81A3D8E}" type="slidenum">
              <a:rPr lang="de-DE" smtClean="0"/>
              <a:t>59</a:t>
            </a:fld>
            <a:endParaRPr lang="de-DE"/>
          </a:p>
        </p:txBody>
      </p:sp>
    </p:spTree>
    <p:extLst>
      <p:ext uri="{BB962C8B-B14F-4D97-AF65-F5344CB8AC3E}">
        <p14:creationId xmlns:p14="http://schemas.microsoft.com/office/powerpoint/2010/main" val="10339713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D50766-58F6-4C0A-8193-0CA4B6E6C15F}"/>
              </a:ext>
            </a:extLst>
          </p:cNvPr>
          <p:cNvSpPr>
            <a:spLocks noGrp="1"/>
          </p:cNvSpPr>
          <p:nvPr>
            <p:ph type="title"/>
          </p:nvPr>
        </p:nvSpPr>
        <p:spPr/>
        <p:txBody>
          <a:bodyPr/>
          <a:lstStyle/>
          <a:p>
            <a:r>
              <a:rPr lang="fr-FR" dirty="0"/>
              <a:t>Transaction</a:t>
            </a:r>
          </a:p>
        </p:txBody>
      </p:sp>
      <p:sp>
        <p:nvSpPr>
          <p:cNvPr id="3" name="Espace réservé du contenu 2">
            <a:extLst>
              <a:ext uri="{FF2B5EF4-FFF2-40B4-BE49-F238E27FC236}">
                <a16:creationId xmlns:a16="http://schemas.microsoft.com/office/drawing/2014/main" id="{50A0E68C-056B-4FBD-8B03-6612B2594E39}"/>
              </a:ext>
            </a:extLst>
          </p:cNvPr>
          <p:cNvSpPr>
            <a:spLocks noGrp="1"/>
          </p:cNvSpPr>
          <p:nvPr>
            <p:ph idx="1"/>
          </p:nvPr>
        </p:nvSpPr>
        <p:spPr/>
        <p:txBody>
          <a:bodyPr/>
          <a:lstStyle/>
          <a:p>
            <a:r>
              <a:rPr lang="fr-FR" dirty="0"/>
              <a:t>Une </a:t>
            </a:r>
            <a:r>
              <a:rPr lang="fr-FR" b="1" dirty="0"/>
              <a:t>transaction</a:t>
            </a:r>
            <a:r>
              <a:rPr lang="fr-FR" dirty="0"/>
              <a:t> est une unité d’exécution composée d’une ou plusieurs opérations d’accès à la BDD (consultation ou mise à jour) devant être exécutées solidairement/atomiquement (soit toutes les requêtes de la transaction sont exécutées, soit elles sont toutes annulées) – elles sont notamment utilisées pour gérer les accès concurrent à la base</a:t>
            </a:r>
            <a:endParaRPr lang="fr-FR" b="1" dirty="0"/>
          </a:p>
        </p:txBody>
      </p:sp>
      <p:sp>
        <p:nvSpPr>
          <p:cNvPr id="4" name="Espace réservé du numéro de diapositive 3">
            <a:extLst>
              <a:ext uri="{FF2B5EF4-FFF2-40B4-BE49-F238E27FC236}">
                <a16:creationId xmlns:a16="http://schemas.microsoft.com/office/drawing/2014/main" id="{558D8655-81E5-47CF-B2D0-6D171645A6B2}"/>
              </a:ext>
            </a:extLst>
          </p:cNvPr>
          <p:cNvSpPr>
            <a:spLocks noGrp="1"/>
          </p:cNvSpPr>
          <p:nvPr>
            <p:ph type="sldNum" sz="quarter" idx="12"/>
          </p:nvPr>
        </p:nvSpPr>
        <p:spPr/>
        <p:txBody>
          <a:bodyPr/>
          <a:lstStyle/>
          <a:p>
            <a:fld id="{27C6CCC6-2BE5-4E42-96A4-D1E8E81A3D8E}" type="slidenum">
              <a:rPr lang="de-DE" smtClean="0"/>
              <a:t>60</a:t>
            </a:fld>
            <a:endParaRPr lang="de-DE"/>
          </a:p>
        </p:txBody>
      </p:sp>
    </p:spTree>
    <p:extLst>
      <p:ext uri="{BB962C8B-B14F-4D97-AF65-F5344CB8AC3E}">
        <p14:creationId xmlns:p14="http://schemas.microsoft.com/office/powerpoint/2010/main" val="30510617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D50766-58F6-4C0A-8193-0CA4B6E6C15F}"/>
              </a:ext>
            </a:extLst>
          </p:cNvPr>
          <p:cNvSpPr>
            <a:spLocks noGrp="1"/>
          </p:cNvSpPr>
          <p:nvPr>
            <p:ph type="title"/>
          </p:nvPr>
        </p:nvSpPr>
        <p:spPr/>
        <p:txBody>
          <a:bodyPr/>
          <a:lstStyle/>
          <a:p>
            <a:r>
              <a:rPr lang="fr-FR" dirty="0"/>
              <a:t>Exécuteur</a:t>
            </a:r>
          </a:p>
        </p:txBody>
      </p:sp>
      <p:sp>
        <p:nvSpPr>
          <p:cNvPr id="3" name="Espace réservé du contenu 2">
            <a:extLst>
              <a:ext uri="{FF2B5EF4-FFF2-40B4-BE49-F238E27FC236}">
                <a16:creationId xmlns:a16="http://schemas.microsoft.com/office/drawing/2014/main" id="{50A0E68C-056B-4FBD-8B03-6612B2594E39}"/>
              </a:ext>
            </a:extLst>
          </p:cNvPr>
          <p:cNvSpPr>
            <a:spLocks noGrp="1"/>
          </p:cNvSpPr>
          <p:nvPr>
            <p:ph idx="1"/>
          </p:nvPr>
        </p:nvSpPr>
        <p:spPr/>
        <p:txBody>
          <a:bodyPr/>
          <a:lstStyle/>
          <a:p>
            <a:r>
              <a:rPr lang="fr-FR" dirty="0"/>
              <a:t>L’</a:t>
            </a:r>
            <a:r>
              <a:rPr lang="fr-FR" b="1" dirty="0"/>
              <a:t>exécuteur</a:t>
            </a:r>
            <a:r>
              <a:rPr lang="fr-FR" dirty="0"/>
              <a:t> réalise le plan d’exécution, il contrôle notamment l’atomicité des transactions et gère les accès concurrents</a:t>
            </a:r>
          </a:p>
        </p:txBody>
      </p:sp>
      <p:sp>
        <p:nvSpPr>
          <p:cNvPr id="4" name="Espace réservé du numéro de diapositive 3">
            <a:extLst>
              <a:ext uri="{FF2B5EF4-FFF2-40B4-BE49-F238E27FC236}">
                <a16:creationId xmlns:a16="http://schemas.microsoft.com/office/drawing/2014/main" id="{558D8655-81E5-47CF-B2D0-6D171645A6B2}"/>
              </a:ext>
            </a:extLst>
          </p:cNvPr>
          <p:cNvSpPr>
            <a:spLocks noGrp="1"/>
          </p:cNvSpPr>
          <p:nvPr>
            <p:ph type="sldNum" sz="quarter" idx="12"/>
          </p:nvPr>
        </p:nvSpPr>
        <p:spPr/>
        <p:txBody>
          <a:bodyPr/>
          <a:lstStyle/>
          <a:p>
            <a:fld id="{27C6CCC6-2BE5-4E42-96A4-D1E8E81A3D8E}" type="slidenum">
              <a:rPr lang="de-DE" smtClean="0"/>
              <a:t>61</a:t>
            </a:fld>
            <a:endParaRPr lang="de-DE"/>
          </a:p>
        </p:txBody>
      </p:sp>
    </p:spTree>
    <p:extLst>
      <p:ext uri="{BB962C8B-B14F-4D97-AF65-F5344CB8AC3E}">
        <p14:creationId xmlns:p14="http://schemas.microsoft.com/office/powerpoint/2010/main" val="12040590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2C5577-529E-4389-A205-57008FE8D588}"/>
              </a:ext>
            </a:extLst>
          </p:cNvPr>
          <p:cNvSpPr>
            <a:spLocks noGrp="1"/>
          </p:cNvSpPr>
          <p:nvPr>
            <p:ph type="title"/>
          </p:nvPr>
        </p:nvSpPr>
        <p:spPr/>
        <p:txBody>
          <a:bodyPr/>
          <a:lstStyle/>
          <a:p>
            <a:r>
              <a:rPr lang="fr-FR"/>
              <a:t>Langage SQL</a:t>
            </a:r>
          </a:p>
        </p:txBody>
      </p:sp>
      <p:sp>
        <p:nvSpPr>
          <p:cNvPr id="3" name="Espace réservé du texte 2">
            <a:extLst>
              <a:ext uri="{FF2B5EF4-FFF2-40B4-BE49-F238E27FC236}">
                <a16:creationId xmlns:a16="http://schemas.microsoft.com/office/drawing/2014/main" id="{F0B9C18C-E3F5-4178-B572-BA43500A4D67}"/>
              </a:ext>
            </a:extLst>
          </p:cNvPr>
          <p:cNvSpPr>
            <a:spLocks noGrp="1"/>
          </p:cNvSpPr>
          <p:nvPr>
            <p:ph type="body" idx="1"/>
          </p:nvPr>
        </p:nvSpPr>
        <p:spPr/>
        <p:txBody>
          <a:bodyPr/>
          <a:lstStyle/>
          <a:p>
            <a:r>
              <a:rPr lang="fr-FR"/>
              <a:t>Comment interroger et manipuler une base de données ?</a:t>
            </a:r>
          </a:p>
        </p:txBody>
      </p:sp>
      <p:sp>
        <p:nvSpPr>
          <p:cNvPr id="6" name="Espace réservé du numéro de diapositive 5">
            <a:extLst>
              <a:ext uri="{FF2B5EF4-FFF2-40B4-BE49-F238E27FC236}">
                <a16:creationId xmlns:a16="http://schemas.microsoft.com/office/drawing/2014/main" id="{CAB67938-23E6-43A3-871A-96BD30B0246F}"/>
              </a:ext>
            </a:extLst>
          </p:cNvPr>
          <p:cNvSpPr>
            <a:spLocks noGrp="1"/>
          </p:cNvSpPr>
          <p:nvPr>
            <p:ph type="sldNum" sz="quarter" idx="12"/>
          </p:nvPr>
        </p:nvSpPr>
        <p:spPr/>
        <p:txBody>
          <a:bodyPr/>
          <a:lstStyle/>
          <a:p>
            <a:fld id="{27C6CCC6-2BE5-4E42-96A4-D1E8E81A3D8E}" type="slidenum">
              <a:rPr lang="de-DE" smtClean="0"/>
              <a:t>62</a:t>
            </a:fld>
            <a:endParaRPr lang="de-DE"/>
          </a:p>
        </p:txBody>
      </p:sp>
    </p:spTree>
    <p:extLst>
      <p:ext uri="{BB962C8B-B14F-4D97-AF65-F5344CB8AC3E}">
        <p14:creationId xmlns:p14="http://schemas.microsoft.com/office/powerpoint/2010/main" val="17466039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normAutofit/>
          </a:bodyPr>
          <a:lstStyle/>
          <a:p>
            <a:r>
              <a:rPr lang="fr-FR"/>
              <a:t>Langage SQL</a:t>
            </a:r>
          </a:p>
        </p:txBody>
      </p:sp>
      <p:graphicFrame>
        <p:nvGraphicFramePr>
          <p:cNvPr id="14" name="Espace réservé du contenu 2">
            <a:extLst>
              <a:ext uri="{FF2B5EF4-FFF2-40B4-BE49-F238E27FC236}">
                <a16:creationId xmlns:a16="http://schemas.microsoft.com/office/drawing/2014/main" id="{8F25E81D-6389-4B0A-B87A-1D6940B59103}"/>
              </a:ext>
            </a:extLst>
          </p:cNvPr>
          <p:cNvGraphicFramePr>
            <a:graphicFrameLocks noGrp="1"/>
          </p:cNvGraphicFramePr>
          <p:nvPr>
            <p:ph idx="1"/>
            <p:extLst>
              <p:ext uri="{D42A27DB-BD31-4B8C-83A1-F6EECF244321}">
                <p14:modId xmlns:p14="http://schemas.microsoft.com/office/powerpoint/2010/main" val="1013972178"/>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numéro de diapositive 4">
            <a:extLst>
              <a:ext uri="{FF2B5EF4-FFF2-40B4-BE49-F238E27FC236}">
                <a16:creationId xmlns:a16="http://schemas.microsoft.com/office/drawing/2014/main" id="{1E2395BA-F655-4AA9-8824-6621FCE3A2AE}"/>
              </a:ext>
            </a:extLst>
          </p:cNvPr>
          <p:cNvSpPr>
            <a:spLocks noGrp="1"/>
          </p:cNvSpPr>
          <p:nvPr>
            <p:ph type="sldNum" sz="quarter" idx="12"/>
          </p:nvPr>
        </p:nvSpPr>
        <p:spPr/>
        <p:txBody>
          <a:bodyPr/>
          <a:lstStyle/>
          <a:p>
            <a:fld id="{27C6CCC6-2BE5-4E42-96A4-D1E8E81A3D8E}" type="slidenum">
              <a:rPr lang="de-DE" smtClean="0"/>
              <a:t>63</a:t>
            </a:fld>
            <a:endParaRPr lang="de-DE"/>
          </a:p>
        </p:txBody>
      </p:sp>
    </p:spTree>
    <p:extLst>
      <p:ext uri="{BB962C8B-B14F-4D97-AF65-F5344CB8AC3E}">
        <p14:creationId xmlns:p14="http://schemas.microsoft.com/office/powerpoint/2010/main" val="30326537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normAutofit/>
          </a:bodyPr>
          <a:lstStyle/>
          <a:p>
            <a:r>
              <a:rPr lang="fr-FR"/>
              <a:t>Langage SQL</a:t>
            </a:r>
          </a:p>
        </p:txBody>
      </p:sp>
      <p:graphicFrame>
        <p:nvGraphicFramePr>
          <p:cNvPr id="14" name="Espace réservé du contenu 2">
            <a:extLst>
              <a:ext uri="{FF2B5EF4-FFF2-40B4-BE49-F238E27FC236}">
                <a16:creationId xmlns:a16="http://schemas.microsoft.com/office/drawing/2014/main" id="{8F25E81D-6389-4B0A-B87A-1D6940B59103}"/>
              </a:ext>
            </a:extLst>
          </p:cNvPr>
          <p:cNvGraphicFramePr>
            <a:graphicFrameLocks noGrp="1"/>
          </p:cNvGraphicFramePr>
          <p:nvPr>
            <p:ph idx="1"/>
            <p:extLst>
              <p:ext uri="{D42A27DB-BD31-4B8C-83A1-F6EECF244321}">
                <p14:modId xmlns:p14="http://schemas.microsoft.com/office/powerpoint/2010/main" val="1331406953"/>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numéro de diapositive 4">
            <a:extLst>
              <a:ext uri="{FF2B5EF4-FFF2-40B4-BE49-F238E27FC236}">
                <a16:creationId xmlns:a16="http://schemas.microsoft.com/office/drawing/2014/main" id="{1E2395BA-F655-4AA9-8824-6621FCE3A2AE}"/>
              </a:ext>
            </a:extLst>
          </p:cNvPr>
          <p:cNvSpPr>
            <a:spLocks noGrp="1"/>
          </p:cNvSpPr>
          <p:nvPr>
            <p:ph type="sldNum" sz="quarter" idx="12"/>
          </p:nvPr>
        </p:nvSpPr>
        <p:spPr/>
        <p:txBody>
          <a:bodyPr/>
          <a:lstStyle/>
          <a:p>
            <a:fld id="{27C6CCC6-2BE5-4E42-96A4-D1E8E81A3D8E}" type="slidenum">
              <a:rPr lang="de-DE" smtClean="0"/>
              <a:t>64</a:t>
            </a:fld>
            <a:endParaRPr lang="de-DE"/>
          </a:p>
        </p:txBody>
      </p:sp>
    </p:spTree>
    <p:extLst>
      <p:ext uri="{BB962C8B-B14F-4D97-AF65-F5344CB8AC3E}">
        <p14:creationId xmlns:p14="http://schemas.microsoft.com/office/powerpoint/2010/main" val="15182081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2D8EC5-DA0E-4377-AEA7-615C00B9FBBF}"/>
              </a:ext>
            </a:extLst>
          </p:cNvPr>
          <p:cNvSpPr>
            <a:spLocks noGrp="1"/>
          </p:cNvSpPr>
          <p:nvPr>
            <p:ph type="title"/>
          </p:nvPr>
        </p:nvSpPr>
        <p:spPr/>
        <p:txBody>
          <a:bodyPr/>
          <a:lstStyle/>
          <a:p>
            <a:r>
              <a:rPr lang="fr-FR" dirty="0"/>
              <a:t>Langage SQL</a:t>
            </a:r>
          </a:p>
        </p:txBody>
      </p:sp>
      <p:sp>
        <p:nvSpPr>
          <p:cNvPr id="3" name="Espace réservé du contenu 2">
            <a:extLst>
              <a:ext uri="{FF2B5EF4-FFF2-40B4-BE49-F238E27FC236}">
                <a16:creationId xmlns:a16="http://schemas.microsoft.com/office/drawing/2014/main" id="{8DEB7E57-B527-4CF2-9FC3-57B32D805D44}"/>
              </a:ext>
            </a:extLst>
          </p:cNvPr>
          <p:cNvSpPr>
            <a:spLocks noGrp="1"/>
          </p:cNvSpPr>
          <p:nvPr>
            <p:ph idx="1"/>
          </p:nvPr>
        </p:nvSpPr>
        <p:spPr/>
        <p:txBody>
          <a:bodyPr/>
          <a:lstStyle/>
          <a:p>
            <a:r>
              <a:rPr lang="fr-FR" dirty="0"/>
              <a:t>Ce cours n’est pas exhaustif sur le langage SQL :</a:t>
            </a:r>
          </a:p>
          <a:p>
            <a:pPr lvl="1"/>
            <a:r>
              <a:rPr lang="fr-FR" dirty="0"/>
              <a:t>Nombreuses normes différentes : on présente ici ce qui est commun à l’ensemble</a:t>
            </a:r>
          </a:p>
          <a:p>
            <a:pPr lvl="1"/>
            <a:r>
              <a:rPr lang="fr-FR" dirty="0"/>
              <a:t>Plus de 800 mots réservés [1] selon les normes</a:t>
            </a:r>
          </a:p>
          <a:p>
            <a:pPr lvl="1"/>
            <a:r>
              <a:rPr lang="fr-FR" dirty="0"/>
              <a:t>Au besoin, consulter la référence de la base concernée</a:t>
            </a:r>
          </a:p>
          <a:p>
            <a:pPr lvl="1"/>
            <a:endParaRPr lang="fr-FR" dirty="0"/>
          </a:p>
          <a:p>
            <a:r>
              <a:rPr lang="fr-FR" dirty="0"/>
              <a:t>[1] https://www.drupal.org/docs/develop/coding-standards/list-of-sql-reserved-words</a:t>
            </a:r>
          </a:p>
        </p:txBody>
      </p:sp>
      <p:sp>
        <p:nvSpPr>
          <p:cNvPr id="4" name="Espace réservé du numéro de diapositive 3">
            <a:extLst>
              <a:ext uri="{FF2B5EF4-FFF2-40B4-BE49-F238E27FC236}">
                <a16:creationId xmlns:a16="http://schemas.microsoft.com/office/drawing/2014/main" id="{A36F0670-79DD-464C-A196-84D74A462BAB}"/>
              </a:ext>
            </a:extLst>
          </p:cNvPr>
          <p:cNvSpPr>
            <a:spLocks noGrp="1"/>
          </p:cNvSpPr>
          <p:nvPr>
            <p:ph type="sldNum" sz="quarter" idx="12"/>
          </p:nvPr>
        </p:nvSpPr>
        <p:spPr/>
        <p:txBody>
          <a:bodyPr/>
          <a:lstStyle/>
          <a:p>
            <a:fld id="{27C6CCC6-2BE5-4E42-96A4-D1E8E81A3D8E}" type="slidenum">
              <a:rPr lang="de-DE" smtClean="0"/>
              <a:t>65</a:t>
            </a:fld>
            <a:endParaRPr lang="de-DE"/>
          </a:p>
        </p:txBody>
      </p:sp>
    </p:spTree>
    <p:extLst>
      <p:ext uri="{BB962C8B-B14F-4D97-AF65-F5344CB8AC3E}">
        <p14:creationId xmlns:p14="http://schemas.microsoft.com/office/powerpoint/2010/main" val="37969849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a:xfrm>
            <a:off x="451514" y="947607"/>
            <a:ext cx="4389427" cy="4962786"/>
          </a:xfrm>
        </p:spPr>
        <p:txBody>
          <a:bodyPr vert="horz" lIns="91440" tIns="45720" rIns="91440" bIns="45720" rtlCol="0" anchor="ctr">
            <a:normAutofit/>
          </a:bodyPr>
          <a:lstStyle/>
          <a:p>
            <a:pPr algn="l"/>
            <a:r>
              <a:rPr lang="en-US" sz="5000"/>
              <a:t>Data Manipulation Language</a:t>
            </a:r>
          </a:p>
        </p:txBody>
      </p:sp>
      <p:sp>
        <p:nvSpPr>
          <p:cNvPr id="4" name="Espace réservé du texte 3">
            <a:extLst>
              <a:ext uri="{FF2B5EF4-FFF2-40B4-BE49-F238E27FC236}">
                <a16:creationId xmlns:a16="http://schemas.microsoft.com/office/drawing/2014/main" id="{EEA6AC4C-B2BB-4BF6-A9C0-FB299E84F2F7}"/>
              </a:ext>
            </a:extLst>
          </p:cNvPr>
          <p:cNvSpPr>
            <a:spLocks noGrp="1"/>
          </p:cNvSpPr>
          <p:nvPr>
            <p:ph type="body" idx="1"/>
          </p:nvPr>
        </p:nvSpPr>
        <p:spPr>
          <a:xfrm>
            <a:off x="7229345" y="947607"/>
            <a:ext cx="4152655" cy="4962785"/>
          </a:xfrm>
          <a:effectLst/>
        </p:spPr>
        <p:txBody>
          <a:bodyPr vert="horz" lIns="91440" tIns="45720" rIns="91440" bIns="45720" rtlCol="0" anchor="ctr">
            <a:normAutofit/>
          </a:bodyPr>
          <a:lstStyle/>
          <a:p>
            <a:pPr algn="l"/>
            <a:r>
              <a:rPr lang="en-US" sz="2800" err="1"/>
              <a:t>Manipuler</a:t>
            </a:r>
            <a:r>
              <a:rPr lang="en-US" sz="2800"/>
              <a:t> les </a:t>
            </a:r>
            <a:r>
              <a:rPr lang="en-US" sz="2800" err="1"/>
              <a:t>données</a:t>
            </a:r>
            <a:r>
              <a:rPr lang="en-US" sz="2800"/>
              <a:t> de la base</a:t>
            </a:r>
          </a:p>
        </p:txBody>
      </p:sp>
      <p:sp>
        <p:nvSpPr>
          <p:cNvPr id="6" name="Espace réservé du numéro de diapositive 5">
            <a:extLst>
              <a:ext uri="{FF2B5EF4-FFF2-40B4-BE49-F238E27FC236}">
                <a16:creationId xmlns:a16="http://schemas.microsoft.com/office/drawing/2014/main" id="{EF61C3E6-436A-4021-9B1F-5F2493637F2D}"/>
              </a:ext>
            </a:extLst>
          </p:cNvPr>
          <p:cNvSpPr>
            <a:spLocks noGrp="1"/>
          </p:cNvSpPr>
          <p:nvPr>
            <p:ph type="sldNum" sz="quarter" idx="12"/>
          </p:nvPr>
        </p:nvSpPr>
        <p:spPr/>
        <p:txBody>
          <a:bodyPr/>
          <a:lstStyle/>
          <a:p>
            <a:fld id="{27C6CCC6-2BE5-4E42-96A4-D1E8E81A3D8E}" type="slidenum">
              <a:rPr lang="de-DE" smtClean="0"/>
              <a:t>66</a:t>
            </a:fld>
            <a:endParaRPr lang="de-DE"/>
          </a:p>
        </p:txBody>
      </p:sp>
    </p:spTree>
    <p:extLst>
      <p:ext uri="{BB962C8B-B14F-4D97-AF65-F5344CB8AC3E}">
        <p14:creationId xmlns:p14="http://schemas.microsoft.com/office/powerpoint/2010/main" val="27154406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normAutofit/>
          </a:bodyPr>
          <a:lstStyle/>
          <a:p>
            <a:r>
              <a:rPr lang="fr-FR"/>
              <a:t>Data Manipulation Language (DML)</a:t>
            </a:r>
          </a:p>
        </p:txBody>
      </p:sp>
      <p:graphicFrame>
        <p:nvGraphicFramePr>
          <p:cNvPr id="14" name="Espace réservé du contenu 2">
            <a:extLst>
              <a:ext uri="{FF2B5EF4-FFF2-40B4-BE49-F238E27FC236}">
                <a16:creationId xmlns:a16="http://schemas.microsoft.com/office/drawing/2014/main" id="{495C2453-5CD4-4201-9F9F-EB7B6BFB2B3B}"/>
              </a:ext>
            </a:extLst>
          </p:cNvPr>
          <p:cNvGraphicFramePr>
            <a:graphicFrameLocks noGrp="1"/>
          </p:cNvGraphicFramePr>
          <p:nvPr>
            <p:ph idx="1"/>
            <p:extLst>
              <p:ext uri="{D42A27DB-BD31-4B8C-83A1-F6EECF244321}">
                <p14:modId xmlns:p14="http://schemas.microsoft.com/office/powerpoint/2010/main" val="3483673541"/>
              </p:ext>
            </p:extLst>
          </p:nvPr>
        </p:nvGraphicFramePr>
        <p:xfrm>
          <a:off x="819150" y="2494722"/>
          <a:ext cx="10553700" cy="33647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numéro de diapositive 4">
            <a:extLst>
              <a:ext uri="{FF2B5EF4-FFF2-40B4-BE49-F238E27FC236}">
                <a16:creationId xmlns:a16="http://schemas.microsoft.com/office/drawing/2014/main" id="{1B6C8632-6B4B-4E1A-AAC3-6A99A091DB58}"/>
              </a:ext>
            </a:extLst>
          </p:cNvPr>
          <p:cNvSpPr>
            <a:spLocks noGrp="1"/>
          </p:cNvSpPr>
          <p:nvPr>
            <p:ph type="sldNum" sz="quarter" idx="12"/>
          </p:nvPr>
        </p:nvSpPr>
        <p:spPr/>
        <p:txBody>
          <a:bodyPr/>
          <a:lstStyle/>
          <a:p>
            <a:fld id="{27C6CCC6-2BE5-4E42-96A4-D1E8E81A3D8E}" type="slidenum">
              <a:rPr lang="de-DE" smtClean="0"/>
              <a:t>67</a:t>
            </a:fld>
            <a:endParaRPr lang="de-DE"/>
          </a:p>
        </p:txBody>
      </p:sp>
    </p:spTree>
    <p:extLst>
      <p:ext uri="{BB962C8B-B14F-4D97-AF65-F5344CB8AC3E}">
        <p14:creationId xmlns:p14="http://schemas.microsoft.com/office/powerpoint/2010/main" val="25198122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(SELECT)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ormAutofit/>
          </a:bodyPr>
          <a:lstStyle/>
          <a:p>
            <a:r>
              <a:rPr lang="fr-FR" dirty="0">
                <a:ea typeface="+mn-lt"/>
                <a:cs typeface="+mn-lt"/>
              </a:rPr>
              <a:t>Instruction </a:t>
            </a:r>
            <a:r>
              <a:rPr lang="fr-FR" b="1" dirty="0">
                <a:ea typeface="+mn-lt"/>
                <a:cs typeface="+mn-lt"/>
              </a:rPr>
              <a:t>SELECT</a:t>
            </a:r>
            <a:r>
              <a:rPr lang="fr-FR" dirty="0">
                <a:ea typeface="+mn-lt"/>
                <a:cs typeface="+mn-lt"/>
              </a:rPr>
              <a:t> : 3 parties principales :</a:t>
            </a:r>
            <a:endParaRPr lang="fr-FR" dirty="0"/>
          </a:p>
          <a:p>
            <a:pPr lvl="1"/>
            <a:r>
              <a:rPr lang="fr-FR" dirty="0">
                <a:ea typeface="+mn-lt"/>
                <a:cs typeface="+mn-lt"/>
              </a:rPr>
              <a:t>clause (obligatoire) </a:t>
            </a:r>
            <a:r>
              <a:rPr lang="fr-FR" b="1" dirty="0">
                <a:ea typeface="+mn-lt"/>
                <a:cs typeface="+mn-lt"/>
              </a:rPr>
              <a:t>SELECT </a:t>
            </a:r>
            <a:r>
              <a:rPr lang="fr-FR" dirty="0">
                <a:ea typeface="+mn-lt"/>
                <a:cs typeface="+mn-lt"/>
              </a:rPr>
              <a:t>: précise les valeurs qui constituent chaque ligne du résultat</a:t>
            </a:r>
            <a:endParaRPr lang="fr-FR" dirty="0"/>
          </a:p>
          <a:p>
            <a:pPr lvl="1"/>
            <a:r>
              <a:rPr lang="fr-FR" dirty="0">
                <a:ea typeface="+mn-lt"/>
                <a:cs typeface="+mn-lt"/>
              </a:rPr>
              <a:t>clause </a:t>
            </a:r>
            <a:r>
              <a:rPr lang="fr-FR" b="1" dirty="0">
                <a:ea typeface="+mn-lt"/>
                <a:cs typeface="+mn-lt"/>
              </a:rPr>
              <a:t>FROM </a:t>
            </a:r>
            <a:r>
              <a:rPr lang="fr-FR" dirty="0">
                <a:ea typeface="+mn-lt"/>
                <a:cs typeface="+mn-lt"/>
              </a:rPr>
              <a:t>: indique les tables desquelles le résultat tire ses valeurs  </a:t>
            </a:r>
            <a:endParaRPr lang="fr-FR" dirty="0"/>
          </a:p>
          <a:p>
            <a:pPr lvl="1"/>
            <a:r>
              <a:rPr lang="fr-FR" dirty="0">
                <a:ea typeface="+mn-lt"/>
                <a:cs typeface="+mn-lt"/>
              </a:rPr>
              <a:t>clause </a:t>
            </a:r>
            <a:r>
              <a:rPr lang="fr-FR" b="1" dirty="0">
                <a:ea typeface="+mn-lt"/>
                <a:cs typeface="+mn-lt"/>
              </a:rPr>
              <a:t>WHERE</a:t>
            </a:r>
            <a:r>
              <a:rPr lang="fr-FR" dirty="0">
                <a:ea typeface="+mn-lt"/>
                <a:cs typeface="+mn-lt"/>
              </a:rPr>
              <a:t> : donne la condition de sélection que doivent satisfaire les lignes qui fournissent le résultat</a:t>
            </a:r>
            <a:endParaRPr lang="fr-FR" dirty="0"/>
          </a:p>
          <a:p>
            <a:r>
              <a:rPr lang="fr-FR" b="1" dirty="0">
                <a:ea typeface="+mn-lt"/>
                <a:cs typeface="+mn-lt"/>
              </a:rPr>
              <a:t>SELECT  schéma FROM table WHERE condition ;</a:t>
            </a:r>
          </a:p>
        </p:txBody>
      </p:sp>
      <p:sp>
        <p:nvSpPr>
          <p:cNvPr id="6" name="Espace réservé du numéro de diapositive 5">
            <a:extLst>
              <a:ext uri="{FF2B5EF4-FFF2-40B4-BE49-F238E27FC236}">
                <a16:creationId xmlns:a16="http://schemas.microsoft.com/office/drawing/2014/main" id="{22A63D62-3076-43B4-997F-F3E3FC8AA87F}"/>
              </a:ext>
            </a:extLst>
          </p:cNvPr>
          <p:cNvSpPr>
            <a:spLocks noGrp="1"/>
          </p:cNvSpPr>
          <p:nvPr>
            <p:ph type="sldNum" sz="quarter" idx="12"/>
          </p:nvPr>
        </p:nvSpPr>
        <p:spPr/>
        <p:txBody>
          <a:bodyPr/>
          <a:lstStyle/>
          <a:p>
            <a:fld id="{27C6CCC6-2BE5-4E42-96A4-D1E8E81A3D8E}" type="slidenum">
              <a:rPr lang="de-DE" smtClean="0"/>
              <a:t>68</a:t>
            </a:fld>
            <a:endParaRPr lang="de-DE"/>
          </a:p>
        </p:txBody>
      </p:sp>
    </p:spTree>
    <p:extLst>
      <p:ext uri="{BB962C8B-B14F-4D97-AF65-F5344CB8AC3E}">
        <p14:creationId xmlns:p14="http://schemas.microsoft.com/office/powerpoint/2010/main" val="941067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(SELECT)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lstStyle/>
          <a:p>
            <a:r>
              <a:rPr lang="fr-FR" dirty="0"/>
              <a:t>La clause </a:t>
            </a:r>
            <a:r>
              <a:rPr lang="fr-FR" b="1" dirty="0"/>
              <a:t>WHERE </a:t>
            </a:r>
            <a:r>
              <a:rPr lang="fr-FR" dirty="0"/>
              <a:t>est une condition booléenne</a:t>
            </a:r>
          </a:p>
          <a:p>
            <a:pPr lvl="1"/>
            <a:r>
              <a:rPr lang="fr-FR" dirty="0"/>
              <a:t>La plupart des opérateurs de comparaison classique sont utilisables : =, &lt;&gt;, &lt;, &gt;, &lt;=, &gt;=</a:t>
            </a:r>
          </a:p>
          <a:p>
            <a:pPr lvl="1"/>
            <a:r>
              <a:rPr lang="fr-FR" dirty="0"/>
              <a:t>Il est possible de chaîner les conditions avec les opérateurs </a:t>
            </a:r>
            <a:r>
              <a:rPr lang="fr-FR" b="1" dirty="0"/>
              <a:t>AND</a:t>
            </a:r>
            <a:r>
              <a:rPr lang="fr-FR" dirty="0"/>
              <a:t> et </a:t>
            </a:r>
            <a:r>
              <a:rPr lang="fr-FR" b="1" dirty="0"/>
              <a:t>OR</a:t>
            </a:r>
          </a:p>
          <a:p>
            <a:pPr lvl="2"/>
            <a:r>
              <a:rPr lang="fr-FR" b="1" dirty="0"/>
              <a:t>SELECT * FROM </a:t>
            </a:r>
            <a:r>
              <a:rPr lang="fr-FR" dirty="0"/>
              <a:t>clients</a:t>
            </a:r>
            <a:r>
              <a:rPr lang="fr-FR" b="1" dirty="0"/>
              <a:t> WHERE </a:t>
            </a:r>
            <a:r>
              <a:rPr lang="fr-FR" dirty="0"/>
              <a:t>nom</a:t>
            </a:r>
            <a:r>
              <a:rPr lang="fr-FR" b="1" dirty="0"/>
              <a:t> = ‘</a:t>
            </a:r>
            <a:r>
              <a:rPr lang="fr-FR" dirty="0"/>
              <a:t>Martin</a:t>
            </a:r>
            <a:r>
              <a:rPr lang="fr-FR" b="1" dirty="0"/>
              <a:t>’ AND </a:t>
            </a:r>
            <a:r>
              <a:rPr lang="fr-FR" dirty="0" err="1"/>
              <a:t>prenom</a:t>
            </a:r>
            <a:r>
              <a:rPr lang="fr-FR" b="1" dirty="0"/>
              <a:t> = ‘</a:t>
            </a:r>
            <a:r>
              <a:rPr lang="fr-FR" dirty="0"/>
              <a:t>Jean</a:t>
            </a:r>
            <a:r>
              <a:rPr lang="fr-FR" b="1" dirty="0"/>
              <a:t>’</a:t>
            </a:r>
          </a:p>
          <a:p>
            <a:pPr lvl="1"/>
            <a:r>
              <a:rPr lang="fr-FR" dirty="0"/>
              <a:t>En plus des opérateurs de comparaison usuels d’autres sont disponibles :</a:t>
            </a:r>
          </a:p>
          <a:p>
            <a:pPr lvl="2"/>
            <a:r>
              <a:rPr lang="fr-FR" b="1" dirty="0"/>
              <a:t>SELECT</a:t>
            </a:r>
            <a:r>
              <a:rPr lang="fr-FR" dirty="0"/>
              <a:t> * </a:t>
            </a:r>
            <a:r>
              <a:rPr lang="fr-FR" b="1" dirty="0"/>
              <a:t>FROM</a:t>
            </a:r>
            <a:r>
              <a:rPr lang="fr-FR" dirty="0"/>
              <a:t> clients </a:t>
            </a:r>
            <a:r>
              <a:rPr lang="fr-FR" b="1" dirty="0"/>
              <a:t>WHERE</a:t>
            </a:r>
            <a:r>
              <a:rPr lang="fr-FR" dirty="0"/>
              <a:t> nom </a:t>
            </a:r>
            <a:r>
              <a:rPr lang="fr-FR" b="1" dirty="0"/>
              <a:t>LIKE</a:t>
            </a:r>
            <a:r>
              <a:rPr lang="fr-FR" dirty="0"/>
              <a:t> ‘Mar%’</a:t>
            </a:r>
          </a:p>
          <a:p>
            <a:pPr lvl="2"/>
            <a:r>
              <a:rPr lang="fr-FR" b="1" dirty="0"/>
              <a:t>SELECT</a:t>
            </a:r>
            <a:r>
              <a:rPr lang="fr-FR" dirty="0"/>
              <a:t> * </a:t>
            </a:r>
            <a:r>
              <a:rPr lang="fr-FR" b="1" dirty="0"/>
              <a:t>FROM</a:t>
            </a:r>
            <a:r>
              <a:rPr lang="fr-FR" dirty="0"/>
              <a:t> clients </a:t>
            </a:r>
            <a:r>
              <a:rPr lang="fr-FR" b="1" dirty="0"/>
              <a:t>WHERE</a:t>
            </a:r>
            <a:r>
              <a:rPr lang="fr-FR" dirty="0"/>
              <a:t> nom </a:t>
            </a:r>
            <a:r>
              <a:rPr lang="fr-FR" b="1" dirty="0"/>
              <a:t>BETWEEN</a:t>
            </a:r>
            <a:r>
              <a:rPr lang="fr-FR" dirty="0"/>
              <a:t> ‘Dupont’ </a:t>
            </a:r>
            <a:r>
              <a:rPr lang="fr-FR" b="1" dirty="0"/>
              <a:t>AND</a:t>
            </a:r>
            <a:r>
              <a:rPr lang="fr-FR" dirty="0"/>
              <a:t> ‘Martin’</a:t>
            </a:r>
          </a:p>
        </p:txBody>
      </p:sp>
      <p:sp>
        <p:nvSpPr>
          <p:cNvPr id="6" name="Espace réservé du numéro de diapositive 5">
            <a:extLst>
              <a:ext uri="{FF2B5EF4-FFF2-40B4-BE49-F238E27FC236}">
                <a16:creationId xmlns:a16="http://schemas.microsoft.com/office/drawing/2014/main" id="{5C44834A-F698-476B-854A-9FC717CB0569}"/>
              </a:ext>
            </a:extLst>
          </p:cNvPr>
          <p:cNvSpPr>
            <a:spLocks noGrp="1"/>
          </p:cNvSpPr>
          <p:nvPr>
            <p:ph type="sldNum" sz="quarter" idx="12"/>
          </p:nvPr>
        </p:nvSpPr>
        <p:spPr/>
        <p:txBody>
          <a:bodyPr/>
          <a:lstStyle/>
          <a:p>
            <a:fld id="{27C6CCC6-2BE5-4E42-96A4-D1E8E81A3D8E}" type="slidenum">
              <a:rPr lang="de-DE" smtClean="0"/>
              <a:t>69</a:t>
            </a:fld>
            <a:endParaRPr lang="de-DE"/>
          </a:p>
        </p:txBody>
      </p:sp>
    </p:spTree>
    <p:extLst>
      <p:ext uri="{BB962C8B-B14F-4D97-AF65-F5344CB8AC3E}">
        <p14:creationId xmlns:p14="http://schemas.microsoft.com/office/powerpoint/2010/main" val="24437569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(SELECT)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lstStyle/>
          <a:p>
            <a:r>
              <a:rPr lang="fr-FR" dirty="0"/>
              <a:t>Exemples</a:t>
            </a:r>
          </a:p>
          <a:p>
            <a:pPr lvl="1"/>
            <a:r>
              <a:rPr lang="fr-FR" dirty="0"/>
              <a:t>Récupérer le nom et le prénom des employés du service RH</a:t>
            </a:r>
          </a:p>
          <a:p>
            <a:pPr marL="457200" lvl="1" indent="0" algn="ctr">
              <a:buNone/>
            </a:pPr>
            <a:r>
              <a:rPr lang="fr-FR" b="1" dirty="0">
                <a:ea typeface="+mn-lt"/>
                <a:cs typeface="+mn-lt"/>
              </a:rPr>
              <a:t>SELECT</a:t>
            </a:r>
            <a:r>
              <a:rPr lang="fr-FR" dirty="0">
                <a:ea typeface="+mn-lt"/>
                <a:cs typeface="+mn-lt"/>
              </a:rPr>
              <a:t> nom, </a:t>
            </a:r>
            <a:r>
              <a:rPr lang="fr-FR" dirty="0" err="1">
                <a:ea typeface="+mn-lt"/>
                <a:cs typeface="+mn-lt"/>
              </a:rPr>
              <a:t>prenom</a:t>
            </a:r>
            <a:r>
              <a:rPr lang="fr-FR" dirty="0">
                <a:ea typeface="+mn-lt"/>
                <a:cs typeface="+mn-lt"/>
              </a:rPr>
              <a:t> </a:t>
            </a:r>
            <a:r>
              <a:rPr lang="fr-FR" b="1" dirty="0">
                <a:ea typeface="+mn-lt"/>
                <a:cs typeface="+mn-lt"/>
              </a:rPr>
              <a:t>FROM</a:t>
            </a:r>
            <a:r>
              <a:rPr lang="fr-FR" dirty="0">
                <a:ea typeface="+mn-lt"/>
                <a:cs typeface="+mn-lt"/>
              </a:rPr>
              <a:t> </a:t>
            </a:r>
            <a:r>
              <a:rPr lang="fr-FR" dirty="0" err="1">
                <a:ea typeface="+mn-lt"/>
                <a:cs typeface="+mn-lt"/>
              </a:rPr>
              <a:t>employe</a:t>
            </a:r>
            <a:r>
              <a:rPr lang="fr-FR" dirty="0">
                <a:ea typeface="+mn-lt"/>
                <a:cs typeface="+mn-lt"/>
              </a:rPr>
              <a:t> </a:t>
            </a:r>
            <a:r>
              <a:rPr lang="fr-FR" b="1" dirty="0">
                <a:ea typeface="+mn-lt"/>
                <a:cs typeface="+mn-lt"/>
              </a:rPr>
              <a:t>WHERE</a:t>
            </a:r>
            <a:r>
              <a:rPr lang="fr-FR" dirty="0">
                <a:ea typeface="+mn-lt"/>
                <a:cs typeface="+mn-lt"/>
              </a:rPr>
              <a:t> service = ‘RH’;</a:t>
            </a:r>
          </a:p>
          <a:p>
            <a:pPr lvl="1"/>
            <a:r>
              <a:rPr lang="fr-FR" dirty="0"/>
              <a:t>Récupérer toutes les infos des albums du genre </a:t>
            </a:r>
            <a:r>
              <a:rPr lang="fr-FR" dirty="0" err="1"/>
              <a:t>Metal</a:t>
            </a:r>
            <a:r>
              <a:rPr lang="fr-FR" dirty="0"/>
              <a:t> :</a:t>
            </a:r>
          </a:p>
          <a:p>
            <a:pPr marL="457200" lvl="1" indent="0" algn="ctr">
              <a:buNone/>
            </a:pPr>
            <a:r>
              <a:rPr lang="fr-FR" b="1" dirty="0">
                <a:ea typeface="+mn-lt"/>
                <a:cs typeface="+mn-lt"/>
              </a:rPr>
              <a:t>SELECT *</a:t>
            </a:r>
            <a:r>
              <a:rPr lang="fr-FR" dirty="0">
                <a:ea typeface="+mn-lt"/>
                <a:cs typeface="+mn-lt"/>
              </a:rPr>
              <a:t> </a:t>
            </a:r>
            <a:r>
              <a:rPr lang="fr-FR" b="1" dirty="0">
                <a:ea typeface="+mn-lt"/>
                <a:cs typeface="+mn-lt"/>
              </a:rPr>
              <a:t>FROM</a:t>
            </a:r>
            <a:r>
              <a:rPr lang="fr-FR" dirty="0">
                <a:ea typeface="+mn-lt"/>
                <a:cs typeface="+mn-lt"/>
              </a:rPr>
              <a:t> albums </a:t>
            </a:r>
            <a:r>
              <a:rPr lang="fr-FR" b="1" dirty="0">
                <a:ea typeface="+mn-lt"/>
                <a:cs typeface="+mn-lt"/>
              </a:rPr>
              <a:t>WHERE</a:t>
            </a:r>
            <a:r>
              <a:rPr lang="fr-FR" dirty="0">
                <a:ea typeface="+mn-lt"/>
                <a:cs typeface="+mn-lt"/>
              </a:rPr>
              <a:t> genre = ‘</a:t>
            </a:r>
            <a:r>
              <a:rPr lang="fr-FR" dirty="0" err="1">
                <a:ea typeface="+mn-lt"/>
                <a:cs typeface="+mn-lt"/>
              </a:rPr>
              <a:t>Metal</a:t>
            </a:r>
            <a:r>
              <a:rPr lang="fr-FR" dirty="0">
                <a:ea typeface="+mn-lt"/>
                <a:cs typeface="+mn-lt"/>
              </a:rPr>
              <a:t>’;</a:t>
            </a:r>
          </a:p>
          <a:p>
            <a:pPr lvl="1"/>
            <a:r>
              <a:rPr lang="fr-FR" dirty="0">
                <a:ea typeface="+mn-lt"/>
                <a:cs typeface="+mn-lt"/>
              </a:rPr>
              <a:t>Récupérer tous les étudiants dont le nom est Martin et dont l’année de naissance est entre 1990 et 1999 :</a:t>
            </a:r>
          </a:p>
          <a:p>
            <a:pPr marL="457200" lvl="1" indent="0" algn="ctr">
              <a:buNone/>
            </a:pPr>
            <a:r>
              <a:rPr lang="fr-FR" b="1" dirty="0">
                <a:ea typeface="+mn-lt"/>
                <a:cs typeface="+mn-lt"/>
              </a:rPr>
              <a:t>SELECT</a:t>
            </a:r>
            <a:r>
              <a:rPr lang="fr-FR" dirty="0">
                <a:ea typeface="+mn-lt"/>
                <a:cs typeface="+mn-lt"/>
              </a:rPr>
              <a:t> * </a:t>
            </a:r>
            <a:r>
              <a:rPr lang="fr-FR" b="1" dirty="0">
                <a:ea typeface="+mn-lt"/>
                <a:cs typeface="+mn-lt"/>
              </a:rPr>
              <a:t>FROM</a:t>
            </a:r>
            <a:r>
              <a:rPr lang="fr-FR" dirty="0">
                <a:ea typeface="+mn-lt"/>
                <a:cs typeface="+mn-lt"/>
              </a:rPr>
              <a:t> </a:t>
            </a:r>
            <a:r>
              <a:rPr lang="fr-FR" dirty="0" err="1">
                <a:ea typeface="+mn-lt"/>
                <a:cs typeface="+mn-lt"/>
              </a:rPr>
              <a:t>etudiants</a:t>
            </a:r>
            <a:r>
              <a:rPr lang="fr-FR" dirty="0">
                <a:ea typeface="+mn-lt"/>
                <a:cs typeface="+mn-lt"/>
              </a:rPr>
              <a:t> </a:t>
            </a:r>
            <a:r>
              <a:rPr lang="fr-FR" b="1" dirty="0">
                <a:ea typeface="+mn-lt"/>
                <a:cs typeface="+mn-lt"/>
              </a:rPr>
              <a:t>WHERE</a:t>
            </a:r>
            <a:r>
              <a:rPr lang="fr-FR" dirty="0">
                <a:ea typeface="+mn-lt"/>
                <a:cs typeface="+mn-lt"/>
              </a:rPr>
              <a:t> nom = ‘Martin’ </a:t>
            </a:r>
            <a:r>
              <a:rPr lang="fr-FR" b="1" dirty="0">
                <a:ea typeface="+mn-lt"/>
                <a:cs typeface="+mn-lt"/>
              </a:rPr>
              <a:t>AND</a:t>
            </a:r>
            <a:r>
              <a:rPr lang="fr-FR" dirty="0">
                <a:ea typeface="+mn-lt"/>
                <a:cs typeface="+mn-lt"/>
              </a:rPr>
              <a:t> </a:t>
            </a:r>
            <a:r>
              <a:rPr lang="fr-FR" dirty="0" err="1">
                <a:ea typeface="+mn-lt"/>
                <a:cs typeface="+mn-lt"/>
              </a:rPr>
              <a:t>annee_naissance</a:t>
            </a:r>
            <a:r>
              <a:rPr lang="fr-FR" dirty="0">
                <a:ea typeface="+mn-lt"/>
                <a:cs typeface="+mn-lt"/>
              </a:rPr>
              <a:t> </a:t>
            </a:r>
            <a:r>
              <a:rPr lang="fr-FR" b="1" dirty="0">
                <a:ea typeface="+mn-lt"/>
                <a:cs typeface="+mn-lt"/>
              </a:rPr>
              <a:t>BETWEEN</a:t>
            </a:r>
            <a:r>
              <a:rPr lang="fr-FR" dirty="0">
                <a:ea typeface="+mn-lt"/>
                <a:cs typeface="+mn-lt"/>
              </a:rPr>
              <a:t> 1990 </a:t>
            </a:r>
            <a:r>
              <a:rPr lang="fr-FR" b="1" dirty="0">
                <a:ea typeface="+mn-lt"/>
                <a:cs typeface="+mn-lt"/>
              </a:rPr>
              <a:t>AND</a:t>
            </a:r>
            <a:r>
              <a:rPr lang="fr-FR" dirty="0">
                <a:ea typeface="+mn-lt"/>
                <a:cs typeface="+mn-lt"/>
              </a:rPr>
              <a:t> 1999</a:t>
            </a:r>
            <a:endParaRPr lang="fr-FR" dirty="0"/>
          </a:p>
        </p:txBody>
      </p:sp>
      <p:sp>
        <p:nvSpPr>
          <p:cNvPr id="6" name="Espace réservé du numéro de diapositive 5">
            <a:extLst>
              <a:ext uri="{FF2B5EF4-FFF2-40B4-BE49-F238E27FC236}">
                <a16:creationId xmlns:a16="http://schemas.microsoft.com/office/drawing/2014/main" id="{5C44834A-F698-476B-854A-9FC717CB0569}"/>
              </a:ext>
            </a:extLst>
          </p:cNvPr>
          <p:cNvSpPr>
            <a:spLocks noGrp="1"/>
          </p:cNvSpPr>
          <p:nvPr>
            <p:ph type="sldNum" sz="quarter" idx="12"/>
          </p:nvPr>
        </p:nvSpPr>
        <p:spPr/>
        <p:txBody>
          <a:bodyPr/>
          <a:lstStyle/>
          <a:p>
            <a:fld id="{27C6CCC6-2BE5-4E42-96A4-D1E8E81A3D8E}" type="slidenum">
              <a:rPr lang="de-DE" smtClean="0"/>
              <a:t>70</a:t>
            </a:fld>
            <a:endParaRPr lang="de-DE"/>
          </a:p>
        </p:txBody>
      </p:sp>
    </p:spTree>
    <p:extLst>
      <p:ext uri="{BB962C8B-B14F-4D97-AF65-F5344CB8AC3E}">
        <p14:creationId xmlns:p14="http://schemas.microsoft.com/office/powerpoint/2010/main" val="16540517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(SELECT)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chor="t"/>
          <a:lstStyle/>
          <a:p>
            <a:r>
              <a:rPr lang="fr-FR" dirty="0"/>
              <a:t>Application :</a:t>
            </a:r>
          </a:p>
        </p:txBody>
      </p:sp>
      <p:sp>
        <p:nvSpPr>
          <p:cNvPr id="10" name="Espace réservé du numéro de diapositive 9">
            <a:extLst>
              <a:ext uri="{FF2B5EF4-FFF2-40B4-BE49-F238E27FC236}">
                <a16:creationId xmlns:a16="http://schemas.microsoft.com/office/drawing/2014/main" id="{0EB709CF-7B80-4260-A560-E8615D1B5F3F}"/>
              </a:ext>
            </a:extLst>
          </p:cNvPr>
          <p:cNvSpPr>
            <a:spLocks noGrp="1"/>
          </p:cNvSpPr>
          <p:nvPr>
            <p:ph type="sldNum" sz="quarter" idx="12"/>
          </p:nvPr>
        </p:nvSpPr>
        <p:spPr/>
        <p:txBody>
          <a:bodyPr/>
          <a:lstStyle/>
          <a:p>
            <a:fld id="{27C6CCC6-2BE5-4E42-96A4-D1E8E81A3D8E}" type="slidenum">
              <a:rPr lang="de-DE" smtClean="0"/>
              <a:t>71</a:t>
            </a:fld>
            <a:endParaRPr lang="de-DE"/>
          </a:p>
        </p:txBody>
      </p:sp>
      <p:graphicFrame>
        <p:nvGraphicFramePr>
          <p:cNvPr id="4" name="Tableau 3">
            <a:extLst>
              <a:ext uri="{FF2B5EF4-FFF2-40B4-BE49-F238E27FC236}">
                <a16:creationId xmlns:a16="http://schemas.microsoft.com/office/drawing/2014/main" id="{96EE9807-05C4-435E-A6B8-5AD00890B233}"/>
              </a:ext>
            </a:extLst>
          </p:cNvPr>
          <p:cNvGraphicFramePr>
            <a:graphicFrameLocks noGrp="1"/>
          </p:cNvGraphicFramePr>
          <p:nvPr>
            <p:extLst>
              <p:ext uri="{D42A27DB-BD31-4B8C-83A1-F6EECF244321}">
                <p14:modId xmlns:p14="http://schemas.microsoft.com/office/powerpoint/2010/main" val="1636534061"/>
              </p:ext>
            </p:extLst>
          </p:nvPr>
        </p:nvGraphicFramePr>
        <p:xfrm>
          <a:off x="2031999" y="2667000"/>
          <a:ext cx="8128000" cy="1524000"/>
        </p:xfrm>
        <a:graphic>
          <a:graphicData uri="http://schemas.openxmlformats.org/drawingml/2006/table">
            <a:tbl>
              <a:tblPr firstRow="1" bandRow="1">
                <a:tableStyleId>{5C22544A-7EE6-4342-B048-85BDC9FD1C3A}</a:tableStyleId>
              </a:tblPr>
              <a:tblGrid>
                <a:gridCol w="511504">
                  <a:extLst>
                    <a:ext uri="{9D8B030D-6E8A-4147-A177-3AD203B41FA5}">
                      <a16:colId xmlns:a16="http://schemas.microsoft.com/office/drawing/2014/main" val="1251353152"/>
                    </a:ext>
                  </a:extLst>
                </a:gridCol>
                <a:gridCol w="1481959">
                  <a:extLst>
                    <a:ext uri="{9D8B030D-6E8A-4147-A177-3AD203B41FA5}">
                      <a16:colId xmlns:a16="http://schemas.microsoft.com/office/drawing/2014/main" val="3450798736"/>
                    </a:ext>
                  </a:extLst>
                </a:gridCol>
                <a:gridCol w="1481959">
                  <a:extLst>
                    <a:ext uri="{9D8B030D-6E8A-4147-A177-3AD203B41FA5}">
                      <a16:colId xmlns:a16="http://schemas.microsoft.com/office/drawing/2014/main" val="2219499751"/>
                    </a:ext>
                  </a:extLst>
                </a:gridCol>
                <a:gridCol w="2564524">
                  <a:extLst>
                    <a:ext uri="{9D8B030D-6E8A-4147-A177-3AD203B41FA5}">
                      <a16:colId xmlns:a16="http://schemas.microsoft.com/office/drawing/2014/main" val="111803102"/>
                    </a:ext>
                  </a:extLst>
                </a:gridCol>
                <a:gridCol w="2088054">
                  <a:extLst>
                    <a:ext uri="{9D8B030D-6E8A-4147-A177-3AD203B41FA5}">
                      <a16:colId xmlns:a16="http://schemas.microsoft.com/office/drawing/2014/main" val="2867513223"/>
                    </a:ext>
                  </a:extLst>
                </a:gridCol>
              </a:tblGrid>
              <a:tr h="246717">
                <a:tc>
                  <a:txBody>
                    <a:bodyPr/>
                    <a:lstStyle/>
                    <a:p>
                      <a:r>
                        <a:rPr lang="fr-FR" sz="1400"/>
                        <a:t>ID</a:t>
                      </a:r>
                    </a:p>
                  </a:txBody>
                  <a:tcPr/>
                </a:tc>
                <a:tc>
                  <a:txBody>
                    <a:bodyPr/>
                    <a:lstStyle/>
                    <a:p>
                      <a:r>
                        <a:rPr lang="fr-FR" sz="1400"/>
                        <a:t>Nom</a:t>
                      </a:r>
                    </a:p>
                  </a:txBody>
                  <a:tcPr/>
                </a:tc>
                <a:tc>
                  <a:txBody>
                    <a:bodyPr/>
                    <a:lstStyle/>
                    <a:p>
                      <a:r>
                        <a:rPr lang="fr-FR" sz="1400"/>
                        <a:t>Prénom</a:t>
                      </a:r>
                    </a:p>
                  </a:txBody>
                  <a:tcPr/>
                </a:tc>
                <a:tc>
                  <a:txBody>
                    <a:bodyPr/>
                    <a:lstStyle/>
                    <a:p>
                      <a:r>
                        <a:rPr lang="fr-FR" sz="1400"/>
                        <a:t>Date de naissance</a:t>
                      </a:r>
                    </a:p>
                  </a:txBody>
                  <a:tcPr/>
                </a:tc>
                <a:tc>
                  <a:txBody>
                    <a:bodyPr/>
                    <a:lstStyle/>
                    <a:p>
                      <a:r>
                        <a:rPr lang="fr-FR" sz="1400"/>
                        <a:t>Service</a:t>
                      </a:r>
                    </a:p>
                  </a:txBody>
                  <a:tcPr/>
                </a:tc>
                <a:extLst>
                  <a:ext uri="{0D108BD9-81ED-4DB2-BD59-A6C34878D82A}">
                    <a16:rowId xmlns:a16="http://schemas.microsoft.com/office/drawing/2014/main" val="2080559892"/>
                  </a:ext>
                </a:extLst>
              </a:tr>
              <a:tr h="246717">
                <a:tc>
                  <a:txBody>
                    <a:bodyPr/>
                    <a:lstStyle/>
                    <a:p>
                      <a:r>
                        <a:rPr lang="fr-FR" sz="1400"/>
                        <a:t>1</a:t>
                      </a:r>
                    </a:p>
                  </a:txBody>
                  <a:tcPr/>
                </a:tc>
                <a:tc>
                  <a:txBody>
                    <a:bodyPr/>
                    <a:lstStyle/>
                    <a:p>
                      <a:r>
                        <a:rPr lang="fr-FR" sz="1400"/>
                        <a:t>Smith</a:t>
                      </a:r>
                    </a:p>
                  </a:txBody>
                  <a:tcPr/>
                </a:tc>
                <a:tc>
                  <a:txBody>
                    <a:bodyPr/>
                    <a:lstStyle/>
                    <a:p>
                      <a:r>
                        <a:rPr lang="fr-FR" sz="1400"/>
                        <a:t>John</a:t>
                      </a:r>
                    </a:p>
                  </a:txBody>
                  <a:tcPr/>
                </a:tc>
                <a:tc>
                  <a:txBody>
                    <a:bodyPr/>
                    <a:lstStyle/>
                    <a:p>
                      <a:r>
                        <a:rPr lang="fr-FR" sz="1400"/>
                        <a:t>01/02/1995</a:t>
                      </a:r>
                    </a:p>
                  </a:txBody>
                  <a:tcPr/>
                </a:tc>
                <a:tc>
                  <a:txBody>
                    <a:bodyPr/>
                    <a:lstStyle/>
                    <a:p>
                      <a:r>
                        <a:rPr lang="fr-FR" sz="1400"/>
                        <a:t>RH</a:t>
                      </a:r>
                    </a:p>
                  </a:txBody>
                  <a:tcPr/>
                </a:tc>
                <a:extLst>
                  <a:ext uri="{0D108BD9-81ED-4DB2-BD59-A6C34878D82A}">
                    <a16:rowId xmlns:a16="http://schemas.microsoft.com/office/drawing/2014/main" val="2591936368"/>
                  </a:ext>
                </a:extLst>
              </a:tr>
              <a:tr h="246717">
                <a:tc>
                  <a:txBody>
                    <a:bodyPr/>
                    <a:lstStyle/>
                    <a:p>
                      <a:r>
                        <a:rPr lang="fr-FR" sz="1400"/>
                        <a:t>2</a:t>
                      </a:r>
                    </a:p>
                  </a:txBody>
                  <a:tcPr/>
                </a:tc>
                <a:tc>
                  <a:txBody>
                    <a:bodyPr/>
                    <a:lstStyle/>
                    <a:p>
                      <a:r>
                        <a:rPr lang="fr-FR" sz="1400"/>
                        <a:t>Doe</a:t>
                      </a:r>
                    </a:p>
                  </a:txBody>
                  <a:tcPr/>
                </a:tc>
                <a:tc>
                  <a:txBody>
                    <a:bodyPr/>
                    <a:lstStyle/>
                    <a:p>
                      <a:r>
                        <a:rPr lang="fr-FR" sz="1400"/>
                        <a:t>John</a:t>
                      </a:r>
                    </a:p>
                  </a:txBody>
                  <a:tcPr/>
                </a:tc>
                <a:tc>
                  <a:txBody>
                    <a:bodyPr/>
                    <a:lstStyle/>
                    <a:p>
                      <a:r>
                        <a:rPr lang="fr-FR" sz="1400"/>
                        <a:t>01/03/1994</a:t>
                      </a:r>
                    </a:p>
                  </a:txBody>
                  <a:tcPr/>
                </a:tc>
                <a:tc>
                  <a:txBody>
                    <a:bodyPr/>
                    <a:lstStyle/>
                    <a:p>
                      <a:r>
                        <a:rPr lang="fr-FR" sz="1400"/>
                        <a:t>RH</a:t>
                      </a:r>
                    </a:p>
                  </a:txBody>
                  <a:tcPr/>
                </a:tc>
                <a:extLst>
                  <a:ext uri="{0D108BD9-81ED-4DB2-BD59-A6C34878D82A}">
                    <a16:rowId xmlns:a16="http://schemas.microsoft.com/office/drawing/2014/main" val="4242284243"/>
                  </a:ext>
                </a:extLst>
              </a:tr>
              <a:tr h="246717">
                <a:tc>
                  <a:txBody>
                    <a:bodyPr/>
                    <a:lstStyle/>
                    <a:p>
                      <a:r>
                        <a:rPr lang="fr-FR" sz="1400"/>
                        <a:t>3</a:t>
                      </a:r>
                    </a:p>
                  </a:txBody>
                  <a:tcPr/>
                </a:tc>
                <a:tc>
                  <a:txBody>
                    <a:bodyPr/>
                    <a:lstStyle/>
                    <a:p>
                      <a:r>
                        <a:rPr lang="fr-FR" sz="1400"/>
                        <a:t>Daniels</a:t>
                      </a:r>
                    </a:p>
                  </a:txBody>
                  <a:tcPr/>
                </a:tc>
                <a:tc>
                  <a:txBody>
                    <a:bodyPr/>
                    <a:lstStyle/>
                    <a:p>
                      <a:r>
                        <a:rPr lang="fr-FR" sz="1400"/>
                        <a:t>Jack</a:t>
                      </a:r>
                    </a:p>
                  </a:txBody>
                  <a:tcPr/>
                </a:tc>
                <a:tc>
                  <a:txBody>
                    <a:bodyPr/>
                    <a:lstStyle/>
                    <a:p>
                      <a:r>
                        <a:rPr lang="fr-FR" sz="1400"/>
                        <a:t>05/04/2003</a:t>
                      </a:r>
                    </a:p>
                  </a:txBody>
                  <a:tcPr/>
                </a:tc>
                <a:tc>
                  <a:txBody>
                    <a:bodyPr/>
                    <a:lstStyle/>
                    <a:p>
                      <a:r>
                        <a:rPr lang="fr-FR" sz="1400"/>
                        <a:t>Informatique</a:t>
                      </a:r>
                    </a:p>
                  </a:txBody>
                  <a:tcPr/>
                </a:tc>
                <a:extLst>
                  <a:ext uri="{0D108BD9-81ED-4DB2-BD59-A6C34878D82A}">
                    <a16:rowId xmlns:a16="http://schemas.microsoft.com/office/drawing/2014/main" val="3013416258"/>
                  </a:ext>
                </a:extLst>
              </a:tr>
              <a:tr h="246717">
                <a:tc>
                  <a:txBody>
                    <a:bodyPr/>
                    <a:lstStyle/>
                    <a:p>
                      <a:r>
                        <a:rPr lang="fr-FR" sz="1400"/>
                        <a:t>4</a:t>
                      </a:r>
                    </a:p>
                  </a:txBody>
                  <a:tcPr/>
                </a:tc>
                <a:tc>
                  <a:txBody>
                    <a:bodyPr/>
                    <a:lstStyle/>
                    <a:p>
                      <a:r>
                        <a:rPr lang="fr-FR" sz="1400" dirty="0"/>
                        <a:t>Neige</a:t>
                      </a:r>
                    </a:p>
                  </a:txBody>
                  <a:tcPr/>
                </a:tc>
                <a:tc>
                  <a:txBody>
                    <a:bodyPr/>
                    <a:lstStyle/>
                    <a:p>
                      <a:r>
                        <a:rPr lang="fr-FR" sz="1400"/>
                        <a:t>Jean</a:t>
                      </a:r>
                    </a:p>
                  </a:txBody>
                  <a:tcPr/>
                </a:tc>
                <a:tc>
                  <a:txBody>
                    <a:bodyPr/>
                    <a:lstStyle/>
                    <a:p>
                      <a:r>
                        <a:rPr lang="fr-FR" sz="1400"/>
                        <a:t>01/01/2001</a:t>
                      </a:r>
                    </a:p>
                  </a:txBody>
                  <a:tcPr/>
                </a:tc>
                <a:tc>
                  <a:txBody>
                    <a:bodyPr/>
                    <a:lstStyle/>
                    <a:p>
                      <a:r>
                        <a:rPr lang="fr-FR" sz="1400" dirty="0"/>
                        <a:t>Informatique</a:t>
                      </a:r>
                    </a:p>
                  </a:txBody>
                  <a:tcPr/>
                </a:tc>
                <a:extLst>
                  <a:ext uri="{0D108BD9-81ED-4DB2-BD59-A6C34878D82A}">
                    <a16:rowId xmlns:a16="http://schemas.microsoft.com/office/drawing/2014/main" val="183505629"/>
                  </a:ext>
                </a:extLst>
              </a:tr>
            </a:tbl>
          </a:graphicData>
        </a:graphic>
      </p:graphicFrame>
      <p:sp>
        <p:nvSpPr>
          <p:cNvPr id="5" name="Rectangle 4">
            <a:extLst>
              <a:ext uri="{FF2B5EF4-FFF2-40B4-BE49-F238E27FC236}">
                <a16:creationId xmlns:a16="http://schemas.microsoft.com/office/drawing/2014/main" id="{ACD6757B-9074-47C7-AC82-93FF393ACBE1}"/>
              </a:ext>
            </a:extLst>
          </p:cNvPr>
          <p:cNvSpPr/>
          <p:nvPr/>
        </p:nvSpPr>
        <p:spPr>
          <a:xfrm>
            <a:off x="818712" y="4575066"/>
            <a:ext cx="10554574" cy="369332"/>
          </a:xfrm>
          <a:prstGeom prst="rect">
            <a:avLst/>
          </a:prstGeom>
        </p:spPr>
        <p:txBody>
          <a:bodyPr wrap="square">
            <a:spAutoFit/>
          </a:bodyPr>
          <a:lstStyle/>
          <a:p>
            <a:pPr lvl="1" algn="ctr"/>
            <a:r>
              <a:rPr lang="fr-FR" b="1" dirty="0">
                <a:ea typeface="+mn-lt"/>
                <a:cs typeface="+mn-lt"/>
              </a:rPr>
              <a:t>SELECT</a:t>
            </a:r>
            <a:r>
              <a:rPr lang="fr-FR" dirty="0">
                <a:ea typeface="+mn-lt"/>
                <a:cs typeface="+mn-lt"/>
              </a:rPr>
              <a:t> nom, </a:t>
            </a:r>
            <a:r>
              <a:rPr lang="fr-FR" dirty="0" err="1">
                <a:ea typeface="+mn-lt"/>
                <a:cs typeface="+mn-lt"/>
              </a:rPr>
              <a:t>prenom</a:t>
            </a:r>
            <a:r>
              <a:rPr lang="fr-FR" dirty="0">
                <a:ea typeface="+mn-lt"/>
                <a:cs typeface="+mn-lt"/>
              </a:rPr>
              <a:t> </a:t>
            </a:r>
            <a:r>
              <a:rPr lang="fr-FR" b="1" dirty="0">
                <a:ea typeface="+mn-lt"/>
                <a:cs typeface="+mn-lt"/>
              </a:rPr>
              <a:t>FROM</a:t>
            </a:r>
            <a:r>
              <a:rPr lang="fr-FR" dirty="0">
                <a:ea typeface="+mn-lt"/>
                <a:cs typeface="+mn-lt"/>
              </a:rPr>
              <a:t> </a:t>
            </a:r>
            <a:r>
              <a:rPr lang="fr-FR" dirty="0" err="1">
                <a:ea typeface="+mn-lt"/>
                <a:cs typeface="+mn-lt"/>
              </a:rPr>
              <a:t>employe</a:t>
            </a:r>
            <a:r>
              <a:rPr lang="fr-FR" dirty="0">
                <a:ea typeface="+mn-lt"/>
                <a:cs typeface="+mn-lt"/>
              </a:rPr>
              <a:t> </a:t>
            </a:r>
            <a:r>
              <a:rPr lang="fr-FR" b="1" dirty="0">
                <a:ea typeface="+mn-lt"/>
                <a:cs typeface="+mn-lt"/>
              </a:rPr>
              <a:t>WHERE</a:t>
            </a:r>
            <a:r>
              <a:rPr lang="fr-FR" dirty="0">
                <a:ea typeface="+mn-lt"/>
                <a:cs typeface="+mn-lt"/>
              </a:rPr>
              <a:t> service = ‘RH’;</a:t>
            </a:r>
          </a:p>
        </p:txBody>
      </p:sp>
      <p:graphicFrame>
        <p:nvGraphicFramePr>
          <p:cNvPr id="6" name="Tableau 5">
            <a:extLst>
              <a:ext uri="{FF2B5EF4-FFF2-40B4-BE49-F238E27FC236}">
                <a16:creationId xmlns:a16="http://schemas.microsoft.com/office/drawing/2014/main" id="{3F644CBE-7560-4446-8D59-1A68F5B5A098}"/>
              </a:ext>
            </a:extLst>
          </p:cNvPr>
          <p:cNvGraphicFramePr>
            <a:graphicFrameLocks noGrp="1"/>
          </p:cNvGraphicFramePr>
          <p:nvPr>
            <p:extLst>
              <p:ext uri="{D42A27DB-BD31-4B8C-83A1-F6EECF244321}">
                <p14:modId xmlns:p14="http://schemas.microsoft.com/office/powerpoint/2010/main" val="4048896425"/>
              </p:ext>
            </p:extLst>
          </p:nvPr>
        </p:nvGraphicFramePr>
        <p:xfrm>
          <a:off x="4614040" y="5401598"/>
          <a:ext cx="2963918" cy="914400"/>
        </p:xfrm>
        <a:graphic>
          <a:graphicData uri="http://schemas.openxmlformats.org/drawingml/2006/table">
            <a:tbl>
              <a:tblPr firstRow="1" bandRow="1">
                <a:tableStyleId>{5C22544A-7EE6-4342-B048-85BDC9FD1C3A}</a:tableStyleId>
              </a:tblPr>
              <a:tblGrid>
                <a:gridCol w="1481959">
                  <a:extLst>
                    <a:ext uri="{9D8B030D-6E8A-4147-A177-3AD203B41FA5}">
                      <a16:colId xmlns:a16="http://schemas.microsoft.com/office/drawing/2014/main" val="3450798736"/>
                    </a:ext>
                  </a:extLst>
                </a:gridCol>
                <a:gridCol w="1481959">
                  <a:extLst>
                    <a:ext uri="{9D8B030D-6E8A-4147-A177-3AD203B41FA5}">
                      <a16:colId xmlns:a16="http://schemas.microsoft.com/office/drawing/2014/main" val="2219499751"/>
                    </a:ext>
                  </a:extLst>
                </a:gridCol>
              </a:tblGrid>
              <a:tr h="0">
                <a:tc>
                  <a:txBody>
                    <a:bodyPr/>
                    <a:lstStyle/>
                    <a:p>
                      <a:r>
                        <a:rPr lang="fr-FR" sz="1400" dirty="0"/>
                        <a:t>nom</a:t>
                      </a:r>
                    </a:p>
                  </a:txBody>
                  <a:tcPr/>
                </a:tc>
                <a:tc>
                  <a:txBody>
                    <a:bodyPr/>
                    <a:lstStyle/>
                    <a:p>
                      <a:r>
                        <a:rPr lang="fr-FR" sz="1400" dirty="0" err="1"/>
                        <a:t>prenom</a:t>
                      </a:r>
                      <a:endParaRPr lang="fr-FR" sz="1400" dirty="0"/>
                    </a:p>
                  </a:txBody>
                  <a:tcPr/>
                </a:tc>
                <a:extLst>
                  <a:ext uri="{0D108BD9-81ED-4DB2-BD59-A6C34878D82A}">
                    <a16:rowId xmlns:a16="http://schemas.microsoft.com/office/drawing/2014/main" val="2080559892"/>
                  </a:ext>
                </a:extLst>
              </a:tr>
              <a:tr h="246717">
                <a:tc>
                  <a:txBody>
                    <a:bodyPr/>
                    <a:lstStyle/>
                    <a:p>
                      <a:r>
                        <a:rPr lang="fr-FR" sz="1400"/>
                        <a:t>Smith</a:t>
                      </a:r>
                    </a:p>
                  </a:txBody>
                  <a:tcPr/>
                </a:tc>
                <a:tc>
                  <a:txBody>
                    <a:bodyPr/>
                    <a:lstStyle/>
                    <a:p>
                      <a:r>
                        <a:rPr lang="fr-FR" sz="1400"/>
                        <a:t>John</a:t>
                      </a:r>
                    </a:p>
                  </a:txBody>
                  <a:tcPr/>
                </a:tc>
                <a:extLst>
                  <a:ext uri="{0D108BD9-81ED-4DB2-BD59-A6C34878D82A}">
                    <a16:rowId xmlns:a16="http://schemas.microsoft.com/office/drawing/2014/main" val="2591936368"/>
                  </a:ext>
                </a:extLst>
              </a:tr>
              <a:tr h="246717">
                <a:tc>
                  <a:txBody>
                    <a:bodyPr/>
                    <a:lstStyle/>
                    <a:p>
                      <a:r>
                        <a:rPr lang="fr-FR" sz="1400"/>
                        <a:t>Doe</a:t>
                      </a:r>
                    </a:p>
                  </a:txBody>
                  <a:tcPr/>
                </a:tc>
                <a:tc>
                  <a:txBody>
                    <a:bodyPr/>
                    <a:lstStyle/>
                    <a:p>
                      <a:r>
                        <a:rPr lang="fr-FR" sz="1400" dirty="0"/>
                        <a:t>John</a:t>
                      </a:r>
                    </a:p>
                  </a:txBody>
                  <a:tcPr/>
                </a:tc>
                <a:extLst>
                  <a:ext uri="{0D108BD9-81ED-4DB2-BD59-A6C34878D82A}">
                    <a16:rowId xmlns:a16="http://schemas.microsoft.com/office/drawing/2014/main" val="4242284243"/>
                  </a:ext>
                </a:extLst>
              </a:tr>
            </a:tbl>
          </a:graphicData>
        </a:graphic>
      </p:graphicFrame>
      <p:sp>
        <p:nvSpPr>
          <p:cNvPr id="7" name="Flèche : courbe vers la droite 6">
            <a:extLst>
              <a:ext uri="{FF2B5EF4-FFF2-40B4-BE49-F238E27FC236}">
                <a16:creationId xmlns:a16="http://schemas.microsoft.com/office/drawing/2014/main" id="{CA635C06-E4AF-4CDA-89C0-E475958CB2D5}"/>
              </a:ext>
            </a:extLst>
          </p:cNvPr>
          <p:cNvSpPr/>
          <p:nvPr/>
        </p:nvSpPr>
        <p:spPr>
          <a:xfrm>
            <a:off x="523217" y="3583186"/>
            <a:ext cx="1397876" cy="268098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37668829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(SELECT)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lstStyle/>
          <a:p>
            <a:r>
              <a:rPr lang="fr-FR" b="1"/>
              <a:t>SELECT DISTINCT</a:t>
            </a:r>
            <a:r>
              <a:rPr lang="fr-FR"/>
              <a:t> permet de récupérer des valeurs distinctes (suppression des doublons dans les résultats)</a:t>
            </a:r>
          </a:p>
          <a:p>
            <a:r>
              <a:rPr lang="fr-FR"/>
              <a:t>Exemple :</a:t>
            </a:r>
          </a:p>
          <a:p>
            <a:pPr marL="0" indent="0" algn="ctr">
              <a:buNone/>
            </a:pPr>
            <a:r>
              <a:rPr lang="fr-FR" b="1"/>
              <a:t>SELECT DISTINCT</a:t>
            </a:r>
            <a:r>
              <a:rPr lang="fr-FR"/>
              <a:t> nom </a:t>
            </a:r>
            <a:r>
              <a:rPr lang="fr-FR" b="1"/>
              <a:t>FROM</a:t>
            </a:r>
            <a:r>
              <a:rPr lang="fr-FR"/>
              <a:t> </a:t>
            </a:r>
            <a:r>
              <a:rPr lang="fr-FR" err="1"/>
              <a:t>employe</a:t>
            </a:r>
            <a:endParaRPr lang="fr-FR"/>
          </a:p>
        </p:txBody>
      </p:sp>
      <p:sp>
        <p:nvSpPr>
          <p:cNvPr id="6" name="Espace réservé du numéro de diapositive 5">
            <a:extLst>
              <a:ext uri="{FF2B5EF4-FFF2-40B4-BE49-F238E27FC236}">
                <a16:creationId xmlns:a16="http://schemas.microsoft.com/office/drawing/2014/main" id="{C97CA247-B6E1-4646-ACF0-4A6F69DF6843}"/>
              </a:ext>
            </a:extLst>
          </p:cNvPr>
          <p:cNvSpPr>
            <a:spLocks noGrp="1"/>
          </p:cNvSpPr>
          <p:nvPr>
            <p:ph type="sldNum" sz="quarter" idx="12"/>
          </p:nvPr>
        </p:nvSpPr>
        <p:spPr/>
        <p:txBody>
          <a:bodyPr/>
          <a:lstStyle/>
          <a:p>
            <a:fld id="{27C6CCC6-2BE5-4E42-96A4-D1E8E81A3D8E}" type="slidenum">
              <a:rPr lang="de-DE" smtClean="0"/>
              <a:t>72</a:t>
            </a:fld>
            <a:endParaRPr lang="de-DE"/>
          </a:p>
        </p:txBody>
      </p:sp>
    </p:spTree>
    <p:extLst>
      <p:ext uri="{BB962C8B-B14F-4D97-AF65-F5344CB8AC3E}">
        <p14:creationId xmlns:p14="http://schemas.microsoft.com/office/powerpoint/2010/main" val="37124065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(SELECT)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lstStyle/>
          <a:p>
            <a:r>
              <a:rPr lang="fr-FR" b="1" dirty="0"/>
              <a:t>LIKE </a:t>
            </a:r>
            <a:r>
              <a:rPr lang="fr-FR" dirty="0"/>
              <a:t>permet de faire des tests sur des chaînes de caractères</a:t>
            </a:r>
          </a:p>
          <a:p>
            <a:r>
              <a:rPr lang="fr-FR" dirty="0"/>
              <a:t>Exemple (retourne les employés dont le nom commence par « LO ») :</a:t>
            </a:r>
          </a:p>
          <a:p>
            <a:pPr marL="0" indent="0" algn="ctr">
              <a:buNone/>
            </a:pPr>
            <a:r>
              <a:rPr lang="fr-FR" b="1" dirty="0"/>
              <a:t>SELECT</a:t>
            </a:r>
            <a:r>
              <a:rPr lang="fr-FR" dirty="0"/>
              <a:t> * </a:t>
            </a:r>
            <a:r>
              <a:rPr lang="fr-FR" b="1" dirty="0"/>
              <a:t>FROM</a:t>
            </a:r>
            <a:r>
              <a:rPr lang="fr-FR" dirty="0"/>
              <a:t> </a:t>
            </a:r>
            <a:r>
              <a:rPr lang="fr-FR" dirty="0" err="1"/>
              <a:t>employees</a:t>
            </a:r>
            <a:r>
              <a:rPr lang="fr-FR" dirty="0"/>
              <a:t> </a:t>
            </a:r>
            <a:r>
              <a:rPr lang="fr-FR" b="1" dirty="0"/>
              <a:t>WHERE</a:t>
            </a:r>
            <a:r>
              <a:rPr lang="fr-FR" dirty="0"/>
              <a:t> nom </a:t>
            </a:r>
            <a:r>
              <a:rPr lang="fr-FR" b="1" dirty="0"/>
              <a:t>LIKE</a:t>
            </a:r>
            <a:r>
              <a:rPr lang="fr-FR" dirty="0"/>
              <a:t> ‘LO%’</a:t>
            </a:r>
          </a:p>
          <a:p>
            <a:r>
              <a:rPr lang="fr-FR" dirty="0"/>
              <a:t>Avec </a:t>
            </a:r>
            <a:r>
              <a:rPr lang="fr-FR" b="1" dirty="0"/>
              <a:t>LIKE</a:t>
            </a:r>
            <a:r>
              <a:rPr lang="fr-FR" dirty="0"/>
              <a:t>, le symbole % signifie « n’importe quelle succession de caractères »</a:t>
            </a:r>
          </a:p>
          <a:p>
            <a:r>
              <a:rPr lang="fr-FR" dirty="0"/>
              <a:t>Le symbole _ signifie « n’importe quel caractère, une seule fois »</a:t>
            </a:r>
          </a:p>
        </p:txBody>
      </p:sp>
      <p:sp>
        <p:nvSpPr>
          <p:cNvPr id="6" name="Espace réservé du numéro de diapositive 5">
            <a:extLst>
              <a:ext uri="{FF2B5EF4-FFF2-40B4-BE49-F238E27FC236}">
                <a16:creationId xmlns:a16="http://schemas.microsoft.com/office/drawing/2014/main" id="{C97CA247-B6E1-4646-ACF0-4A6F69DF6843}"/>
              </a:ext>
            </a:extLst>
          </p:cNvPr>
          <p:cNvSpPr>
            <a:spLocks noGrp="1"/>
          </p:cNvSpPr>
          <p:nvPr>
            <p:ph type="sldNum" sz="quarter" idx="12"/>
          </p:nvPr>
        </p:nvSpPr>
        <p:spPr/>
        <p:txBody>
          <a:bodyPr/>
          <a:lstStyle/>
          <a:p>
            <a:fld id="{27C6CCC6-2BE5-4E42-96A4-D1E8E81A3D8E}" type="slidenum">
              <a:rPr lang="de-DE" smtClean="0"/>
              <a:t>73</a:t>
            </a:fld>
            <a:endParaRPr lang="de-DE"/>
          </a:p>
        </p:txBody>
      </p:sp>
    </p:spTree>
    <p:extLst>
      <p:ext uri="{BB962C8B-B14F-4D97-AF65-F5344CB8AC3E}">
        <p14:creationId xmlns:p14="http://schemas.microsoft.com/office/powerpoint/2010/main" val="30649864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(SELECT)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lstStyle/>
          <a:p>
            <a:r>
              <a:rPr lang="fr-FR" b="1" dirty="0"/>
              <a:t>ORDER BY </a:t>
            </a:r>
            <a:r>
              <a:rPr lang="fr-FR" dirty="0"/>
              <a:t>permet de trier les résultats</a:t>
            </a:r>
          </a:p>
          <a:p>
            <a:r>
              <a:rPr lang="fr-FR" dirty="0"/>
              <a:t>Exemple (retourne les employés triés par nom décroissant) :</a:t>
            </a:r>
          </a:p>
          <a:p>
            <a:pPr marL="0" indent="0" algn="ctr">
              <a:buNone/>
            </a:pPr>
            <a:r>
              <a:rPr lang="fr-FR" b="1" dirty="0"/>
              <a:t>SELECT</a:t>
            </a:r>
            <a:r>
              <a:rPr lang="fr-FR" dirty="0"/>
              <a:t> * </a:t>
            </a:r>
            <a:r>
              <a:rPr lang="fr-FR" b="1" dirty="0"/>
              <a:t>FROM</a:t>
            </a:r>
            <a:r>
              <a:rPr lang="fr-FR" dirty="0"/>
              <a:t> </a:t>
            </a:r>
            <a:r>
              <a:rPr lang="fr-FR" dirty="0" err="1"/>
              <a:t>employees</a:t>
            </a:r>
            <a:r>
              <a:rPr lang="fr-FR" dirty="0"/>
              <a:t> </a:t>
            </a:r>
            <a:r>
              <a:rPr lang="fr-FR" b="1" dirty="0"/>
              <a:t>ORDER BY</a:t>
            </a:r>
            <a:r>
              <a:rPr lang="fr-FR" dirty="0"/>
              <a:t> nom </a:t>
            </a:r>
            <a:r>
              <a:rPr lang="fr-FR" b="1" dirty="0"/>
              <a:t>DESC</a:t>
            </a:r>
          </a:p>
          <a:p>
            <a:r>
              <a:rPr lang="fr-FR" b="1" dirty="0"/>
              <a:t>ASC </a:t>
            </a:r>
            <a:r>
              <a:rPr lang="fr-FR" dirty="0"/>
              <a:t>(ou rien du tout) pour trier par ordre croissant</a:t>
            </a:r>
            <a:r>
              <a:rPr lang="fr-FR" b="1" dirty="0"/>
              <a:t>, DESC </a:t>
            </a:r>
            <a:r>
              <a:rPr lang="fr-FR" dirty="0"/>
              <a:t>pour trier par ordre décroissant</a:t>
            </a:r>
          </a:p>
        </p:txBody>
      </p:sp>
      <p:sp>
        <p:nvSpPr>
          <p:cNvPr id="6" name="Espace réservé du numéro de diapositive 5">
            <a:extLst>
              <a:ext uri="{FF2B5EF4-FFF2-40B4-BE49-F238E27FC236}">
                <a16:creationId xmlns:a16="http://schemas.microsoft.com/office/drawing/2014/main" id="{C97CA247-B6E1-4646-ACF0-4A6F69DF6843}"/>
              </a:ext>
            </a:extLst>
          </p:cNvPr>
          <p:cNvSpPr>
            <a:spLocks noGrp="1"/>
          </p:cNvSpPr>
          <p:nvPr>
            <p:ph type="sldNum" sz="quarter" idx="12"/>
          </p:nvPr>
        </p:nvSpPr>
        <p:spPr/>
        <p:txBody>
          <a:bodyPr/>
          <a:lstStyle/>
          <a:p>
            <a:fld id="{27C6CCC6-2BE5-4E42-96A4-D1E8E81A3D8E}" type="slidenum">
              <a:rPr lang="de-DE" smtClean="0"/>
              <a:t>74</a:t>
            </a:fld>
            <a:endParaRPr lang="de-DE"/>
          </a:p>
        </p:txBody>
      </p:sp>
    </p:spTree>
    <p:extLst>
      <p:ext uri="{BB962C8B-B14F-4D97-AF65-F5344CB8AC3E}">
        <p14:creationId xmlns:p14="http://schemas.microsoft.com/office/powerpoint/2010/main" val="11868233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(SELECT)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ormAutofit/>
          </a:bodyPr>
          <a:lstStyle/>
          <a:p>
            <a:r>
              <a:rPr lang="fr-FR">
                <a:ea typeface="+mn-lt"/>
                <a:cs typeface="+mn-lt"/>
              </a:rPr>
              <a:t>Opérateurs d'agrégation : permettent d'appliquer des opérations sur l'ensemble des résultats retournés par une requête de sélection</a:t>
            </a:r>
            <a:endParaRPr lang="fr-FR"/>
          </a:p>
          <a:p>
            <a:r>
              <a:rPr lang="fr-FR"/>
              <a:t>Principaux opérateurs :</a:t>
            </a:r>
          </a:p>
          <a:p>
            <a:pPr lvl="1"/>
            <a:r>
              <a:rPr lang="fr-FR">
                <a:ea typeface="+mn-lt"/>
                <a:cs typeface="+mn-lt"/>
              </a:rPr>
              <a:t>COUNT(A) ou COUNT(*) : nombre de valeurs ou n-uplets,</a:t>
            </a:r>
          </a:p>
          <a:p>
            <a:pPr lvl="1"/>
            <a:r>
              <a:rPr lang="fr-FR">
                <a:ea typeface="+mn-lt"/>
                <a:cs typeface="+mn-lt"/>
              </a:rPr>
              <a:t>SUM(A) : somme des valeurs,</a:t>
            </a:r>
          </a:p>
          <a:p>
            <a:pPr lvl="1"/>
            <a:r>
              <a:rPr lang="fr-FR">
                <a:ea typeface="+mn-lt"/>
                <a:cs typeface="+mn-lt"/>
              </a:rPr>
              <a:t>MAX(A) : valeur maximale,</a:t>
            </a:r>
          </a:p>
          <a:p>
            <a:pPr lvl="1"/>
            <a:r>
              <a:rPr lang="fr-FR">
                <a:ea typeface="+mn-lt"/>
                <a:cs typeface="+mn-lt"/>
              </a:rPr>
              <a:t>MIN(A) : valeur minimale,</a:t>
            </a:r>
          </a:p>
          <a:p>
            <a:pPr lvl="1"/>
            <a:r>
              <a:rPr lang="fr-FR">
                <a:ea typeface="+mn-lt"/>
                <a:cs typeface="+mn-lt"/>
              </a:rPr>
              <a:t>AVG(A) : moyenne des valeurs </a:t>
            </a:r>
            <a:endParaRPr lang="fr-FR"/>
          </a:p>
        </p:txBody>
      </p:sp>
      <p:sp>
        <p:nvSpPr>
          <p:cNvPr id="6" name="Espace réservé du numéro de diapositive 5">
            <a:extLst>
              <a:ext uri="{FF2B5EF4-FFF2-40B4-BE49-F238E27FC236}">
                <a16:creationId xmlns:a16="http://schemas.microsoft.com/office/drawing/2014/main" id="{1C48CD7C-0391-41EF-AB8C-B3F6C1AC517E}"/>
              </a:ext>
            </a:extLst>
          </p:cNvPr>
          <p:cNvSpPr>
            <a:spLocks noGrp="1"/>
          </p:cNvSpPr>
          <p:nvPr>
            <p:ph type="sldNum" sz="quarter" idx="12"/>
          </p:nvPr>
        </p:nvSpPr>
        <p:spPr/>
        <p:txBody>
          <a:bodyPr/>
          <a:lstStyle/>
          <a:p>
            <a:fld id="{27C6CCC6-2BE5-4E42-96A4-D1E8E81A3D8E}" type="slidenum">
              <a:rPr lang="de-DE" smtClean="0"/>
              <a:t>75</a:t>
            </a:fld>
            <a:endParaRPr lang="de-DE"/>
          </a:p>
        </p:txBody>
      </p:sp>
    </p:spTree>
    <p:extLst>
      <p:ext uri="{BB962C8B-B14F-4D97-AF65-F5344CB8AC3E}">
        <p14:creationId xmlns:p14="http://schemas.microsoft.com/office/powerpoint/2010/main" val="40199645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(SELECT)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ormAutofit/>
          </a:bodyPr>
          <a:lstStyle/>
          <a:p>
            <a:r>
              <a:rPr lang="fr-FR">
                <a:ea typeface="+mn-lt"/>
                <a:cs typeface="+mn-lt"/>
              </a:rPr>
              <a:t>Exemples de requête avec opérateur d'agrégation :</a:t>
            </a:r>
          </a:p>
          <a:p>
            <a:pPr lvl="1"/>
            <a:r>
              <a:rPr lang="fr-FR" b="1"/>
              <a:t>SELECT COUNT</a:t>
            </a:r>
            <a:r>
              <a:rPr lang="fr-FR"/>
              <a:t>(*) </a:t>
            </a:r>
            <a:r>
              <a:rPr lang="fr-FR" b="1"/>
              <a:t>FROM </a:t>
            </a:r>
            <a:r>
              <a:rPr lang="fr-FR"/>
              <a:t>factures : Retourne le nombre total d'enregistrements de la table factures</a:t>
            </a:r>
          </a:p>
          <a:p>
            <a:pPr lvl="1"/>
            <a:r>
              <a:rPr lang="fr-FR" b="1"/>
              <a:t>SELECT SUM</a:t>
            </a:r>
            <a:r>
              <a:rPr lang="fr-FR"/>
              <a:t>(prix) </a:t>
            </a:r>
            <a:r>
              <a:rPr lang="fr-FR" b="1"/>
              <a:t>FROM</a:t>
            </a:r>
            <a:r>
              <a:rPr lang="fr-FR"/>
              <a:t> factures : Retourne la somme de tous les prix de toutes les factures</a:t>
            </a:r>
          </a:p>
          <a:p>
            <a:pPr lvl="1"/>
            <a:r>
              <a:rPr lang="fr-FR" b="1"/>
              <a:t>SELECT AVG</a:t>
            </a:r>
            <a:r>
              <a:rPr lang="fr-FR"/>
              <a:t>(note) </a:t>
            </a:r>
            <a:r>
              <a:rPr lang="fr-FR" b="1"/>
              <a:t>FROM </a:t>
            </a:r>
            <a:r>
              <a:rPr lang="fr-FR" err="1"/>
              <a:t>etudiants</a:t>
            </a:r>
            <a:r>
              <a:rPr lang="fr-FR"/>
              <a:t> </a:t>
            </a:r>
            <a:r>
              <a:rPr lang="fr-FR" b="1"/>
              <a:t>WHERE </a:t>
            </a:r>
            <a:r>
              <a:rPr lang="fr-FR"/>
              <a:t>note &gt;= 10 : retourne la moyenne des notes des étudiants ayant une note supérieure à 10</a:t>
            </a:r>
          </a:p>
        </p:txBody>
      </p:sp>
      <p:sp>
        <p:nvSpPr>
          <p:cNvPr id="6" name="Espace réservé du numéro de diapositive 5">
            <a:extLst>
              <a:ext uri="{FF2B5EF4-FFF2-40B4-BE49-F238E27FC236}">
                <a16:creationId xmlns:a16="http://schemas.microsoft.com/office/drawing/2014/main" id="{C1A1690D-6F22-4CCB-B46C-CFD9C35C2488}"/>
              </a:ext>
            </a:extLst>
          </p:cNvPr>
          <p:cNvSpPr>
            <a:spLocks noGrp="1"/>
          </p:cNvSpPr>
          <p:nvPr>
            <p:ph type="sldNum" sz="quarter" idx="12"/>
          </p:nvPr>
        </p:nvSpPr>
        <p:spPr/>
        <p:txBody>
          <a:bodyPr/>
          <a:lstStyle/>
          <a:p>
            <a:fld id="{27C6CCC6-2BE5-4E42-96A4-D1E8E81A3D8E}" type="slidenum">
              <a:rPr lang="de-DE" smtClean="0"/>
              <a:t>76</a:t>
            </a:fld>
            <a:endParaRPr lang="de-DE"/>
          </a:p>
        </p:txBody>
      </p:sp>
    </p:spTree>
    <p:extLst>
      <p:ext uri="{BB962C8B-B14F-4D97-AF65-F5344CB8AC3E}">
        <p14:creationId xmlns:p14="http://schemas.microsoft.com/office/powerpoint/2010/main" val="32026593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(SELECT)</a:t>
            </a:r>
          </a:p>
        </p:txBody>
      </p:sp>
      <p:sp>
        <p:nvSpPr>
          <p:cNvPr id="6" name="Espace réservé du numéro de diapositive 5">
            <a:extLst>
              <a:ext uri="{FF2B5EF4-FFF2-40B4-BE49-F238E27FC236}">
                <a16:creationId xmlns:a16="http://schemas.microsoft.com/office/drawing/2014/main" id="{C1A1690D-6F22-4CCB-B46C-CFD9C35C2488}"/>
              </a:ext>
            </a:extLst>
          </p:cNvPr>
          <p:cNvSpPr>
            <a:spLocks noGrp="1"/>
          </p:cNvSpPr>
          <p:nvPr>
            <p:ph type="sldNum" sz="quarter" idx="12"/>
          </p:nvPr>
        </p:nvSpPr>
        <p:spPr/>
        <p:txBody>
          <a:bodyPr/>
          <a:lstStyle/>
          <a:p>
            <a:fld id="{27C6CCC6-2BE5-4E42-96A4-D1E8E81A3D8E}" type="slidenum">
              <a:rPr lang="de-DE" smtClean="0"/>
              <a:t>77</a:t>
            </a:fld>
            <a:endParaRPr lang="de-DE"/>
          </a:p>
        </p:txBody>
      </p:sp>
      <p:graphicFrame>
        <p:nvGraphicFramePr>
          <p:cNvPr id="5" name="Tableau 4">
            <a:extLst>
              <a:ext uri="{FF2B5EF4-FFF2-40B4-BE49-F238E27FC236}">
                <a16:creationId xmlns:a16="http://schemas.microsoft.com/office/drawing/2014/main" id="{CE85F8D4-FE5C-42FC-BB77-F1348D11F52D}"/>
              </a:ext>
            </a:extLst>
          </p:cNvPr>
          <p:cNvGraphicFramePr>
            <a:graphicFrameLocks noGrp="1"/>
          </p:cNvGraphicFramePr>
          <p:nvPr>
            <p:extLst>
              <p:ext uri="{D42A27DB-BD31-4B8C-83A1-F6EECF244321}">
                <p14:modId xmlns:p14="http://schemas.microsoft.com/office/powerpoint/2010/main" val="208313767"/>
              </p:ext>
            </p:extLst>
          </p:nvPr>
        </p:nvGraphicFramePr>
        <p:xfrm>
          <a:off x="4150684" y="2440497"/>
          <a:ext cx="3890629" cy="1524000"/>
        </p:xfrm>
        <a:graphic>
          <a:graphicData uri="http://schemas.openxmlformats.org/drawingml/2006/table">
            <a:tbl>
              <a:tblPr firstRow="1" bandRow="1">
                <a:tableStyleId>{5C22544A-7EE6-4342-B048-85BDC9FD1C3A}</a:tableStyleId>
              </a:tblPr>
              <a:tblGrid>
                <a:gridCol w="543422">
                  <a:extLst>
                    <a:ext uri="{9D8B030D-6E8A-4147-A177-3AD203B41FA5}">
                      <a16:colId xmlns:a16="http://schemas.microsoft.com/office/drawing/2014/main" val="1251353152"/>
                    </a:ext>
                  </a:extLst>
                </a:gridCol>
                <a:gridCol w="1283515">
                  <a:extLst>
                    <a:ext uri="{9D8B030D-6E8A-4147-A177-3AD203B41FA5}">
                      <a16:colId xmlns:a16="http://schemas.microsoft.com/office/drawing/2014/main" val="3450798736"/>
                    </a:ext>
                  </a:extLst>
                </a:gridCol>
                <a:gridCol w="1287944">
                  <a:extLst>
                    <a:ext uri="{9D8B030D-6E8A-4147-A177-3AD203B41FA5}">
                      <a16:colId xmlns:a16="http://schemas.microsoft.com/office/drawing/2014/main" val="2219499751"/>
                    </a:ext>
                  </a:extLst>
                </a:gridCol>
                <a:gridCol w="775748">
                  <a:extLst>
                    <a:ext uri="{9D8B030D-6E8A-4147-A177-3AD203B41FA5}">
                      <a16:colId xmlns:a16="http://schemas.microsoft.com/office/drawing/2014/main" val="111803102"/>
                    </a:ext>
                  </a:extLst>
                </a:gridCol>
              </a:tblGrid>
              <a:tr h="246717">
                <a:tc>
                  <a:txBody>
                    <a:bodyPr/>
                    <a:lstStyle/>
                    <a:p>
                      <a:r>
                        <a:rPr lang="fr-FR" sz="1400"/>
                        <a:t>ID</a:t>
                      </a:r>
                    </a:p>
                  </a:txBody>
                  <a:tcPr/>
                </a:tc>
                <a:tc>
                  <a:txBody>
                    <a:bodyPr/>
                    <a:lstStyle/>
                    <a:p>
                      <a:r>
                        <a:rPr lang="fr-FR" sz="1400"/>
                        <a:t>Nom</a:t>
                      </a:r>
                    </a:p>
                  </a:txBody>
                  <a:tcPr/>
                </a:tc>
                <a:tc>
                  <a:txBody>
                    <a:bodyPr/>
                    <a:lstStyle/>
                    <a:p>
                      <a:r>
                        <a:rPr lang="fr-FR" sz="1400"/>
                        <a:t>Prénom</a:t>
                      </a:r>
                    </a:p>
                  </a:txBody>
                  <a:tcPr/>
                </a:tc>
                <a:tc>
                  <a:txBody>
                    <a:bodyPr/>
                    <a:lstStyle/>
                    <a:p>
                      <a:r>
                        <a:rPr lang="fr-FR" sz="1400" dirty="0"/>
                        <a:t>Note</a:t>
                      </a:r>
                    </a:p>
                  </a:txBody>
                  <a:tcPr/>
                </a:tc>
                <a:extLst>
                  <a:ext uri="{0D108BD9-81ED-4DB2-BD59-A6C34878D82A}">
                    <a16:rowId xmlns:a16="http://schemas.microsoft.com/office/drawing/2014/main" val="2080559892"/>
                  </a:ext>
                </a:extLst>
              </a:tr>
              <a:tr h="246717">
                <a:tc>
                  <a:txBody>
                    <a:bodyPr/>
                    <a:lstStyle/>
                    <a:p>
                      <a:r>
                        <a:rPr lang="fr-FR" sz="1400"/>
                        <a:t>1</a:t>
                      </a:r>
                    </a:p>
                  </a:txBody>
                  <a:tcPr/>
                </a:tc>
                <a:tc>
                  <a:txBody>
                    <a:bodyPr/>
                    <a:lstStyle/>
                    <a:p>
                      <a:r>
                        <a:rPr lang="fr-FR" sz="1400"/>
                        <a:t>Smith</a:t>
                      </a:r>
                    </a:p>
                  </a:txBody>
                  <a:tcPr/>
                </a:tc>
                <a:tc>
                  <a:txBody>
                    <a:bodyPr/>
                    <a:lstStyle/>
                    <a:p>
                      <a:r>
                        <a:rPr lang="fr-FR" sz="1400"/>
                        <a:t>John</a:t>
                      </a:r>
                    </a:p>
                  </a:txBody>
                  <a:tcPr/>
                </a:tc>
                <a:tc>
                  <a:txBody>
                    <a:bodyPr/>
                    <a:lstStyle/>
                    <a:p>
                      <a:r>
                        <a:rPr lang="fr-FR" sz="1400" dirty="0"/>
                        <a:t>15</a:t>
                      </a:r>
                    </a:p>
                  </a:txBody>
                  <a:tcPr/>
                </a:tc>
                <a:extLst>
                  <a:ext uri="{0D108BD9-81ED-4DB2-BD59-A6C34878D82A}">
                    <a16:rowId xmlns:a16="http://schemas.microsoft.com/office/drawing/2014/main" val="2591936368"/>
                  </a:ext>
                </a:extLst>
              </a:tr>
              <a:tr h="246717">
                <a:tc>
                  <a:txBody>
                    <a:bodyPr/>
                    <a:lstStyle/>
                    <a:p>
                      <a:r>
                        <a:rPr lang="fr-FR" sz="1400" dirty="0"/>
                        <a:t>2</a:t>
                      </a:r>
                    </a:p>
                  </a:txBody>
                  <a:tcPr/>
                </a:tc>
                <a:tc>
                  <a:txBody>
                    <a:bodyPr/>
                    <a:lstStyle/>
                    <a:p>
                      <a:r>
                        <a:rPr lang="fr-FR" sz="1400"/>
                        <a:t>Doe</a:t>
                      </a:r>
                    </a:p>
                  </a:txBody>
                  <a:tcPr/>
                </a:tc>
                <a:tc>
                  <a:txBody>
                    <a:bodyPr/>
                    <a:lstStyle/>
                    <a:p>
                      <a:r>
                        <a:rPr lang="fr-FR" sz="1400"/>
                        <a:t>John</a:t>
                      </a:r>
                    </a:p>
                  </a:txBody>
                  <a:tcPr/>
                </a:tc>
                <a:tc>
                  <a:txBody>
                    <a:bodyPr/>
                    <a:lstStyle/>
                    <a:p>
                      <a:r>
                        <a:rPr lang="fr-FR" sz="1400" dirty="0"/>
                        <a:t>5</a:t>
                      </a:r>
                    </a:p>
                  </a:txBody>
                  <a:tcPr/>
                </a:tc>
                <a:extLst>
                  <a:ext uri="{0D108BD9-81ED-4DB2-BD59-A6C34878D82A}">
                    <a16:rowId xmlns:a16="http://schemas.microsoft.com/office/drawing/2014/main" val="4242284243"/>
                  </a:ext>
                </a:extLst>
              </a:tr>
              <a:tr h="246717">
                <a:tc>
                  <a:txBody>
                    <a:bodyPr/>
                    <a:lstStyle/>
                    <a:p>
                      <a:r>
                        <a:rPr lang="fr-FR" sz="1400"/>
                        <a:t>3</a:t>
                      </a:r>
                    </a:p>
                  </a:txBody>
                  <a:tcPr/>
                </a:tc>
                <a:tc>
                  <a:txBody>
                    <a:bodyPr/>
                    <a:lstStyle/>
                    <a:p>
                      <a:r>
                        <a:rPr lang="fr-FR" sz="1400"/>
                        <a:t>Daniels</a:t>
                      </a:r>
                    </a:p>
                  </a:txBody>
                  <a:tcPr/>
                </a:tc>
                <a:tc>
                  <a:txBody>
                    <a:bodyPr/>
                    <a:lstStyle/>
                    <a:p>
                      <a:r>
                        <a:rPr lang="fr-FR" sz="1400"/>
                        <a:t>Jack</a:t>
                      </a:r>
                    </a:p>
                  </a:txBody>
                  <a:tcPr/>
                </a:tc>
                <a:tc>
                  <a:txBody>
                    <a:bodyPr/>
                    <a:lstStyle/>
                    <a:p>
                      <a:r>
                        <a:rPr lang="fr-FR" sz="1400" dirty="0"/>
                        <a:t>10</a:t>
                      </a:r>
                    </a:p>
                  </a:txBody>
                  <a:tcPr/>
                </a:tc>
                <a:extLst>
                  <a:ext uri="{0D108BD9-81ED-4DB2-BD59-A6C34878D82A}">
                    <a16:rowId xmlns:a16="http://schemas.microsoft.com/office/drawing/2014/main" val="3013416258"/>
                  </a:ext>
                </a:extLst>
              </a:tr>
              <a:tr h="246717">
                <a:tc>
                  <a:txBody>
                    <a:bodyPr/>
                    <a:lstStyle/>
                    <a:p>
                      <a:r>
                        <a:rPr lang="fr-FR" sz="1400"/>
                        <a:t>4</a:t>
                      </a:r>
                    </a:p>
                  </a:txBody>
                  <a:tcPr/>
                </a:tc>
                <a:tc>
                  <a:txBody>
                    <a:bodyPr/>
                    <a:lstStyle/>
                    <a:p>
                      <a:r>
                        <a:rPr lang="fr-FR" sz="1400" dirty="0"/>
                        <a:t>Neige</a:t>
                      </a:r>
                    </a:p>
                  </a:txBody>
                  <a:tcPr/>
                </a:tc>
                <a:tc>
                  <a:txBody>
                    <a:bodyPr/>
                    <a:lstStyle/>
                    <a:p>
                      <a:r>
                        <a:rPr lang="fr-FR" sz="1400"/>
                        <a:t>Jean</a:t>
                      </a:r>
                    </a:p>
                  </a:txBody>
                  <a:tcPr/>
                </a:tc>
                <a:tc>
                  <a:txBody>
                    <a:bodyPr/>
                    <a:lstStyle/>
                    <a:p>
                      <a:r>
                        <a:rPr lang="fr-FR" sz="1400" dirty="0"/>
                        <a:t>20</a:t>
                      </a:r>
                    </a:p>
                  </a:txBody>
                  <a:tcPr/>
                </a:tc>
                <a:extLst>
                  <a:ext uri="{0D108BD9-81ED-4DB2-BD59-A6C34878D82A}">
                    <a16:rowId xmlns:a16="http://schemas.microsoft.com/office/drawing/2014/main" val="183505629"/>
                  </a:ext>
                </a:extLst>
              </a:tr>
            </a:tbl>
          </a:graphicData>
        </a:graphic>
      </p:graphicFrame>
      <p:sp>
        <p:nvSpPr>
          <p:cNvPr id="7" name="Flèche : courbe vers la droite 6">
            <a:extLst>
              <a:ext uri="{FF2B5EF4-FFF2-40B4-BE49-F238E27FC236}">
                <a16:creationId xmlns:a16="http://schemas.microsoft.com/office/drawing/2014/main" id="{B1B16B57-E2B1-4F47-A575-17409DA13AAD}"/>
              </a:ext>
            </a:extLst>
          </p:cNvPr>
          <p:cNvSpPr/>
          <p:nvPr/>
        </p:nvSpPr>
        <p:spPr>
          <a:xfrm>
            <a:off x="1118836" y="3202497"/>
            <a:ext cx="1397876" cy="268098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 name="Rectangle 3">
            <a:extLst>
              <a:ext uri="{FF2B5EF4-FFF2-40B4-BE49-F238E27FC236}">
                <a16:creationId xmlns:a16="http://schemas.microsoft.com/office/drawing/2014/main" id="{C26E5537-C1E4-4440-B144-078B503543F0}"/>
              </a:ext>
            </a:extLst>
          </p:cNvPr>
          <p:cNvSpPr/>
          <p:nvPr/>
        </p:nvSpPr>
        <p:spPr>
          <a:xfrm>
            <a:off x="3047998" y="4406128"/>
            <a:ext cx="6096000" cy="369332"/>
          </a:xfrm>
          <a:prstGeom prst="rect">
            <a:avLst/>
          </a:prstGeom>
        </p:spPr>
        <p:txBody>
          <a:bodyPr>
            <a:spAutoFit/>
          </a:bodyPr>
          <a:lstStyle/>
          <a:p>
            <a:pPr lvl="1" algn="ctr"/>
            <a:r>
              <a:rPr lang="fr-FR" b="1" dirty="0">
                <a:ea typeface="+mn-lt"/>
                <a:cs typeface="+mn-lt"/>
              </a:rPr>
              <a:t>SELECT</a:t>
            </a:r>
            <a:r>
              <a:rPr lang="fr-FR" dirty="0">
                <a:ea typeface="+mn-lt"/>
                <a:cs typeface="+mn-lt"/>
              </a:rPr>
              <a:t> AVG(note) </a:t>
            </a:r>
            <a:r>
              <a:rPr lang="fr-FR" b="1" dirty="0">
                <a:ea typeface="+mn-lt"/>
                <a:cs typeface="+mn-lt"/>
              </a:rPr>
              <a:t>AS</a:t>
            </a:r>
            <a:r>
              <a:rPr lang="fr-FR" dirty="0">
                <a:ea typeface="+mn-lt"/>
                <a:cs typeface="+mn-lt"/>
              </a:rPr>
              <a:t> moyenne </a:t>
            </a:r>
            <a:r>
              <a:rPr lang="fr-FR" b="1" dirty="0">
                <a:ea typeface="+mn-lt"/>
                <a:cs typeface="+mn-lt"/>
              </a:rPr>
              <a:t>FROM</a:t>
            </a:r>
            <a:r>
              <a:rPr lang="fr-FR" dirty="0">
                <a:ea typeface="+mn-lt"/>
                <a:cs typeface="+mn-lt"/>
              </a:rPr>
              <a:t> </a:t>
            </a:r>
            <a:r>
              <a:rPr lang="fr-FR" dirty="0" err="1">
                <a:ea typeface="+mn-lt"/>
                <a:cs typeface="+mn-lt"/>
              </a:rPr>
              <a:t>etudiants</a:t>
            </a:r>
            <a:r>
              <a:rPr lang="fr-FR" dirty="0">
                <a:ea typeface="+mn-lt"/>
                <a:cs typeface="+mn-lt"/>
              </a:rPr>
              <a:t>;</a:t>
            </a:r>
          </a:p>
        </p:txBody>
      </p:sp>
      <p:graphicFrame>
        <p:nvGraphicFramePr>
          <p:cNvPr id="8" name="Tableau 7">
            <a:extLst>
              <a:ext uri="{FF2B5EF4-FFF2-40B4-BE49-F238E27FC236}">
                <a16:creationId xmlns:a16="http://schemas.microsoft.com/office/drawing/2014/main" id="{EABAF2C3-2B1F-4E1F-9FAE-E7E0CBACB46E}"/>
              </a:ext>
            </a:extLst>
          </p:cNvPr>
          <p:cNvGraphicFramePr>
            <a:graphicFrameLocks noGrp="1"/>
          </p:cNvGraphicFramePr>
          <p:nvPr>
            <p:extLst>
              <p:ext uri="{D42A27DB-BD31-4B8C-83A1-F6EECF244321}">
                <p14:modId xmlns:p14="http://schemas.microsoft.com/office/powerpoint/2010/main" val="3178762351"/>
              </p:ext>
            </p:extLst>
          </p:nvPr>
        </p:nvGraphicFramePr>
        <p:xfrm>
          <a:off x="5286669" y="5273877"/>
          <a:ext cx="1618657" cy="609600"/>
        </p:xfrm>
        <a:graphic>
          <a:graphicData uri="http://schemas.openxmlformats.org/drawingml/2006/table">
            <a:tbl>
              <a:tblPr firstRow="1" bandRow="1">
                <a:tableStyleId>{5C22544A-7EE6-4342-B048-85BDC9FD1C3A}</a:tableStyleId>
              </a:tblPr>
              <a:tblGrid>
                <a:gridCol w="1618657">
                  <a:extLst>
                    <a:ext uri="{9D8B030D-6E8A-4147-A177-3AD203B41FA5}">
                      <a16:colId xmlns:a16="http://schemas.microsoft.com/office/drawing/2014/main" val="1251353152"/>
                    </a:ext>
                  </a:extLst>
                </a:gridCol>
              </a:tblGrid>
              <a:tr h="246717">
                <a:tc>
                  <a:txBody>
                    <a:bodyPr/>
                    <a:lstStyle/>
                    <a:p>
                      <a:r>
                        <a:rPr lang="fr-FR" sz="1400" dirty="0"/>
                        <a:t>moyenne</a:t>
                      </a:r>
                    </a:p>
                  </a:txBody>
                  <a:tcPr/>
                </a:tc>
                <a:extLst>
                  <a:ext uri="{0D108BD9-81ED-4DB2-BD59-A6C34878D82A}">
                    <a16:rowId xmlns:a16="http://schemas.microsoft.com/office/drawing/2014/main" val="2080559892"/>
                  </a:ext>
                </a:extLst>
              </a:tr>
              <a:tr h="246717">
                <a:tc>
                  <a:txBody>
                    <a:bodyPr/>
                    <a:lstStyle/>
                    <a:p>
                      <a:r>
                        <a:rPr lang="fr-FR" sz="1400" dirty="0"/>
                        <a:t>10</a:t>
                      </a:r>
                    </a:p>
                  </a:txBody>
                  <a:tcPr/>
                </a:tc>
                <a:extLst>
                  <a:ext uri="{0D108BD9-81ED-4DB2-BD59-A6C34878D82A}">
                    <a16:rowId xmlns:a16="http://schemas.microsoft.com/office/drawing/2014/main" val="2591936368"/>
                  </a:ext>
                </a:extLst>
              </a:tr>
            </a:tbl>
          </a:graphicData>
        </a:graphic>
      </p:graphicFrame>
      <p:cxnSp>
        <p:nvCxnSpPr>
          <p:cNvPr id="10" name="Connecteur droit avec flèche 9">
            <a:extLst>
              <a:ext uri="{FF2B5EF4-FFF2-40B4-BE49-F238E27FC236}">
                <a16:creationId xmlns:a16="http://schemas.microsoft.com/office/drawing/2014/main" id="{59CF5A54-0F36-4AB4-A34B-171796646B46}"/>
              </a:ext>
            </a:extLst>
          </p:cNvPr>
          <p:cNvCxnSpPr/>
          <p:nvPr/>
        </p:nvCxnSpPr>
        <p:spPr>
          <a:xfrm>
            <a:off x="6425967" y="4775460"/>
            <a:ext cx="1988191" cy="498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70AEB3BF-4E37-4A1E-85C5-40B62FC91C56}"/>
              </a:ext>
            </a:extLst>
          </p:cNvPr>
          <p:cNvSpPr txBox="1"/>
          <p:nvPr/>
        </p:nvSpPr>
        <p:spPr>
          <a:xfrm>
            <a:off x="8414159" y="5144682"/>
            <a:ext cx="3777841" cy="923330"/>
          </a:xfrm>
          <a:prstGeom prst="rect">
            <a:avLst/>
          </a:prstGeom>
          <a:noFill/>
        </p:spPr>
        <p:txBody>
          <a:bodyPr wrap="square" rtlCol="0">
            <a:spAutoFit/>
          </a:bodyPr>
          <a:lstStyle/>
          <a:p>
            <a:r>
              <a:rPr lang="fr-FR" dirty="0"/>
              <a:t>Facultatif : permet de préciser le nom à donner au résultat de l’opérateur</a:t>
            </a:r>
          </a:p>
        </p:txBody>
      </p:sp>
      <p:sp>
        <p:nvSpPr>
          <p:cNvPr id="12" name="Rectangle 11">
            <a:extLst>
              <a:ext uri="{FF2B5EF4-FFF2-40B4-BE49-F238E27FC236}">
                <a16:creationId xmlns:a16="http://schemas.microsoft.com/office/drawing/2014/main" id="{6D4E067C-A323-493D-8223-A17FC61EE7AA}"/>
              </a:ext>
            </a:extLst>
          </p:cNvPr>
          <p:cNvSpPr/>
          <p:nvPr/>
        </p:nvSpPr>
        <p:spPr>
          <a:xfrm>
            <a:off x="5657316" y="4406128"/>
            <a:ext cx="1512605" cy="36933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fr-FR"/>
          </a:p>
        </p:txBody>
      </p:sp>
    </p:spTree>
    <p:extLst>
      <p:ext uri="{BB962C8B-B14F-4D97-AF65-F5344CB8AC3E}">
        <p14:creationId xmlns:p14="http://schemas.microsoft.com/office/powerpoint/2010/main" val="72312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(SELECT)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ormAutofit/>
          </a:bodyPr>
          <a:lstStyle/>
          <a:p>
            <a:r>
              <a:rPr lang="fr-FR" dirty="0">
                <a:ea typeface="+mn-lt"/>
                <a:cs typeface="+mn-lt"/>
              </a:rPr>
              <a:t>Possibilité de grouper des lignes dans les résultats avec </a:t>
            </a:r>
            <a:r>
              <a:rPr lang="fr-FR" b="1" dirty="0">
                <a:ea typeface="+mn-lt"/>
                <a:cs typeface="+mn-lt"/>
              </a:rPr>
              <a:t>GROUP BY</a:t>
            </a:r>
          </a:p>
          <a:p>
            <a:r>
              <a:rPr lang="fr-FR" b="1" dirty="0">
                <a:ea typeface="+mn-lt"/>
                <a:cs typeface="+mn-lt"/>
              </a:rPr>
              <a:t>SELECT</a:t>
            </a:r>
            <a:r>
              <a:rPr lang="fr-FR" dirty="0">
                <a:ea typeface="+mn-lt"/>
                <a:cs typeface="+mn-lt"/>
              </a:rPr>
              <a:t> &lt;liste de colonnes&gt; </a:t>
            </a:r>
            <a:r>
              <a:rPr lang="fr-FR" b="1" dirty="0">
                <a:ea typeface="+mn-lt"/>
                <a:cs typeface="+mn-lt"/>
              </a:rPr>
              <a:t>FROM</a:t>
            </a:r>
            <a:r>
              <a:rPr lang="fr-FR" dirty="0">
                <a:ea typeface="+mn-lt"/>
                <a:cs typeface="+mn-lt"/>
              </a:rPr>
              <a:t> &lt;liste de tables&gt; [</a:t>
            </a:r>
            <a:r>
              <a:rPr lang="fr-FR" b="1" dirty="0">
                <a:ea typeface="+mn-lt"/>
                <a:cs typeface="+mn-lt"/>
              </a:rPr>
              <a:t>WHERE</a:t>
            </a:r>
            <a:r>
              <a:rPr lang="fr-FR" dirty="0">
                <a:ea typeface="+mn-lt"/>
                <a:cs typeface="+mn-lt"/>
              </a:rPr>
              <a:t> &lt;critère de jointure&gt; </a:t>
            </a:r>
            <a:r>
              <a:rPr lang="fr-FR" b="1" dirty="0">
                <a:ea typeface="+mn-lt"/>
                <a:cs typeface="+mn-lt"/>
              </a:rPr>
              <a:t>AND</a:t>
            </a:r>
            <a:r>
              <a:rPr lang="fr-FR" dirty="0">
                <a:ea typeface="+mn-lt"/>
                <a:cs typeface="+mn-lt"/>
              </a:rPr>
              <a:t> &lt;critère de sélection&gt;] [</a:t>
            </a:r>
            <a:r>
              <a:rPr lang="fr-FR" b="1" dirty="0">
                <a:ea typeface="+mn-lt"/>
                <a:cs typeface="+mn-lt"/>
              </a:rPr>
              <a:t>GROUP BY</a:t>
            </a:r>
            <a:r>
              <a:rPr lang="fr-FR" dirty="0">
                <a:ea typeface="+mn-lt"/>
                <a:cs typeface="+mn-lt"/>
              </a:rPr>
              <a:t> &lt;attributs de partitionnement&gt;] [</a:t>
            </a:r>
            <a:r>
              <a:rPr lang="fr-FR" b="1" dirty="0">
                <a:ea typeface="+mn-lt"/>
                <a:cs typeface="+mn-lt"/>
              </a:rPr>
              <a:t>HAVING</a:t>
            </a:r>
            <a:r>
              <a:rPr lang="fr-FR" dirty="0">
                <a:ea typeface="+mn-lt"/>
                <a:cs typeface="+mn-lt"/>
              </a:rPr>
              <a:t> &lt;critère de restriction&gt;]</a:t>
            </a:r>
          </a:p>
          <a:p>
            <a:r>
              <a:rPr lang="fr-FR" dirty="0">
                <a:ea typeface="+mn-lt"/>
                <a:cs typeface="+mn-lt"/>
              </a:rPr>
              <a:t>Exemple : </a:t>
            </a:r>
            <a:r>
              <a:rPr lang="fr-FR" b="1" dirty="0"/>
              <a:t>SELECT </a:t>
            </a:r>
            <a:r>
              <a:rPr lang="fr-FR" dirty="0"/>
              <a:t>nom, </a:t>
            </a:r>
            <a:r>
              <a:rPr lang="fr-FR" b="1" dirty="0"/>
              <a:t>AVG</a:t>
            </a:r>
            <a:r>
              <a:rPr lang="fr-FR" dirty="0"/>
              <a:t>(note) </a:t>
            </a:r>
            <a:r>
              <a:rPr lang="fr-FR" b="1" dirty="0"/>
              <a:t>FROM </a:t>
            </a:r>
            <a:r>
              <a:rPr lang="fr-FR" dirty="0" err="1"/>
              <a:t>etudiants</a:t>
            </a:r>
            <a:r>
              <a:rPr lang="fr-FR" dirty="0"/>
              <a:t> </a:t>
            </a:r>
            <a:r>
              <a:rPr lang="fr-FR" b="1" dirty="0"/>
              <a:t>GROUP BY </a:t>
            </a:r>
            <a:r>
              <a:rPr lang="fr-FR" dirty="0"/>
              <a:t>nom </a:t>
            </a:r>
            <a:r>
              <a:rPr lang="fr-FR" b="1" dirty="0"/>
              <a:t>HAVING</a:t>
            </a:r>
            <a:r>
              <a:rPr lang="fr-FR" dirty="0"/>
              <a:t> </a:t>
            </a:r>
            <a:r>
              <a:rPr lang="fr-FR" i="1" dirty="0"/>
              <a:t>AVG</a:t>
            </a:r>
            <a:r>
              <a:rPr lang="fr-FR" dirty="0"/>
              <a:t>(note) &gt; 10</a:t>
            </a:r>
          </a:p>
        </p:txBody>
      </p:sp>
      <p:sp>
        <p:nvSpPr>
          <p:cNvPr id="6" name="Espace réservé du numéro de diapositive 5">
            <a:extLst>
              <a:ext uri="{FF2B5EF4-FFF2-40B4-BE49-F238E27FC236}">
                <a16:creationId xmlns:a16="http://schemas.microsoft.com/office/drawing/2014/main" id="{744A5BE7-139D-4F30-9E03-7B5328933B8C}"/>
              </a:ext>
            </a:extLst>
          </p:cNvPr>
          <p:cNvSpPr>
            <a:spLocks noGrp="1"/>
          </p:cNvSpPr>
          <p:nvPr>
            <p:ph type="sldNum" sz="quarter" idx="12"/>
          </p:nvPr>
        </p:nvSpPr>
        <p:spPr/>
        <p:txBody>
          <a:bodyPr/>
          <a:lstStyle/>
          <a:p>
            <a:fld id="{27C6CCC6-2BE5-4E42-96A4-D1E8E81A3D8E}" type="slidenum">
              <a:rPr lang="de-DE" smtClean="0"/>
              <a:t>78</a:t>
            </a:fld>
            <a:endParaRPr lang="de-DE"/>
          </a:p>
        </p:txBody>
      </p:sp>
    </p:spTree>
    <p:extLst>
      <p:ext uri="{BB962C8B-B14F-4D97-AF65-F5344CB8AC3E}">
        <p14:creationId xmlns:p14="http://schemas.microsoft.com/office/powerpoint/2010/main" val="413409252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dirty="0"/>
              <a:t>Langage SQL (SELECT)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ormAutofit/>
          </a:bodyPr>
          <a:lstStyle/>
          <a:p>
            <a:r>
              <a:rPr lang="fr-FR" dirty="0"/>
              <a:t>Il est possible de remplacer :</a:t>
            </a:r>
          </a:p>
          <a:p>
            <a:pPr marL="0" indent="0" algn="ctr">
              <a:buNone/>
            </a:pPr>
            <a:r>
              <a:rPr lang="fr-FR" b="1" dirty="0"/>
              <a:t>SELECT </a:t>
            </a:r>
            <a:r>
              <a:rPr lang="fr-FR" dirty="0"/>
              <a:t>nom, </a:t>
            </a:r>
            <a:r>
              <a:rPr lang="fr-FR" b="1" dirty="0"/>
              <a:t>AVG</a:t>
            </a:r>
            <a:r>
              <a:rPr lang="fr-FR" dirty="0"/>
              <a:t>(note) </a:t>
            </a:r>
            <a:r>
              <a:rPr lang="fr-FR" b="1" dirty="0"/>
              <a:t>FROM </a:t>
            </a:r>
            <a:r>
              <a:rPr lang="fr-FR" dirty="0" err="1"/>
              <a:t>etudiants</a:t>
            </a:r>
            <a:r>
              <a:rPr lang="fr-FR" dirty="0"/>
              <a:t> </a:t>
            </a:r>
            <a:r>
              <a:rPr lang="fr-FR" b="1" dirty="0"/>
              <a:t>GROUP BY </a:t>
            </a:r>
            <a:r>
              <a:rPr lang="fr-FR" dirty="0"/>
              <a:t>nom </a:t>
            </a:r>
            <a:r>
              <a:rPr lang="fr-FR" b="1" dirty="0"/>
              <a:t>HAVING</a:t>
            </a:r>
            <a:r>
              <a:rPr lang="fr-FR" dirty="0"/>
              <a:t> </a:t>
            </a:r>
            <a:r>
              <a:rPr lang="fr-FR" i="1" dirty="0"/>
              <a:t>AVG</a:t>
            </a:r>
            <a:r>
              <a:rPr lang="fr-FR" dirty="0"/>
              <a:t>(note) &gt; 10</a:t>
            </a:r>
          </a:p>
          <a:p>
            <a:r>
              <a:rPr lang="fr-FR" dirty="0"/>
              <a:t>Par :</a:t>
            </a:r>
          </a:p>
          <a:p>
            <a:pPr marL="0" indent="0" algn="ctr">
              <a:buNone/>
            </a:pPr>
            <a:r>
              <a:rPr lang="fr-FR" b="1" dirty="0"/>
              <a:t>SELECT </a:t>
            </a:r>
            <a:r>
              <a:rPr lang="fr-FR" dirty="0"/>
              <a:t>nom, </a:t>
            </a:r>
            <a:r>
              <a:rPr lang="fr-FR" b="1" dirty="0"/>
              <a:t>AVG</a:t>
            </a:r>
            <a:r>
              <a:rPr lang="fr-FR" dirty="0"/>
              <a:t>(note) AS moyenne </a:t>
            </a:r>
            <a:r>
              <a:rPr lang="fr-FR" b="1" dirty="0"/>
              <a:t>FROM </a:t>
            </a:r>
            <a:r>
              <a:rPr lang="fr-FR" dirty="0" err="1"/>
              <a:t>etudiants</a:t>
            </a:r>
            <a:r>
              <a:rPr lang="fr-FR" dirty="0"/>
              <a:t> </a:t>
            </a:r>
            <a:r>
              <a:rPr lang="fr-FR" b="1" dirty="0"/>
              <a:t>GROUP BY </a:t>
            </a:r>
            <a:r>
              <a:rPr lang="fr-FR" dirty="0"/>
              <a:t>nom </a:t>
            </a:r>
            <a:r>
              <a:rPr lang="fr-FR" b="1" dirty="0"/>
              <a:t>HAVING</a:t>
            </a:r>
            <a:r>
              <a:rPr lang="fr-FR" dirty="0"/>
              <a:t> </a:t>
            </a:r>
            <a:r>
              <a:rPr lang="fr-FR" i="1" dirty="0"/>
              <a:t>moyenne</a:t>
            </a:r>
            <a:r>
              <a:rPr lang="fr-FR" dirty="0"/>
              <a:t> &gt; 10</a:t>
            </a:r>
          </a:p>
          <a:p>
            <a:r>
              <a:rPr lang="fr-FR" dirty="0"/>
              <a:t>La seconde approche est préférable</a:t>
            </a:r>
          </a:p>
        </p:txBody>
      </p:sp>
      <p:sp>
        <p:nvSpPr>
          <p:cNvPr id="6" name="Espace réservé du numéro de diapositive 5">
            <a:extLst>
              <a:ext uri="{FF2B5EF4-FFF2-40B4-BE49-F238E27FC236}">
                <a16:creationId xmlns:a16="http://schemas.microsoft.com/office/drawing/2014/main" id="{744A5BE7-139D-4F30-9E03-7B5328933B8C}"/>
              </a:ext>
            </a:extLst>
          </p:cNvPr>
          <p:cNvSpPr>
            <a:spLocks noGrp="1"/>
          </p:cNvSpPr>
          <p:nvPr>
            <p:ph type="sldNum" sz="quarter" idx="12"/>
          </p:nvPr>
        </p:nvSpPr>
        <p:spPr/>
        <p:txBody>
          <a:bodyPr/>
          <a:lstStyle/>
          <a:p>
            <a:fld id="{27C6CCC6-2BE5-4E42-96A4-D1E8E81A3D8E}" type="slidenum">
              <a:rPr lang="de-DE" smtClean="0"/>
              <a:t>79</a:t>
            </a:fld>
            <a:endParaRPr lang="de-DE"/>
          </a:p>
        </p:txBody>
      </p:sp>
    </p:spTree>
    <p:extLst>
      <p:ext uri="{BB962C8B-B14F-4D97-AF65-F5344CB8AC3E}">
        <p14:creationId xmlns:p14="http://schemas.microsoft.com/office/powerpoint/2010/main" val="23751203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3040D9-41D1-41AF-BFA0-2D8FFBC5F013}"/>
              </a:ext>
            </a:extLst>
          </p:cNvPr>
          <p:cNvSpPr>
            <a:spLocks noGrp="1"/>
          </p:cNvSpPr>
          <p:nvPr>
            <p:ph type="title"/>
          </p:nvPr>
        </p:nvSpPr>
        <p:spPr/>
        <p:txBody>
          <a:bodyPr/>
          <a:lstStyle/>
          <a:p>
            <a:r>
              <a:rPr lang="fr-FR" dirty="0"/>
              <a:t>Langage SQL (SELECT)</a:t>
            </a:r>
          </a:p>
        </p:txBody>
      </p:sp>
      <p:sp>
        <p:nvSpPr>
          <p:cNvPr id="4" name="Espace réservé du numéro de diapositive 3">
            <a:extLst>
              <a:ext uri="{FF2B5EF4-FFF2-40B4-BE49-F238E27FC236}">
                <a16:creationId xmlns:a16="http://schemas.microsoft.com/office/drawing/2014/main" id="{CCDDD4A6-42F7-4CE4-B96A-49A66E72C32D}"/>
              </a:ext>
            </a:extLst>
          </p:cNvPr>
          <p:cNvSpPr>
            <a:spLocks noGrp="1"/>
          </p:cNvSpPr>
          <p:nvPr>
            <p:ph type="sldNum" sz="quarter" idx="12"/>
          </p:nvPr>
        </p:nvSpPr>
        <p:spPr/>
        <p:txBody>
          <a:bodyPr/>
          <a:lstStyle/>
          <a:p>
            <a:fld id="{27C6CCC6-2BE5-4E42-96A4-D1E8E81A3D8E}" type="slidenum">
              <a:rPr lang="de-DE" smtClean="0"/>
              <a:t>80</a:t>
            </a:fld>
            <a:endParaRPr lang="de-DE"/>
          </a:p>
        </p:txBody>
      </p:sp>
      <p:graphicFrame>
        <p:nvGraphicFramePr>
          <p:cNvPr id="5" name="Tableau 4">
            <a:extLst>
              <a:ext uri="{FF2B5EF4-FFF2-40B4-BE49-F238E27FC236}">
                <a16:creationId xmlns:a16="http://schemas.microsoft.com/office/drawing/2014/main" id="{A38C59D7-25F9-452F-86E1-4ADD501ADB47}"/>
              </a:ext>
            </a:extLst>
          </p:cNvPr>
          <p:cNvGraphicFramePr>
            <a:graphicFrameLocks noGrp="1"/>
          </p:cNvGraphicFramePr>
          <p:nvPr>
            <p:extLst>
              <p:ext uri="{D42A27DB-BD31-4B8C-83A1-F6EECF244321}">
                <p14:modId xmlns:p14="http://schemas.microsoft.com/office/powerpoint/2010/main" val="1854152072"/>
              </p:ext>
            </p:extLst>
          </p:nvPr>
        </p:nvGraphicFramePr>
        <p:xfrm>
          <a:off x="4150684" y="2440497"/>
          <a:ext cx="3890629" cy="1524000"/>
        </p:xfrm>
        <a:graphic>
          <a:graphicData uri="http://schemas.openxmlformats.org/drawingml/2006/table">
            <a:tbl>
              <a:tblPr firstRow="1" bandRow="1">
                <a:tableStyleId>{5C22544A-7EE6-4342-B048-85BDC9FD1C3A}</a:tableStyleId>
              </a:tblPr>
              <a:tblGrid>
                <a:gridCol w="543422">
                  <a:extLst>
                    <a:ext uri="{9D8B030D-6E8A-4147-A177-3AD203B41FA5}">
                      <a16:colId xmlns:a16="http://schemas.microsoft.com/office/drawing/2014/main" val="1251353152"/>
                    </a:ext>
                  </a:extLst>
                </a:gridCol>
                <a:gridCol w="1283515">
                  <a:extLst>
                    <a:ext uri="{9D8B030D-6E8A-4147-A177-3AD203B41FA5}">
                      <a16:colId xmlns:a16="http://schemas.microsoft.com/office/drawing/2014/main" val="3450798736"/>
                    </a:ext>
                  </a:extLst>
                </a:gridCol>
                <a:gridCol w="1287944">
                  <a:extLst>
                    <a:ext uri="{9D8B030D-6E8A-4147-A177-3AD203B41FA5}">
                      <a16:colId xmlns:a16="http://schemas.microsoft.com/office/drawing/2014/main" val="2219499751"/>
                    </a:ext>
                  </a:extLst>
                </a:gridCol>
                <a:gridCol w="775748">
                  <a:extLst>
                    <a:ext uri="{9D8B030D-6E8A-4147-A177-3AD203B41FA5}">
                      <a16:colId xmlns:a16="http://schemas.microsoft.com/office/drawing/2014/main" val="111803102"/>
                    </a:ext>
                  </a:extLst>
                </a:gridCol>
              </a:tblGrid>
              <a:tr h="246717">
                <a:tc>
                  <a:txBody>
                    <a:bodyPr/>
                    <a:lstStyle/>
                    <a:p>
                      <a:r>
                        <a:rPr lang="fr-FR" sz="1400"/>
                        <a:t>ID</a:t>
                      </a:r>
                    </a:p>
                  </a:txBody>
                  <a:tcPr/>
                </a:tc>
                <a:tc>
                  <a:txBody>
                    <a:bodyPr/>
                    <a:lstStyle/>
                    <a:p>
                      <a:r>
                        <a:rPr lang="fr-FR" sz="1400"/>
                        <a:t>Nom</a:t>
                      </a:r>
                    </a:p>
                  </a:txBody>
                  <a:tcPr/>
                </a:tc>
                <a:tc>
                  <a:txBody>
                    <a:bodyPr/>
                    <a:lstStyle/>
                    <a:p>
                      <a:r>
                        <a:rPr lang="fr-FR" sz="1400"/>
                        <a:t>Prénom</a:t>
                      </a:r>
                    </a:p>
                  </a:txBody>
                  <a:tcPr/>
                </a:tc>
                <a:tc>
                  <a:txBody>
                    <a:bodyPr/>
                    <a:lstStyle/>
                    <a:p>
                      <a:r>
                        <a:rPr lang="fr-FR" sz="1400" dirty="0"/>
                        <a:t>Note</a:t>
                      </a:r>
                    </a:p>
                  </a:txBody>
                  <a:tcPr/>
                </a:tc>
                <a:extLst>
                  <a:ext uri="{0D108BD9-81ED-4DB2-BD59-A6C34878D82A}">
                    <a16:rowId xmlns:a16="http://schemas.microsoft.com/office/drawing/2014/main" val="2080559892"/>
                  </a:ext>
                </a:extLst>
              </a:tr>
              <a:tr h="246717">
                <a:tc>
                  <a:txBody>
                    <a:bodyPr/>
                    <a:lstStyle/>
                    <a:p>
                      <a:r>
                        <a:rPr lang="fr-FR" sz="1400"/>
                        <a:t>1</a:t>
                      </a:r>
                    </a:p>
                  </a:txBody>
                  <a:tcPr/>
                </a:tc>
                <a:tc>
                  <a:txBody>
                    <a:bodyPr/>
                    <a:lstStyle/>
                    <a:p>
                      <a:r>
                        <a:rPr lang="fr-FR" sz="1400" dirty="0"/>
                        <a:t>Smith</a:t>
                      </a:r>
                    </a:p>
                  </a:txBody>
                  <a:tcPr/>
                </a:tc>
                <a:tc>
                  <a:txBody>
                    <a:bodyPr/>
                    <a:lstStyle/>
                    <a:p>
                      <a:r>
                        <a:rPr lang="fr-FR" sz="1400"/>
                        <a:t>John</a:t>
                      </a:r>
                    </a:p>
                  </a:txBody>
                  <a:tcPr/>
                </a:tc>
                <a:tc>
                  <a:txBody>
                    <a:bodyPr/>
                    <a:lstStyle/>
                    <a:p>
                      <a:r>
                        <a:rPr lang="fr-FR" sz="1400" dirty="0"/>
                        <a:t>15</a:t>
                      </a:r>
                    </a:p>
                  </a:txBody>
                  <a:tcPr/>
                </a:tc>
                <a:extLst>
                  <a:ext uri="{0D108BD9-81ED-4DB2-BD59-A6C34878D82A}">
                    <a16:rowId xmlns:a16="http://schemas.microsoft.com/office/drawing/2014/main" val="2591936368"/>
                  </a:ext>
                </a:extLst>
              </a:tr>
              <a:tr h="246717">
                <a:tc>
                  <a:txBody>
                    <a:bodyPr/>
                    <a:lstStyle/>
                    <a:p>
                      <a:r>
                        <a:rPr lang="fr-FR" sz="1400" dirty="0"/>
                        <a:t>2</a:t>
                      </a:r>
                    </a:p>
                  </a:txBody>
                  <a:tcPr/>
                </a:tc>
                <a:tc>
                  <a:txBody>
                    <a:bodyPr/>
                    <a:lstStyle/>
                    <a:p>
                      <a:r>
                        <a:rPr lang="fr-FR" sz="1400" dirty="0"/>
                        <a:t>Smith</a:t>
                      </a:r>
                    </a:p>
                  </a:txBody>
                  <a:tcPr/>
                </a:tc>
                <a:tc>
                  <a:txBody>
                    <a:bodyPr/>
                    <a:lstStyle/>
                    <a:p>
                      <a:r>
                        <a:rPr lang="fr-FR" sz="1400"/>
                        <a:t>John</a:t>
                      </a:r>
                    </a:p>
                  </a:txBody>
                  <a:tcPr/>
                </a:tc>
                <a:tc>
                  <a:txBody>
                    <a:bodyPr/>
                    <a:lstStyle/>
                    <a:p>
                      <a:r>
                        <a:rPr lang="fr-FR" sz="1400" dirty="0"/>
                        <a:t>5</a:t>
                      </a:r>
                    </a:p>
                  </a:txBody>
                  <a:tcPr/>
                </a:tc>
                <a:extLst>
                  <a:ext uri="{0D108BD9-81ED-4DB2-BD59-A6C34878D82A}">
                    <a16:rowId xmlns:a16="http://schemas.microsoft.com/office/drawing/2014/main" val="4242284243"/>
                  </a:ext>
                </a:extLst>
              </a:tr>
              <a:tr h="246717">
                <a:tc>
                  <a:txBody>
                    <a:bodyPr/>
                    <a:lstStyle/>
                    <a:p>
                      <a:r>
                        <a:rPr lang="fr-FR" sz="1400"/>
                        <a:t>3</a:t>
                      </a:r>
                    </a:p>
                  </a:txBody>
                  <a:tcPr/>
                </a:tc>
                <a:tc>
                  <a:txBody>
                    <a:bodyPr/>
                    <a:lstStyle/>
                    <a:p>
                      <a:r>
                        <a:rPr lang="fr-FR" sz="1400" dirty="0"/>
                        <a:t>Neige</a:t>
                      </a:r>
                    </a:p>
                  </a:txBody>
                  <a:tcPr/>
                </a:tc>
                <a:tc>
                  <a:txBody>
                    <a:bodyPr/>
                    <a:lstStyle/>
                    <a:p>
                      <a:r>
                        <a:rPr lang="fr-FR" sz="1400" dirty="0"/>
                        <a:t>Jean</a:t>
                      </a:r>
                    </a:p>
                  </a:txBody>
                  <a:tcPr/>
                </a:tc>
                <a:tc>
                  <a:txBody>
                    <a:bodyPr/>
                    <a:lstStyle/>
                    <a:p>
                      <a:r>
                        <a:rPr lang="fr-FR" sz="1400" dirty="0"/>
                        <a:t>10</a:t>
                      </a:r>
                    </a:p>
                  </a:txBody>
                  <a:tcPr/>
                </a:tc>
                <a:extLst>
                  <a:ext uri="{0D108BD9-81ED-4DB2-BD59-A6C34878D82A}">
                    <a16:rowId xmlns:a16="http://schemas.microsoft.com/office/drawing/2014/main" val="3013416258"/>
                  </a:ext>
                </a:extLst>
              </a:tr>
              <a:tr h="246717">
                <a:tc>
                  <a:txBody>
                    <a:bodyPr/>
                    <a:lstStyle/>
                    <a:p>
                      <a:r>
                        <a:rPr lang="fr-FR" sz="1400"/>
                        <a:t>4</a:t>
                      </a:r>
                    </a:p>
                  </a:txBody>
                  <a:tcPr/>
                </a:tc>
                <a:tc>
                  <a:txBody>
                    <a:bodyPr/>
                    <a:lstStyle/>
                    <a:p>
                      <a:r>
                        <a:rPr lang="fr-FR" sz="1400" dirty="0"/>
                        <a:t>Neige</a:t>
                      </a:r>
                    </a:p>
                  </a:txBody>
                  <a:tcPr/>
                </a:tc>
                <a:tc>
                  <a:txBody>
                    <a:bodyPr/>
                    <a:lstStyle/>
                    <a:p>
                      <a:r>
                        <a:rPr lang="fr-FR" sz="1400" dirty="0"/>
                        <a:t>Jean</a:t>
                      </a:r>
                    </a:p>
                  </a:txBody>
                  <a:tcPr/>
                </a:tc>
                <a:tc>
                  <a:txBody>
                    <a:bodyPr/>
                    <a:lstStyle/>
                    <a:p>
                      <a:r>
                        <a:rPr lang="fr-FR" sz="1400" dirty="0"/>
                        <a:t>20</a:t>
                      </a:r>
                    </a:p>
                  </a:txBody>
                  <a:tcPr/>
                </a:tc>
                <a:extLst>
                  <a:ext uri="{0D108BD9-81ED-4DB2-BD59-A6C34878D82A}">
                    <a16:rowId xmlns:a16="http://schemas.microsoft.com/office/drawing/2014/main" val="183505629"/>
                  </a:ext>
                </a:extLst>
              </a:tr>
            </a:tbl>
          </a:graphicData>
        </a:graphic>
      </p:graphicFrame>
      <p:sp>
        <p:nvSpPr>
          <p:cNvPr id="6" name="Rectangle 5">
            <a:extLst>
              <a:ext uri="{FF2B5EF4-FFF2-40B4-BE49-F238E27FC236}">
                <a16:creationId xmlns:a16="http://schemas.microsoft.com/office/drawing/2014/main" id="{1CD3CB1C-3857-419B-B90E-739662E0C7D9}"/>
              </a:ext>
            </a:extLst>
          </p:cNvPr>
          <p:cNvSpPr/>
          <p:nvPr/>
        </p:nvSpPr>
        <p:spPr>
          <a:xfrm>
            <a:off x="3047998" y="4183864"/>
            <a:ext cx="6096000" cy="646331"/>
          </a:xfrm>
          <a:prstGeom prst="rect">
            <a:avLst/>
          </a:prstGeom>
        </p:spPr>
        <p:txBody>
          <a:bodyPr>
            <a:spAutoFit/>
          </a:bodyPr>
          <a:lstStyle/>
          <a:p>
            <a:r>
              <a:rPr lang="fr-FR" b="1" dirty="0"/>
              <a:t>SELECT </a:t>
            </a:r>
            <a:r>
              <a:rPr lang="fr-FR" dirty="0"/>
              <a:t>nom, </a:t>
            </a:r>
            <a:r>
              <a:rPr lang="fr-FR" b="1" dirty="0"/>
              <a:t>AVG</a:t>
            </a:r>
            <a:r>
              <a:rPr lang="fr-FR" dirty="0"/>
              <a:t>(note) </a:t>
            </a:r>
            <a:r>
              <a:rPr lang="fr-FR" b="1" dirty="0"/>
              <a:t>AS</a:t>
            </a:r>
            <a:r>
              <a:rPr lang="fr-FR" dirty="0"/>
              <a:t> moyenne </a:t>
            </a:r>
            <a:r>
              <a:rPr lang="fr-FR" b="1" dirty="0"/>
              <a:t>FROM </a:t>
            </a:r>
            <a:r>
              <a:rPr lang="fr-FR" dirty="0" err="1"/>
              <a:t>etudiants</a:t>
            </a:r>
            <a:r>
              <a:rPr lang="fr-FR" dirty="0"/>
              <a:t> </a:t>
            </a:r>
            <a:r>
              <a:rPr lang="fr-FR" b="1" dirty="0"/>
              <a:t>GROUP BY </a:t>
            </a:r>
            <a:r>
              <a:rPr lang="fr-FR" dirty="0"/>
              <a:t>nom </a:t>
            </a:r>
            <a:r>
              <a:rPr lang="fr-FR" b="1" dirty="0"/>
              <a:t>HAVING</a:t>
            </a:r>
            <a:r>
              <a:rPr lang="fr-FR" dirty="0"/>
              <a:t> moyenne &gt; 10</a:t>
            </a:r>
          </a:p>
        </p:txBody>
      </p:sp>
      <p:sp>
        <p:nvSpPr>
          <p:cNvPr id="7" name="Flèche : courbe vers la droite 6">
            <a:extLst>
              <a:ext uri="{FF2B5EF4-FFF2-40B4-BE49-F238E27FC236}">
                <a16:creationId xmlns:a16="http://schemas.microsoft.com/office/drawing/2014/main" id="{FA4C1DBC-910A-4DE1-9B86-F47745C03CEE}"/>
              </a:ext>
            </a:extLst>
          </p:cNvPr>
          <p:cNvSpPr/>
          <p:nvPr/>
        </p:nvSpPr>
        <p:spPr>
          <a:xfrm>
            <a:off x="1118836" y="3202497"/>
            <a:ext cx="1397876" cy="268098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aphicFrame>
        <p:nvGraphicFramePr>
          <p:cNvPr id="8" name="Tableau 7">
            <a:extLst>
              <a:ext uri="{FF2B5EF4-FFF2-40B4-BE49-F238E27FC236}">
                <a16:creationId xmlns:a16="http://schemas.microsoft.com/office/drawing/2014/main" id="{67776A3D-E032-4617-9990-E858F9905EFB}"/>
              </a:ext>
            </a:extLst>
          </p:cNvPr>
          <p:cNvGraphicFramePr>
            <a:graphicFrameLocks noGrp="1"/>
          </p:cNvGraphicFramePr>
          <p:nvPr>
            <p:extLst>
              <p:ext uri="{D42A27DB-BD31-4B8C-83A1-F6EECF244321}">
                <p14:modId xmlns:p14="http://schemas.microsoft.com/office/powerpoint/2010/main" val="1039517458"/>
              </p:ext>
            </p:extLst>
          </p:nvPr>
        </p:nvGraphicFramePr>
        <p:xfrm>
          <a:off x="4629243" y="5312212"/>
          <a:ext cx="2933510" cy="609600"/>
        </p:xfrm>
        <a:graphic>
          <a:graphicData uri="http://schemas.openxmlformats.org/drawingml/2006/table">
            <a:tbl>
              <a:tblPr firstRow="1" bandRow="1">
                <a:tableStyleId>{5C22544A-7EE6-4342-B048-85BDC9FD1C3A}</a:tableStyleId>
              </a:tblPr>
              <a:tblGrid>
                <a:gridCol w="1451219">
                  <a:extLst>
                    <a:ext uri="{9D8B030D-6E8A-4147-A177-3AD203B41FA5}">
                      <a16:colId xmlns:a16="http://schemas.microsoft.com/office/drawing/2014/main" val="3450798736"/>
                    </a:ext>
                  </a:extLst>
                </a:gridCol>
                <a:gridCol w="1482291">
                  <a:extLst>
                    <a:ext uri="{9D8B030D-6E8A-4147-A177-3AD203B41FA5}">
                      <a16:colId xmlns:a16="http://schemas.microsoft.com/office/drawing/2014/main" val="111803102"/>
                    </a:ext>
                  </a:extLst>
                </a:gridCol>
              </a:tblGrid>
              <a:tr h="246717">
                <a:tc>
                  <a:txBody>
                    <a:bodyPr/>
                    <a:lstStyle/>
                    <a:p>
                      <a:r>
                        <a:rPr lang="fr-FR" sz="1400" dirty="0"/>
                        <a:t>nom</a:t>
                      </a:r>
                    </a:p>
                  </a:txBody>
                  <a:tcPr/>
                </a:tc>
                <a:tc>
                  <a:txBody>
                    <a:bodyPr/>
                    <a:lstStyle/>
                    <a:p>
                      <a:r>
                        <a:rPr lang="fr-FR" sz="1400" dirty="0"/>
                        <a:t>moyenne</a:t>
                      </a:r>
                    </a:p>
                  </a:txBody>
                  <a:tcPr/>
                </a:tc>
                <a:extLst>
                  <a:ext uri="{0D108BD9-81ED-4DB2-BD59-A6C34878D82A}">
                    <a16:rowId xmlns:a16="http://schemas.microsoft.com/office/drawing/2014/main" val="2080559892"/>
                  </a:ext>
                </a:extLst>
              </a:tr>
              <a:tr h="246717">
                <a:tc>
                  <a:txBody>
                    <a:bodyPr/>
                    <a:lstStyle/>
                    <a:p>
                      <a:r>
                        <a:rPr lang="fr-FR" sz="1400" dirty="0"/>
                        <a:t>Neige</a:t>
                      </a:r>
                    </a:p>
                  </a:txBody>
                  <a:tcPr/>
                </a:tc>
                <a:tc>
                  <a:txBody>
                    <a:bodyPr/>
                    <a:lstStyle/>
                    <a:p>
                      <a:r>
                        <a:rPr lang="fr-FR" sz="1400" dirty="0"/>
                        <a:t>15</a:t>
                      </a:r>
                    </a:p>
                  </a:txBody>
                  <a:tcPr/>
                </a:tc>
                <a:extLst>
                  <a:ext uri="{0D108BD9-81ED-4DB2-BD59-A6C34878D82A}">
                    <a16:rowId xmlns:a16="http://schemas.microsoft.com/office/drawing/2014/main" val="3013416258"/>
                  </a:ext>
                </a:extLst>
              </a:tr>
            </a:tbl>
          </a:graphicData>
        </a:graphic>
      </p:graphicFrame>
    </p:spTree>
    <p:extLst>
      <p:ext uri="{BB962C8B-B14F-4D97-AF65-F5344CB8AC3E}">
        <p14:creationId xmlns:p14="http://schemas.microsoft.com/office/powerpoint/2010/main" val="28748577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(SELECT)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ormAutofit/>
          </a:bodyPr>
          <a:lstStyle/>
          <a:p>
            <a:r>
              <a:rPr lang="fr-FR" dirty="0">
                <a:ea typeface="+mn-lt"/>
                <a:cs typeface="+mn-lt"/>
              </a:rPr>
              <a:t>Sous-requêtes SQL : possibilité d’utiliser le résultat d’une requête SELECT dans une autre requête SELECT</a:t>
            </a:r>
          </a:p>
          <a:p>
            <a:r>
              <a:rPr lang="fr-FR" dirty="0">
                <a:ea typeface="+mn-lt"/>
                <a:cs typeface="+mn-lt"/>
              </a:rPr>
              <a:t>Cas d’applications :</a:t>
            </a:r>
          </a:p>
          <a:p>
            <a:pPr lvl="1"/>
            <a:r>
              <a:rPr lang="fr-FR" dirty="0">
                <a:ea typeface="+mn-lt"/>
                <a:cs typeface="+mn-lt"/>
              </a:rPr>
              <a:t>Sélection d’enregistrements dans un résultat de requête : SELECT nom, </a:t>
            </a:r>
            <a:r>
              <a:rPr lang="fr-FR" dirty="0" err="1">
                <a:ea typeface="+mn-lt"/>
                <a:cs typeface="+mn-lt"/>
              </a:rPr>
              <a:t>prenom</a:t>
            </a:r>
            <a:r>
              <a:rPr lang="fr-FR" dirty="0">
                <a:ea typeface="+mn-lt"/>
                <a:cs typeface="+mn-lt"/>
              </a:rPr>
              <a:t> FROM (SELECT * FROM </a:t>
            </a:r>
            <a:r>
              <a:rPr lang="fr-FR" dirty="0" err="1">
                <a:ea typeface="+mn-lt"/>
                <a:cs typeface="+mn-lt"/>
              </a:rPr>
              <a:t>employes</a:t>
            </a:r>
            <a:r>
              <a:rPr lang="fr-FR" dirty="0">
                <a:ea typeface="+mn-lt"/>
                <a:cs typeface="+mn-lt"/>
              </a:rPr>
              <a:t>)</a:t>
            </a:r>
          </a:p>
          <a:p>
            <a:pPr lvl="1"/>
            <a:r>
              <a:rPr lang="fr-FR" dirty="0">
                <a:ea typeface="+mn-lt"/>
                <a:cs typeface="+mn-lt"/>
              </a:rPr>
              <a:t>Sélection d’enregistrements selon un critère défini par une requête : SELECT nom, </a:t>
            </a:r>
            <a:r>
              <a:rPr lang="fr-FR" dirty="0" err="1">
                <a:ea typeface="+mn-lt"/>
                <a:cs typeface="+mn-lt"/>
              </a:rPr>
              <a:t>prenom</a:t>
            </a:r>
            <a:r>
              <a:rPr lang="fr-FR" dirty="0">
                <a:ea typeface="+mn-lt"/>
                <a:cs typeface="+mn-lt"/>
              </a:rPr>
              <a:t> FROM </a:t>
            </a:r>
            <a:r>
              <a:rPr lang="fr-FR" dirty="0" err="1">
                <a:ea typeface="+mn-lt"/>
                <a:cs typeface="+mn-lt"/>
              </a:rPr>
              <a:t>etudiants</a:t>
            </a:r>
            <a:r>
              <a:rPr lang="fr-FR" dirty="0">
                <a:ea typeface="+mn-lt"/>
                <a:cs typeface="+mn-lt"/>
              </a:rPr>
              <a:t> WHERE note &gt;= (SELECT AVG(note) FROM </a:t>
            </a:r>
            <a:r>
              <a:rPr lang="fr-FR" dirty="0" err="1">
                <a:ea typeface="+mn-lt"/>
                <a:cs typeface="+mn-lt"/>
              </a:rPr>
              <a:t>etudiants</a:t>
            </a:r>
            <a:r>
              <a:rPr lang="fr-FR" dirty="0">
                <a:ea typeface="+mn-lt"/>
                <a:cs typeface="+mn-lt"/>
              </a:rPr>
              <a:t>)</a:t>
            </a:r>
          </a:p>
          <a:p>
            <a:pPr lvl="1"/>
            <a:endParaRPr lang="fr-FR" dirty="0"/>
          </a:p>
        </p:txBody>
      </p:sp>
      <p:sp>
        <p:nvSpPr>
          <p:cNvPr id="6" name="Espace réservé du numéro de diapositive 5">
            <a:extLst>
              <a:ext uri="{FF2B5EF4-FFF2-40B4-BE49-F238E27FC236}">
                <a16:creationId xmlns:a16="http://schemas.microsoft.com/office/drawing/2014/main" id="{744A5BE7-139D-4F30-9E03-7B5328933B8C}"/>
              </a:ext>
            </a:extLst>
          </p:cNvPr>
          <p:cNvSpPr>
            <a:spLocks noGrp="1"/>
          </p:cNvSpPr>
          <p:nvPr>
            <p:ph type="sldNum" sz="quarter" idx="12"/>
          </p:nvPr>
        </p:nvSpPr>
        <p:spPr/>
        <p:txBody>
          <a:bodyPr/>
          <a:lstStyle/>
          <a:p>
            <a:fld id="{27C6CCC6-2BE5-4E42-96A4-D1E8E81A3D8E}" type="slidenum">
              <a:rPr lang="de-DE" smtClean="0"/>
              <a:t>81</a:t>
            </a:fld>
            <a:endParaRPr lang="de-DE"/>
          </a:p>
        </p:txBody>
      </p:sp>
    </p:spTree>
    <p:extLst>
      <p:ext uri="{BB962C8B-B14F-4D97-AF65-F5344CB8AC3E}">
        <p14:creationId xmlns:p14="http://schemas.microsoft.com/office/powerpoint/2010/main" val="5224239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(SELECT)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ormAutofit/>
          </a:bodyPr>
          <a:lstStyle/>
          <a:p>
            <a:r>
              <a:rPr lang="fr-FR" dirty="0">
                <a:ea typeface="+mn-lt"/>
                <a:cs typeface="+mn-lt"/>
              </a:rPr>
              <a:t>Les cas d’applications d’une sous-requête dépendent de la nature des résultats renvoyés</a:t>
            </a:r>
          </a:p>
          <a:p>
            <a:r>
              <a:rPr lang="fr-FR" dirty="0">
                <a:ea typeface="+mn-lt"/>
                <a:cs typeface="+mn-lt"/>
              </a:rPr>
              <a:t>Une sous-requête peut renvoyer :</a:t>
            </a:r>
          </a:p>
          <a:p>
            <a:pPr lvl="1"/>
            <a:r>
              <a:rPr lang="fr-FR" dirty="0">
                <a:ea typeface="+mn-lt"/>
                <a:cs typeface="+mn-lt"/>
              </a:rPr>
              <a:t>Une seule valeur</a:t>
            </a:r>
          </a:p>
          <a:p>
            <a:pPr lvl="1"/>
            <a:r>
              <a:rPr lang="fr-FR" dirty="0">
                <a:ea typeface="+mn-lt"/>
                <a:cs typeface="+mn-lt"/>
              </a:rPr>
              <a:t>Une liste de valeur</a:t>
            </a:r>
          </a:p>
          <a:p>
            <a:pPr lvl="1"/>
            <a:r>
              <a:rPr lang="fr-FR" dirty="0">
                <a:ea typeface="+mn-lt"/>
                <a:cs typeface="+mn-lt"/>
              </a:rPr>
              <a:t>Une table</a:t>
            </a:r>
          </a:p>
          <a:p>
            <a:r>
              <a:rPr lang="fr-FR" dirty="0"/>
              <a:t>Par exemple, la requête </a:t>
            </a:r>
            <a:r>
              <a:rPr lang="fr-FR" i="1" dirty="0">
                <a:ea typeface="+mn-lt"/>
                <a:cs typeface="+mn-lt"/>
              </a:rPr>
              <a:t>SELECT nom, </a:t>
            </a:r>
            <a:r>
              <a:rPr lang="fr-FR" i="1" dirty="0" err="1">
                <a:ea typeface="+mn-lt"/>
                <a:cs typeface="+mn-lt"/>
              </a:rPr>
              <a:t>prenom</a:t>
            </a:r>
            <a:r>
              <a:rPr lang="fr-FR" i="1" dirty="0">
                <a:ea typeface="+mn-lt"/>
                <a:cs typeface="+mn-lt"/>
              </a:rPr>
              <a:t> FROM </a:t>
            </a:r>
            <a:r>
              <a:rPr lang="fr-FR" i="1" dirty="0" err="1">
                <a:ea typeface="+mn-lt"/>
                <a:cs typeface="+mn-lt"/>
              </a:rPr>
              <a:t>etudiants</a:t>
            </a:r>
            <a:r>
              <a:rPr lang="fr-FR" i="1" dirty="0">
                <a:ea typeface="+mn-lt"/>
                <a:cs typeface="+mn-lt"/>
              </a:rPr>
              <a:t> WHERE note &gt;= (SELECT AVG(note) FROM </a:t>
            </a:r>
            <a:r>
              <a:rPr lang="fr-FR" i="1" dirty="0" err="1">
                <a:ea typeface="+mn-lt"/>
                <a:cs typeface="+mn-lt"/>
              </a:rPr>
              <a:t>etudiants</a:t>
            </a:r>
            <a:r>
              <a:rPr lang="fr-FR" i="1" dirty="0">
                <a:ea typeface="+mn-lt"/>
                <a:cs typeface="+mn-lt"/>
              </a:rPr>
              <a:t>) </a:t>
            </a:r>
            <a:r>
              <a:rPr lang="fr-FR" dirty="0">
                <a:ea typeface="+mn-lt"/>
                <a:cs typeface="+mn-lt"/>
              </a:rPr>
              <a:t>n’est valide que parce que la sous-requête ne renvoie qu’un seul résultat : on ne peut pas comparer « note » avec une liste ou une table</a:t>
            </a:r>
            <a:endParaRPr lang="fr-FR" i="1" dirty="0">
              <a:ea typeface="+mn-lt"/>
              <a:cs typeface="+mn-lt"/>
            </a:endParaRPr>
          </a:p>
          <a:p>
            <a:endParaRPr lang="fr-FR" dirty="0"/>
          </a:p>
        </p:txBody>
      </p:sp>
      <p:sp>
        <p:nvSpPr>
          <p:cNvPr id="6" name="Espace réservé du numéro de diapositive 5">
            <a:extLst>
              <a:ext uri="{FF2B5EF4-FFF2-40B4-BE49-F238E27FC236}">
                <a16:creationId xmlns:a16="http://schemas.microsoft.com/office/drawing/2014/main" id="{744A5BE7-139D-4F30-9E03-7B5328933B8C}"/>
              </a:ext>
            </a:extLst>
          </p:cNvPr>
          <p:cNvSpPr>
            <a:spLocks noGrp="1"/>
          </p:cNvSpPr>
          <p:nvPr>
            <p:ph type="sldNum" sz="quarter" idx="12"/>
          </p:nvPr>
        </p:nvSpPr>
        <p:spPr/>
        <p:txBody>
          <a:bodyPr/>
          <a:lstStyle/>
          <a:p>
            <a:fld id="{27C6CCC6-2BE5-4E42-96A4-D1E8E81A3D8E}" type="slidenum">
              <a:rPr lang="de-DE" smtClean="0"/>
              <a:t>82</a:t>
            </a:fld>
            <a:endParaRPr lang="de-DE"/>
          </a:p>
        </p:txBody>
      </p:sp>
    </p:spTree>
    <p:extLst>
      <p:ext uri="{BB962C8B-B14F-4D97-AF65-F5344CB8AC3E}">
        <p14:creationId xmlns:p14="http://schemas.microsoft.com/office/powerpoint/2010/main" val="13174328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(INSERT)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lstStyle/>
          <a:p>
            <a:r>
              <a:rPr lang="fr-FR"/>
              <a:t>Requête d’ajout : permet d’insérer des enregistrements dans une table</a:t>
            </a:r>
          </a:p>
          <a:p>
            <a:r>
              <a:rPr lang="fr-FR"/>
              <a:t>Insérer une ligne en spécifiant toutes les colonnes :</a:t>
            </a:r>
          </a:p>
          <a:p>
            <a:pPr marL="0" indent="0" algn="ctr">
              <a:buNone/>
            </a:pPr>
            <a:r>
              <a:rPr lang="fr-FR" b="1"/>
              <a:t>INSERT INTO </a:t>
            </a:r>
            <a:r>
              <a:rPr lang="fr-FR"/>
              <a:t>table </a:t>
            </a:r>
            <a:r>
              <a:rPr lang="fr-FR" b="1"/>
              <a:t>VALUES</a:t>
            </a:r>
            <a:r>
              <a:rPr lang="fr-FR"/>
              <a:t> (‘valeur 1’, ‘valeur 2’, …)</a:t>
            </a:r>
          </a:p>
          <a:p>
            <a:r>
              <a:rPr lang="fr-FR"/>
              <a:t>Remarque : toutes les colonnes doivent être remplies dans le bon ordre</a:t>
            </a:r>
          </a:p>
        </p:txBody>
      </p:sp>
      <p:sp>
        <p:nvSpPr>
          <p:cNvPr id="6" name="Espace réservé du numéro de diapositive 5">
            <a:extLst>
              <a:ext uri="{FF2B5EF4-FFF2-40B4-BE49-F238E27FC236}">
                <a16:creationId xmlns:a16="http://schemas.microsoft.com/office/drawing/2014/main" id="{780A70C5-9CDB-4FF4-A6B1-D837E9B29977}"/>
              </a:ext>
            </a:extLst>
          </p:cNvPr>
          <p:cNvSpPr>
            <a:spLocks noGrp="1"/>
          </p:cNvSpPr>
          <p:nvPr>
            <p:ph type="sldNum" sz="quarter" idx="12"/>
          </p:nvPr>
        </p:nvSpPr>
        <p:spPr/>
        <p:txBody>
          <a:bodyPr/>
          <a:lstStyle/>
          <a:p>
            <a:fld id="{27C6CCC6-2BE5-4E42-96A4-D1E8E81A3D8E}" type="slidenum">
              <a:rPr lang="de-DE" smtClean="0"/>
              <a:t>83</a:t>
            </a:fld>
            <a:endParaRPr lang="de-DE"/>
          </a:p>
        </p:txBody>
      </p:sp>
    </p:spTree>
    <p:extLst>
      <p:ext uri="{BB962C8B-B14F-4D97-AF65-F5344CB8AC3E}">
        <p14:creationId xmlns:p14="http://schemas.microsoft.com/office/powerpoint/2010/main" val="41248099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(INSERT)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lstStyle/>
          <a:p>
            <a:r>
              <a:rPr lang="fr-FR"/>
              <a:t>Insérer une ligne en spécifiant uniquement les colonnes souhaitées :</a:t>
            </a:r>
          </a:p>
          <a:p>
            <a:pPr marL="0" indent="0" algn="ctr">
              <a:buNone/>
            </a:pPr>
            <a:r>
              <a:rPr lang="fr-FR" b="1"/>
              <a:t>INSERT INTO </a:t>
            </a:r>
            <a:r>
              <a:rPr lang="fr-FR"/>
              <a:t>table (nom_colonne_1, nom_colonne_2, …) </a:t>
            </a:r>
            <a:r>
              <a:rPr lang="fr-FR" b="1"/>
              <a:t>VALUES</a:t>
            </a:r>
            <a:r>
              <a:rPr lang="fr-FR"/>
              <a:t> (‘valeur 1’, ‘valeur 2’, …)</a:t>
            </a:r>
          </a:p>
          <a:p>
            <a:r>
              <a:rPr lang="fr-FR"/>
              <a:t>Remarque : certaines colonnes peuvent ne pas être renseignées, les valeurs seront associées à la colonne correspondante (ici ‘valeur 1’ sera placé dans la colonne dont le nom est ‘nom_colonne_1’)</a:t>
            </a:r>
          </a:p>
        </p:txBody>
      </p:sp>
      <p:sp>
        <p:nvSpPr>
          <p:cNvPr id="6" name="Espace réservé du numéro de diapositive 5">
            <a:extLst>
              <a:ext uri="{FF2B5EF4-FFF2-40B4-BE49-F238E27FC236}">
                <a16:creationId xmlns:a16="http://schemas.microsoft.com/office/drawing/2014/main" id="{C209E2DE-8E7E-4784-9FD3-64ACD80AFC9F}"/>
              </a:ext>
            </a:extLst>
          </p:cNvPr>
          <p:cNvSpPr>
            <a:spLocks noGrp="1"/>
          </p:cNvSpPr>
          <p:nvPr>
            <p:ph type="sldNum" sz="quarter" idx="12"/>
          </p:nvPr>
        </p:nvSpPr>
        <p:spPr/>
        <p:txBody>
          <a:bodyPr/>
          <a:lstStyle/>
          <a:p>
            <a:fld id="{27C6CCC6-2BE5-4E42-96A4-D1E8E81A3D8E}" type="slidenum">
              <a:rPr lang="de-DE" smtClean="0"/>
              <a:t>84</a:t>
            </a:fld>
            <a:endParaRPr lang="de-DE"/>
          </a:p>
        </p:txBody>
      </p:sp>
    </p:spTree>
    <p:extLst>
      <p:ext uri="{BB962C8B-B14F-4D97-AF65-F5344CB8AC3E}">
        <p14:creationId xmlns:p14="http://schemas.microsoft.com/office/powerpoint/2010/main" val="6705728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(INSERT)</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ormAutofit/>
          </a:bodyPr>
          <a:lstStyle/>
          <a:p>
            <a:r>
              <a:rPr lang="fr-FR"/>
              <a:t>Insérer plusieurs lignes à la fois :</a:t>
            </a:r>
          </a:p>
          <a:p>
            <a:pPr marL="3257100" lvl="8" indent="0">
              <a:buNone/>
            </a:pPr>
            <a:r>
              <a:rPr lang="fr-FR" b="1"/>
              <a:t>INSERT INTO </a:t>
            </a:r>
            <a:r>
              <a:rPr lang="fr-FR"/>
              <a:t>client (</a:t>
            </a:r>
            <a:r>
              <a:rPr lang="fr-FR" err="1"/>
              <a:t>prenom</a:t>
            </a:r>
            <a:r>
              <a:rPr lang="fr-FR"/>
              <a:t>, nom, ville, </a:t>
            </a:r>
            <a:r>
              <a:rPr lang="fr-FR" err="1"/>
              <a:t>age</a:t>
            </a:r>
            <a:r>
              <a:rPr lang="fr-FR"/>
              <a:t>)</a:t>
            </a:r>
          </a:p>
          <a:p>
            <a:pPr marL="3257100" lvl="8" indent="0">
              <a:buNone/>
            </a:pPr>
            <a:r>
              <a:rPr lang="fr-FR" b="1"/>
              <a:t>VALUES</a:t>
            </a:r>
          </a:p>
          <a:p>
            <a:pPr marL="3257100" lvl="8" indent="0">
              <a:buNone/>
            </a:pPr>
            <a:r>
              <a:rPr lang="fr-FR" b="1"/>
              <a:t> </a:t>
            </a:r>
            <a:r>
              <a:rPr lang="fr-FR"/>
              <a:t>('Rébecca', 'Armand', 'Saint-Didier-des-Bois', 24),</a:t>
            </a:r>
          </a:p>
          <a:p>
            <a:pPr marL="3257100" lvl="8" indent="0">
              <a:buNone/>
            </a:pPr>
            <a:r>
              <a:rPr lang="fr-FR"/>
              <a:t> ('Aimée', 'Hebert', 'Marigny-le-Châtel', 36),</a:t>
            </a:r>
          </a:p>
          <a:p>
            <a:pPr marL="3257100" lvl="8" indent="0">
              <a:buNone/>
            </a:pPr>
            <a:r>
              <a:rPr lang="fr-FR"/>
              <a:t> ('Marielle', 'Ribeiro', 'Maillères', 27),</a:t>
            </a:r>
          </a:p>
          <a:p>
            <a:pPr marL="3257100" lvl="8" indent="0">
              <a:buNone/>
            </a:pPr>
            <a:r>
              <a:rPr lang="fr-FR"/>
              <a:t> ('Hilaire', 'Savary', 'Conie-Molitard', 58);</a:t>
            </a:r>
          </a:p>
          <a:p>
            <a:r>
              <a:rPr lang="fr-FR"/>
              <a:t>Remarque : les champs textes doivent être entre </a:t>
            </a:r>
            <a:r>
              <a:rPr lang="fr-FR" err="1"/>
              <a:t>quotes</a:t>
            </a:r>
            <a:r>
              <a:rPr lang="fr-FR"/>
              <a:t> (ou guillemets simples), mais pas les nombres</a:t>
            </a:r>
          </a:p>
        </p:txBody>
      </p:sp>
      <p:sp>
        <p:nvSpPr>
          <p:cNvPr id="6" name="Espace réservé du numéro de diapositive 5">
            <a:extLst>
              <a:ext uri="{FF2B5EF4-FFF2-40B4-BE49-F238E27FC236}">
                <a16:creationId xmlns:a16="http://schemas.microsoft.com/office/drawing/2014/main" id="{07BC8B97-4788-462B-8A05-7F1949ED4730}"/>
              </a:ext>
            </a:extLst>
          </p:cNvPr>
          <p:cNvSpPr>
            <a:spLocks noGrp="1"/>
          </p:cNvSpPr>
          <p:nvPr>
            <p:ph type="sldNum" sz="quarter" idx="12"/>
          </p:nvPr>
        </p:nvSpPr>
        <p:spPr/>
        <p:txBody>
          <a:bodyPr/>
          <a:lstStyle/>
          <a:p>
            <a:fld id="{27C6CCC6-2BE5-4E42-96A4-D1E8E81A3D8E}" type="slidenum">
              <a:rPr lang="de-DE" smtClean="0"/>
              <a:t>85</a:t>
            </a:fld>
            <a:endParaRPr lang="de-DE"/>
          </a:p>
        </p:txBody>
      </p:sp>
    </p:spTree>
    <p:extLst>
      <p:ext uri="{BB962C8B-B14F-4D97-AF65-F5344CB8AC3E}">
        <p14:creationId xmlns:p14="http://schemas.microsoft.com/office/powerpoint/2010/main" val="4962914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(UPDATE)</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ormAutofit fontScale="92500" lnSpcReduction="10000"/>
          </a:bodyPr>
          <a:lstStyle/>
          <a:p>
            <a:r>
              <a:rPr lang="fr-FR"/>
              <a:t>Requête de mise à jour : modifier les champs d’une ligne existante</a:t>
            </a:r>
          </a:p>
          <a:p>
            <a:r>
              <a:rPr lang="fr-FR"/>
              <a:t>Syntaxe :</a:t>
            </a:r>
          </a:p>
          <a:p>
            <a:pPr marL="2457100" lvl="6" indent="0">
              <a:buNone/>
            </a:pPr>
            <a:r>
              <a:rPr lang="fr-FR" b="1"/>
              <a:t>UPDATE</a:t>
            </a:r>
            <a:r>
              <a:rPr lang="fr-FR"/>
              <a:t> table</a:t>
            </a:r>
          </a:p>
          <a:p>
            <a:pPr marL="2457100" lvl="6" indent="0">
              <a:buNone/>
            </a:pPr>
            <a:r>
              <a:rPr lang="fr-FR" b="1"/>
              <a:t>SET</a:t>
            </a:r>
            <a:r>
              <a:rPr lang="fr-FR"/>
              <a:t> colonne_1 = 'valeur 1', colonne_2 = 'valeur 2', colonne_3 = 'valeur 3'</a:t>
            </a:r>
          </a:p>
          <a:p>
            <a:pPr marL="2457100" lvl="6" indent="0">
              <a:buNone/>
            </a:pPr>
            <a:r>
              <a:rPr lang="fr-FR" b="1"/>
              <a:t>WHERE</a:t>
            </a:r>
            <a:r>
              <a:rPr lang="fr-FR"/>
              <a:t> condition</a:t>
            </a:r>
          </a:p>
          <a:p>
            <a:r>
              <a:rPr lang="fr-FR"/>
              <a:t>Exemple :</a:t>
            </a:r>
          </a:p>
          <a:p>
            <a:pPr marL="2457100" lvl="6" indent="0">
              <a:buNone/>
            </a:pPr>
            <a:r>
              <a:rPr lang="fr-FR" b="1"/>
              <a:t>UPDATE</a:t>
            </a:r>
            <a:r>
              <a:rPr lang="fr-FR"/>
              <a:t> client</a:t>
            </a:r>
          </a:p>
          <a:p>
            <a:pPr marL="2457100" lvl="6" indent="0">
              <a:buNone/>
            </a:pPr>
            <a:r>
              <a:rPr lang="fr-FR" b="1"/>
              <a:t>SET</a:t>
            </a:r>
            <a:r>
              <a:rPr lang="fr-FR"/>
              <a:t> rue = '49 Rue Ameline',</a:t>
            </a:r>
          </a:p>
          <a:p>
            <a:pPr marL="2457100" lvl="6" indent="0">
              <a:buNone/>
            </a:pPr>
            <a:r>
              <a:rPr lang="fr-FR"/>
              <a:t>  ville = 'Saint-Eustache-la-Forêt',</a:t>
            </a:r>
          </a:p>
          <a:p>
            <a:pPr marL="2457100" lvl="6" indent="0">
              <a:buNone/>
            </a:pPr>
            <a:r>
              <a:rPr lang="fr-FR"/>
              <a:t>  </a:t>
            </a:r>
            <a:r>
              <a:rPr lang="fr-FR" err="1"/>
              <a:t>code_postal</a:t>
            </a:r>
            <a:r>
              <a:rPr lang="fr-FR"/>
              <a:t> = '76210'</a:t>
            </a:r>
          </a:p>
          <a:p>
            <a:pPr marL="2457100" lvl="6" indent="0">
              <a:buNone/>
            </a:pPr>
            <a:r>
              <a:rPr lang="fr-FR" b="1"/>
              <a:t>WHERE</a:t>
            </a:r>
            <a:r>
              <a:rPr lang="fr-FR"/>
              <a:t> id = 2</a:t>
            </a:r>
          </a:p>
        </p:txBody>
      </p:sp>
      <p:sp>
        <p:nvSpPr>
          <p:cNvPr id="6" name="Espace réservé du numéro de diapositive 5">
            <a:extLst>
              <a:ext uri="{FF2B5EF4-FFF2-40B4-BE49-F238E27FC236}">
                <a16:creationId xmlns:a16="http://schemas.microsoft.com/office/drawing/2014/main" id="{AB3C852A-1446-4D54-8406-6AD0FDF694F1}"/>
              </a:ext>
            </a:extLst>
          </p:cNvPr>
          <p:cNvSpPr>
            <a:spLocks noGrp="1"/>
          </p:cNvSpPr>
          <p:nvPr>
            <p:ph type="sldNum" sz="quarter" idx="12"/>
          </p:nvPr>
        </p:nvSpPr>
        <p:spPr/>
        <p:txBody>
          <a:bodyPr/>
          <a:lstStyle/>
          <a:p>
            <a:fld id="{27C6CCC6-2BE5-4E42-96A4-D1E8E81A3D8E}" type="slidenum">
              <a:rPr lang="de-DE" smtClean="0"/>
              <a:t>86</a:t>
            </a:fld>
            <a:endParaRPr lang="de-DE"/>
          </a:p>
        </p:txBody>
      </p:sp>
    </p:spTree>
    <p:extLst>
      <p:ext uri="{BB962C8B-B14F-4D97-AF65-F5344CB8AC3E}">
        <p14:creationId xmlns:p14="http://schemas.microsoft.com/office/powerpoint/2010/main" val="32752246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(UPDATE)</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ormAutofit/>
          </a:bodyPr>
          <a:lstStyle/>
          <a:p>
            <a:r>
              <a:rPr lang="fr-FR"/>
              <a:t>Remarque : s’il n’y a pas de condition, la colonne sera mise à jour pour toute la table</a:t>
            </a:r>
          </a:p>
          <a:p>
            <a:r>
              <a:rPr lang="fr-FR"/>
              <a:t>Exemple :</a:t>
            </a:r>
          </a:p>
          <a:p>
            <a:pPr marL="0" indent="0" algn="ctr">
              <a:buNone/>
            </a:pPr>
            <a:r>
              <a:rPr lang="fr-FR" b="1"/>
              <a:t>UPDATE</a:t>
            </a:r>
            <a:r>
              <a:rPr lang="fr-FR"/>
              <a:t> client </a:t>
            </a:r>
            <a:r>
              <a:rPr lang="fr-FR" b="1"/>
              <a:t>SET</a:t>
            </a:r>
            <a:r>
              <a:rPr lang="fr-FR"/>
              <a:t> pays = 'FRANCE'</a:t>
            </a:r>
          </a:p>
        </p:txBody>
      </p:sp>
      <p:sp>
        <p:nvSpPr>
          <p:cNvPr id="6" name="Espace réservé du numéro de diapositive 5">
            <a:extLst>
              <a:ext uri="{FF2B5EF4-FFF2-40B4-BE49-F238E27FC236}">
                <a16:creationId xmlns:a16="http://schemas.microsoft.com/office/drawing/2014/main" id="{D6DE6A33-5C6C-4977-B6BC-8E3C20E12F34}"/>
              </a:ext>
            </a:extLst>
          </p:cNvPr>
          <p:cNvSpPr>
            <a:spLocks noGrp="1"/>
          </p:cNvSpPr>
          <p:nvPr>
            <p:ph type="sldNum" sz="quarter" idx="12"/>
          </p:nvPr>
        </p:nvSpPr>
        <p:spPr/>
        <p:txBody>
          <a:bodyPr/>
          <a:lstStyle/>
          <a:p>
            <a:fld id="{27C6CCC6-2BE5-4E42-96A4-D1E8E81A3D8E}" type="slidenum">
              <a:rPr lang="de-DE" smtClean="0"/>
              <a:t>87</a:t>
            </a:fld>
            <a:endParaRPr lang="de-DE"/>
          </a:p>
        </p:txBody>
      </p:sp>
    </p:spTree>
    <p:extLst>
      <p:ext uri="{BB962C8B-B14F-4D97-AF65-F5344CB8AC3E}">
        <p14:creationId xmlns:p14="http://schemas.microsoft.com/office/powerpoint/2010/main" val="19059423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(DELETE)</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lstStyle/>
          <a:p>
            <a:r>
              <a:rPr lang="fr-FR"/>
              <a:t>Requête de suppression : supprimer une ou plusieurs lignes existantes</a:t>
            </a:r>
          </a:p>
          <a:p>
            <a:r>
              <a:rPr lang="fr-FR"/>
              <a:t>Syntaxe :</a:t>
            </a:r>
          </a:p>
          <a:p>
            <a:pPr marL="0" indent="0" algn="ctr">
              <a:buNone/>
            </a:pPr>
            <a:r>
              <a:rPr lang="en-US" b="1"/>
              <a:t>DELETE FROM </a:t>
            </a:r>
            <a:r>
              <a:rPr lang="en-US"/>
              <a:t>`table` </a:t>
            </a:r>
            <a:r>
              <a:rPr lang="en-US" b="1"/>
              <a:t>WHERE</a:t>
            </a:r>
            <a:r>
              <a:rPr lang="en-US"/>
              <a:t> condition</a:t>
            </a:r>
          </a:p>
          <a:p>
            <a:r>
              <a:rPr lang="en-US"/>
              <a:t>Attention : </a:t>
            </a:r>
            <a:r>
              <a:rPr lang="en-US" err="1"/>
              <a:t>s’il</a:t>
            </a:r>
            <a:r>
              <a:rPr lang="en-US"/>
              <a:t> </a:t>
            </a:r>
            <a:r>
              <a:rPr lang="en-US" err="1"/>
              <a:t>n’y</a:t>
            </a:r>
            <a:r>
              <a:rPr lang="en-US"/>
              <a:t> a pas de condition WHERE, </a:t>
            </a:r>
            <a:r>
              <a:rPr lang="en-US" err="1"/>
              <a:t>toutes</a:t>
            </a:r>
            <a:r>
              <a:rPr lang="en-US"/>
              <a:t> les </a:t>
            </a:r>
            <a:r>
              <a:rPr lang="en-US" err="1"/>
              <a:t>lignes</a:t>
            </a:r>
            <a:r>
              <a:rPr lang="en-US"/>
              <a:t> de la table </a:t>
            </a:r>
            <a:r>
              <a:rPr lang="en-US" err="1"/>
              <a:t>seront</a:t>
            </a:r>
            <a:r>
              <a:rPr lang="en-US"/>
              <a:t> </a:t>
            </a:r>
            <a:r>
              <a:rPr lang="en-US" err="1"/>
              <a:t>supprimées</a:t>
            </a:r>
            <a:endParaRPr lang="fr-FR"/>
          </a:p>
        </p:txBody>
      </p:sp>
      <p:sp>
        <p:nvSpPr>
          <p:cNvPr id="6" name="Espace réservé du numéro de diapositive 5">
            <a:extLst>
              <a:ext uri="{FF2B5EF4-FFF2-40B4-BE49-F238E27FC236}">
                <a16:creationId xmlns:a16="http://schemas.microsoft.com/office/drawing/2014/main" id="{4FE68546-7ABC-4618-BCA4-FB9F0A34F91A}"/>
              </a:ext>
            </a:extLst>
          </p:cNvPr>
          <p:cNvSpPr>
            <a:spLocks noGrp="1"/>
          </p:cNvSpPr>
          <p:nvPr>
            <p:ph type="sldNum" sz="quarter" idx="12"/>
          </p:nvPr>
        </p:nvSpPr>
        <p:spPr/>
        <p:txBody>
          <a:bodyPr/>
          <a:lstStyle/>
          <a:p>
            <a:fld id="{27C6CCC6-2BE5-4E42-96A4-D1E8E81A3D8E}" type="slidenum">
              <a:rPr lang="de-DE" smtClean="0"/>
              <a:t>88</a:t>
            </a:fld>
            <a:endParaRPr lang="de-DE"/>
          </a:p>
        </p:txBody>
      </p:sp>
    </p:spTree>
    <p:extLst>
      <p:ext uri="{BB962C8B-B14F-4D97-AF65-F5344CB8AC3E}">
        <p14:creationId xmlns:p14="http://schemas.microsoft.com/office/powerpoint/2010/main" val="124031670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dirty="0"/>
              <a:t>Langage SQL (fonctions)</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ormAutofit fontScale="92500"/>
          </a:bodyPr>
          <a:lstStyle/>
          <a:p>
            <a:r>
              <a:rPr lang="fr-FR" dirty="0"/>
              <a:t>L’ensemble des SGBDR propose diverses fonctions utilisables au sein des requêtes</a:t>
            </a:r>
          </a:p>
          <a:p>
            <a:r>
              <a:rPr lang="fr-FR" dirty="0"/>
              <a:t>Nous avons déjà vu les fonctions d’agrégation qui composent un résultat à partir d’une liste de valeurs</a:t>
            </a:r>
          </a:p>
          <a:p>
            <a:r>
              <a:rPr lang="fr-FR" dirty="0"/>
              <a:t>Mais il existe aussi une large de gamme de fonctions pouvant être incluse dans une requête : par exemple </a:t>
            </a:r>
            <a:r>
              <a:rPr lang="fr-FR" b="1" dirty="0"/>
              <a:t>GETDATE</a:t>
            </a:r>
            <a:r>
              <a:rPr lang="fr-FR" dirty="0"/>
              <a:t>() pour obtenir la date du jour, </a:t>
            </a:r>
            <a:r>
              <a:rPr lang="fr-FR" b="1" dirty="0"/>
              <a:t>NOW</a:t>
            </a:r>
            <a:r>
              <a:rPr lang="fr-FR" dirty="0"/>
              <a:t>() pour l’instant présent, </a:t>
            </a:r>
            <a:r>
              <a:rPr lang="fr-FR" b="1" dirty="0"/>
              <a:t>LENGTH</a:t>
            </a:r>
            <a:r>
              <a:rPr lang="fr-FR" dirty="0"/>
              <a:t>(</a:t>
            </a:r>
            <a:r>
              <a:rPr lang="fr-FR" dirty="0" err="1"/>
              <a:t>str</a:t>
            </a:r>
            <a:r>
              <a:rPr lang="fr-FR" dirty="0"/>
              <a:t>) connaître la longueur d’une chaîne de caractères, </a:t>
            </a:r>
            <a:r>
              <a:rPr lang="fr-FR" b="1" dirty="0"/>
              <a:t>UPPER</a:t>
            </a:r>
            <a:r>
              <a:rPr lang="fr-FR" dirty="0"/>
              <a:t>(</a:t>
            </a:r>
            <a:r>
              <a:rPr lang="fr-FR" dirty="0" err="1"/>
              <a:t>str</a:t>
            </a:r>
            <a:r>
              <a:rPr lang="fr-FR" dirty="0"/>
              <a:t>) pour convertir une chaîne de caractères en majuscules, etc.</a:t>
            </a:r>
          </a:p>
          <a:p>
            <a:r>
              <a:rPr lang="fr-FR" dirty="0"/>
              <a:t>Beaucoup de ces fonctions sont spécifiques à une SGBDR, il faut consulter la documentation du SGBDR utilisé pour savoir comment manipuler ces fonctions</a:t>
            </a:r>
          </a:p>
        </p:txBody>
      </p:sp>
      <p:sp>
        <p:nvSpPr>
          <p:cNvPr id="6" name="Espace réservé du numéro de diapositive 5">
            <a:extLst>
              <a:ext uri="{FF2B5EF4-FFF2-40B4-BE49-F238E27FC236}">
                <a16:creationId xmlns:a16="http://schemas.microsoft.com/office/drawing/2014/main" id="{4FE68546-7ABC-4618-BCA4-FB9F0A34F91A}"/>
              </a:ext>
            </a:extLst>
          </p:cNvPr>
          <p:cNvSpPr>
            <a:spLocks noGrp="1"/>
          </p:cNvSpPr>
          <p:nvPr>
            <p:ph type="sldNum" sz="quarter" idx="12"/>
          </p:nvPr>
        </p:nvSpPr>
        <p:spPr/>
        <p:txBody>
          <a:bodyPr/>
          <a:lstStyle/>
          <a:p>
            <a:fld id="{27C6CCC6-2BE5-4E42-96A4-D1E8E81A3D8E}" type="slidenum">
              <a:rPr lang="de-DE" smtClean="0"/>
              <a:t>89</a:t>
            </a:fld>
            <a:endParaRPr lang="de-DE"/>
          </a:p>
        </p:txBody>
      </p:sp>
    </p:spTree>
    <p:extLst>
      <p:ext uri="{BB962C8B-B14F-4D97-AF65-F5344CB8AC3E}">
        <p14:creationId xmlns:p14="http://schemas.microsoft.com/office/powerpoint/2010/main" val="126995554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dirty="0"/>
              <a:t>Langage SQL (fonctions)</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lstStyle/>
          <a:p>
            <a:r>
              <a:rPr lang="fr-FR" dirty="0"/>
              <a:t>Exemple :</a:t>
            </a:r>
          </a:p>
          <a:p>
            <a:endParaRPr lang="fr-FR" dirty="0"/>
          </a:p>
          <a:p>
            <a:pPr marL="0" indent="0" algn="ctr">
              <a:buNone/>
            </a:pPr>
            <a:r>
              <a:rPr lang="fr-FR" b="1" dirty="0"/>
              <a:t>SELECT</a:t>
            </a:r>
            <a:r>
              <a:rPr lang="fr-FR" dirty="0"/>
              <a:t> </a:t>
            </a:r>
            <a:r>
              <a:rPr lang="fr-FR" b="1" dirty="0"/>
              <a:t>UPPER</a:t>
            </a:r>
            <a:r>
              <a:rPr lang="fr-FR" dirty="0"/>
              <a:t>(nom), </a:t>
            </a:r>
            <a:r>
              <a:rPr lang="fr-FR" b="1" dirty="0"/>
              <a:t>LOWER</a:t>
            </a:r>
            <a:r>
              <a:rPr lang="fr-FR" dirty="0"/>
              <a:t>(</a:t>
            </a:r>
            <a:r>
              <a:rPr lang="fr-FR" dirty="0" err="1"/>
              <a:t>prenom</a:t>
            </a:r>
            <a:r>
              <a:rPr lang="fr-FR" dirty="0"/>
              <a:t>) </a:t>
            </a:r>
            <a:r>
              <a:rPr lang="fr-FR" b="1" dirty="0"/>
              <a:t>FROM</a:t>
            </a:r>
            <a:r>
              <a:rPr lang="fr-FR" dirty="0"/>
              <a:t> personnes </a:t>
            </a:r>
            <a:r>
              <a:rPr lang="fr-FR" b="1" dirty="0"/>
              <a:t>WHERE</a:t>
            </a:r>
            <a:r>
              <a:rPr lang="fr-FR" dirty="0"/>
              <a:t> </a:t>
            </a:r>
            <a:r>
              <a:rPr lang="fr-FR" b="1" dirty="0"/>
              <a:t>MONTH</a:t>
            </a:r>
            <a:r>
              <a:rPr lang="fr-FR" dirty="0"/>
              <a:t>(</a:t>
            </a:r>
            <a:r>
              <a:rPr lang="fr-FR" dirty="0" err="1"/>
              <a:t>date_naissance</a:t>
            </a:r>
            <a:r>
              <a:rPr lang="fr-FR" dirty="0"/>
              <a:t>) = </a:t>
            </a:r>
            <a:r>
              <a:rPr lang="fr-FR" b="1" dirty="0"/>
              <a:t>MONTH</a:t>
            </a:r>
            <a:r>
              <a:rPr lang="fr-FR" dirty="0"/>
              <a:t>(</a:t>
            </a:r>
            <a:r>
              <a:rPr lang="fr-FR" b="1" dirty="0"/>
              <a:t>NOW</a:t>
            </a:r>
            <a:r>
              <a:rPr lang="fr-FR" dirty="0"/>
              <a:t>()) </a:t>
            </a:r>
            <a:r>
              <a:rPr lang="fr-FR" b="1" dirty="0"/>
              <a:t>AND</a:t>
            </a:r>
            <a:r>
              <a:rPr lang="fr-FR" dirty="0"/>
              <a:t> </a:t>
            </a:r>
            <a:r>
              <a:rPr lang="fr-FR" b="1" dirty="0"/>
              <a:t>DAY</a:t>
            </a:r>
            <a:r>
              <a:rPr lang="fr-FR" dirty="0"/>
              <a:t>(</a:t>
            </a:r>
            <a:r>
              <a:rPr lang="fr-FR" dirty="0" err="1"/>
              <a:t>date_naissance</a:t>
            </a:r>
            <a:r>
              <a:rPr lang="fr-FR" dirty="0"/>
              <a:t>) = </a:t>
            </a:r>
            <a:r>
              <a:rPr lang="fr-FR" b="1" dirty="0"/>
              <a:t>DAY</a:t>
            </a:r>
            <a:r>
              <a:rPr lang="fr-FR" dirty="0"/>
              <a:t>(</a:t>
            </a:r>
            <a:r>
              <a:rPr lang="fr-FR" b="1" dirty="0"/>
              <a:t>NOW</a:t>
            </a:r>
            <a:r>
              <a:rPr lang="fr-FR" dirty="0"/>
              <a:t>())</a:t>
            </a:r>
          </a:p>
        </p:txBody>
      </p:sp>
      <p:sp>
        <p:nvSpPr>
          <p:cNvPr id="6" name="Espace réservé du numéro de diapositive 5">
            <a:extLst>
              <a:ext uri="{FF2B5EF4-FFF2-40B4-BE49-F238E27FC236}">
                <a16:creationId xmlns:a16="http://schemas.microsoft.com/office/drawing/2014/main" id="{4FE68546-7ABC-4618-BCA4-FB9F0A34F91A}"/>
              </a:ext>
            </a:extLst>
          </p:cNvPr>
          <p:cNvSpPr>
            <a:spLocks noGrp="1"/>
          </p:cNvSpPr>
          <p:nvPr>
            <p:ph type="sldNum" sz="quarter" idx="12"/>
          </p:nvPr>
        </p:nvSpPr>
        <p:spPr/>
        <p:txBody>
          <a:bodyPr/>
          <a:lstStyle/>
          <a:p>
            <a:fld id="{27C6CCC6-2BE5-4E42-96A4-D1E8E81A3D8E}" type="slidenum">
              <a:rPr lang="de-DE" smtClean="0"/>
              <a:t>90</a:t>
            </a:fld>
            <a:endParaRPr lang="de-DE"/>
          </a:p>
        </p:txBody>
      </p:sp>
    </p:spTree>
    <p:extLst>
      <p:ext uri="{BB962C8B-B14F-4D97-AF65-F5344CB8AC3E}">
        <p14:creationId xmlns:p14="http://schemas.microsoft.com/office/powerpoint/2010/main" val="421346503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dirty="0"/>
              <a:t>Langage SQL (fonctions)</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lstStyle/>
          <a:p>
            <a:r>
              <a:rPr lang="fr-FR" dirty="0"/>
              <a:t>Références pour les fonctions SQL :</a:t>
            </a:r>
          </a:p>
          <a:p>
            <a:pPr lvl="1"/>
            <a:r>
              <a:rPr lang="fr-FR" dirty="0"/>
              <a:t>MS Access : https://www.w3schools.com/sql/sql_ref_msaccess.asp</a:t>
            </a:r>
          </a:p>
          <a:p>
            <a:pPr lvl="1"/>
            <a:r>
              <a:rPr lang="fr-FR" dirty="0"/>
              <a:t>MySQL : https://www.w3schools.com/sql/sql_ref_mysql.asp</a:t>
            </a:r>
          </a:p>
        </p:txBody>
      </p:sp>
      <p:sp>
        <p:nvSpPr>
          <p:cNvPr id="6" name="Espace réservé du numéro de diapositive 5">
            <a:extLst>
              <a:ext uri="{FF2B5EF4-FFF2-40B4-BE49-F238E27FC236}">
                <a16:creationId xmlns:a16="http://schemas.microsoft.com/office/drawing/2014/main" id="{4FE68546-7ABC-4618-BCA4-FB9F0A34F91A}"/>
              </a:ext>
            </a:extLst>
          </p:cNvPr>
          <p:cNvSpPr>
            <a:spLocks noGrp="1"/>
          </p:cNvSpPr>
          <p:nvPr>
            <p:ph type="sldNum" sz="quarter" idx="12"/>
          </p:nvPr>
        </p:nvSpPr>
        <p:spPr/>
        <p:txBody>
          <a:bodyPr/>
          <a:lstStyle/>
          <a:p>
            <a:fld id="{27C6CCC6-2BE5-4E42-96A4-D1E8E81A3D8E}" type="slidenum">
              <a:rPr lang="de-DE" smtClean="0"/>
              <a:t>91</a:t>
            </a:fld>
            <a:endParaRPr lang="de-DE"/>
          </a:p>
        </p:txBody>
      </p:sp>
    </p:spTree>
    <p:extLst>
      <p:ext uri="{BB962C8B-B14F-4D97-AF65-F5344CB8AC3E}">
        <p14:creationId xmlns:p14="http://schemas.microsoft.com/office/powerpoint/2010/main" val="312622540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normAutofit/>
          </a:bodyPr>
          <a:lstStyle/>
          <a:p>
            <a:r>
              <a:rPr lang="fr-FR"/>
              <a:t>Langage SQL (jointures)</a:t>
            </a:r>
          </a:p>
        </p:txBody>
      </p:sp>
      <p:graphicFrame>
        <p:nvGraphicFramePr>
          <p:cNvPr id="5" name="Espace réservé du contenu 2">
            <a:extLst>
              <a:ext uri="{FF2B5EF4-FFF2-40B4-BE49-F238E27FC236}">
                <a16:creationId xmlns:a16="http://schemas.microsoft.com/office/drawing/2014/main" id="{17D5C2E5-4638-4BE2-90FD-2FFBD281714B}"/>
              </a:ext>
            </a:extLst>
          </p:cNvPr>
          <p:cNvGraphicFramePr>
            <a:graphicFrameLocks noGrp="1"/>
          </p:cNvGraphicFramePr>
          <p:nvPr>
            <p:ph idx="1"/>
            <p:extLst>
              <p:ext uri="{D42A27DB-BD31-4B8C-83A1-F6EECF244321}">
                <p14:modId xmlns:p14="http://schemas.microsoft.com/office/powerpoint/2010/main" val="3271941924"/>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Espace réservé du numéro de diapositive 5">
            <a:extLst>
              <a:ext uri="{FF2B5EF4-FFF2-40B4-BE49-F238E27FC236}">
                <a16:creationId xmlns:a16="http://schemas.microsoft.com/office/drawing/2014/main" id="{1E96C05C-33AE-4769-A6EF-77703FF1F377}"/>
              </a:ext>
            </a:extLst>
          </p:cNvPr>
          <p:cNvSpPr>
            <a:spLocks noGrp="1"/>
          </p:cNvSpPr>
          <p:nvPr>
            <p:ph type="sldNum" sz="quarter" idx="12"/>
          </p:nvPr>
        </p:nvSpPr>
        <p:spPr/>
        <p:txBody>
          <a:bodyPr/>
          <a:lstStyle/>
          <a:p>
            <a:fld id="{27C6CCC6-2BE5-4E42-96A4-D1E8E81A3D8E}" type="slidenum">
              <a:rPr lang="de-DE" smtClean="0"/>
              <a:t>92</a:t>
            </a:fld>
            <a:endParaRPr lang="de-DE"/>
          </a:p>
        </p:txBody>
      </p:sp>
    </p:spTree>
    <p:extLst>
      <p:ext uri="{BB962C8B-B14F-4D97-AF65-F5344CB8AC3E}">
        <p14:creationId xmlns:p14="http://schemas.microsoft.com/office/powerpoint/2010/main" val="24486037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(jointures)</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a:xfrm>
            <a:off x="818712" y="2222287"/>
            <a:ext cx="7497515" cy="3636511"/>
          </a:xfrm>
        </p:spPr>
        <p:txBody>
          <a:bodyPr anchor="ctr"/>
          <a:lstStyle/>
          <a:p>
            <a:r>
              <a:rPr lang="fr-FR"/>
              <a:t>Principaux types de jointures :</a:t>
            </a:r>
          </a:p>
          <a:p>
            <a:pPr lvl="1"/>
            <a:r>
              <a:rPr lang="fr-FR" b="1"/>
              <a:t>INNER JOIN</a:t>
            </a:r>
            <a:r>
              <a:rPr lang="fr-FR"/>
              <a:t> (ou jointure interne, intersection de deux tables)</a:t>
            </a:r>
          </a:p>
          <a:p>
            <a:pPr lvl="1"/>
            <a:r>
              <a:rPr lang="fr-FR" b="1"/>
              <a:t>LEFT JOIN</a:t>
            </a:r>
            <a:r>
              <a:rPr lang="fr-FR"/>
              <a:t> (éléments de la table de gauche même s’il n’y a pas de valeur associée dans la table de droite)</a:t>
            </a:r>
          </a:p>
          <a:p>
            <a:pPr lvl="1"/>
            <a:r>
              <a:rPr lang="fr-FR" b="1"/>
              <a:t>RIGHT JOIN</a:t>
            </a:r>
            <a:r>
              <a:rPr lang="fr-FR"/>
              <a:t> (éléments de la table de droit même s’il n’y a pas de valeur associée dans la table de gauche)</a:t>
            </a:r>
          </a:p>
        </p:txBody>
      </p:sp>
      <p:sp>
        <p:nvSpPr>
          <p:cNvPr id="9" name="Espace réservé du numéro de diapositive 8">
            <a:extLst>
              <a:ext uri="{FF2B5EF4-FFF2-40B4-BE49-F238E27FC236}">
                <a16:creationId xmlns:a16="http://schemas.microsoft.com/office/drawing/2014/main" id="{D0B14C03-876B-4882-B027-55D949CD3C27}"/>
              </a:ext>
            </a:extLst>
          </p:cNvPr>
          <p:cNvSpPr>
            <a:spLocks noGrp="1"/>
          </p:cNvSpPr>
          <p:nvPr>
            <p:ph type="sldNum" sz="quarter" idx="12"/>
          </p:nvPr>
        </p:nvSpPr>
        <p:spPr/>
        <p:txBody>
          <a:bodyPr/>
          <a:lstStyle/>
          <a:p>
            <a:fld id="{27C6CCC6-2BE5-4E42-96A4-D1E8E81A3D8E}" type="slidenum">
              <a:rPr lang="de-DE" smtClean="0"/>
              <a:t>93</a:t>
            </a:fld>
            <a:endParaRPr lang="de-DE"/>
          </a:p>
        </p:txBody>
      </p:sp>
      <p:pic>
        <p:nvPicPr>
          <p:cNvPr id="4" name="Image 3">
            <a:extLst>
              <a:ext uri="{FF2B5EF4-FFF2-40B4-BE49-F238E27FC236}">
                <a16:creationId xmlns:a16="http://schemas.microsoft.com/office/drawing/2014/main" id="{9FD755FE-C87F-4034-B369-7A987D3B7101}"/>
              </a:ext>
            </a:extLst>
          </p:cNvPr>
          <p:cNvPicPr>
            <a:picLocks noChangeAspect="1"/>
          </p:cNvPicPr>
          <p:nvPr/>
        </p:nvPicPr>
        <p:blipFill>
          <a:blip r:embed="rId2"/>
          <a:stretch>
            <a:fillRect/>
          </a:stretch>
        </p:blipFill>
        <p:spPr>
          <a:xfrm>
            <a:off x="8633278" y="2341621"/>
            <a:ext cx="2149312" cy="1282423"/>
          </a:xfrm>
          <a:prstGeom prst="rect">
            <a:avLst/>
          </a:prstGeom>
        </p:spPr>
      </p:pic>
      <p:pic>
        <p:nvPicPr>
          <p:cNvPr id="5" name="Image 4">
            <a:extLst>
              <a:ext uri="{FF2B5EF4-FFF2-40B4-BE49-F238E27FC236}">
                <a16:creationId xmlns:a16="http://schemas.microsoft.com/office/drawing/2014/main" id="{293C1F0B-1059-4DDD-97CA-877784109FD4}"/>
              </a:ext>
            </a:extLst>
          </p:cNvPr>
          <p:cNvPicPr>
            <a:picLocks noChangeAspect="1"/>
          </p:cNvPicPr>
          <p:nvPr/>
        </p:nvPicPr>
        <p:blipFill>
          <a:blip r:embed="rId3"/>
          <a:stretch>
            <a:fillRect/>
          </a:stretch>
        </p:blipFill>
        <p:spPr>
          <a:xfrm>
            <a:off x="8633278" y="3743378"/>
            <a:ext cx="2149312" cy="1282423"/>
          </a:xfrm>
          <a:prstGeom prst="rect">
            <a:avLst/>
          </a:prstGeom>
        </p:spPr>
      </p:pic>
      <p:pic>
        <p:nvPicPr>
          <p:cNvPr id="6" name="Image 5">
            <a:extLst>
              <a:ext uri="{FF2B5EF4-FFF2-40B4-BE49-F238E27FC236}">
                <a16:creationId xmlns:a16="http://schemas.microsoft.com/office/drawing/2014/main" id="{205D198B-A2D2-4130-A7F3-2A9880AF13F1}"/>
              </a:ext>
            </a:extLst>
          </p:cNvPr>
          <p:cNvPicPr>
            <a:picLocks noChangeAspect="1"/>
          </p:cNvPicPr>
          <p:nvPr/>
        </p:nvPicPr>
        <p:blipFill>
          <a:blip r:embed="rId4"/>
          <a:stretch>
            <a:fillRect/>
          </a:stretch>
        </p:blipFill>
        <p:spPr>
          <a:xfrm>
            <a:off x="8633278" y="5243827"/>
            <a:ext cx="2149312" cy="1282423"/>
          </a:xfrm>
          <a:prstGeom prst="rect">
            <a:avLst/>
          </a:prstGeom>
        </p:spPr>
      </p:pic>
    </p:spTree>
    <p:extLst>
      <p:ext uri="{BB962C8B-B14F-4D97-AF65-F5344CB8AC3E}">
        <p14:creationId xmlns:p14="http://schemas.microsoft.com/office/powerpoint/2010/main" val="364735660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(jointures)</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chor="ctr"/>
          <a:lstStyle/>
          <a:p>
            <a:r>
              <a:rPr lang="fr-FR"/>
              <a:t>Exemple : deux tables Client et Facture, la table Facture possède une clé étrangère </a:t>
            </a:r>
            <a:r>
              <a:rPr lang="fr-FR" err="1"/>
              <a:t>Client_ID</a:t>
            </a:r>
            <a:r>
              <a:rPr lang="fr-FR"/>
              <a:t> faisant référence à la table Client ; on veut récupérer l’ensemble des clients et les factures associées</a:t>
            </a:r>
          </a:p>
          <a:p>
            <a:endParaRPr lang="fr-FR"/>
          </a:p>
          <a:p>
            <a:pPr marL="0" indent="0" algn="ctr">
              <a:buNone/>
            </a:pPr>
            <a:r>
              <a:rPr lang="fr-FR" b="1"/>
              <a:t>SELECT</a:t>
            </a:r>
            <a:r>
              <a:rPr lang="fr-FR"/>
              <a:t> * </a:t>
            </a:r>
            <a:r>
              <a:rPr lang="fr-FR" b="1"/>
              <a:t>FROM</a:t>
            </a:r>
            <a:r>
              <a:rPr lang="fr-FR"/>
              <a:t> Client </a:t>
            </a:r>
            <a:r>
              <a:rPr lang="fr-FR" b="1"/>
              <a:t>INNER JOIN</a:t>
            </a:r>
            <a:r>
              <a:rPr lang="fr-FR"/>
              <a:t> Facture </a:t>
            </a:r>
            <a:r>
              <a:rPr lang="fr-FR" b="1"/>
              <a:t>ON</a:t>
            </a:r>
            <a:r>
              <a:rPr lang="fr-FR"/>
              <a:t> Client.ID = </a:t>
            </a:r>
            <a:r>
              <a:rPr lang="fr-FR" err="1"/>
              <a:t>Facture.Client_ID</a:t>
            </a:r>
            <a:endParaRPr lang="fr-FR"/>
          </a:p>
          <a:p>
            <a:pPr marL="0" indent="0" algn="ctr">
              <a:buNone/>
            </a:pPr>
            <a:endParaRPr lang="fr-FR"/>
          </a:p>
          <a:p>
            <a:r>
              <a:rPr lang="fr-FR"/>
              <a:t>Remarque : Pour désigner une colonne d’une table en particulier, on utilise la syntaxe </a:t>
            </a:r>
            <a:r>
              <a:rPr lang="fr-FR" err="1"/>
              <a:t>Table.Colonne</a:t>
            </a:r>
            <a:endParaRPr lang="fr-FR"/>
          </a:p>
        </p:txBody>
      </p:sp>
      <p:sp>
        <p:nvSpPr>
          <p:cNvPr id="6" name="Espace réservé du numéro de diapositive 5">
            <a:extLst>
              <a:ext uri="{FF2B5EF4-FFF2-40B4-BE49-F238E27FC236}">
                <a16:creationId xmlns:a16="http://schemas.microsoft.com/office/drawing/2014/main" id="{A0D5C21F-C683-409B-8E49-5E1638C0EBA7}"/>
              </a:ext>
            </a:extLst>
          </p:cNvPr>
          <p:cNvSpPr>
            <a:spLocks noGrp="1"/>
          </p:cNvSpPr>
          <p:nvPr>
            <p:ph type="sldNum" sz="quarter" idx="12"/>
          </p:nvPr>
        </p:nvSpPr>
        <p:spPr/>
        <p:txBody>
          <a:bodyPr/>
          <a:lstStyle/>
          <a:p>
            <a:fld id="{27C6CCC6-2BE5-4E42-96A4-D1E8E81A3D8E}" type="slidenum">
              <a:rPr lang="de-DE" smtClean="0"/>
              <a:t>94</a:t>
            </a:fld>
            <a:endParaRPr lang="de-DE"/>
          </a:p>
        </p:txBody>
      </p:sp>
    </p:spTree>
    <p:extLst>
      <p:ext uri="{BB962C8B-B14F-4D97-AF65-F5344CB8AC3E}">
        <p14:creationId xmlns:p14="http://schemas.microsoft.com/office/powerpoint/2010/main" val="114661124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(jointures)</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chor="t"/>
          <a:lstStyle/>
          <a:p>
            <a:r>
              <a:rPr lang="fr-FR"/>
              <a:t>Application de la requête :</a:t>
            </a:r>
          </a:p>
          <a:p>
            <a:endParaRPr lang="fr-FR"/>
          </a:p>
          <a:p>
            <a:endParaRPr lang="fr-FR"/>
          </a:p>
        </p:txBody>
      </p:sp>
      <p:sp>
        <p:nvSpPr>
          <p:cNvPr id="11" name="Espace réservé du numéro de diapositive 10">
            <a:extLst>
              <a:ext uri="{FF2B5EF4-FFF2-40B4-BE49-F238E27FC236}">
                <a16:creationId xmlns:a16="http://schemas.microsoft.com/office/drawing/2014/main" id="{9F232C85-40F0-4A1D-9A92-DC201D3AC663}"/>
              </a:ext>
            </a:extLst>
          </p:cNvPr>
          <p:cNvSpPr>
            <a:spLocks noGrp="1"/>
          </p:cNvSpPr>
          <p:nvPr>
            <p:ph type="sldNum" sz="quarter" idx="12"/>
          </p:nvPr>
        </p:nvSpPr>
        <p:spPr/>
        <p:txBody>
          <a:bodyPr/>
          <a:lstStyle/>
          <a:p>
            <a:fld id="{27C6CCC6-2BE5-4E42-96A4-D1E8E81A3D8E}" type="slidenum">
              <a:rPr lang="de-DE" smtClean="0"/>
              <a:t>95</a:t>
            </a:fld>
            <a:endParaRPr lang="de-DE"/>
          </a:p>
        </p:txBody>
      </p:sp>
      <p:graphicFrame>
        <p:nvGraphicFramePr>
          <p:cNvPr id="4" name="Tableau 3">
            <a:extLst>
              <a:ext uri="{FF2B5EF4-FFF2-40B4-BE49-F238E27FC236}">
                <a16:creationId xmlns:a16="http://schemas.microsoft.com/office/drawing/2014/main" id="{D43BDFFE-36ED-437D-A545-8900C8123E49}"/>
              </a:ext>
            </a:extLst>
          </p:cNvPr>
          <p:cNvGraphicFramePr>
            <a:graphicFrameLocks noGrp="1"/>
          </p:cNvGraphicFramePr>
          <p:nvPr>
            <p:extLst>
              <p:ext uri="{D42A27DB-BD31-4B8C-83A1-F6EECF244321}">
                <p14:modId xmlns:p14="http://schemas.microsoft.com/office/powerpoint/2010/main" val="3498083631"/>
              </p:ext>
            </p:extLst>
          </p:nvPr>
        </p:nvGraphicFramePr>
        <p:xfrm>
          <a:off x="1383737" y="2824096"/>
          <a:ext cx="3303864" cy="1097280"/>
        </p:xfrm>
        <a:graphic>
          <a:graphicData uri="http://schemas.openxmlformats.org/drawingml/2006/table">
            <a:tbl>
              <a:tblPr firstRow="1" bandRow="1">
                <a:tableStyleId>{5C22544A-7EE6-4342-B048-85BDC9FD1C3A}</a:tableStyleId>
              </a:tblPr>
              <a:tblGrid>
                <a:gridCol w="343964">
                  <a:extLst>
                    <a:ext uri="{9D8B030D-6E8A-4147-A177-3AD203B41FA5}">
                      <a16:colId xmlns:a16="http://schemas.microsoft.com/office/drawing/2014/main" val="2696855272"/>
                    </a:ext>
                  </a:extLst>
                </a:gridCol>
                <a:gridCol w="929492">
                  <a:extLst>
                    <a:ext uri="{9D8B030D-6E8A-4147-A177-3AD203B41FA5}">
                      <a16:colId xmlns:a16="http://schemas.microsoft.com/office/drawing/2014/main" val="2339036760"/>
                    </a:ext>
                  </a:extLst>
                </a:gridCol>
                <a:gridCol w="2030408">
                  <a:extLst>
                    <a:ext uri="{9D8B030D-6E8A-4147-A177-3AD203B41FA5}">
                      <a16:colId xmlns:a16="http://schemas.microsoft.com/office/drawing/2014/main" val="1557291614"/>
                    </a:ext>
                  </a:extLst>
                </a:gridCol>
              </a:tblGrid>
              <a:tr h="251878">
                <a:tc>
                  <a:txBody>
                    <a:bodyPr/>
                    <a:lstStyle/>
                    <a:p>
                      <a:r>
                        <a:rPr lang="fr-FR" sz="1200"/>
                        <a:t>ID</a:t>
                      </a:r>
                    </a:p>
                  </a:txBody>
                  <a:tcPr/>
                </a:tc>
                <a:tc>
                  <a:txBody>
                    <a:bodyPr/>
                    <a:lstStyle/>
                    <a:p>
                      <a:r>
                        <a:rPr lang="fr-FR" sz="1200"/>
                        <a:t>Nom</a:t>
                      </a:r>
                    </a:p>
                  </a:txBody>
                  <a:tcPr/>
                </a:tc>
                <a:tc>
                  <a:txBody>
                    <a:bodyPr/>
                    <a:lstStyle/>
                    <a:p>
                      <a:r>
                        <a:rPr lang="fr-FR" sz="1200"/>
                        <a:t>Email</a:t>
                      </a:r>
                    </a:p>
                  </a:txBody>
                  <a:tcPr/>
                </a:tc>
                <a:extLst>
                  <a:ext uri="{0D108BD9-81ED-4DB2-BD59-A6C34878D82A}">
                    <a16:rowId xmlns:a16="http://schemas.microsoft.com/office/drawing/2014/main" val="3262443685"/>
                  </a:ext>
                </a:extLst>
              </a:tr>
              <a:tr h="251878">
                <a:tc>
                  <a:txBody>
                    <a:bodyPr/>
                    <a:lstStyle/>
                    <a:p>
                      <a:r>
                        <a:rPr lang="fr-FR" sz="1200"/>
                        <a:t>1</a:t>
                      </a:r>
                    </a:p>
                  </a:txBody>
                  <a:tcPr/>
                </a:tc>
                <a:tc>
                  <a:txBody>
                    <a:bodyPr/>
                    <a:lstStyle/>
                    <a:p>
                      <a:r>
                        <a:rPr lang="fr-FR" sz="1200"/>
                        <a:t>JOHN</a:t>
                      </a:r>
                    </a:p>
                  </a:txBody>
                  <a:tcPr/>
                </a:tc>
                <a:tc>
                  <a:txBody>
                    <a:bodyPr/>
                    <a:lstStyle/>
                    <a:p>
                      <a:r>
                        <a:rPr lang="fr-FR" sz="1200">
                          <a:hlinkClick r:id="rId2"/>
                        </a:rPr>
                        <a:t>john@gmail.com</a:t>
                      </a:r>
                      <a:endParaRPr lang="fr-FR" sz="1200"/>
                    </a:p>
                  </a:txBody>
                  <a:tcPr/>
                </a:tc>
                <a:extLst>
                  <a:ext uri="{0D108BD9-81ED-4DB2-BD59-A6C34878D82A}">
                    <a16:rowId xmlns:a16="http://schemas.microsoft.com/office/drawing/2014/main" val="644644615"/>
                  </a:ext>
                </a:extLst>
              </a:tr>
              <a:tr h="251878">
                <a:tc>
                  <a:txBody>
                    <a:bodyPr/>
                    <a:lstStyle/>
                    <a:p>
                      <a:r>
                        <a:rPr lang="fr-FR" sz="1200"/>
                        <a:t>2</a:t>
                      </a:r>
                    </a:p>
                  </a:txBody>
                  <a:tcPr/>
                </a:tc>
                <a:tc>
                  <a:txBody>
                    <a:bodyPr/>
                    <a:lstStyle/>
                    <a:p>
                      <a:r>
                        <a:rPr lang="fr-FR" sz="1200"/>
                        <a:t>SMITH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a:hlinkClick r:id="rId3"/>
                        </a:rPr>
                        <a:t>smith@hotmail.com</a:t>
                      </a:r>
                      <a:endParaRPr lang="fr-FR" sz="1200"/>
                    </a:p>
                  </a:txBody>
                  <a:tcPr/>
                </a:tc>
                <a:extLst>
                  <a:ext uri="{0D108BD9-81ED-4DB2-BD59-A6C34878D82A}">
                    <a16:rowId xmlns:a16="http://schemas.microsoft.com/office/drawing/2014/main" val="1587431500"/>
                  </a:ext>
                </a:extLst>
              </a:tr>
              <a:tr h="251878">
                <a:tc>
                  <a:txBody>
                    <a:bodyPr/>
                    <a:lstStyle/>
                    <a:p>
                      <a:pPr lvl="0">
                        <a:buNone/>
                      </a:pPr>
                      <a:r>
                        <a:rPr lang="fr-FR" sz="1200"/>
                        <a:t>3</a:t>
                      </a:r>
                    </a:p>
                  </a:txBody>
                  <a:tcPr/>
                </a:tc>
                <a:tc>
                  <a:txBody>
                    <a:bodyPr/>
                    <a:lstStyle/>
                    <a:p>
                      <a:pPr lvl="0">
                        <a:buNone/>
                      </a:pPr>
                      <a:r>
                        <a:rPr lang="fr-FR" sz="1200"/>
                        <a:t>JOHNSON</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a:hlinkClick r:id="rId4"/>
                        </a:rPr>
                        <a:t>johnson@gmail.com</a:t>
                      </a:r>
                      <a:endParaRPr lang="fr-FR" sz="1200"/>
                    </a:p>
                  </a:txBody>
                  <a:tcPr/>
                </a:tc>
                <a:extLst>
                  <a:ext uri="{0D108BD9-81ED-4DB2-BD59-A6C34878D82A}">
                    <a16:rowId xmlns:a16="http://schemas.microsoft.com/office/drawing/2014/main" val="2352285617"/>
                  </a:ext>
                </a:extLst>
              </a:tr>
            </a:tbl>
          </a:graphicData>
        </a:graphic>
      </p:graphicFrame>
      <p:graphicFrame>
        <p:nvGraphicFramePr>
          <p:cNvPr id="5" name="Tableau 4">
            <a:extLst>
              <a:ext uri="{FF2B5EF4-FFF2-40B4-BE49-F238E27FC236}">
                <a16:creationId xmlns:a16="http://schemas.microsoft.com/office/drawing/2014/main" id="{794DB671-5498-4D03-BD08-136CD16E21F5}"/>
              </a:ext>
            </a:extLst>
          </p:cNvPr>
          <p:cNvGraphicFramePr>
            <a:graphicFrameLocks noGrp="1"/>
          </p:cNvGraphicFramePr>
          <p:nvPr>
            <p:extLst>
              <p:ext uri="{D42A27DB-BD31-4B8C-83A1-F6EECF244321}">
                <p14:modId xmlns:p14="http://schemas.microsoft.com/office/powerpoint/2010/main" val="3893216019"/>
              </p:ext>
            </p:extLst>
          </p:nvPr>
        </p:nvGraphicFramePr>
        <p:xfrm>
          <a:off x="6322555" y="2743200"/>
          <a:ext cx="4485706" cy="1371600"/>
        </p:xfrm>
        <a:graphic>
          <a:graphicData uri="http://schemas.openxmlformats.org/drawingml/2006/table">
            <a:tbl>
              <a:tblPr firstRow="1" bandRow="1">
                <a:tableStyleId>{5C22544A-7EE6-4342-B048-85BDC9FD1C3A}</a:tableStyleId>
              </a:tblPr>
              <a:tblGrid>
                <a:gridCol w="541484">
                  <a:extLst>
                    <a:ext uri="{9D8B030D-6E8A-4147-A177-3AD203B41FA5}">
                      <a16:colId xmlns:a16="http://schemas.microsoft.com/office/drawing/2014/main" val="2696855272"/>
                    </a:ext>
                  </a:extLst>
                </a:gridCol>
                <a:gridCol w="1115736">
                  <a:extLst>
                    <a:ext uri="{9D8B030D-6E8A-4147-A177-3AD203B41FA5}">
                      <a16:colId xmlns:a16="http://schemas.microsoft.com/office/drawing/2014/main" val="2339036760"/>
                    </a:ext>
                  </a:extLst>
                </a:gridCol>
                <a:gridCol w="1761688">
                  <a:extLst>
                    <a:ext uri="{9D8B030D-6E8A-4147-A177-3AD203B41FA5}">
                      <a16:colId xmlns:a16="http://schemas.microsoft.com/office/drawing/2014/main" val="1557291614"/>
                    </a:ext>
                  </a:extLst>
                </a:gridCol>
                <a:gridCol w="1066798">
                  <a:extLst>
                    <a:ext uri="{9D8B030D-6E8A-4147-A177-3AD203B41FA5}">
                      <a16:colId xmlns:a16="http://schemas.microsoft.com/office/drawing/2014/main" val="4098011126"/>
                    </a:ext>
                  </a:extLst>
                </a:gridCol>
              </a:tblGrid>
              <a:tr h="251878">
                <a:tc>
                  <a:txBody>
                    <a:bodyPr/>
                    <a:lstStyle/>
                    <a:p>
                      <a:r>
                        <a:rPr lang="fr-FR" sz="1200"/>
                        <a:t>ID</a:t>
                      </a:r>
                    </a:p>
                  </a:txBody>
                  <a:tcPr/>
                </a:tc>
                <a:tc>
                  <a:txBody>
                    <a:bodyPr/>
                    <a:lstStyle/>
                    <a:p>
                      <a:r>
                        <a:rPr lang="fr-FR" sz="1200"/>
                        <a:t>Facture</a:t>
                      </a:r>
                    </a:p>
                  </a:txBody>
                  <a:tcPr/>
                </a:tc>
                <a:tc>
                  <a:txBody>
                    <a:bodyPr/>
                    <a:lstStyle/>
                    <a:p>
                      <a:r>
                        <a:rPr lang="fr-FR" sz="1200"/>
                        <a:t>Prix</a:t>
                      </a:r>
                    </a:p>
                  </a:txBody>
                  <a:tcPr/>
                </a:tc>
                <a:tc>
                  <a:txBody>
                    <a:bodyPr/>
                    <a:lstStyle/>
                    <a:p>
                      <a:r>
                        <a:rPr lang="fr-FR" sz="1200" err="1"/>
                        <a:t>Client_ID</a:t>
                      </a:r>
                      <a:endParaRPr lang="fr-FR" sz="1200"/>
                    </a:p>
                  </a:txBody>
                  <a:tcPr/>
                </a:tc>
                <a:extLst>
                  <a:ext uri="{0D108BD9-81ED-4DB2-BD59-A6C34878D82A}">
                    <a16:rowId xmlns:a16="http://schemas.microsoft.com/office/drawing/2014/main" val="3262443685"/>
                  </a:ext>
                </a:extLst>
              </a:tr>
              <a:tr h="251878">
                <a:tc>
                  <a:txBody>
                    <a:bodyPr/>
                    <a:lstStyle/>
                    <a:p>
                      <a:r>
                        <a:rPr lang="fr-FR" sz="1200"/>
                        <a:t>1</a:t>
                      </a:r>
                    </a:p>
                  </a:txBody>
                  <a:tcPr/>
                </a:tc>
                <a:tc>
                  <a:txBody>
                    <a:bodyPr/>
                    <a:lstStyle/>
                    <a:p>
                      <a:r>
                        <a:rPr lang="fr-FR" sz="1200"/>
                        <a:t>TV</a:t>
                      </a:r>
                    </a:p>
                  </a:txBody>
                  <a:tcPr/>
                </a:tc>
                <a:tc>
                  <a:txBody>
                    <a:bodyPr/>
                    <a:lstStyle/>
                    <a:p>
                      <a:r>
                        <a:rPr lang="fr-FR" sz="1200"/>
                        <a:t>500</a:t>
                      </a:r>
                    </a:p>
                  </a:txBody>
                  <a:tcPr/>
                </a:tc>
                <a:tc>
                  <a:txBody>
                    <a:bodyPr/>
                    <a:lstStyle/>
                    <a:p>
                      <a:r>
                        <a:rPr lang="fr-FR" sz="1200"/>
                        <a:t>1</a:t>
                      </a:r>
                    </a:p>
                  </a:txBody>
                  <a:tcPr/>
                </a:tc>
                <a:extLst>
                  <a:ext uri="{0D108BD9-81ED-4DB2-BD59-A6C34878D82A}">
                    <a16:rowId xmlns:a16="http://schemas.microsoft.com/office/drawing/2014/main" val="644644615"/>
                  </a:ext>
                </a:extLst>
              </a:tr>
              <a:tr h="251878">
                <a:tc>
                  <a:txBody>
                    <a:bodyPr/>
                    <a:lstStyle/>
                    <a:p>
                      <a:r>
                        <a:rPr lang="fr-FR" sz="1200"/>
                        <a:t>2</a:t>
                      </a:r>
                    </a:p>
                  </a:txBody>
                  <a:tcPr/>
                </a:tc>
                <a:tc>
                  <a:txBody>
                    <a:bodyPr/>
                    <a:lstStyle/>
                    <a:p>
                      <a:r>
                        <a:rPr lang="fr-FR" sz="1200"/>
                        <a:t>Tablette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a:t>400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a:t>1</a:t>
                      </a:r>
                    </a:p>
                  </a:txBody>
                  <a:tcPr/>
                </a:tc>
                <a:extLst>
                  <a:ext uri="{0D108BD9-81ED-4DB2-BD59-A6C34878D82A}">
                    <a16:rowId xmlns:a16="http://schemas.microsoft.com/office/drawing/2014/main" val="1587431500"/>
                  </a:ext>
                </a:extLst>
              </a:tr>
              <a:tr h="251878">
                <a:tc>
                  <a:txBody>
                    <a:bodyPr/>
                    <a:lstStyle/>
                    <a:p>
                      <a:pPr lvl="0">
                        <a:buNone/>
                      </a:pPr>
                      <a:r>
                        <a:rPr lang="fr-FR" sz="1200"/>
                        <a:t>3</a:t>
                      </a:r>
                    </a:p>
                  </a:txBody>
                  <a:tcPr/>
                </a:tc>
                <a:tc>
                  <a:txBody>
                    <a:bodyPr/>
                    <a:lstStyle/>
                    <a:p>
                      <a:pPr lvl="0">
                        <a:buNone/>
                      </a:pPr>
                      <a:r>
                        <a:rPr lang="fr-FR" sz="1200"/>
                        <a:t>TV</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a:t>300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a:t>2</a:t>
                      </a:r>
                    </a:p>
                  </a:txBody>
                  <a:tcPr/>
                </a:tc>
                <a:extLst>
                  <a:ext uri="{0D108BD9-81ED-4DB2-BD59-A6C34878D82A}">
                    <a16:rowId xmlns:a16="http://schemas.microsoft.com/office/drawing/2014/main" val="1923110520"/>
                  </a:ext>
                </a:extLst>
              </a:tr>
              <a:tr h="251878">
                <a:tc>
                  <a:txBody>
                    <a:bodyPr/>
                    <a:lstStyle/>
                    <a:p>
                      <a:pPr lvl="0">
                        <a:buNone/>
                      </a:pPr>
                      <a:r>
                        <a:rPr lang="fr-FR" sz="1200"/>
                        <a:t>4</a:t>
                      </a:r>
                    </a:p>
                  </a:txBody>
                  <a:tcPr/>
                </a:tc>
                <a:tc>
                  <a:txBody>
                    <a:bodyPr/>
                    <a:lstStyle/>
                    <a:p>
                      <a:pPr lvl="0">
                        <a:buNone/>
                      </a:pPr>
                      <a:r>
                        <a:rPr lang="fr-FR" sz="1200"/>
                        <a:t>Téléphone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a:t>600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a:t>1</a:t>
                      </a:r>
                    </a:p>
                  </a:txBody>
                  <a:tcPr/>
                </a:tc>
                <a:extLst>
                  <a:ext uri="{0D108BD9-81ED-4DB2-BD59-A6C34878D82A}">
                    <a16:rowId xmlns:a16="http://schemas.microsoft.com/office/drawing/2014/main" val="2352285617"/>
                  </a:ext>
                </a:extLst>
              </a:tr>
            </a:tbl>
          </a:graphicData>
        </a:graphic>
      </p:graphicFrame>
      <p:graphicFrame>
        <p:nvGraphicFramePr>
          <p:cNvPr id="6" name="Tableau 5">
            <a:extLst>
              <a:ext uri="{FF2B5EF4-FFF2-40B4-BE49-F238E27FC236}">
                <a16:creationId xmlns:a16="http://schemas.microsoft.com/office/drawing/2014/main" id="{E700BCAF-5067-4297-A875-D2B9AC171AD3}"/>
              </a:ext>
            </a:extLst>
          </p:cNvPr>
          <p:cNvGraphicFramePr>
            <a:graphicFrameLocks noGrp="1"/>
          </p:cNvGraphicFramePr>
          <p:nvPr>
            <p:extLst>
              <p:ext uri="{D42A27DB-BD31-4B8C-83A1-F6EECF244321}">
                <p14:modId xmlns:p14="http://schemas.microsoft.com/office/powerpoint/2010/main" val="2626766890"/>
              </p:ext>
            </p:extLst>
          </p:nvPr>
        </p:nvGraphicFramePr>
        <p:xfrm>
          <a:off x="1383737" y="4825231"/>
          <a:ext cx="9424524" cy="1554480"/>
        </p:xfrm>
        <a:graphic>
          <a:graphicData uri="http://schemas.openxmlformats.org/drawingml/2006/table">
            <a:tbl>
              <a:tblPr firstRow="1" bandRow="1">
                <a:tableStyleId>{5C22544A-7EE6-4342-B048-85BDC9FD1C3A}</a:tableStyleId>
              </a:tblPr>
              <a:tblGrid>
                <a:gridCol w="659935">
                  <a:extLst>
                    <a:ext uri="{9D8B030D-6E8A-4147-A177-3AD203B41FA5}">
                      <a16:colId xmlns:a16="http://schemas.microsoft.com/office/drawing/2014/main" val="2696855272"/>
                    </a:ext>
                  </a:extLst>
                </a:gridCol>
                <a:gridCol w="780176">
                  <a:extLst>
                    <a:ext uri="{9D8B030D-6E8A-4147-A177-3AD203B41FA5}">
                      <a16:colId xmlns:a16="http://schemas.microsoft.com/office/drawing/2014/main" val="2339036760"/>
                    </a:ext>
                  </a:extLst>
                </a:gridCol>
                <a:gridCol w="1870745">
                  <a:extLst>
                    <a:ext uri="{9D8B030D-6E8A-4147-A177-3AD203B41FA5}">
                      <a16:colId xmlns:a16="http://schemas.microsoft.com/office/drawing/2014/main" val="1557291614"/>
                    </a:ext>
                  </a:extLst>
                </a:gridCol>
                <a:gridCol w="1009921">
                  <a:extLst>
                    <a:ext uri="{9D8B030D-6E8A-4147-A177-3AD203B41FA5}">
                      <a16:colId xmlns:a16="http://schemas.microsoft.com/office/drawing/2014/main" val="1834040079"/>
                    </a:ext>
                  </a:extLst>
                </a:gridCol>
                <a:gridCol w="1015068">
                  <a:extLst>
                    <a:ext uri="{9D8B030D-6E8A-4147-A177-3AD203B41FA5}">
                      <a16:colId xmlns:a16="http://schemas.microsoft.com/office/drawing/2014/main" val="3832863650"/>
                    </a:ext>
                  </a:extLst>
                </a:gridCol>
                <a:gridCol w="1510018">
                  <a:extLst>
                    <a:ext uri="{9D8B030D-6E8A-4147-A177-3AD203B41FA5}">
                      <a16:colId xmlns:a16="http://schemas.microsoft.com/office/drawing/2014/main" val="3991688078"/>
                    </a:ext>
                  </a:extLst>
                </a:gridCol>
                <a:gridCol w="2578661">
                  <a:extLst>
                    <a:ext uri="{9D8B030D-6E8A-4147-A177-3AD203B41FA5}">
                      <a16:colId xmlns:a16="http://schemas.microsoft.com/office/drawing/2014/main" val="1600950687"/>
                    </a:ext>
                  </a:extLst>
                </a:gridCol>
              </a:tblGrid>
              <a:tr h="251878">
                <a:tc>
                  <a:txBody>
                    <a:bodyPr/>
                    <a:lstStyle/>
                    <a:p>
                      <a:r>
                        <a:rPr lang="fr-FR" sz="1200"/>
                        <a:t>Client.ID</a:t>
                      </a:r>
                    </a:p>
                  </a:txBody>
                  <a:tcPr/>
                </a:tc>
                <a:tc>
                  <a:txBody>
                    <a:bodyPr/>
                    <a:lstStyle/>
                    <a:p>
                      <a:r>
                        <a:rPr lang="fr-FR" sz="1200"/>
                        <a:t>Nom</a:t>
                      </a:r>
                    </a:p>
                  </a:txBody>
                  <a:tcPr/>
                </a:tc>
                <a:tc>
                  <a:txBody>
                    <a:bodyPr/>
                    <a:lstStyle/>
                    <a:p>
                      <a:r>
                        <a:rPr lang="fr-FR" sz="1200"/>
                        <a:t>Email</a:t>
                      </a:r>
                    </a:p>
                  </a:txBody>
                  <a:tcPr/>
                </a:tc>
                <a:tc>
                  <a:txBody>
                    <a:bodyPr/>
                    <a:lstStyle/>
                    <a:p>
                      <a:r>
                        <a:rPr lang="fr-FR" sz="1200"/>
                        <a:t>Facture.ID</a:t>
                      </a:r>
                    </a:p>
                  </a:txBody>
                  <a:tcPr/>
                </a:tc>
                <a:tc>
                  <a:txBody>
                    <a:bodyPr/>
                    <a:lstStyle/>
                    <a:p>
                      <a:r>
                        <a:rPr lang="fr-FR" sz="1200"/>
                        <a:t>Facture</a:t>
                      </a:r>
                    </a:p>
                  </a:txBody>
                  <a:tcPr/>
                </a:tc>
                <a:tc>
                  <a:txBody>
                    <a:bodyPr/>
                    <a:lstStyle/>
                    <a:p>
                      <a:r>
                        <a:rPr lang="fr-FR" sz="1200"/>
                        <a:t>Prix</a:t>
                      </a:r>
                    </a:p>
                  </a:txBody>
                  <a:tcPr/>
                </a:tc>
                <a:tc>
                  <a:txBody>
                    <a:bodyPr/>
                    <a:lstStyle/>
                    <a:p>
                      <a:r>
                        <a:rPr lang="fr-FR" sz="1200" err="1"/>
                        <a:t>Client_ID</a:t>
                      </a:r>
                      <a:endParaRPr lang="fr-FR" sz="1200"/>
                    </a:p>
                  </a:txBody>
                  <a:tcPr/>
                </a:tc>
                <a:extLst>
                  <a:ext uri="{0D108BD9-81ED-4DB2-BD59-A6C34878D82A}">
                    <a16:rowId xmlns:a16="http://schemas.microsoft.com/office/drawing/2014/main" val="3262443685"/>
                  </a:ext>
                </a:extLst>
              </a:tr>
              <a:tr h="251878">
                <a:tc>
                  <a:txBody>
                    <a:bodyPr/>
                    <a:lstStyle/>
                    <a:p>
                      <a:r>
                        <a:rPr lang="fr-FR" sz="1200"/>
                        <a:t>1</a:t>
                      </a:r>
                    </a:p>
                  </a:txBody>
                  <a:tcPr/>
                </a:tc>
                <a:tc>
                  <a:txBody>
                    <a:bodyPr/>
                    <a:lstStyle/>
                    <a:p>
                      <a:r>
                        <a:rPr lang="fr-FR" sz="1200"/>
                        <a:t>JOHN</a:t>
                      </a:r>
                    </a:p>
                  </a:txBody>
                  <a:tcPr/>
                </a:tc>
                <a:tc>
                  <a:txBody>
                    <a:bodyPr/>
                    <a:lstStyle/>
                    <a:p>
                      <a:r>
                        <a:rPr lang="fr-FR" sz="1200">
                          <a:hlinkClick r:id="rId2"/>
                        </a:rPr>
                        <a:t>john@gmail.com</a:t>
                      </a:r>
                      <a:endParaRPr lang="fr-FR" sz="1200"/>
                    </a:p>
                  </a:txBody>
                  <a:tcPr/>
                </a:tc>
                <a:tc>
                  <a:txBody>
                    <a:bodyPr/>
                    <a:lstStyle/>
                    <a:p>
                      <a:r>
                        <a:rPr lang="fr-FR" sz="1200"/>
                        <a:t>1</a:t>
                      </a:r>
                    </a:p>
                  </a:txBody>
                  <a:tcPr/>
                </a:tc>
                <a:tc>
                  <a:txBody>
                    <a:bodyPr/>
                    <a:lstStyle/>
                    <a:p>
                      <a:r>
                        <a:rPr lang="fr-FR" sz="1200"/>
                        <a:t>TV</a:t>
                      </a:r>
                    </a:p>
                  </a:txBody>
                  <a:tcPr/>
                </a:tc>
                <a:tc>
                  <a:txBody>
                    <a:bodyPr/>
                    <a:lstStyle/>
                    <a:p>
                      <a:r>
                        <a:rPr lang="fr-FR" sz="1200"/>
                        <a:t>500</a:t>
                      </a:r>
                    </a:p>
                  </a:txBody>
                  <a:tcPr/>
                </a:tc>
                <a:tc>
                  <a:txBody>
                    <a:bodyPr/>
                    <a:lstStyle/>
                    <a:p>
                      <a:r>
                        <a:rPr lang="fr-FR" sz="1200"/>
                        <a:t>1</a:t>
                      </a:r>
                    </a:p>
                  </a:txBody>
                  <a:tcPr/>
                </a:tc>
                <a:extLst>
                  <a:ext uri="{0D108BD9-81ED-4DB2-BD59-A6C34878D82A}">
                    <a16:rowId xmlns:a16="http://schemas.microsoft.com/office/drawing/2014/main" val="644644615"/>
                  </a:ext>
                </a:extLst>
              </a:tr>
              <a:tr h="251878">
                <a:tc>
                  <a:txBody>
                    <a:bodyPr/>
                    <a:lstStyle/>
                    <a:p>
                      <a:r>
                        <a:rPr lang="fr-FR" sz="1200"/>
                        <a:t>1</a:t>
                      </a:r>
                    </a:p>
                  </a:txBody>
                  <a:tcPr/>
                </a:tc>
                <a:tc>
                  <a:txBody>
                    <a:bodyPr/>
                    <a:lstStyle/>
                    <a:p>
                      <a:r>
                        <a:rPr lang="fr-FR" sz="1200"/>
                        <a:t>JOHN</a:t>
                      </a:r>
                    </a:p>
                  </a:txBody>
                  <a:tcPr/>
                </a:tc>
                <a:tc>
                  <a:txBody>
                    <a:bodyPr/>
                    <a:lstStyle/>
                    <a:p>
                      <a:r>
                        <a:rPr lang="fr-FR" sz="1200">
                          <a:hlinkClick r:id="rId2"/>
                        </a:rPr>
                        <a:t>john@gmail.com</a:t>
                      </a:r>
                      <a:endParaRPr lang="fr-FR" sz="1200"/>
                    </a:p>
                  </a:txBody>
                  <a:tcPr/>
                </a:tc>
                <a:tc>
                  <a:txBody>
                    <a:bodyPr/>
                    <a:lstStyle/>
                    <a:p>
                      <a:r>
                        <a:rPr lang="fr-FR" sz="1200"/>
                        <a:t>2</a:t>
                      </a:r>
                    </a:p>
                  </a:txBody>
                  <a:tcPr/>
                </a:tc>
                <a:tc>
                  <a:txBody>
                    <a:bodyPr/>
                    <a:lstStyle/>
                    <a:p>
                      <a:r>
                        <a:rPr lang="fr-FR" sz="1200"/>
                        <a:t>Tablette</a:t>
                      </a:r>
                    </a:p>
                  </a:txBody>
                  <a:tcPr/>
                </a:tc>
                <a:tc>
                  <a:txBody>
                    <a:bodyPr/>
                    <a:lstStyle/>
                    <a:p>
                      <a:r>
                        <a:rPr lang="fr-FR" sz="1200"/>
                        <a:t>400</a:t>
                      </a:r>
                    </a:p>
                  </a:txBody>
                  <a:tcPr/>
                </a:tc>
                <a:tc>
                  <a:txBody>
                    <a:bodyPr/>
                    <a:lstStyle/>
                    <a:p>
                      <a:r>
                        <a:rPr lang="fr-FR" sz="1200"/>
                        <a:t>1</a:t>
                      </a:r>
                    </a:p>
                  </a:txBody>
                  <a:tcPr/>
                </a:tc>
                <a:extLst>
                  <a:ext uri="{0D108BD9-81ED-4DB2-BD59-A6C34878D82A}">
                    <a16:rowId xmlns:a16="http://schemas.microsoft.com/office/drawing/2014/main" val="1587431500"/>
                  </a:ext>
                </a:extLst>
              </a:tr>
              <a:tr h="251878">
                <a:tc>
                  <a:txBody>
                    <a:bodyPr/>
                    <a:lstStyle/>
                    <a:p>
                      <a:pPr lvl="0">
                        <a:buNone/>
                      </a:pPr>
                      <a:r>
                        <a:rPr lang="fr-FR" sz="1200"/>
                        <a:t>1</a:t>
                      </a:r>
                    </a:p>
                  </a:txBody>
                  <a:tcPr/>
                </a:tc>
                <a:tc>
                  <a:txBody>
                    <a:bodyPr/>
                    <a:lstStyle/>
                    <a:p>
                      <a:r>
                        <a:rPr lang="fr-FR" sz="1200"/>
                        <a:t>JOHN</a:t>
                      </a:r>
                    </a:p>
                  </a:txBody>
                  <a:tcPr/>
                </a:tc>
                <a:tc>
                  <a:txBody>
                    <a:bodyPr/>
                    <a:lstStyle/>
                    <a:p>
                      <a:r>
                        <a:rPr lang="fr-FR" sz="1200">
                          <a:hlinkClick r:id="rId2"/>
                        </a:rPr>
                        <a:t>john@gmail.com</a:t>
                      </a:r>
                      <a:endParaRPr lang="fr-FR" sz="1200"/>
                    </a:p>
                  </a:txBody>
                  <a:tcPr/>
                </a:tc>
                <a:tc>
                  <a:txBody>
                    <a:bodyPr/>
                    <a:lstStyle/>
                    <a:p>
                      <a:r>
                        <a:rPr lang="fr-FR" sz="1200"/>
                        <a:t>4</a:t>
                      </a:r>
                    </a:p>
                  </a:txBody>
                  <a:tcPr/>
                </a:tc>
                <a:tc>
                  <a:txBody>
                    <a:bodyPr/>
                    <a:lstStyle/>
                    <a:p>
                      <a:r>
                        <a:rPr lang="fr-FR" sz="1200"/>
                        <a:t>Téléphone</a:t>
                      </a:r>
                    </a:p>
                  </a:txBody>
                  <a:tcPr/>
                </a:tc>
                <a:tc>
                  <a:txBody>
                    <a:bodyPr/>
                    <a:lstStyle/>
                    <a:p>
                      <a:r>
                        <a:rPr lang="fr-FR" sz="1200"/>
                        <a:t>600</a:t>
                      </a:r>
                    </a:p>
                  </a:txBody>
                  <a:tcPr/>
                </a:tc>
                <a:tc>
                  <a:txBody>
                    <a:bodyPr/>
                    <a:lstStyle/>
                    <a:p>
                      <a:r>
                        <a:rPr lang="fr-FR" sz="1200"/>
                        <a:t>1</a:t>
                      </a:r>
                    </a:p>
                  </a:txBody>
                  <a:tcPr/>
                </a:tc>
                <a:extLst>
                  <a:ext uri="{0D108BD9-81ED-4DB2-BD59-A6C34878D82A}">
                    <a16:rowId xmlns:a16="http://schemas.microsoft.com/office/drawing/2014/main" val="2352285617"/>
                  </a:ext>
                </a:extLst>
              </a:tr>
              <a:tr h="251878">
                <a:tc>
                  <a:txBody>
                    <a:bodyPr/>
                    <a:lstStyle/>
                    <a:p>
                      <a:pPr lvl="0">
                        <a:buNone/>
                      </a:pPr>
                      <a:r>
                        <a:rPr lang="fr-FR" sz="1200"/>
                        <a:t>2</a:t>
                      </a:r>
                    </a:p>
                  </a:txBody>
                  <a:tcPr/>
                </a:tc>
                <a:tc>
                  <a:txBody>
                    <a:bodyPr/>
                    <a:lstStyle/>
                    <a:p>
                      <a:pPr lvl="0">
                        <a:buNone/>
                      </a:pPr>
                      <a:r>
                        <a:rPr lang="fr-FR" sz="1200"/>
                        <a:t>SMITH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a:hlinkClick r:id="rId3"/>
                        </a:rPr>
                        <a:t>smith@hotmail.com</a:t>
                      </a:r>
                      <a:endParaRPr lang="fr-FR" sz="120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a:t>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a:t>TV</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a:t>300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a:t>2</a:t>
                      </a:r>
                    </a:p>
                  </a:txBody>
                  <a:tcPr/>
                </a:tc>
                <a:extLst>
                  <a:ext uri="{0D108BD9-81ED-4DB2-BD59-A6C34878D82A}">
                    <a16:rowId xmlns:a16="http://schemas.microsoft.com/office/drawing/2014/main" val="1283985025"/>
                  </a:ext>
                </a:extLst>
              </a:tr>
            </a:tbl>
          </a:graphicData>
        </a:graphic>
      </p:graphicFrame>
      <p:sp>
        <p:nvSpPr>
          <p:cNvPr id="7" name="Flèche : bas 6">
            <a:extLst>
              <a:ext uri="{FF2B5EF4-FFF2-40B4-BE49-F238E27FC236}">
                <a16:creationId xmlns:a16="http://schemas.microsoft.com/office/drawing/2014/main" id="{FEA9AAD4-7AB2-4B4B-8256-A7789AC0F5E6}"/>
              </a:ext>
            </a:extLst>
          </p:cNvPr>
          <p:cNvSpPr/>
          <p:nvPr/>
        </p:nvSpPr>
        <p:spPr>
          <a:xfrm>
            <a:off x="5345184" y="4147039"/>
            <a:ext cx="461395" cy="5830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Organigramme : Jonction de sommaire 7">
            <a:extLst>
              <a:ext uri="{FF2B5EF4-FFF2-40B4-BE49-F238E27FC236}">
                <a16:creationId xmlns:a16="http://schemas.microsoft.com/office/drawing/2014/main" id="{5593F1EB-BACF-4209-BB43-739DD7E1F5E3}"/>
              </a:ext>
            </a:extLst>
          </p:cNvPr>
          <p:cNvSpPr/>
          <p:nvPr/>
        </p:nvSpPr>
        <p:spPr>
          <a:xfrm>
            <a:off x="5252626" y="3195409"/>
            <a:ext cx="609549" cy="583035"/>
          </a:xfrm>
          <a:prstGeom prst="flowChartSummingJunc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979548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(jointures)</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p:txBody>
          <a:bodyPr anchor="t"/>
          <a:lstStyle/>
          <a:p>
            <a:r>
              <a:rPr lang="fr-FR" dirty="0"/>
              <a:t>Cas d’application d’une jointure : on veut récupérer la somme totale des factures de chaque client, mais le montant des factures et le nom des clients sont dans deux tables différentes</a:t>
            </a:r>
          </a:p>
          <a:p>
            <a:r>
              <a:rPr lang="fr-FR" dirty="0"/>
              <a:t>Requête :</a:t>
            </a:r>
          </a:p>
          <a:p>
            <a:pPr marL="0" indent="0" algn="ctr">
              <a:lnSpc>
                <a:spcPct val="150000"/>
              </a:lnSpc>
              <a:buNone/>
            </a:pPr>
            <a:r>
              <a:rPr lang="fr-FR" b="1" dirty="0"/>
              <a:t>SELECT</a:t>
            </a:r>
            <a:r>
              <a:rPr lang="fr-FR" dirty="0"/>
              <a:t> Client.ID, Nom, </a:t>
            </a:r>
            <a:r>
              <a:rPr lang="fr-FR" i="1" dirty="0"/>
              <a:t>SUM</a:t>
            </a:r>
            <a:r>
              <a:rPr lang="fr-FR" dirty="0"/>
              <a:t>(Prix) </a:t>
            </a:r>
            <a:r>
              <a:rPr lang="fr-FR" b="1" dirty="0"/>
              <a:t>FROM</a:t>
            </a:r>
            <a:r>
              <a:rPr lang="fr-FR" dirty="0"/>
              <a:t> Client </a:t>
            </a:r>
            <a:r>
              <a:rPr lang="fr-FR" b="1" dirty="0"/>
              <a:t>INNER JOIN</a:t>
            </a:r>
            <a:r>
              <a:rPr lang="fr-FR" dirty="0"/>
              <a:t> Facture </a:t>
            </a:r>
            <a:r>
              <a:rPr lang="fr-FR" b="1" dirty="0"/>
              <a:t>ON</a:t>
            </a:r>
            <a:r>
              <a:rPr lang="fr-FR" dirty="0"/>
              <a:t> Client.ID = </a:t>
            </a:r>
            <a:r>
              <a:rPr lang="fr-FR" dirty="0" err="1"/>
              <a:t>Facture.Client_ID</a:t>
            </a:r>
            <a:r>
              <a:rPr lang="fr-FR" dirty="0"/>
              <a:t> </a:t>
            </a:r>
            <a:r>
              <a:rPr lang="fr-FR" b="1" dirty="0"/>
              <a:t>GROUP BY</a:t>
            </a:r>
            <a:r>
              <a:rPr lang="fr-FR" dirty="0"/>
              <a:t> Client.ID</a:t>
            </a:r>
          </a:p>
          <a:p>
            <a:r>
              <a:rPr lang="fr-FR" dirty="0"/>
              <a:t>Résultat (cf. exemple précédent) :</a:t>
            </a:r>
          </a:p>
          <a:p>
            <a:endParaRPr lang="fr-FR" dirty="0"/>
          </a:p>
          <a:p>
            <a:endParaRPr lang="fr-FR" dirty="0"/>
          </a:p>
        </p:txBody>
      </p:sp>
      <p:sp>
        <p:nvSpPr>
          <p:cNvPr id="6" name="Espace réservé du numéro de diapositive 5">
            <a:extLst>
              <a:ext uri="{FF2B5EF4-FFF2-40B4-BE49-F238E27FC236}">
                <a16:creationId xmlns:a16="http://schemas.microsoft.com/office/drawing/2014/main" id="{D182F184-9E7C-4EED-B159-DB208FF3D0A1}"/>
              </a:ext>
            </a:extLst>
          </p:cNvPr>
          <p:cNvSpPr>
            <a:spLocks noGrp="1"/>
          </p:cNvSpPr>
          <p:nvPr>
            <p:ph type="sldNum" sz="quarter" idx="12"/>
          </p:nvPr>
        </p:nvSpPr>
        <p:spPr/>
        <p:txBody>
          <a:bodyPr/>
          <a:lstStyle/>
          <a:p>
            <a:fld id="{27C6CCC6-2BE5-4E42-96A4-D1E8E81A3D8E}" type="slidenum">
              <a:rPr lang="de-DE" smtClean="0"/>
              <a:t>96</a:t>
            </a:fld>
            <a:endParaRPr lang="de-DE"/>
          </a:p>
        </p:txBody>
      </p:sp>
      <p:graphicFrame>
        <p:nvGraphicFramePr>
          <p:cNvPr id="9" name="Tableau 8">
            <a:extLst>
              <a:ext uri="{FF2B5EF4-FFF2-40B4-BE49-F238E27FC236}">
                <a16:creationId xmlns:a16="http://schemas.microsoft.com/office/drawing/2014/main" id="{C6E8F6AB-6973-4713-A680-B6B88101C864}"/>
              </a:ext>
            </a:extLst>
          </p:cNvPr>
          <p:cNvGraphicFramePr>
            <a:graphicFrameLocks noGrp="1"/>
          </p:cNvGraphicFramePr>
          <p:nvPr>
            <p:extLst>
              <p:ext uri="{D42A27DB-BD31-4B8C-83A1-F6EECF244321}">
                <p14:modId xmlns:p14="http://schemas.microsoft.com/office/powerpoint/2010/main" val="1220802084"/>
              </p:ext>
            </p:extLst>
          </p:nvPr>
        </p:nvGraphicFramePr>
        <p:xfrm>
          <a:off x="5347088" y="5312486"/>
          <a:ext cx="3310856" cy="1005840"/>
        </p:xfrm>
        <a:graphic>
          <a:graphicData uri="http://schemas.openxmlformats.org/drawingml/2006/table">
            <a:tbl>
              <a:tblPr firstRow="1" bandRow="1">
                <a:tableStyleId>{5C22544A-7EE6-4342-B048-85BDC9FD1C3A}</a:tableStyleId>
              </a:tblPr>
              <a:tblGrid>
                <a:gridCol w="659935">
                  <a:extLst>
                    <a:ext uri="{9D8B030D-6E8A-4147-A177-3AD203B41FA5}">
                      <a16:colId xmlns:a16="http://schemas.microsoft.com/office/drawing/2014/main" val="2696855272"/>
                    </a:ext>
                  </a:extLst>
                </a:gridCol>
                <a:gridCol w="780176">
                  <a:extLst>
                    <a:ext uri="{9D8B030D-6E8A-4147-A177-3AD203B41FA5}">
                      <a16:colId xmlns:a16="http://schemas.microsoft.com/office/drawing/2014/main" val="2339036760"/>
                    </a:ext>
                  </a:extLst>
                </a:gridCol>
                <a:gridCol w="1870745">
                  <a:extLst>
                    <a:ext uri="{9D8B030D-6E8A-4147-A177-3AD203B41FA5}">
                      <a16:colId xmlns:a16="http://schemas.microsoft.com/office/drawing/2014/main" val="1557291614"/>
                    </a:ext>
                  </a:extLst>
                </a:gridCol>
              </a:tblGrid>
              <a:tr h="251878">
                <a:tc>
                  <a:txBody>
                    <a:bodyPr/>
                    <a:lstStyle/>
                    <a:p>
                      <a:r>
                        <a:rPr lang="fr-FR" sz="1200"/>
                        <a:t>Client.ID</a:t>
                      </a:r>
                    </a:p>
                  </a:txBody>
                  <a:tcPr/>
                </a:tc>
                <a:tc>
                  <a:txBody>
                    <a:bodyPr/>
                    <a:lstStyle/>
                    <a:p>
                      <a:r>
                        <a:rPr lang="fr-FR" sz="1200" dirty="0"/>
                        <a:t>Nom</a:t>
                      </a:r>
                    </a:p>
                  </a:txBody>
                  <a:tcPr/>
                </a:tc>
                <a:tc>
                  <a:txBody>
                    <a:bodyPr/>
                    <a:lstStyle/>
                    <a:p>
                      <a:r>
                        <a:rPr lang="fr-FR" sz="1200"/>
                        <a:t>SUM(Prix)</a:t>
                      </a:r>
                    </a:p>
                  </a:txBody>
                  <a:tcPr/>
                </a:tc>
                <a:extLst>
                  <a:ext uri="{0D108BD9-81ED-4DB2-BD59-A6C34878D82A}">
                    <a16:rowId xmlns:a16="http://schemas.microsoft.com/office/drawing/2014/main" val="3262443685"/>
                  </a:ext>
                </a:extLst>
              </a:tr>
              <a:tr h="251878">
                <a:tc>
                  <a:txBody>
                    <a:bodyPr/>
                    <a:lstStyle/>
                    <a:p>
                      <a:r>
                        <a:rPr lang="fr-FR" sz="1200"/>
                        <a:t>1</a:t>
                      </a:r>
                    </a:p>
                  </a:txBody>
                  <a:tcPr/>
                </a:tc>
                <a:tc>
                  <a:txBody>
                    <a:bodyPr/>
                    <a:lstStyle/>
                    <a:p>
                      <a:r>
                        <a:rPr lang="fr-FR" sz="1200"/>
                        <a:t>JOHN</a:t>
                      </a:r>
                    </a:p>
                  </a:txBody>
                  <a:tcPr/>
                </a:tc>
                <a:tc>
                  <a:txBody>
                    <a:bodyPr/>
                    <a:lstStyle/>
                    <a:p>
                      <a:r>
                        <a:rPr lang="fr-FR" sz="1200"/>
                        <a:t>1500</a:t>
                      </a:r>
                    </a:p>
                  </a:txBody>
                  <a:tcPr/>
                </a:tc>
                <a:extLst>
                  <a:ext uri="{0D108BD9-81ED-4DB2-BD59-A6C34878D82A}">
                    <a16:rowId xmlns:a16="http://schemas.microsoft.com/office/drawing/2014/main" val="644644615"/>
                  </a:ext>
                </a:extLst>
              </a:tr>
              <a:tr h="251878">
                <a:tc>
                  <a:txBody>
                    <a:bodyPr/>
                    <a:lstStyle/>
                    <a:p>
                      <a:r>
                        <a:rPr lang="fr-FR" sz="1200"/>
                        <a:t>2</a:t>
                      </a:r>
                    </a:p>
                  </a:txBody>
                  <a:tcPr/>
                </a:tc>
                <a:tc>
                  <a:txBody>
                    <a:bodyPr/>
                    <a:lstStyle/>
                    <a:p>
                      <a:r>
                        <a:rPr lang="fr-FR" sz="1200"/>
                        <a:t>SMITH</a:t>
                      </a:r>
                    </a:p>
                  </a:txBody>
                  <a:tcPr/>
                </a:tc>
                <a:tc>
                  <a:txBody>
                    <a:bodyPr/>
                    <a:lstStyle/>
                    <a:p>
                      <a:r>
                        <a:rPr lang="fr-FR" sz="1200" dirty="0"/>
                        <a:t>300</a:t>
                      </a:r>
                    </a:p>
                  </a:txBody>
                  <a:tcPr/>
                </a:tc>
                <a:extLst>
                  <a:ext uri="{0D108BD9-81ED-4DB2-BD59-A6C34878D82A}">
                    <a16:rowId xmlns:a16="http://schemas.microsoft.com/office/drawing/2014/main" val="1587431500"/>
                  </a:ext>
                </a:extLst>
              </a:tr>
            </a:tbl>
          </a:graphicData>
        </a:graphic>
      </p:graphicFrame>
    </p:spTree>
    <p:extLst>
      <p:ext uri="{BB962C8B-B14F-4D97-AF65-F5344CB8AC3E}">
        <p14:creationId xmlns:p14="http://schemas.microsoft.com/office/powerpoint/2010/main" val="13209736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normAutofit/>
          </a:bodyPr>
          <a:lstStyle/>
          <a:p>
            <a:r>
              <a:rPr lang="fr-FR"/>
              <a:t>Langage SQL (jointures)</a:t>
            </a:r>
          </a:p>
        </p:txBody>
      </p:sp>
      <p:graphicFrame>
        <p:nvGraphicFramePr>
          <p:cNvPr id="5" name="Espace réservé du contenu 2">
            <a:extLst>
              <a:ext uri="{FF2B5EF4-FFF2-40B4-BE49-F238E27FC236}">
                <a16:creationId xmlns:a16="http://schemas.microsoft.com/office/drawing/2014/main" id="{26721D7D-3F6B-42EB-8C62-12470B32E88B}"/>
              </a:ext>
            </a:extLst>
          </p:cNvPr>
          <p:cNvGraphicFramePr>
            <a:graphicFrameLocks noGrp="1"/>
          </p:cNvGraphicFramePr>
          <p:nvPr>
            <p:ph idx="1"/>
            <p:extLst>
              <p:ext uri="{D42A27DB-BD31-4B8C-83A1-F6EECF244321}">
                <p14:modId xmlns:p14="http://schemas.microsoft.com/office/powerpoint/2010/main" val="1950933572"/>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Espace réservé du numéro de diapositive 5">
            <a:extLst>
              <a:ext uri="{FF2B5EF4-FFF2-40B4-BE49-F238E27FC236}">
                <a16:creationId xmlns:a16="http://schemas.microsoft.com/office/drawing/2014/main" id="{55E04A67-D6A4-4F1D-954B-BF28DB6A05C2}"/>
              </a:ext>
            </a:extLst>
          </p:cNvPr>
          <p:cNvSpPr>
            <a:spLocks noGrp="1"/>
          </p:cNvSpPr>
          <p:nvPr>
            <p:ph type="sldNum" sz="quarter" idx="12"/>
          </p:nvPr>
        </p:nvSpPr>
        <p:spPr/>
        <p:txBody>
          <a:bodyPr/>
          <a:lstStyle/>
          <a:p>
            <a:fld id="{27C6CCC6-2BE5-4E42-96A4-D1E8E81A3D8E}" type="slidenum">
              <a:rPr lang="de-DE" smtClean="0"/>
              <a:t>97</a:t>
            </a:fld>
            <a:endParaRPr lang="de-DE"/>
          </a:p>
        </p:txBody>
      </p:sp>
    </p:spTree>
    <p:extLst>
      <p:ext uri="{BB962C8B-B14F-4D97-AF65-F5344CB8AC3E}">
        <p14:creationId xmlns:p14="http://schemas.microsoft.com/office/powerpoint/2010/main" val="338218101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Langage SQL (jointures)</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a:xfrm>
            <a:off x="818712" y="2222287"/>
            <a:ext cx="10563286" cy="3636511"/>
          </a:xfrm>
        </p:spPr>
        <p:txBody>
          <a:bodyPr anchor="ctr"/>
          <a:lstStyle/>
          <a:p>
            <a:r>
              <a:rPr lang="fr-FR"/>
              <a:t>Autres jointures :</a:t>
            </a:r>
          </a:p>
          <a:p>
            <a:pPr lvl="1"/>
            <a:r>
              <a:rPr lang="fr-FR" b="1"/>
              <a:t>CROSS JOIN</a:t>
            </a:r>
            <a:r>
              <a:rPr lang="fr-FR"/>
              <a:t> : Produit cartésien des deux tables (nombre de résultats égal à N x M où N est le nombre de lignes de la 1</a:t>
            </a:r>
            <a:r>
              <a:rPr lang="fr-FR" baseline="30000"/>
              <a:t>ère</a:t>
            </a:r>
            <a:r>
              <a:rPr lang="fr-FR"/>
              <a:t> table et M le nombre de lignes de la 2</a:t>
            </a:r>
            <a:r>
              <a:rPr lang="fr-FR" baseline="30000"/>
              <a:t>nde</a:t>
            </a:r>
            <a:r>
              <a:rPr lang="fr-FR"/>
              <a:t> table)</a:t>
            </a:r>
          </a:p>
          <a:p>
            <a:pPr lvl="1"/>
            <a:r>
              <a:rPr lang="fr-FR" b="1"/>
              <a:t>FULL JOIN</a:t>
            </a:r>
            <a:r>
              <a:rPr lang="fr-FR"/>
              <a:t> : Union des deux tables</a:t>
            </a:r>
          </a:p>
        </p:txBody>
      </p:sp>
      <p:sp>
        <p:nvSpPr>
          <p:cNvPr id="6" name="Espace réservé du numéro de diapositive 5">
            <a:extLst>
              <a:ext uri="{FF2B5EF4-FFF2-40B4-BE49-F238E27FC236}">
                <a16:creationId xmlns:a16="http://schemas.microsoft.com/office/drawing/2014/main" id="{179E1736-337A-4BE2-BFDD-E337A72FA9F6}"/>
              </a:ext>
            </a:extLst>
          </p:cNvPr>
          <p:cNvSpPr>
            <a:spLocks noGrp="1"/>
          </p:cNvSpPr>
          <p:nvPr>
            <p:ph type="sldNum" sz="quarter" idx="12"/>
          </p:nvPr>
        </p:nvSpPr>
        <p:spPr/>
        <p:txBody>
          <a:bodyPr/>
          <a:lstStyle/>
          <a:p>
            <a:fld id="{27C6CCC6-2BE5-4E42-96A4-D1E8E81A3D8E}" type="slidenum">
              <a:rPr lang="de-DE" smtClean="0"/>
              <a:t>98</a:t>
            </a:fld>
            <a:endParaRPr lang="de-DE"/>
          </a:p>
        </p:txBody>
      </p:sp>
    </p:spTree>
    <p:extLst>
      <p:ext uri="{BB962C8B-B14F-4D97-AF65-F5344CB8AC3E}">
        <p14:creationId xmlns:p14="http://schemas.microsoft.com/office/powerpoint/2010/main" val="373951404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Exercices DML</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a:xfrm>
            <a:off x="818712" y="2222287"/>
            <a:ext cx="10563286" cy="3636511"/>
          </a:xfrm>
        </p:spPr>
        <p:txBody>
          <a:bodyPr anchor="ctr"/>
          <a:lstStyle/>
          <a:p>
            <a:r>
              <a:rPr lang="fr-FR"/>
              <a:t>Pour chacun des énoncés suivants, écrire les requêtes SQL correspondantes</a:t>
            </a:r>
          </a:p>
        </p:txBody>
      </p:sp>
      <p:sp>
        <p:nvSpPr>
          <p:cNvPr id="6" name="Espace réservé du numéro de diapositive 5">
            <a:extLst>
              <a:ext uri="{FF2B5EF4-FFF2-40B4-BE49-F238E27FC236}">
                <a16:creationId xmlns:a16="http://schemas.microsoft.com/office/drawing/2014/main" id="{7C9746E7-35D2-439A-9CC0-5001D5682A53}"/>
              </a:ext>
            </a:extLst>
          </p:cNvPr>
          <p:cNvSpPr>
            <a:spLocks noGrp="1"/>
          </p:cNvSpPr>
          <p:nvPr>
            <p:ph type="sldNum" sz="quarter" idx="12"/>
          </p:nvPr>
        </p:nvSpPr>
        <p:spPr/>
        <p:txBody>
          <a:bodyPr/>
          <a:lstStyle/>
          <a:p>
            <a:fld id="{27C6CCC6-2BE5-4E42-96A4-D1E8E81A3D8E}" type="slidenum">
              <a:rPr lang="de-DE" smtClean="0"/>
              <a:t>99</a:t>
            </a:fld>
            <a:endParaRPr lang="de-DE"/>
          </a:p>
        </p:txBody>
      </p:sp>
    </p:spTree>
    <p:extLst>
      <p:ext uri="{BB962C8B-B14F-4D97-AF65-F5344CB8AC3E}">
        <p14:creationId xmlns:p14="http://schemas.microsoft.com/office/powerpoint/2010/main" val="276998216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Exercices DML</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a:xfrm>
            <a:off x="818712" y="3716323"/>
            <a:ext cx="10563286" cy="2142475"/>
          </a:xfrm>
        </p:spPr>
        <p:txBody>
          <a:bodyPr anchor="t">
            <a:normAutofit fontScale="92500" lnSpcReduction="10000"/>
          </a:bodyPr>
          <a:lstStyle/>
          <a:p>
            <a:pPr marL="0" indent="0">
              <a:buNone/>
            </a:pPr>
            <a:r>
              <a:rPr lang="fr-FR" dirty="0"/>
              <a:t>Le nom de la table est « étudiants »</a:t>
            </a:r>
          </a:p>
          <a:p>
            <a:r>
              <a:rPr lang="fr-FR" dirty="0"/>
              <a:t>Récupérer les noms et prénoms des étudiants de la table</a:t>
            </a:r>
          </a:p>
          <a:p>
            <a:r>
              <a:rPr lang="fr-FR" dirty="0"/>
              <a:t>Compter le nombre d’étudiants de la table</a:t>
            </a:r>
          </a:p>
          <a:p>
            <a:r>
              <a:rPr lang="fr-FR" dirty="0"/>
              <a:t>Récupérer l’ensemble des étudiants qui s’appellent Thomas (prénom)</a:t>
            </a:r>
          </a:p>
          <a:p>
            <a:r>
              <a:rPr lang="fr-FR" dirty="0"/>
              <a:t>Compter le nombre de Thomas (prénom)</a:t>
            </a:r>
          </a:p>
          <a:p>
            <a:r>
              <a:rPr lang="fr-FR" dirty="0"/>
              <a:t>Calculer l’âge moyen des étudiants</a:t>
            </a:r>
          </a:p>
        </p:txBody>
      </p:sp>
      <p:sp>
        <p:nvSpPr>
          <p:cNvPr id="7" name="Espace réservé du numéro de diapositive 6">
            <a:extLst>
              <a:ext uri="{FF2B5EF4-FFF2-40B4-BE49-F238E27FC236}">
                <a16:creationId xmlns:a16="http://schemas.microsoft.com/office/drawing/2014/main" id="{5EC375E2-465C-49A2-ADF4-C46DD959DD05}"/>
              </a:ext>
            </a:extLst>
          </p:cNvPr>
          <p:cNvSpPr>
            <a:spLocks noGrp="1"/>
          </p:cNvSpPr>
          <p:nvPr>
            <p:ph type="sldNum" sz="quarter" idx="12"/>
          </p:nvPr>
        </p:nvSpPr>
        <p:spPr/>
        <p:txBody>
          <a:bodyPr/>
          <a:lstStyle/>
          <a:p>
            <a:fld id="{27C6CCC6-2BE5-4E42-96A4-D1E8E81A3D8E}" type="slidenum">
              <a:rPr lang="de-DE" smtClean="0"/>
              <a:t>100</a:t>
            </a:fld>
            <a:endParaRPr lang="de-DE"/>
          </a:p>
        </p:txBody>
      </p:sp>
      <p:graphicFrame>
        <p:nvGraphicFramePr>
          <p:cNvPr id="5" name="Tableau 4">
            <a:extLst>
              <a:ext uri="{FF2B5EF4-FFF2-40B4-BE49-F238E27FC236}">
                <a16:creationId xmlns:a16="http://schemas.microsoft.com/office/drawing/2014/main" id="{F69F04B0-EC7C-4EE1-A84F-F3B1460F115B}"/>
              </a:ext>
            </a:extLst>
          </p:cNvPr>
          <p:cNvGraphicFramePr>
            <a:graphicFrameLocks noGrp="1"/>
          </p:cNvGraphicFramePr>
          <p:nvPr>
            <p:extLst>
              <p:ext uri="{D42A27DB-BD31-4B8C-83A1-F6EECF244321}">
                <p14:modId xmlns:p14="http://schemas.microsoft.com/office/powerpoint/2010/main" val="1178339732"/>
              </p:ext>
            </p:extLst>
          </p:nvPr>
        </p:nvGraphicFramePr>
        <p:xfrm>
          <a:off x="1915019" y="2775917"/>
          <a:ext cx="8361960" cy="365760"/>
        </p:xfrm>
        <a:graphic>
          <a:graphicData uri="http://schemas.openxmlformats.org/drawingml/2006/table">
            <a:tbl>
              <a:tblPr firstRow="1" bandRow="1">
                <a:tableStyleId>{5C22544A-7EE6-4342-B048-85BDC9FD1C3A}</a:tableStyleId>
              </a:tblPr>
              <a:tblGrid>
                <a:gridCol w="2090490">
                  <a:extLst>
                    <a:ext uri="{9D8B030D-6E8A-4147-A177-3AD203B41FA5}">
                      <a16:colId xmlns:a16="http://schemas.microsoft.com/office/drawing/2014/main" val="3277682527"/>
                    </a:ext>
                  </a:extLst>
                </a:gridCol>
                <a:gridCol w="2090490">
                  <a:extLst>
                    <a:ext uri="{9D8B030D-6E8A-4147-A177-3AD203B41FA5}">
                      <a16:colId xmlns:a16="http://schemas.microsoft.com/office/drawing/2014/main" val="938059223"/>
                    </a:ext>
                  </a:extLst>
                </a:gridCol>
                <a:gridCol w="1647505">
                  <a:extLst>
                    <a:ext uri="{9D8B030D-6E8A-4147-A177-3AD203B41FA5}">
                      <a16:colId xmlns:a16="http://schemas.microsoft.com/office/drawing/2014/main" val="3441414773"/>
                    </a:ext>
                  </a:extLst>
                </a:gridCol>
                <a:gridCol w="2533475">
                  <a:extLst>
                    <a:ext uri="{9D8B030D-6E8A-4147-A177-3AD203B41FA5}">
                      <a16:colId xmlns:a16="http://schemas.microsoft.com/office/drawing/2014/main" val="634610080"/>
                    </a:ext>
                  </a:extLst>
                </a:gridCol>
              </a:tblGrid>
              <a:tr h="0">
                <a:tc>
                  <a:txBody>
                    <a:bodyPr/>
                    <a:lstStyle/>
                    <a:p>
                      <a:r>
                        <a:rPr lang="fr-FR" u="sng" dirty="0"/>
                        <a:t>ID</a:t>
                      </a:r>
                    </a:p>
                  </a:txBody>
                  <a:tcPr/>
                </a:tc>
                <a:tc>
                  <a:txBody>
                    <a:bodyPr/>
                    <a:lstStyle/>
                    <a:p>
                      <a:r>
                        <a:rPr lang="fr-FR"/>
                        <a:t>Nom</a:t>
                      </a:r>
                    </a:p>
                  </a:txBody>
                  <a:tcPr/>
                </a:tc>
                <a:tc>
                  <a:txBody>
                    <a:bodyPr/>
                    <a:lstStyle/>
                    <a:p>
                      <a:r>
                        <a:rPr lang="fr-FR" dirty="0"/>
                        <a:t>Prénom</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dirty="0" err="1"/>
                        <a:t>DateDeNaissance</a:t>
                      </a:r>
                      <a:endParaRPr lang="fr-FR" dirty="0"/>
                    </a:p>
                  </a:txBody>
                  <a:tcPr/>
                </a:tc>
                <a:extLst>
                  <a:ext uri="{0D108BD9-81ED-4DB2-BD59-A6C34878D82A}">
                    <a16:rowId xmlns:a16="http://schemas.microsoft.com/office/drawing/2014/main" val="2463666429"/>
                  </a:ext>
                </a:extLst>
              </a:tr>
            </a:tbl>
          </a:graphicData>
        </a:graphic>
      </p:graphicFrame>
    </p:spTree>
    <p:extLst>
      <p:ext uri="{BB962C8B-B14F-4D97-AF65-F5344CB8AC3E}">
        <p14:creationId xmlns:p14="http://schemas.microsoft.com/office/powerpoint/2010/main" val="373298296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Exercices DML</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a:xfrm>
            <a:off x="818712" y="3716323"/>
            <a:ext cx="10563286" cy="2142475"/>
          </a:xfrm>
        </p:spPr>
        <p:txBody>
          <a:bodyPr anchor="t">
            <a:normAutofit/>
          </a:bodyPr>
          <a:lstStyle/>
          <a:p>
            <a:r>
              <a:rPr lang="fr-FR" b="1"/>
              <a:t>SELECT</a:t>
            </a:r>
            <a:r>
              <a:rPr lang="fr-FR"/>
              <a:t> Nom, Prénom </a:t>
            </a:r>
            <a:r>
              <a:rPr lang="fr-FR" b="1"/>
              <a:t>FROM</a:t>
            </a:r>
            <a:r>
              <a:rPr lang="fr-FR"/>
              <a:t> Étudiants</a:t>
            </a:r>
          </a:p>
          <a:p>
            <a:r>
              <a:rPr lang="fr-FR" b="1"/>
              <a:t>SELECT</a:t>
            </a:r>
            <a:r>
              <a:rPr lang="fr-FR"/>
              <a:t> </a:t>
            </a:r>
            <a:r>
              <a:rPr lang="fr-FR" i="1"/>
              <a:t>COUNT</a:t>
            </a:r>
            <a:r>
              <a:rPr lang="fr-FR"/>
              <a:t>(*) </a:t>
            </a:r>
            <a:r>
              <a:rPr lang="fr-FR" b="1"/>
              <a:t>FROM</a:t>
            </a:r>
            <a:r>
              <a:rPr lang="fr-FR"/>
              <a:t> Étudiants</a:t>
            </a:r>
          </a:p>
          <a:p>
            <a:r>
              <a:rPr lang="fr-FR" b="1"/>
              <a:t>SELECT</a:t>
            </a:r>
            <a:r>
              <a:rPr lang="fr-FR"/>
              <a:t> * </a:t>
            </a:r>
            <a:r>
              <a:rPr lang="fr-FR" b="1"/>
              <a:t>FROM</a:t>
            </a:r>
            <a:r>
              <a:rPr lang="fr-FR"/>
              <a:t> Étudiants </a:t>
            </a:r>
            <a:r>
              <a:rPr lang="fr-FR" b="1"/>
              <a:t>WHERE</a:t>
            </a:r>
            <a:r>
              <a:rPr lang="fr-FR"/>
              <a:t> Prénom = ‘Thomas’</a:t>
            </a:r>
          </a:p>
          <a:p>
            <a:r>
              <a:rPr lang="fr-FR" b="1"/>
              <a:t>SELECT</a:t>
            </a:r>
            <a:r>
              <a:rPr lang="fr-FR"/>
              <a:t> </a:t>
            </a:r>
            <a:r>
              <a:rPr lang="fr-FR" i="1"/>
              <a:t>COUNT</a:t>
            </a:r>
            <a:r>
              <a:rPr lang="fr-FR"/>
              <a:t>(*) </a:t>
            </a:r>
            <a:r>
              <a:rPr lang="fr-FR" b="1"/>
              <a:t>FROM</a:t>
            </a:r>
            <a:r>
              <a:rPr lang="fr-FR"/>
              <a:t> Étudiants </a:t>
            </a:r>
            <a:r>
              <a:rPr lang="fr-FR" b="1"/>
              <a:t>WHERE</a:t>
            </a:r>
            <a:r>
              <a:rPr lang="fr-FR"/>
              <a:t> Prénom = ‘Thomas’</a:t>
            </a:r>
          </a:p>
          <a:p>
            <a:r>
              <a:rPr lang="fr-FR" b="1"/>
              <a:t>SELECT</a:t>
            </a:r>
            <a:r>
              <a:rPr lang="fr-FR"/>
              <a:t> </a:t>
            </a:r>
            <a:r>
              <a:rPr lang="fr-FR" i="1"/>
              <a:t>AVG</a:t>
            </a:r>
            <a:r>
              <a:rPr lang="fr-FR"/>
              <a:t>(</a:t>
            </a:r>
            <a:r>
              <a:rPr lang="fr-FR" i="1"/>
              <a:t>YEAR</a:t>
            </a:r>
            <a:r>
              <a:rPr lang="fr-FR"/>
              <a:t>(</a:t>
            </a:r>
            <a:r>
              <a:rPr lang="fr-FR" i="1"/>
              <a:t>DATEDIFF</a:t>
            </a:r>
            <a:r>
              <a:rPr lang="fr-FR"/>
              <a:t>(</a:t>
            </a:r>
            <a:r>
              <a:rPr lang="fr-FR" i="1"/>
              <a:t>NOW</a:t>
            </a:r>
            <a:r>
              <a:rPr lang="fr-FR"/>
              <a:t>(), </a:t>
            </a:r>
            <a:r>
              <a:rPr lang="fr-FR" err="1"/>
              <a:t>DateDeNaissance</a:t>
            </a:r>
            <a:r>
              <a:rPr lang="fr-FR"/>
              <a:t>))) </a:t>
            </a:r>
            <a:r>
              <a:rPr lang="fr-FR" b="1"/>
              <a:t>FROM</a:t>
            </a:r>
            <a:r>
              <a:rPr lang="fr-FR"/>
              <a:t> Étudiants</a:t>
            </a:r>
          </a:p>
        </p:txBody>
      </p:sp>
      <p:sp>
        <p:nvSpPr>
          <p:cNvPr id="8" name="Espace réservé du numéro de diapositive 7">
            <a:extLst>
              <a:ext uri="{FF2B5EF4-FFF2-40B4-BE49-F238E27FC236}">
                <a16:creationId xmlns:a16="http://schemas.microsoft.com/office/drawing/2014/main" id="{DFDE43A1-7945-43D6-BB43-43BB1042C21B}"/>
              </a:ext>
            </a:extLst>
          </p:cNvPr>
          <p:cNvSpPr>
            <a:spLocks noGrp="1"/>
          </p:cNvSpPr>
          <p:nvPr>
            <p:ph type="sldNum" sz="quarter" idx="12"/>
          </p:nvPr>
        </p:nvSpPr>
        <p:spPr/>
        <p:txBody>
          <a:bodyPr/>
          <a:lstStyle/>
          <a:p>
            <a:fld id="{27C6CCC6-2BE5-4E42-96A4-D1E8E81A3D8E}" type="slidenum">
              <a:rPr lang="de-DE" smtClean="0"/>
              <a:t>101</a:t>
            </a:fld>
            <a:endParaRPr lang="de-DE"/>
          </a:p>
        </p:txBody>
      </p:sp>
      <p:graphicFrame>
        <p:nvGraphicFramePr>
          <p:cNvPr id="4" name="Tableau 3">
            <a:extLst>
              <a:ext uri="{FF2B5EF4-FFF2-40B4-BE49-F238E27FC236}">
                <a16:creationId xmlns:a16="http://schemas.microsoft.com/office/drawing/2014/main" id="{9F979B96-3B5E-43BE-94AA-B62376B10D48}"/>
              </a:ext>
            </a:extLst>
          </p:cNvPr>
          <p:cNvGraphicFramePr>
            <a:graphicFrameLocks noGrp="1"/>
          </p:cNvGraphicFramePr>
          <p:nvPr>
            <p:extLst>
              <p:ext uri="{D42A27DB-BD31-4B8C-83A1-F6EECF244321}">
                <p14:modId xmlns:p14="http://schemas.microsoft.com/office/powerpoint/2010/main" val="1758981744"/>
              </p:ext>
            </p:extLst>
          </p:nvPr>
        </p:nvGraphicFramePr>
        <p:xfrm>
          <a:off x="1915019" y="2775917"/>
          <a:ext cx="8361960" cy="365760"/>
        </p:xfrm>
        <a:graphic>
          <a:graphicData uri="http://schemas.openxmlformats.org/drawingml/2006/table">
            <a:tbl>
              <a:tblPr firstRow="1" bandRow="1">
                <a:tableStyleId>{5C22544A-7EE6-4342-B048-85BDC9FD1C3A}</a:tableStyleId>
              </a:tblPr>
              <a:tblGrid>
                <a:gridCol w="2090490">
                  <a:extLst>
                    <a:ext uri="{9D8B030D-6E8A-4147-A177-3AD203B41FA5}">
                      <a16:colId xmlns:a16="http://schemas.microsoft.com/office/drawing/2014/main" val="3277682527"/>
                    </a:ext>
                  </a:extLst>
                </a:gridCol>
                <a:gridCol w="2090490">
                  <a:extLst>
                    <a:ext uri="{9D8B030D-6E8A-4147-A177-3AD203B41FA5}">
                      <a16:colId xmlns:a16="http://schemas.microsoft.com/office/drawing/2014/main" val="938059223"/>
                    </a:ext>
                  </a:extLst>
                </a:gridCol>
                <a:gridCol w="1647505">
                  <a:extLst>
                    <a:ext uri="{9D8B030D-6E8A-4147-A177-3AD203B41FA5}">
                      <a16:colId xmlns:a16="http://schemas.microsoft.com/office/drawing/2014/main" val="3441414773"/>
                    </a:ext>
                  </a:extLst>
                </a:gridCol>
                <a:gridCol w="2533475">
                  <a:extLst>
                    <a:ext uri="{9D8B030D-6E8A-4147-A177-3AD203B41FA5}">
                      <a16:colId xmlns:a16="http://schemas.microsoft.com/office/drawing/2014/main" val="634610080"/>
                    </a:ext>
                  </a:extLst>
                </a:gridCol>
              </a:tblGrid>
              <a:tr h="0">
                <a:tc>
                  <a:txBody>
                    <a:bodyPr/>
                    <a:lstStyle/>
                    <a:p>
                      <a:r>
                        <a:rPr lang="fr-FR"/>
                        <a:t>ID</a:t>
                      </a:r>
                    </a:p>
                  </a:txBody>
                  <a:tcPr/>
                </a:tc>
                <a:tc>
                  <a:txBody>
                    <a:bodyPr/>
                    <a:lstStyle/>
                    <a:p>
                      <a:r>
                        <a:rPr lang="fr-FR"/>
                        <a:t>Nom</a:t>
                      </a:r>
                    </a:p>
                  </a:txBody>
                  <a:tcPr/>
                </a:tc>
                <a:tc>
                  <a:txBody>
                    <a:bodyPr/>
                    <a:lstStyle/>
                    <a:p>
                      <a:r>
                        <a:rPr lang="fr-FR"/>
                        <a:t>Prénom</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err="1"/>
                        <a:t>DateDeNaissance</a:t>
                      </a:r>
                      <a:endParaRPr lang="fr-FR"/>
                    </a:p>
                  </a:txBody>
                  <a:tcPr/>
                </a:tc>
                <a:extLst>
                  <a:ext uri="{0D108BD9-81ED-4DB2-BD59-A6C34878D82A}">
                    <a16:rowId xmlns:a16="http://schemas.microsoft.com/office/drawing/2014/main" val="2463666429"/>
                  </a:ext>
                </a:extLst>
              </a:tr>
            </a:tbl>
          </a:graphicData>
        </a:graphic>
      </p:graphicFrame>
      <p:cxnSp>
        <p:nvCxnSpPr>
          <p:cNvPr id="6" name="Connecteur droit avec flèche 5">
            <a:extLst>
              <a:ext uri="{FF2B5EF4-FFF2-40B4-BE49-F238E27FC236}">
                <a16:creationId xmlns:a16="http://schemas.microsoft.com/office/drawing/2014/main" id="{64A279B8-1AC5-4CF6-B0B5-C6C6A5520230}"/>
              </a:ext>
            </a:extLst>
          </p:cNvPr>
          <p:cNvCxnSpPr>
            <a:cxnSpLocks/>
          </p:cNvCxnSpPr>
          <p:nvPr/>
        </p:nvCxnSpPr>
        <p:spPr>
          <a:xfrm>
            <a:off x="2964264" y="5737609"/>
            <a:ext cx="0" cy="291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54577B1F-B370-4A1A-90C4-080E8BD4C40E}"/>
              </a:ext>
            </a:extLst>
          </p:cNvPr>
          <p:cNvCxnSpPr/>
          <p:nvPr/>
        </p:nvCxnSpPr>
        <p:spPr>
          <a:xfrm>
            <a:off x="2743200" y="5737609"/>
            <a:ext cx="2391508"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 coins arrondis 9">
            <a:extLst>
              <a:ext uri="{FF2B5EF4-FFF2-40B4-BE49-F238E27FC236}">
                <a16:creationId xmlns:a16="http://schemas.microsoft.com/office/drawing/2014/main" id="{2E5D304C-ADBD-4A7A-9E6F-AD537EFF5D07}"/>
              </a:ext>
            </a:extLst>
          </p:cNvPr>
          <p:cNvSpPr/>
          <p:nvPr/>
        </p:nvSpPr>
        <p:spPr>
          <a:xfrm>
            <a:off x="2572378" y="6109398"/>
            <a:ext cx="4230351" cy="5325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Les fonctions sur les dates seront étudiées en TD</a:t>
            </a:r>
          </a:p>
        </p:txBody>
      </p:sp>
    </p:spTree>
    <p:extLst>
      <p:ext uri="{BB962C8B-B14F-4D97-AF65-F5344CB8AC3E}">
        <p14:creationId xmlns:p14="http://schemas.microsoft.com/office/powerpoint/2010/main" val="3712808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Exercices DML</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a:xfrm>
            <a:off x="818712" y="3716323"/>
            <a:ext cx="10563286" cy="2142475"/>
          </a:xfrm>
        </p:spPr>
        <p:txBody>
          <a:bodyPr anchor="t"/>
          <a:lstStyle/>
          <a:p>
            <a:r>
              <a:rPr lang="fr-FR"/>
              <a:t>Récupérer tous les titres des films réalisés par Michael Bay</a:t>
            </a:r>
          </a:p>
          <a:p>
            <a:r>
              <a:rPr lang="fr-FR"/>
              <a:t>Récupérer le nom de tous les réalisateurs dont la note moyenne des films est supérieur à 10</a:t>
            </a:r>
          </a:p>
        </p:txBody>
      </p:sp>
      <p:sp>
        <p:nvSpPr>
          <p:cNvPr id="10" name="Espace réservé du numéro de diapositive 9">
            <a:extLst>
              <a:ext uri="{FF2B5EF4-FFF2-40B4-BE49-F238E27FC236}">
                <a16:creationId xmlns:a16="http://schemas.microsoft.com/office/drawing/2014/main" id="{E788B6A1-4700-456C-8811-71CC2EA1419A}"/>
              </a:ext>
            </a:extLst>
          </p:cNvPr>
          <p:cNvSpPr>
            <a:spLocks noGrp="1"/>
          </p:cNvSpPr>
          <p:nvPr>
            <p:ph type="sldNum" sz="quarter" idx="12"/>
          </p:nvPr>
        </p:nvSpPr>
        <p:spPr/>
        <p:txBody>
          <a:bodyPr/>
          <a:lstStyle/>
          <a:p>
            <a:fld id="{27C6CCC6-2BE5-4E42-96A4-D1E8E81A3D8E}" type="slidenum">
              <a:rPr lang="de-DE" smtClean="0"/>
              <a:t>102</a:t>
            </a:fld>
            <a:endParaRPr lang="de-DE"/>
          </a:p>
        </p:txBody>
      </p:sp>
      <p:graphicFrame>
        <p:nvGraphicFramePr>
          <p:cNvPr id="5" name="Tableau 4">
            <a:extLst>
              <a:ext uri="{FF2B5EF4-FFF2-40B4-BE49-F238E27FC236}">
                <a16:creationId xmlns:a16="http://schemas.microsoft.com/office/drawing/2014/main" id="{F69F04B0-EC7C-4EE1-A84F-F3B1460F115B}"/>
              </a:ext>
            </a:extLst>
          </p:cNvPr>
          <p:cNvGraphicFramePr>
            <a:graphicFrameLocks noGrp="1"/>
          </p:cNvGraphicFramePr>
          <p:nvPr>
            <p:extLst>
              <p:ext uri="{D42A27DB-BD31-4B8C-83A1-F6EECF244321}">
                <p14:modId xmlns:p14="http://schemas.microsoft.com/office/powerpoint/2010/main" val="3583268263"/>
              </p:ext>
            </p:extLst>
          </p:nvPr>
        </p:nvGraphicFramePr>
        <p:xfrm>
          <a:off x="810000" y="2705578"/>
          <a:ext cx="4666352" cy="365760"/>
        </p:xfrm>
        <a:graphic>
          <a:graphicData uri="http://schemas.openxmlformats.org/drawingml/2006/table">
            <a:tbl>
              <a:tblPr firstRow="1" bandRow="1">
                <a:tableStyleId>{5C22544A-7EE6-4342-B048-85BDC9FD1C3A}</a:tableStyleId>
              </a:tblPr>
              <a:tblGrid>
                <a:gridCol w="519284">
                  <a:extLst>
                    <a:ext uri="{9D8B030D-6E8A-4147-A177-3AD203B41FA5}">
                      <a16:colId xmlns:a16="http://schemas.microsoft.com/office/drawing/2014/main" val="3277682527"/>
                    </a:ext>
                  </a:extLst>
                </a:gridCol>
                <a:gridCol w="1135842">
                  <a:extLst>
                    <a:ext uri="{9D8B030D-6E8A-4147-A177-3AD203B41FA5}">
                      <a16:colId xmlns:a16="http://schemas.microsoft.com/office/drawing/2014/main" val="938059223"/>
                    </a:ext>
                  </a:extLst>
                </a:gridCol>
                <a:gridCol w="1135842">
                  <a:extLst>
                    <a:ext uri="{9D8B030D-6E8A-4147-A177-3AD203B41FA5}">
                      <a16:colId xmlns:a16="http://schemas.microsoft.com/office/drawing/2014/main" val="546480127"/>
                    </a:ext>
                  </a:extLst>
                </a:gridCol>
                <a:gridCol w="1875384">
                  <a:extLst>
                    <a:ext uri="{9D8B030D-6E8A-4147-A177-3AD203B41FA5}">
                      <a16:colId xmlns:a16="http://schemas.microsoft.com/office/drawing/2014/main" val="3441414773"/>
                    </a:ext>
                  </a:extLst>
                </a:gridCol>
              </a:tblGrid>
              <a:tr h="0">
                <a:tc>
                  <a:txBody>
                    <a:bodyPr/>
                    <a:lstStyle/>
                    <a:p>
                      <a:r>
                        <a:rPr lang="fr-FR" u="sng" dirty="0"/>
                        <a:t>ID</a:t>
                      </a:r>
                    </a:p>
                  </a:txBody>
                  <a:tcPr/>
                </a:tc>
                <a:tc>
                  <a:txBody>
                    <a:bodyPr/>
                    <a:lstStyle/>
                    <a:p>
                      <a:r>
                        <a:rPr lang="fr-FR" err="1"/>
                        <a:t>TitreFilm</a:t>
                      </a:r>
                      <a:endParaRPr lang="fr-FR"/>
                    </a:p>
                  </a:txBody>
                  <a:tcPr/>
                </a:tc>
                <a:tc>
                  <a:txBody>
                    <a:bodyPr/>
                    <a:lstStyle/>
                    <a:p>
                      <a:r>
                        <a:rPr lang="fr-FR"/>
                        <a:t>Note</a:t>
                      </a:r>
                    </a:p>
                  </a:txBody>
                  <a:tcPr/>
                </a:tc>
                <a:tc>
                  <a:txBody>
                    <a:bodyPr/>
                    <a:lstStyle/>
                    <a:p>
                      <a:r>
                        <a:rPr lang="fr-FR" dirty="0" err="1"/>
                        <a:t>ID_Réalisateur</a:t>
                      </a:r>
                      <a:endParaRPr lang="fr-FR" dirty="0"/>
                    </a:p>
                  </a:txBody>
                  <a:tcPr/>
                </a:tc>
                <a:extLst>
                  <a:ext uri="{0D108BD9-81ED-4DB2-BD59-A6C34878D82A}">
                    <a16:rowId xmlns:a16="http://schemas.microsoft.com/office/drawing/2014/main" val="2463666429"/>
                  </a:ext>
                </a:extLst>
              </a:tr>
            </a:tbl>
          </a:graphicData>
        </a:graphic>
      </p:graphicFrame>
      <p:graphicFrame>
        <p:nvGraphicFramePr>
          <p:cNvPr id="6" name="Tableau 5">
            <a:extLst>
              <a:ext uri="{FF2B5EF4-FFF2-40B4-BE49-F238E27FC236}">
                <a16:creationId xmlns:a16="http://schemas.microsoft.com/office/drawing/2014/main" id="{93CFDA8B-3A12-4BB4-BFF2-6EE669785B34}"/>
              </a:ext>
            </a:extLst>
          </p:cNvPr>
          <p:cNvGraphicFramePr>
            <a:graphicFrameLocks noGrp="1"/>
          </p:cNvGraphicFramePr>
          <p:nvPr>
            <p:extLst>
              <p:ext uri="{D42A27DB-BD31-4B8C-83A1-F6EECF244321}">
                <p14:modId xmlns:p14="http://schemas.microsoft.com/office/powerpoint/2010/main" val="160553778"/>
              </p:ext>
            </p:extLst>
          </p:nvPr>
        </p:nvGraphicFramePr>
        <p:xfrm>
          <a:off x="6715650" y="2705578"/>
          <a:ext cx="3480646" cy="365760"/>
        </p:xfrm>
        <a:graphic>
          <a:graphicData uri="http://schemas.openxmlformats.org/drawingml/2006/table">
            <a:tbl>
              <a:tblPr firstRow="1" bandRow="1">
                <a:tableStyleId>{5C22544A-7EE6-4342-B048-85BDC9FD1C3A}</a:tableStyleId>
              </a:tblPr>
              <a:tblGrid>
                <a:gridCol w="511950">
                  <a:extLst>
                    <a:ext uri="{9D8B030D-6E8A-4147-A177-3AD203B41FA5}">
                      <a16:colId xmlns:a16="http://schemas.microsoft.com/office/drawing/2014/main" val="3277682527"/>
                    </a:ext>
                  </a:extLst>
                </a:gridCol>
                <a:gridCol w="1119799">
                  <a:extLst>
                    <a:ext uri="{9D8B030D-6E8A-4147-A177-3AD203B41FA5}">
                      <a16:colId xmlns:a16="http://schemas.microsoft.com/office/drawing/2014/main" val="938059223"/>
                    </a:ext>
                  </a:extLst>
                </a:gridCol>
                <a:gridCol w="1848897">
                  <a:extLst>
                    <a:ext uri="{9D8B030D-6E8A-4147-A177-3AD203B41FA5}">
                      <a16:colId xmlns:a16="http://schemas.microsoft.com/office/drawing/2014/main" val="3441414773"/>
                    </a:ext>
                  </a:extLst>
                </a:gridCol>
              </a:tblGrid>
              <a:tr h="0">
                <a:tc>
                  <a:txBody>
                    <a:bodyPr/>
                    <a:lstStyle/>
                    <a:p>
                      <a:r>
                        <a:rPr lang="fr-FR" u="sng" dirty="0"/>
                        <a:t>ID</a:t>
                      </a:r>
                    </a:p>
                  </a:txBody>
                  <a:tcPr/>
                </a:tc>
                <a:tc>
                  <a:txBody>
                    <a:bodyPr/>
                    <a:lstStyle/>
                    <a:p>
                      <a:r>
                        <a:rPr lang="fr-FR"/>
                        <a:t>Nom</a:t>
                      </a:r>
                    </a:p>
                  </a:txBody>
                  <a:tcPr/>
                </a:tc>
                <a:tc>
                  <a:txBody>
                    <a:bodyPr/>
                    <a:lstStyle/>
                    <a:p>
                      <a:r>
                        <a:rPr lang="fr-FR" dirty="0"/>
                        <a:t>Prénom</a:t>
                      </a:r>
                    </a:p>
                  </a:txBody>
                  <a:tcPr/>
                </a:tc>
                <a:extLst>
                  <a:ext uri="{0D108BD9-81ED-4DB2-BD59-A6C34878D82A}">
                    <a16:rowId xmlns:a16="http://schemas.microsoft.com/office/drawing/2014/main" val="2463666429"/>
                  </a:ext>
                </a:extLst>
              </a:tr>
            </a:tbl>
          </a:graphicData>
        </a:graphic>
      </p:graphicFrame>
      <p:sp>
        <p:nvSpPr>
          <p:cNvPr id="4" name="ZoneTexte 3">
            <a:extLst>
              <a:ext uri="{FF2B5EF4-FFF2-40B4-BE49-F238E27FC236}">
                <a16:creationId xmlns:a16="http://schemas.microsoft.com/office/drawing/2014/main" id="{B74535AB-CC58-4D86-92CF-9983FB43622D}"/>
              </a:ext>
            </a:extLst>
          </p:cNvPr>
          <p:cNvSpPr txBox="1"/>
          <p:nvPr/>
        </p:nvSpPr>
        <p:spPr>
          <a:xfrm>
            <a:off x="2503417" y="3231549"/>
            <a:ext cx="1279517" cy="369332"/>
          </a:xfrm>
          <a:prstGeom prst="rect">
            <a:avLst/>
          </a:prstGeom>
          <a:noFill/>
        </p:spPr>
        <p:txBody>
          <a:bodyPr wrap="none" rtlCol="0">
            <a:spAutoFit/>
          </a:bodyPr>
          <a:lstStyle/>
          <a:p>
            <a:r>
              <a:rPr lang="fr-FR"/>
              <a:t>Table Film</a:t>
            </a:r>
          </a:p>
        </p:txBody>
      </p:sp>
      <p:sp>
        <p:nvSpPr>
          <p:cNvPr id="7" name="ZoneTexte 6">
            <a:extLst>
              <a:ext uri="{FF2B5EF4-FFF2-40B4-BE49-F238E27FC236}">
                <a16:creationId xmlns:a16="http://schemas.microsoft.com/office/drawing/2014/main" id="{C3723741-EA80-4245-999B-EFE988A61A27}"/>
              </a:ext>
            </a:extLst>
          </p:cNvPr>
          <p:cNvSpPr txBox="1"/>
          <p:nvPr/>
        </p:nvSpPr>
        <p:spPr>
          <a:xfrm>
            <a:off x="7413860" y="3244334"/>
            <a:ext cx="2084225" cy="369332"/>
          </a:xfrm>
          <a:prstGeom prst="rect">
            <a:avLst/>
          </a:prstGeom>
          <a:noFill/>
        </p:spPr>
        <p:txBody>
          <a:bodyPr wrap="none" rtlCol="0">
            <a:spAutoFit/>
          </a:bodyPr>
          <a:lstStyle/>
          <a:p>
            <a:r>
              <a:rPr lang="fr-FR"/>
              <a:t>Table Réalisateur</a:t>
            </a:r>
          </a:p>
        </p:txBody>
      </p:sp>
    </p:spTree>
    <p:extLst>
      <p:ext uri="{BB962C8B-B14F-4D97-AF65-F5344CB8AC3E}">
        <p14:creationId xmlns:p14="http://schemas.microsoft.com/office/powerpoint/2010/main" val="69836673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p:txBody>
          <a:bodyPr/>
          <a:lstStyle/>
          <a:p>
            <a:r>
              <a:rPr lang="fr-FR"/>
              <a:t>Exercices DML</a:t>
            </a:r>
          </a:p>
        </p:txBody>
      </p:sp>
      <p:sp>
        <p:nvSpPr>
          <p:cNvPr id="3" name="Espace réservé du contenu 2">
            <a:extLst>
              <a:ext uri="{FF2B5EF4-FFF2-40B4-BE49-F238E27FC236}">
                <a16:creationId xmlns:a16="http://schemas.microsoft.com/office/drawing/2014/main" id="{B5615F45-B062-4C3E-90FC-84A211776CFF}"/>
              </a:ext>
            </a:extLst>
          </p:cNvPr>
          <p:cNvSpPr>
            <a:spLocks noGrp="1"/>
          </p:cNvSpPr>
          <p:nvPr>
            <p:ph idx="1"/>
          </p:nvPr>
        </p:nvSpPr>
        <p:spPr>
          <a:xfrm>
            <a:off x="818712" y="3716323"/>
            <a:ext cx="10563286" cy="2142475"/>
          </a:xfrm>
        </p:spPr>
        <p:txBody>
          <a:bodyPr anchor="t">
            <a:normAutofit/>
          </a:bodyPr>
          <a:lstStyle/>
          <a:p>
            <a:r>
              <a:rPr lang="fr-FR" b="1" dirty="0"/>
              <a:t>SELECT</a:t>
            </a:r>
            <a:r>
              <a:rPr lang="fr-FR" dirty="0"/>
              <a:t> </a:t>
            </a:r>
            <a:r>
              <a:rPr lang="fr-FR" dirty="0" err="1"/>
              <a:t>TitreFilm</a:t>
            </a:r>
            <a:r>
              <a:rPr lang="fr-FR" dirty="0"/>
              <a:t> </a:t>
            </a:r>
            <a:r>
              <a:rPr lang="fr-FR" b="1" dirty="0"/>
              <a:t>FROM</a:t>
            </a:r>
            <a:r>
              <a:rPr lang="fr-FR" dirty="0"/>
              <a:t> Film </a:t>
            </a:r>
            <a:r>
              <a:rPr lang="fr-FR" b="1" dirty="0"/>
              <a:t>INNER JOIN </a:t>
            </a:r>
            <a:r>
              <a:rPr lang="fr-FR" dirty="0"/>
              <a:t>Réalisateur </a:t>
            </a:r>
            <a:r>
              <a:rPr lang="fr-FR" b="1" dirty="0"/>
              <a:t>ON</a:t>
            </a:r>
            <a:r>
              <a:rPr lang="fr-FR" dirty="0"/>
              <a:t> </a:t>
            </a:r>
            <a:r>
              <a:rPr lang="fr-FR" dirty="0" err="1"/>
              <a:t>Film.ID_Réalisateur</a:t>
            </a:r>
            <a:r>
              <a:rPr lang="fr-FR" dirty="0"/>
              <a:t> = Réalisateur.ID </a:t>
            </a:r>
            <a:r>
              <a:rPr lang="fr-FR" b="1" dirty="0"/>
              <a:t>WHERE</a:t>
            </a:r>
            <a:r>
              <a:rPr lang="fr-FR" dirty="0"/>
              <a:t> Nom = ‘BAY’ </a:t>
            </a:r>
            <a:r>
              <a:rPr lang="fr-FR" b="1" dirty="0"/>
              <a:t>AND</a:t>
            </a:r>
            <a:r>
              <a:rPr lang="fr-FR" dirty="0"/>
              <a:t> Prénom = ‘MICKAEL’</a:t>
            </a:r>
          </a:p>
          <a:p>
            <a:r>
              <a:rPr lang="fr-FR" b="1" dirty="0"/>
              <a:t>SELECT</a:t>
            </a:r>
            <a:r>
              <a:rPr lang="fr-FR" dirty="0"/>
              <a:t> Nom, </a:t>
            </a:r>
            <a:r>
              <a:rPr lang="fr-FR" i="1" dirty="0"/>
              <a:t>AVG</a:t>
            </a:r>
            <a:r>
              <a:rPr lang="fr-FR" dirty="0"/>
              <a:t>(Note) </a:t>
            </a:r>
            <a:r>
              <a:rPr lang="fr-FR" b="1" dirty="0"/>
              <a:t>FROM</a:t>
            </a:r>
            <a:r>
              <a:rPr lang="fr-FR" dirty="0"/>
              <a:t> Film </a:t>
            </a:r>
            <a:r>
              <a:rPr lang="fr-FR" b="1" dirty="0"/>
              <a:t>INNER JOIN </a:t>
            </a:r>
            <a:r>
              <a:rPr lang="fr-FR" dirty="0"/>
              <a:t>Réalisateur </a:t>
            </a:r>
            <a:r>
              <a:rPr lang="fr-FR" b="1" dirty="0"/>
              <a:t>ON</a:t>
            </a:r>
            <a:r>
              <a:rPr lang="fr-FR" dirty="0"/>
              <a:t> </a:t>
            </a:r>
            <a:r>
              <a:rPr lang="fr-FR" dirty="0" err="1"/>
              <a:t>Film.ID_Réalisateur</a:t>
            </a:r>
            <a:r>
              <a:rPr lang="fr-FR" dirty="0"/>
              <a:t> = Réalisateur.ID </a:t>
            </a:r>
            <a:r>
              <a:rPr lang="fr-FR" b="1" dirty="0"/>
              <a:t>GROUP BY </a:t>
            </a:r>
            <a:r>
              <a:rPr lang="fr-FR" dirty="0"/>
              <a:t>Réalisateur.ID </a:t>
            </a:r>
            <a:r>
              <a:rPr lang="fr-FR" b="1" dirty="0"/>
              <a:t>HAVING</a:t>
            </a:r>
            <a:r>
              <a:rPr lang="fr-FR" dirty="0"/>
              <a:t> </a:t>
            </a:r>
            <a:r>
              <a:rPr lang="fr-FR" i="1" dirty="0"/>
              <a:t>AVG</a:t>
            </a:r>
            <a:r>
              <a:rPr lang="fr-FR" dirty="0"/>
              <a:t>(Note) &gt; 10</a:t>
            </a:r>
          </a:p>
        </p:txBody>
      </p:sp>
      <p:sp>
        <p:nvSpPr>
          <p:cNvPr id="10" name="Espace réservé du numéro de diapositive 9">
            <a:extLst>
              <a:ext uri="{FF2B5EF4-FFF2-40B4-BE49-F238E27FC236}">
                <a16:creationId xmlns:a16="http://schemas.microsoft.com/office/drawing/2014/main" id="{59AEF936-1ED7-4651-BD1A-68B8106BA73D}"/>
              </a:ext>
            </a:extLst>
          </p:cNvPr>
          <p:cNvSpPr>
            <a:spLocks noGrp="1"/>
          </p:cNvSpPr>
          <p:nvPr>
            <p:ph type="sldNum" sz="quarter" idx="12"/>
          </p:nvPr>
        </p:nvSpPr>
        <p:spPr/>
        <p:txBody>
          <a:bodyPr/>
          <a:lstStyle/>
          <a:p>
            <a:fld id="{27C6CCC6-2BE5-4E42-96A4-D1E8E81A3D8E}" type="slidenum">
              <a:rPr lang="de-DE" smtClean="0"/>
              <a:t>103</a:t>
            </a:fld>
            <a:endParaRPr lang="de-DE"/>
          </a:p>
        </p:txBody>
      </p:sp>
      <p:graphicFrame>
        <p:nvGraphicFramePr>
          <p:cNvPr id="5" name="Tableau 4">
            <a:extLst>
              <a:ext uri="{FF2B5EF4-FFF2-40B4-BE49-F238E27FC236}">
                <a16:creationId xmlns:a16="http://schemas.microsoft.com/office/drawing/2014/main" id="{F69F04B0-EC7C-4EE1-A84F-F3B1460F115B}"/>
              </a:ext>
            </a:extLst>
          </p:cNvPr>
          <p:cNvGraphicFramePr>
            <a:graphicFrameLocks noGrp="1"/>
          </p:cNvGraphicFramePr>
          <p:nvPr/>
        </p:nvGraphicFramePr>
        <p:xfrm>
          <a:off x="810000" y="2705578"/>
          <a:ext cx="4666352" cy="365760"/>
        </p:xfrm>
        <a:graphic>
          <a:graphicData uri="http://schemas.openxmlformats.org/drawingml/2006/table">
            <a:tbl>
              <a:tblPr firstRow="1" bandRow="1">
                <a:tableStyleId>{5C22544A-7EE6-4342-B048-85BDC9FD1C3A}</a:tableStyleId>
              </a:tblPr>
              <a:tblGrid>
                <a:gridCol w="519284">
                  <a:extLst>
                    <a:ext uri="{9D8B030D-6E8A-4147-A177-3AD203B41FA5}">
                      <a16:colId xmlns:a16="http://schemas.microsoft.com/office/drawing/2014/main" val="3277682527"/>
                    </a:ext>
                  </a:extLst>
                </a:gridCol>
                <a:gridCol w="1135842">
                  <a:extLst>
                    <a:ext uri="{9D8B030D-6E8A-4147-A177-3AD203B41FA5}">
                      <a16:colId xmlns:a16="http://schemas.microsoft.com/office/drawing/2014/main" val="938059223"/>
                    </a:ext>
                  </a:extLst>
                </a:gridCol>
                <a:gridCol w="1135842">
                  <a:extLst>
                    <a:ext uri="{9D8B030D-6E8A-4147-A177-3AD203B41FA5}">
                      <a16:colId xmlns:a16="http://schemas.microsoft.com/office/drawing/2014/main" val="546480127"/>
                    </a:ext>
                  </a:extLst>
                </a:gridCol>
                <a:gridCol w="1875384">
                  <a:extLst>
                    <a:ext uri="{9D8B030D-6E8A-4147-A177-3AD203B41FA5}">
                      <a16:colId xmlns:a16="http://schemas.microsoft.com/office/drawing/2014/main" val="3441414773"/>
                    </a:ext>
                  </a:extLst>
                </a:gridCol>
              </a:tblGrid>
              <a:tr h="0">
                <a:tc>
                  <a:txBody>
                    <a:bodyPr/>
                    <a:lstStyle/>
                    <a:p>
                      <a:r>
                        <a:rPr lang="fr-FR"/>
                        <a:t>ID</a:t>
                      </a:r>
                    </a:p>
                  </a:txBody>
                  <a:tcPr/>
                </a:tc>
                <a:tc>
                  <a:txBody>
                    <a:bodyPr/>
                    <a:lstStyle/>
                    <a:p>
                      <a:r>
                        <a:rPr lang="fr-FR" err="1"/>
                        <a:t>TitreFilm</a:t>
                      </a:r>
                      <a:endParaRPr lang="fr-FR"/>
                    </a:p>
                  </a:txBody>
                  <a:tcPr/>
                </a:tc>
                <a:tc>
                  <a:txBody>
                    <a:bodyPr/>
                    <a:lstStyle/>
                    <a:p>
                      <a:r>
                        <a:rPr lang="fr-FR"/>
                        <a:t>Note</a:t>
                      </a:r>
                    </a:p>
                  </a:txBody>
                  <a:tcPr/>
                </a:tc>
                <a:tc>
                  <a:txBody>
                    <a:bodyPr/>
                    <a:lstStyle/>
                    <a:p>
                      <a:r>
                        <a:rPr lang="fr-FR" err="1"/>
                        <a:t>ID_Réalisateur</a:t>
                      </a:r>
                      <a:endParaRPr lang="fr-FR"/>
                    </a:p>
                  </a:txBody>
                  <a:tcPr/>
                </a:tc>
                <a:extLst>
                  <a:ext uri="{0D108BD9-81ED-4DB2-BD59-A6C34878D82A}">
                    <a16:rowId xmlns:a16="http://schemas.microsoft.com/office/drawing/2014/main" val="2463666429"/>
                  </a:ext>
                </a:extLst>
              </a:tr>
            </a:tbl>
          </a:graphicData>
        </a:graphic>
      </p:graphicFrame>
      <p:graphicFrame>
        <p:nvGraphicFramePr>
          <p:cNvPr id="6" name="Tableau 5">
            <a:extLst>
              <a:ext uri="{FF2B5EF4-FFF2-40B4-BE49-F238E27FC236}">
                <a16:creationId xmlns:a16="http://schemas.microsoft.com/office/drawing/2014/main" id="{93CFDA8B-3A12-4BB4-BFF2-6EE669785B34}"/>
              </a:ext>
            </a:extLst>
          </p:cNvPr>
          <p:cNvGraphicFramePr>
            <a:graphicFrameLocks noGrp="1"/>
          </p:cNvGraphicFramePr>
          <p:nvPr/>
        </p:nvGraphicFramePr>
        <p:xfrm>
          <a:off x="6715650" y="2705578"/>
          <a:ext cx="3480646" cy="365760"/>
        </p:xfrm>
        <a:graphic>
          <a:graphicData uri="http://schemas.openxmlformats.org/drawingml/2006/table">
            <a:tbl>
              <a:tblPr firstRow="1" bandRow="1">
                <a:tableStyleId>{5C22544A-7EE6-4342-B048-85BDC9FD1C3A}</a:tableStyleId>
              </a:tblPr>
              <a:tblGrid>
                <a:gridCol w="511950">
                  <a:extLst>
                    <a:ext uri="{9D8B030D-6E8A-4147-A177-3AD203B41FA5}">
                      <a16:colId xmlns:a16="http://schemas.microsoft.com/office/drawing/2014/main" val="3277682527"/>
                    </a:ext>
                  </a:extLst>
                </a:gridCol>
                <a:gridCol w="1119799">
                  <a:extLst>
                    <a:ext uri="{9D8B030D-6E8A-4147-A177-3AD203B41FA5}">
                      <a16:colId xmlns:a16="http://schemas.microsoft.com/office/drawing/2014/main" val="938059223"/>
                    </a:ext>
                  </a:extLst>
                </a:gridCol>
                <a:gridCol w="1848897">
                  <a:extLst>
                    <a:ext uri="{9D8B030D-6E8A-4147-A177-3AD203B41FA5}">
                      <a16:colId xmlns:a16="http://schemas.microsoft.com/office/drawing/2014/main" val="3441414773"/>
                    </a:ext>
                  </a:extLst>
                </a:gridCol>
              </a:tblGrid>
              <a:tr h="0">
                <a:tc>
                  <a:txBody>
                    <a:bodyPr/>
                    <a:lstStyle/>
                    <a:p>
                      <a:r>
                        <a:rPr lang="fr-FR"/>
                        <a:t>ID</a:t>
                      </a:r>
                    </a:p>
                  </a:txBody>
                  <a:tcPr/>
                </a:tc>
                <a:tc>
                  <a:txBody>
                    <a:bodyPr/>
                    <a:lstStyle/>
                    <a:p>
                      <a:r>
                        <a:rPr lang="fr-FR"/>
                        <a:t>Nom</a:t>
                      </a:r>
                    </a:p>
                  </a:txBody>
                  <a:tcPr/>
                </a:tc>
                <a:tc>
                  <a:txBody>
                    <a:bodyPr/>
                    <a:lstStyle/>
                    <a:p>
                      <a:r>
                        <a:rPr lang="fr-FR"/>
                        <a:t>Prénom</a:t>
                      </a:r>
                    </a:p>
                  </a:txBody>
                  <a:tcPr/>
                </a:tc>
                <a:extLst>
                  <a:ext uri="{0D108BD9-81ED-4DB2-BD59-A6C34878D82A}">
                    <a16:rowId xmlns:a16="http://schemas.microsoft.com/office/drawing/2014/main" val="2463666429"/>
                  </a:ext>
                </a:extLst>
              </a:tr>
            </a:tbl>
          </a:graphicData>
        </a:graphic>
      </p:graphicFrame>
      <p:sp>
        <p:nvSpPr>
          <p:cNvPr id="4" name="ZoneTexte 3">
            <a:extLst>
              <a:ext uri="{FF2B5EF4-FFF2-40B4-BE49-F238E27FC236}">
                <a16:creationId xmlns:a16="http://schemas.microsoft.com/office/drawing/2014/main" id="{B74535AB-CC58-4D86-92CF-9983FB43622D}"/>
              </a:ext>
            </a:extLst>
          </p:cNvPr>
          <p:cNvSpPr txBox="1"/>
          <p:nvPr/>
        </p:nvSpPr>
        <p:spPr>
          <a:xfrm>
            <a:off x="2503417" y="3231549"/>
            <a:ext cx="1279517" cy="369332"/>
          </a:xfrm>
          <a:prstGeom prst="rect">
            <a:avLst/>
          </a:prstGeom>
          <a:noFill/>
        </p:spPr>
        <p:txBody>
          <a:bodyPr wrap="none" rtlCol="0">
            <a:spAutoFit/>
          </a:bodyPr>
          <a:lstStyle/>
          <a:p>
            <a:r>
              <a:rPr lang="fr-FR"/>
              <a:t>Table Film</a:t>
            </a:r>
          </a:p>
        </p:txBody>
      </p:sp>
      <p:sp>
        <p:nvSpPr>
          <p:cNvPr id="7" name="ZoneTexte 6">
            <a:extLst>
              <a:ext uri="{FF2B5EF4-FFF2-40B4-BE49-F238E27FC236}">
                <a16:creationId xmlns:a16="http://schemas.microsoft.com/office/drawing/2014/main" id="{C3723741-EA80-4245-999B-EFE988A61A27}"/>
              </a:ext>
            </a:extLst>
          </p:cNvPr>
          <p:cNvSpPr txBox="1"/>
          <p:nvPr/>
        </p:nvSpPr>
        <p:spPr>
          <a:xfrm>
            <a:off x="7413860" y="3244334"/>
            <a:ext cx="2084225" cy="369332"/>
          </a:xfrm>
          <a:prstGeom prst="rect">
            <a:avLst/>
          </a:prstGeom>
          <a:noFill/>
        </p:spPr>
        <p:txBody>
          <a:bodyPr wrap="none" rtlCol="0">
            <a:spAutoFit/>
          </a:bodyPr>
          <a:lstStyle/>
          <a:p>
            <a:r>
              <a:rPr lang="fr-FR"/>
              <a:t>Table Réalisateur</a:t>
            </a:r>
          </a:p>
        </p:txBody>
      </p:sp>
    </p:spTree>
    <p:extLst>
      <p:ext uri="{BB962C8B-B14F-4D97-AF65-F5344CB8AC3E}">
        <p14:creationId xmlns:p14="http://schemas.microsoft.com/office/powerpoint/2010/main" val="155887001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96737B-94FD-4634-A137-E763427EC8A9}"/>
              </a:ext>
            </a:extLst>
          </p:cNvPr>
          <p:cNvSpPr>
            <a:spLocks noGrp="1"/>
          </p:cNvSpPr>
          <p:nvPr>
            <p:ph type="title"/>
          </p:nvPr>
        </p:nvSpPr>
        <p:spPr>
          <a:xfrm>
            <a:off x="451514" y="947607"/>
            <a:ext cx="4389427" cy="4962786"/>
          </a:xfrm>
        </p:spPr>
        <p:txBody>
          <a:bodyPr vert="horz" lIns="91440" tIns="45720" rIns="91440" bIns="45720" rtlCol="0" anchor="ctr">
            <a:normAutofit/>
          </a:bodyPr>
          <a:lstStyle/>
          <a:p>
            <a:pPr algn="l"/>
            <a:r>
              <a:rPr lang="en-US" sz="5400"/>
              <a:t>Data Definition Language</a:t>
            </a:r>
          </a:p>
        </p:txBody>
      </p:sp>
      <p:sp>
        <p:nvSpPr>
          <p:cNvPr id="4" name="Espace réservé du texte 3">
            <a:extLst>
              <a:ext uri="{FF2B5EF4-FFF2-40B4-BE49-F238E27FC236}">
                <a16:creationId xmlns:a16="http://schemas.microsoft.com/office/drawing/2014/main" id="{EEA6AC4C-B2BB-4BF6-A9C0-FB299E84F2F7}"/>
              </a:ext>
            </a:extLst>
          </p:cNvPr>
          <p:cNvSpPr>
            <a:spLocks noGrp="1"/>
          </p:cNvSpPr>
          <p:nvPr>
            <p:ph type="body" idx="1"/>
          </p:nvPr>
        </p:nvSpPr>
        <p:spPr>
          <a:xfrm>
            <a:off x="7229345" y="947607"/>
            <a:ext cx="4152655" cy="4962785"/>
          </a:xfrm>
          <a:effectLst/>
        </p:spPr>
        <p:txBody>
          <a:bodyPr vert="horz" lIns="91440" tIns="45720" rIns="91440" bIns="45720" rtlCol="0" anchor="ctr">
            <a:normAutofit/>
          </a:bodyPr>
          <a:lstStyle/>
          <a:p>
            <a:pPr algn="l"/>
            <a:r>
              <a:rPr lang="en-US" sz="2800" err="1"/>
              <a:t>Manipuler</a:t>
            </a:r>
            <a:r>
              <a:rPr lang="en-US" sz="2800"/>
              <a:t> la structure de la base de </a:t>
            </a:r>
            <a:r>
              <a:rPr lang="en-US" sz="2800" err="1"/>
              <a:t>données</a:t>
            </a:r>
            <a:endParaRPr lang="en-US" sz="2800"/>
          </a:p>
        </p:txBody>
      </p:sp>
      <p:sp>
        <p:nvSpPr>
          <p:cNvPr id="9" name="Espace réservé du numéro de diapositive 8">
            <a:extLst>
              <a:ext uri="{FF2B5EF4-FFF2-40B4-BE49-F238E27FC236}">
                <a16:creationId xmlns:a16="http://schemas.microsoft.com/office/drawing/2014/main" id="{055B6FA5-8691-4345-AC0F-41F4099DE209}"/>
              </a:ext>
            </a:extLst>
          </p:cNvPr>
          <p:cNvSpPr>
            <a:spLocks noGrp="1"/>
          </p:cNvSpPr>
          <p:nvPr>
            <p:ph type="sldNum" sz="quarter" idx="12"/>
          </p:nvPr>
        </p:nvSpPr>
        <p:spPr/>
        <p:txBody>
          <a:bodyPr/>
          <a:lstStyle/>
          <a:p>
            <a:fld id="{27C6CCC6-2BE5-4E42-96A4-D1E8E81A3D8E}" type="slidenum">
              <a:rPr lang="de-DE" smtClean="0"/>
              <a:t>104</a:t>
            </a:fld>
            <a:endParaRPr lang="de-DE"/>
          </a:p>
        </p:txBody>
      </p:sp>
    </p:spTree>
    <p:extLst>
      <p:ext uri="{BB962C8B-B14F-4D97-AF65-F5344CB8AC3E}">
        <p14:creationId xmlns:p14="http://schemas.microsoft.com/office/powerpoint/2010/main" val="37081568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0B7E0D-3A6B-4157-85CE-4B6D3DF340D7}"/>
              </a:ext>
            </a:extLst>
          </p:cNvPr>
          <p:cNvSpPr>
            <a:spLocks noGrp="1"/>
          </p:cNvSpPr>
          <p:nvPr>
            <p:ph type="title"/>
          </p:nvPr>
        </p:nvSpPr>
        <p:spPr/>
        <p:txBody>
          <a:bodyPr>
            <a:normAutofit/>
          </a:bodyPr>
          <a:lstStyle/>
          <a:p>
            <a:r>
              <a:rPr lang="fr-FR"/>
              <a:t>Data </a:t>
            </a:r>
            <a:r>
              <a:rPr lang="fr-FR" err="1"/>
              <a:t>Definition</a:t>
            </a:r>
            <a:r>
              <a:rPr lang="fr-FR"/>
              <a:t> </a:t>
            </a:r>
            <a:r>
              <a:rPr lang="fr-FR" err="1"/>
              <a:t>Language</a:t>
            </a:r>
            <a:r>
              <a:rPr lang="fr-FR"/>
              <a:t> (DDL)</a:t>
            </a:r>
          </a:p>
        </p:txBody>
      </p:sp>
      <p:graphicFrame>
        <p:nvGraphicFramePr>
          <p:cNvPr id="5" name="Espace réservé du contenu 2">
            <a:extLst>
              <a:ext uri="{FF2B5EF4-FFF2-40B4-BE49-F238E27FC236}">
                <a16:creationId xmlns:a16="http://schemas.microsoft.com/office/drawing/2014/main" id="{21C4831F-157F-435D-9A28-CA7A8F42284B}"/>
              </a:ext>
            </a:extLst>
          </p:cNvPr>
          <p:cNvGraphicFramePr>
            <a:graphicFrameLocks noGrp="1"/>
          </p:cNvGraphicFramePr>
          <p:nvPr>
            <p:ph idx="1"/>
          </p:nvPr>
        </p:nvGraphicFramePr>
        <p:xfrm>
          <a:off x="819150" y="2494722"/>
          <a:ext cx="10553700" cy="33647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Espace réservé du numéro de diapositive 5">
            <a:extLst>
              <a:ext uri="{FF2B5EF4-FFF2-40B4-BE49-F238E27FC236}">
                <a16:creationId xmlns:a16="http://schemas.microsoft.com/office/drawing/2014/main" id="{7BE1D748-B264-467D-BD94-5F51885E04C3}"/>
              </a:ext>
            </a:extLst>
          </p:cNvPr>
          <p:cNvSpPr>
            <a:spLocks noGrp="1"/>
          </p:cNvSpPr>
          <p:nvPr>
            <p:ph type="sldNum" sz="quarter" idx="12"/>
          </p:nvPr>
        </p:nvSpPr>
        <p:spPr/>
        <p:txBody>
          <a:bodyPr/>
          <a:lstStyle/>
          <a:p>
            <a:fld id="{27C6CCC6-2BE5-4E42-96A4-D1E8E81A3D8E}" type="slidenum">
              <a:rPr lang="de-DE" smtClean="0"/>
              <a:t>105</a:t>
            </a:fld>
            <a:endParaRPr lang="de-DE"/>
          </a:p>
        </p:txBody>
      </p:sp>
    </p:spTree>
    <p:extLst>
      <p:ext uri="{BB962C8B-B14F-4D97-AF65-F5344CB8AC3E}">
        <p14:creationId xmlns:p14="http://schemas.microsoft.com/office/powerpoint/2010/main" val="104307026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A24071-980E-4A4D-B93F-E46FE1D4BB61}"/>
              </a:ext>
            </a:extLst>
          </p:cNvPr>
          <p:cNvSpPr>
            <a:spLocks noGrp="1"/>
          </p:cNvSpPr>
          <p:nvPr>
            <p:ph type="title"/>
          </p:nvPr>
        </p:nvSpPr>
        <p:spPr/>
        <p:txBody>
          <a:bodyPr/>
          <a:lstStyle/>
          <a:p>
            <a:r>
              <a:rPr lang="fr-FR"/>
              <a:t>Data </a:t>
            </a:r>
            <a:r>
              <a:rPr lang="fr-FR" err="1"/>
              <a:t>Definition</a:t>
            </a:r>
            <a:r>
              <a:rPr lang="fr-FR"/>
              <a:t> </a:t>
            </a:r>
            <a:r>
              <a:rPr lang="fr-FR" err="1"/>
              <a:t>Language</a:t>
            </a:r>
            <a:r>
              <a:rPr lang="fr-FR"/>
              <a:t> (DDL)</a:t>
            </a:r>
          </a:p>
        </p:txBody>
      </p:sp>
      <p:sp>
        <p:nvSpPr>
          <p:cNvPr id="3" name="Espace réservé du contenu 2">
            <a:extLst>
              <a:ext uri="{FF2B5EF4-FFF2-40B4-BE49-F238E27FC236}">
                <a16:creationId xmlns:a16="http://schemas.microsoft.com/office/drawing/2014/main" id="{812E4C38-C129-402A-8793-DE5D6B6BF476}"/>
              </a:ext>
            </a:extLst>
          </p:cNvPr>
          <p:cNvSpPr>
            <a:spLocks noGrp="1"/>
          </p:cNvSpPr>
          <p:nvPr>
            <p:ph idx="1"/>
          </p:nvPr>
        </p:nvSpPr>
        <p:spPr/>
        <p:txBody>
          <a:bodyPr/>
          <a:lstStyle/>
          <a:p>
            <a:r>
              <a:rPr lang="fr-FR" dirty="0"/>
              <a:t>Remarque : la plupart des instructions permettant du DDL dépendent du SGBD</a:t>
            </a:r>
          </a:p>
          <a:p>
            <a:r>
              <a:rPr lang="fr-FR" dirty="0"/>
              <a:t>Les exemples donnés ici sont notamment valides pour MySQL et </a:t>
            </a:r>
            <a:r>
              <a:rPr lang="fr-FR" dirty="0" err="1"/>
              <a:t>MariaDB</a:t>
            </a:r>
            <a:endParaRPr lang="fr-FR" dirty="0"/>
          </a:p>
        </p:txBody>
      </p:sp>
      <p:sp>
        <p:nvSpPr>
          <p:cNvPr id="6" name="Espace réservé du numéro de diapositive 5">
            <a:extLst>
              <a:ext uri="{FF2B5EF4-FFF2-40B4-BE49-F238E27FC236}">
                <a16:creationId xmlns:a16="http://schemas.microsoft.com/office/drawing/2014/main" id="{DD52A442-758A-43C9-89E3-E2FE59B471FA}"/>
              </a:ext>
            </a:extLst>
          </p:cNvPr>
          <p:cNvSpPr>
            <a:spLocks noGrp="1"/>
          </p:cNvSpPr>
          <p:nvPr>
            <p:ph type="sldNum" sz="quarter" idx="12"/>
          </p:nvPr>
        </p:nvSpPr>
        <p:spPr/>
        <p:txBody>
          <a:bodyPr/>
          <a:lstStyle/>
          <a:p>
            <a:fld id="{27C6CCC6-2BE5-4E42-96A4-D1E8E81A3D8E}" type="slidenum">
              <a:rPr lang="de-DE" smtClean="0"/>
              <a:t>106</a:t>
            </a:fld>
            <a:endParaRPr lang="de-DE"/>
          </a:p>
        </p:txBody>
      </p:sp>
    </p:spTree>
    <p:extLst>
      <p:ext uri="{BB962C8B-B14F-4D97-AF65-F5344CB8AC3E}">
        <p14:creationId xmlns:p14="http://schemas.microsoft.com/office/powerpoint/2010/main" val="208076125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D54A79-DA2E-4A17-93AA-027BC1C9BFB3}"/>
              </a:ext>
            </a:extLst>
          </p:cNvPr>
          <p:cNvSpPr>
            <a:spLocks noGrp="1"/>
          </p:cNvSpPr>
          <p:nvPr>
            <p:ph type="title"/>
          </p:nvPr>
        </p:nvSpPr>
        <p:spPr/>
        <p:txBody>
          <a:bodyPr>
            <a:normAutofit/>
          </a:bodyPr>
          <a:lstStyle/>
          <a:p>
            <a:r>
              <a:rPr lang="fr-FR"/>
              <a:t>Langage SQL (CREATE)</a:t>
            </a:r>
          </a:p>
        </p:txBody>
      </p:sp>
      <p:graphicFrame>
        <p:nvGraphicFramePr>
          <p:cNvPr id="6" name="Espace réservé du contenu 2">
            <a:extLst>
              <a:ext uri="{FF2B5EF4-FFF2-40B4-BE49-F238E27FC236}">
                <a16:creationId xmlns:a16="http://schemas.microsoft.com/office/drawing/2014/main" id="{B09481C0-7757-4384-B635-1C8B1113C253}"/>
              </a:ext>
            </a:extLst>
          </p:cNvPr>
          <p:cNvGraphicFramePr>
            <a:graphicFrameLocks noGrp="1"/>
          </p:cNvGraphicFramePr>
          <p:nvPr>
            <p:ph idx="1"/>
            <p:extLst>
              <p:ext uri="{D42A27DB-BD31-4B8C-83A1-F6EECF244321}">
                <p14:modId xmlns:p14="http://schemas.microsoft.com/office/powerpoint/2010/main" val="36028567"/>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numéro de diapositive 4">
            <a:extLst>
              <a:ext uri="{FF2B5EF4-FFF2-40B4-BE49-F238E27FC236}">
                <a16:creationId xmlns:a16="http://schemas.microsoft.com/office/drawing/2014/main" id="{C6CB0F43-9B7F-4E77-BBE2-8C303A559E7E}"/>
              </a:ext>
            </a:extLst>
          </p:cNvPr>
          <p:cNvSpPr>
            <a:spLocks noGrp="1"/>
          </p:cNvSpPr>
          <p:nvPr>
            <p:ph type="sldNum" sz="quarter" idx="12"/>
          </p:nvPr>
        </p:nvSpPr>
        <p:spPr/>
        <p:txBody>
          <a:bodyPr/>
          <a:lstStyle/>
          <a:p>
            <a:fld id="{27C6CCC6-2BE5-4E42-96A4-D1E8E81A3D8E}" type="slidenum">
              <a:rPr lang="de-DE" smtClean="0"/>
              <a:t>107</a:t>
            </a:fld>
            <a:endParaRPr lang="de-DE"/>
          </a:p>
        </p:txBody>
      </p:sp>
    </p:spTree>
    <p:extLst>
      <p:ext uri="{BB962C8B-B14F-4D97-AF65-F5344CB8AC3E}">
        <p14:creationId xmlns:p14="http://schemas.microsoft.com/office/powerpoint/2010/main" val="320817875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D54A79-DA2E-4A17-93AA-027BC1C9BFB3}"/>
              </a:ext>
            </a:extLst>
          </p:cNvPr>
          <p:cNvSpPr>
            <a:spLocks noGrp="1"/>
          </p:cNvSpPr>
          <p:nvPr>
            <p:ph type="title"/>
          </p:nvPr>
        </p:nvSpPr>
        <p:spPr/>
        <p:txBody>
          <a:bodyPr/>
          <a:lstStyle/>
          <a:p>
            <a:r>
              <a:rPr lang="fr-FR"/>
              <a:t>Langage SQL (ALTER)</a:t>
            </a:r>
          </a:p>
        </p:txBody>
      </p:sp>
      <p:sp>
        <p:nvSpPr>
          <p:cNvPr id="3" name="Espace réservé du contenu 2">
            <a:extLst>
              <a:ext uri="{FF2B5EF4-FFF2-40B4-BE49-F238E27FC236}">
                <a16:creationId xmlns:a16="http://schemas.microsoft.com/office/drawing/2014/main" id="{E1370304-F266-433B-B9F1-91693B63C4CC}"/>
              </a:ext>
            </a:extLst>
          </p:cNvPr>
          <p:cNvSpPr>
            <a:spLocks noGrp="1"/>
          </p:cNvSpPr>
          <p:nvPr>
            <p:ph idx="1"/>
          </p:nvPr>
        </p:nvSpPr>
        <p:spPr/>
        <p:txBody>
          <a:bodyPr>
            <a:normAutofit lnSpcReduction="10000"/>
          </a:bodyPr>
          <a:lstStyle/>
          <a:p>
            <a:r>
              <a:rPr lang="fr-FR" b="1"/>
              <a:t>ALTER</a:t>
            </a:r>
            <a:r>
              <a:rPr lang="fr-FR"/>
              <a:t> permet de rajouter, supprimer des colonnes, de modifier leur type ou de les renommer</a:t>
            </a:r>
          </a:p>
          <a:p>
            <a:r>
              <a:rPr lang="fr-FR"/>
              <a:t>Ajout de colonne : </a:t>
            </a:r>
            <a:r>
              <a:rPr lang="fr-FR" b="1"/>
              <a:t>ALTER TABLE </a:t>
            </a:r>
            <a:r>
              <a:rPr lang="fr-FR" err="1"/>
              <a:t>nom_table</a:t>
            </a:r>
            <a:r>
              <a:rPr lang="fr-FR"/>
              <a:t> </a:t>
            </a:r>
            <a:r>
              <a:rPr lang="fr-FR" b="1"/>
              <a:t>ADD</a:t>
            </a:r>
            <a:r>
              <a:rPr lang="fr-FR"/>
              <a:t> </a:t>
            </a:r>
            <a:r>
              <a:rPr lang="fr-FR" err="1"/>
              <a:t>nom_colonne</a:t>
            </a:r>
            <a:r>
              <a:rPr lang="fr-FR"/>
              <a:t> </a:t>
            </a:r>
            <a:r>
              <a:rPr lang="fr-FR" err="1"/>
              <a:t>type_donnees</a:t>
            </a:r>
            <a:r>
              <a:rPr lang="fr-FR"/>
              <a:t>;</a:t>
            </a:r>
          </a:p>
          <a:p>
            <a:r>
              <a:rPr lang="fr-FR"/>
              <a:t>Suppression : </a:t>
            </a:r>
            <a:r>
              <a:rPr lang="fr-FR" b="1"/>
              <a:t>ALTER TABLE </a:t>
            </a:r>
            <a:r>
              <a:rPr lang="fr-FR" err="1"/>
              <a:t>nom_table</a:t>
            </a:r>
            <a:r>
              <a:rPr lang="fr-FR"/>
              <a:t> </a:t>
            </a:r>
            <a:r>
              <a:rPr lang="fr-FR" b="1"/>
              <a:t>DROP COLUMN</a:t>
            </a:r>
            <a:r>
              <a:rPr lang="fr-FR"/>
              <a:t> </a:t>
            </a:r>
            <a:r>
              <a:rPr lang="fr-FR" err="1"/>
              <a:t>nom_colonne</a:t>
            </a:r>
            <a:r>
              <a:rPr lang="fr-FR"/>
              <a:t>;</a:t>
            </a:r>
          </a:p>
          <a:p>
            <a:r>
              <a:rPr lang="fr-FR"/>
              <a:t>Modification : </a:t>
            </a:r>
            <a:r>
              <a:rPr lang="en-US" b="1"/>
              <a:t>ALTER TABLE</a:t>
            </a:r>
            <a:r>
              <a:rPr lang="en-US"/>
              <a:t> </a:t>
            </a:r>
            <a:r>
              <a:rPr lang="fr-FR" err="1"/>
              <a:t>nom_table</a:t>
            </a:r>
            <a:r>
              <a:rPr lang="fr-FR"/>
              <a:t> </a:t>
            </a:r>
            <a:r>
              <a:rPr lang="en-US" b="1"/>
              <a:t>ALTER COLUMN</a:t>
            </a:r>
            <a:r>
              <a:rPr lang="en-US"/>
              <a:t> </a:t>
            </a:r>
            <a:r>
              <a:rPr lang="fr-FR" err="1"/>
              <a:t>nom_colonne</a:t>
            </a:r>
            <a:r>
              <a:rPr lang="fr-FR"/>
              <a:t> </a:t>
            </a:r>
            <a:r>
              <a:rPr lang="en-US" err="1"/>
              <a:t>nouveau_type</a:t>
            </a:r>
            <a:r>
              <a:rPr lang="en-US"/>
              <a:t>; </a:t>
            </a:r>
          </a:p>
          <a:p>
            <a:r>
              <a:rPr lang="en-US" err="1"/>
              <a:t>Renommer</a:t>
            </a:r>
            <a:r>
              <a:rPr lang="en-US"/>
              <a:t> : </a:t>
            </a:r>
            <a:r>
              <a:rPr lang="en-US" b="1"/>
              <a:t>ALTER TABLE </a:t>
            </a:r>
            <a:r>
              <a:rPr lang="en-US" err="1"/>
              <a:t>employe</a:t>
            </a:r>
            <a:r>
              <a:rPr lang="en-US"/>
              <a:t> </a:t>
            </a:r>
            <a:r>
              <a:rPr lang="en-US" b="1"/>
              <a:t>RENAME COLUMN</a:t>
            </a:r>
            <a:r>
              <a:rPr lang="en-US"/>
              <a:t> </a:t>
            </a:r>
            <a:r>
              <a:rPr lang="en-US" err="1"/>
              <a:t>salaire</a:t>
            </a:r>
            <a:r>
              <a:rPr lang="en-US"/>
              <a:t> </a:t>
            </a:r>
            <a:r>
              <a:rPr lang="en-US" b="1"/>
              <a:t>TO</a:t>
            </a:r>
            <a:r>
              <a:rPr lang="en-US"/>
              <a:t> </a:t>
            </a:r>
            <a:r>
              <a:rPr lang="en-US" err="1"/>
              <a:t>montant_salaire</a:t>
            </a:r>
            <a:r>
              <a:rPr lang="en-US"/>
              <a:t>;</a:t>
            </a:r>
          </a:p>
          <a:p>
            <a:r>
              <a:rPr lang="en-US" err="1"/>
              <a:t>Renommer</a:t>
            </a:r>
            <a:r>
              <a:rPr lang="en-US"/>
              <a:t> table : </a:t>
            </a:r>
            <a:r>
              <a:rPr lang="en-US" b="1"/>
              <a:t>ALTER TABLE </a:t>
            </a:r>
            <a:r>
              <a:rPr lang="en-US" err="1"/>
              <a:t>employe</a:t>
            </a:r>
            <a:r>
              <a:rPr lang="en-US"/>
              <a:t> </a:t>
            </a:r>
            <a:r>
              <a:rPr lang="en-US" b="1"/>
              <a:t>RENAME TO</a:t>
            </a:r>
            <a:r>
              <a:rPr lang="en-US"/>
              <a:t> </a:t>
            </a:r>
            <a:r>
              <a:rPr lang="en-US" err="1"/>
              <a:t>salarie</a:t>
            </a:r>
            <a:r>
              <a:rPr lang="en-US"/>
              <a:t>;</a:t>
            </a:r>
          </a:p>
          <a:p>
            <a:endParaRPr lang="fr-FR"/>
          </a:p>
        </p:txBody>
      </p:sp>
      <p:sp>
        <p:nvSpPr>
          <p:cNvPr id="6" name="Espace réservé du numéro de diapositive 5">
            <a:extLst>
              <a:ext uri="{FF2B5EF4-FFF2-40B4-BE49-F238E27FC236}">
                <a16:creationId xmlns:a16="http://schemas.microsoft.com/office/drawing/2014/main" id="{8CEE0341-176E-46E8-8FFE-3000DAEC0811}"/>
              </a:ext>
            </a:extLst>
          </p:cNvPr>
          <p:cNvSpPr>
            <a:spLocks noGrp="1"/>
          </p:cNvSpPr>
          <p:nvPr>
            <p:ph type="sldNum" sz="quarter" idx="12"/>
          </p:nvPr>
        </p:nvSpPr>
        <p:spPr/>
        <p:txBody>
          <a:bodyPr/>
          <a:lstStyle/>
          <a:p>
            <a:fld id="{27C6CCC6-2BE5-4E42-96A4-D1E8E81A3D8E}" type="slidenum">
              <a:rPr lang="de-DE" smtClean="0"/>
              <a:t>108</a:t>
            </a:fld>
            <a:endParaRPr lang="de-DE"/>
          </a:p>
        </p:txBody>
      </p:sp>
    </p:spTree>
    <p:extLst>
      <p:ext uri="{BB962C8B-B14F-4D97-AF65-F5344CB8AC3E}">
        <p14:creationId xmlns:p14="http://schemas.microsoft.com/office/powerpoint/2010/main" val="35420255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D54A79-DA2E-4A17-93AA-027BC1C9BFB3}"/>
              </a:ext>
            </a:extLst>
          </p:cNvPr>
          <p:cNvSpPr>
            <a:spLocks noGrp="1"/>
          </p:cNvSpPr>
          <p:nvPr>
            <p:ph type="title"/>
          </p:nvPr>
        </p:nvSpPr>
        <p:spPr/>
        <p:txBody>
          <a:bodyPr/>
          <a:lstStyle/>
          <a:p>
            <a:r>
              <a:rPr lang="fr-FR"/>
              <a:t>Langage SQL (DROP)</a:t>
            </a:r>
          </a:p>
        </p:txBody>
      </p:sp>
      <p:sp>
        <p:nvSpPr>
          <p:cNvPr id="3" name="Espace réservé du contenu 2">
            <a:extLst>
              <a:ext uri="{FF2B5EF4-FFF2-40B4-BE49-F238E27FC236}">
                <a16:creationId xmlns:a16="http://schemas.microsoft.com/office/drawing/2014/main" id="{E1370304-F266-433B-B9F1-91693B63C4CC}"/>
              </a:ext>
            </a:extLst>
          </p:cNvPr>
          <p:cNvSpPr>
            <a:spLocks noGrp="1"/>
          </p:cNvSpPr>
          <p:nvPr>
            <p:ph idx="1"/>
          </p:nvPr>
        </p:nvSpPr>
        <p:spPr/>
        <p:txBody>
          <a:bodyPr/>
          <a:lstStyle/>
          <a:p>
            <a:r>
              <a:rPr lang="fr-FR" dirty="0"/>
              <a:t>DROP permet de supprimer des éléments</a:t>
            </a:r>
          </a:p>
          <a:p>
            <a:r>
              <a:rPr lang="fr-FR" dirty="0"/>
              <a:t>Supprimer une table : </a:t>
            </a:r>
            <a:r>
              <a:rPr lang="fr-FR" b="1" dirty="0"/>
              <a:t>DROP TABLE</a:t>
            </a:r>
            <a:r>
              <a:rPr lang="fr-FR" dirty="0"/>
              <a:t> </a:t>
            </a:r>
            <a:r>
              <a:rPr lang="fr-FR" i="1" dirty="0" err="1"/>
              <a:t>nom_table</a:t>
            </a:r>
            <a:r>
              <a:rPr lang="fr-FR" i="1" dirty="0"/>
              <a:t> </a:t>
            </a:r>
            <a:r>
              <a:rPr lang="fr-FR" dirty="0"/>
              <a:t>[IF EXISTS];</a:t>
            </a:r>
          </a:p>
        </p:txBody>
      </p:sp>
      <p:sp>
        <p:nvSpPr>
          <p:cNvPr id="6" name="Espace réservé du numéro de diapositive 5">
            <a:extLst>
              <a:ext uri="{FF2B5EF4-FFF2-40B4-BE49-F238E27FC236}">
                <a16:creationId xmlns:a16="http://schemas.microsoft.com/office/drawing/2014/main" id="{A91474CC-5765-4C54-80E2-47E2E53BD8FB}"/>
              </a:ext>
            </a:extLst>
          </p:cNvPr>
          <p:cNvSpPr>
            <a:spLocks noGrp="1"/>
          </p:cNvSpPr>
          <p:nvPr>
            <p:ph type="sldNum" sz="quarter" idx="12"/>
          </p:nvPr>
        </p:nvSpPr>
        <p:spPr/>
        <p:txBody>
          <a:bodyPr/>
          <a:lstStyle/>
          <a:p>
            <a:fld id="{27C6CCC6-2BE5-4E42-96A4-D1E8E81A3D8E}" type="slidenum">
              <a:rPr lang="de-DE" smtClean="0"/>
              <a:t>109</a:t>
            </a:fld>
            <a:endParaRPr lang="de-DE"/>
          </a:p>
        </p:txBody>
      </p:sp>
    </p:spTree>
    <p:extLst>
      <p:ext uri="{BB962C8B-B14F-4D97-AF65-F5344CB8AC3E}">
        <p14:creationId xmlns:p14="http://schemas.microsoft.com/office/powerpoint/2010/main" val="80643154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0B7E0D-3A6B-4157-85CE-4B6D3DF340D7}"/>
              </a:ext>
            </a:extLst>
          </p:cNvPr>
          <p:cNvSpPr>
            <a:spLocks noGrp="1"/>
          </p:cNvSpPr>
          <p:nvPr>
            <p:ph type="title"/>
          </p:nvPr>
        </p:nvSpPr>
        <p:spPr/>
        <p:txBody>
          <a:bodyPr>
            <a:normAutofit/>
          </a:bodyPr>
          <a:lstStyle/>
          <a:p>
            <a:r>
              <a:rPr lang="fr-FR"/>
              <a:t>Data </a:t>
            </a:r>
            <a:r>
              <a:rPr lang="fr-FR" err="1"/>
              <a:t>Definition</a:t>
            </a:r>
            <a:r>
              <a:rPr lang="fr-FR"/>
              <a:t> </a:t>
            </a:r>
            <a:r>
              <a:rPr lang="fr-FR" err="1"/>
              <a:t>Language</a:t>
            </a:r>
            <a:r>
              <a:rPr lang="fr-FR"/>
              <a:t> (DDL)</a:t>
            </a:r>
          </a:p>
        </p:txBody>
      </p:sp>
      <p:graphicFrame>
        <p:nvGraphicFramePr>
          <p:cNvPr id="5" name="Espace réservé du contenu 2">
            <a:extLst>
              <a:ext uri="{FF2B5EF4-FFF2-40B4-BE49-F238E27FC236}">
                <a16:creationId xmlns:a16="http://schemas.microsoft.com/office/drawing/2014/main" id="{21C4831F-157F-435D-9A28-CA7A8F42284B}"/>
              </a:ext>
            </a:extLst>
          </p:cNvPr>
          <p:cNvGraphicFramePr>
            <a:graphicFrameLocks noGrp="1"/>
          </p:cNvGraphicFramePr>
          <p:nvPr>
            <p:ph idx="1"/>
            <p:extLst>
              <p:ext uri="{D42A27DB-BD31-4B8C-83A1-F6EECF244321}">
                <p14:modId xmlns:p14="http://schemas.microsoft.com/office/powerpoint/2010/main" val="2918923084"/>
              </p:ext>
            </p:extLst>
          </p:nvPr>
        </p:nvGraphicFramePr>
        <p:xfrm>
          <a:off x="819150" y="2494722"/>
          <a:ext cx="10553700" cy="33647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Espace réservé du numéro de diapositive 5">
            <a:extLst>
              <a:ext uri="{FF2B5EF4-FFF2-40B4-BE49-F238E27FC236}">
                <a16:creationId xmlns:a16="http://schemas.microsoft.com/office/drawing/2014/main" id="{95813737-C63D-4E1F-889E-FA37E4A11B1F}"/>
              </a:ext>
            </a:extLst>
          </p:cNvPr>
          <p:cNvSpPr>
            <a:spLocks noGrp="1"/>
          </p:cNvSpPr>
          <p:nvPr>
            <p:ph type="sldNum" sz="quarter" idx="12"/>
          </p:nvPr>
        </p:nvSpPr>
        <p:spPr/>
        <p:txBody>
          <a:bodyPr/>
          <a:lstStyle/>
          <a:p>
            <a:fld id="{27C6CCC6-2BE5-4E42-96A4-D1E8E81A3D8E}" type="slidenum">
              <a:rPr lang="de-DE" smtClean="0"/>
              <a:t>110</a:t>
            </a:fld>
            <a:endParaRPr lang="de-DE"/>
          </a:p>
        </p:txBody>
      </p:sp>
    </p:spTree>
    <p:extLst>
      <p:ext uri="{BB962C8B-B14F-4D97-AF65-F5344CB8AC3E}">
        <p14:creationId xmlns:p14="http://schemas.microsoft.com/office/powerpoint/2010/main" val="228491153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CA4FB6-2D41-4548-9C79-A69B602DD10C}"/>
              </a:ext>
            </a:extLst>
          </p:cNvPr>
          <p:cNvSpPr>
            <a:spLocks noGrp="1"/>
          </p:cNvSpPr>
          <p:nvPr>
            <p:ph type="title"/>
          </p:nvPr>
        </p:nvSpPr>
        <p:spPr/>
        <p:txBody>
          <a:bodyPr/>
          <a:lstStyle/>
          <a:p>
            <a:r>
              <a:rPr lang="fr-FR" dirty="0"/>
              <a:t>Pour manipuler les bases</a:t>
            </a:r>
          </a:p>
        </p:txBody>
      </p:sp>
      <p:sp>
        <p:nvSpPr>
          <p:cNvPr id="3" name="Espace réservé du contenu 2">
            <a:extLst>
              <a:ext uri="{FF2B5EF4-FFF2-40B4-BE49-F238E27FC236}">
                <a16:creationId xmlns:a16="http://schemas.microsoft.com/office/drawing/2014/main" id="{EEE39D08-C02E-4510-9A05-C0D565B1E3A3}"/>
              </a:ext>
            </a:extLst>
          </p:cNvPr>
          <p:cNvSpPr>
            <a:spLocks noGrp="1"/>
          </p:cNvSpPr>
          <p:nvPr>
            <p:ph idx="1"/>
          </p:nvPr>
        </p:nvSpPr>
        <p:spPr/>
        <p:txBody>
          <a:bodyPr/>
          <a:lstStyle/>
          <a:p>
            <a:r>
              <a:rPr lang="fr-FR" dirty="0"/>
              <a:t>Création : </a:t>
            </a:r>
            <a:r>
              <a:rPr lang="fr-FR" b="1" dirty="0"/>
              <a:t>CREATE DATABASE </a:t>
            </a:r>
            <a:r>
              <a:rPr lang="fr-FR" i="1" dirty="0" err="1"/>
              <a:t>nom_base</a:t>
            </a:r>
            <a:r>
              <a:rPr lang="fr-FR" i="1" dirty="0"/>
              <a:t> </a:t>
            </a:r>
            <a:r>
              <a:rPr lang="fr-FR" b="1" dirty="0"/>
              <a:t>[IF NOT EXISTS] </a:t>
            </a:r>
            <a:r>
              <a:rPr lang="fr-FR" dirty="0"/>
              <a:t>; </a:t>
            </a:r>
          </a:p>
          <a:p>
            <a:r>
              <a:rPr lang="fr-FR" dirty="0"/>
              <a:t>Suppression : </a:t>
            </a:r>
            <a:r>
              <a:rPr lang="fr-FR" b="1" dirty="0"/>
              <a:t>DROP DATABASE</a:t>
            </a:r>
            <a:r>
              <a:rPr lang="fr-FR" dirty="0"/>
              <a:t> </a:t>
            </a:r>
            <a:r>
              <a:rPr lang="fr-FR" i="1" dirty="0" err="1"/>
              <a:t>nom_base</a:t>
            </a:r>
            <a:r>
              <a:rPr lang="fr-FR" i="1" dirty="0"/>
              <a:t> </a:t>
            </a:r>
            <a:r>
              <a:rPr lang="fr-FR" b="1" dirty="0"/>
              <a:t>[IF EXISTS</a:t>
            </a:r>
            <a:r>
              <a:rPr lang="fr-FR" sz="1600" b="1" dirty="0"/>
              <a:t>]</a:t>
            </a:r>
            <a:r>
              <a:rPr lang="fr-FR" dirty="0"/>
              <a:t>; </a:t>
            </a:r>
          </a:p>
          <a:p>
            <a:r>
              <a:rPr lang="fr-FR" dirty="0"/>
              <a:t>Activation de la base de donnée : </a:t>
            </a:r>
            <a:r>
              <a:rPr lang="fr-FR" b="1" dirty="0"/>
              <a:t>USE </a:t>
            </a:r>
            <a:r>
              <a:rPr lang="fr-FR" i="1" dirty="0" err="1"/>
              <a:t>nom_base</a:t>
            </a:r>
            <a:r>
              <a:rPr lang="fr-FR" dirty="0"/>
              <a:t>;</a:t>
            </a:r>
          </a:p>
        </p:txBody>
      </p:sp>
      <p:sp>
        <p:nvSpPr>
          <p:cNvPr id="6" name="Espace réservé du numéro de diapositive 5">
            <a:extLst>
              <a:ext uri="{FF2B5EF4-FFF2-40B4-BE49-F238E27FC236}">
                <a16:creationId xmlns:a16="http://schemas.microsoft.com/office/drawing/2014/main" id="{63FC272D-463D-4EC6-9E6C-C78549DC2FDC}"/>
              </a:ext>
            </a:extLst>
          </p:cNvPr>
          <p:cNvSpPr>
            <a:spLocks noGrp="1"/>
          </p:cNvSpPr>
          <p:nvPr>
            <p:ph type="sldNum" sz="quarter" idx="12"/>
          </p:nvPr>
        </p:nvSpPr>
        <p:spPr/>
        <p:txBody>
          <a:bodyPr/>
          <a:lstStyle/>
          <a:p>
            <a:fld id="{27C6CCC6-2BE5-4E42-96A4-D1E8E81A3D8E}" type="slidenum">
              <a:rPr lang="de-DE" smtClean="0"/>
              <a:t>111</a:t>
            </a:fld>
            <a:endParaRPr lang="de-DE"/>
          </a:p>
        </p:txBody>
      </p:sp>
    </p:spTree>
    <p:extLst>
      <p:ext uri="{BB962C8B-B14F-4D97-AF65-F5344CB8AC3E}">
        <p14:creationId xmlns:p14="http://schemas.microsoft.com/office/powerpoint/2010/main" val="64513524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AA8399-AD3D-498A-B046-17D063610500}"/>
              </a:ext>
            </a:extLst>
          </p:cNvPr>
          <p:cNvSpPr>
            <a:spLocks noGrp="1"/>
          </p:cNvSpPr>
          <p:nvPr>
            <p:ph type="title"/>
          </p:nvPr>
        </p:nvSpPr>
        <p:spPr/>
        <p:txBody>
          <a:bodyPr/>
          <a:lstStyle/>
          <a:p>
            <a:r>
              <a:rPr lang="fr-FR" dirty="0"/>
              <a:t>Création de vues</a:t>
            </a:r>
          </a:p>
        </p:txBody>
      </p:sp>
      <p:sp>
        <p:nvSpPr>
          <p:cNvPr id="3" name="Espace réservé du contenu 2">
            <a:extLst>
              <a:ext uri="{FF2B5EF4-FFF2-40B4-BE49-F238E27FC236}">
                <a16:creationId xmlns:a16="http://schemas.microsoft.com/office/drawing/2014/main" id="{7E4FEFB7-03F0-4ACF-AEAE-B970C3F688A8}"/>
              </a:ext>
            </a:extLst>
          </p:cNvPr>
          <p:cNvSpPr>
            <a:spLocks noGrp="1"/>
          </p:cNvSpPr>
          <p:nvPr>
            <p:ph idx="1"/>
          </p:nvPr>
        </p:nvSpPr>
        <p:spPr/>
        <p:txBody>
          <a:bodyPr/>
          <a:lstStyle/>
          <a:p>
            <a:r>
              <a:rPr lang="fr-FR" dirty="0"/>
              <a:t>La création de vues permet de définir des tables virtuelles (non stockées)</a:t>
            </a:r>
          </a:p>
          <a:p>
            <a:r>
              <a:rPr lang="fr-FR" dirty="0"/>
              <a:t>Une vue correspond à une requête et est calculée lors de son affichage</a:t>
            </a:r>
          </a:p>
          <a:p>
            <a:r>
              <a:rPr lang="fr-FR" dirty="0"/>
              <a:t>Elles peuvent constituer une « sauvegarde » de requêtes</a:t>
            </a:r>
          </a:p>
          <a:p>
            <a:endParaRPr lang="fr-FR" dirty="0"/>
          </a:p>
          <a:p>
            <a:pPr marL="0" indent="0" algn="ctr">
              <a:buNone/>
            </a:pPr>
            <a:r>
              <a:rPr lang="fr-FR" b="1" dirty="0"/>
              <a:t>CREATE VIEW</a:t>
            </a:r>
            <a:r>
              <a:rPr lang="fr-FR" dirty="0"/>
              <a:t> </a:t>
            </a:r>
            <a:r>
              <a:rPr lang="fr-FR" dirty="0" err="1"/>
              <a:t>ma_vue</a:t>
            </a:r>
            <a:r>
              <a:rPr lang="fr-FR" dirty="0"/>
              <a:t> </a:t>
            </a:r>
            <a:r>
              <a:rPr lang="fr-FR" b="1" dirty="0"/>
              <a:t>AS</a:t>
            </a:r>
            <a:r>
              <a:rPr lang="fr-FR" dirty="0"/>
              <a:t> </a:t>
            </a:r>
            <a:r>
              <a:rPr lang="fr-FR" dirty="0" err="1"/>
              <a:t>ma_requete</a:t>
            </a:r>
            <a:r>
              <a:rPr lang="fr-FR" dirty="0"/>
              <a:t>;</a:t>
            </a:r>
          </a:p>
          <a:p>
            <a:pPr marL="0" indent="0" algn="ctr">
              <a:buNone/>
            </a:pPr>
            <a:r>
              <a:rPr lang="fr-FR" b="1" dirty="0"/>
              <a:t>CREATE VIEW</a:t>
            </a:r>
            <a:r>
              <a:rPr lang="fr-FR" dirty="0"/>
              <a:t> </a:t>
            </a:r>
            <a:r>
              <a:rPr lang="fr-FR" dirty="0" err="1"/>
              <a:t>old_people</a:t>
            </a:r>
            <a:r>
              <a:rPr lang="fr-FR" dirty="0"/>
              <a:t> </a:t>
            </a:r>
            <a:r>
              <a:rPr lang="fr-FR" b="1" dirty="0"/>
              <a:t>AS</a:t>
            </a:r>
            <a:r>
              <a:rPr lang="fr-FR" dirty="0"/>
              <a:t> SELECT * FROM people WHERE </a:t>
            </a:r>
            <a:r>
              <a:rPr lang="fr-FR" dirty="0" err="1"/>
              <a:t>age</a:t>
            </a:r>
            <a:r>
              <a:rPr lang="fr-FR" dirty="0"/>
              <a:t> &gt; 60 ;</a:t>
            </a:r>
          </a:p>
          <a:p>
            <a:pPr marL="0" indent="0" algn="ctr">
              <a:buNone/>
            </a:pPr>
            <a:endParaRPr lang="fr-FR" dirty="0"/>
          </a:p>
        </p:txBody>
      </p:sp>
      <p:sp>
        <p:nvSpPr>
          <p:cNvPr id="4" name="Espace réservé du numéro de diapositive 3">
            <a:extLst>
              <a:ext uri="{FF2B5EF4-FFF2-40B4-BE49-F238E27FC236}">
                <a16:creationId xmlns:a16="http://schemas.microsoft.com/office/drawing/2014/main" id="{C9563195-BFB5-45A7-86E5-E0BDD36BCF47}"/>
              </a:ext>
            </a:extLst>
          </p:cNvPr>
          <p:cNvSpPr>
            <a:spLocks noGrp="1"/>
          </p:cNvSpPr>
          <p:nvPr>
            <p:ph type="sldNum" sz="quarter" idx="12"/>
          </p:nvPr>
        </p:nvSpPr>
        <p:spPr/>
        <p:txBody>
          <a:bodyPr/>
          <a:lstStyle/>
          <a:p>
            <a:fld id="{27C6CCC6-2BE5-4E42-96A4-D1E8E81A3D8E}" type="slidenum">
              <a:rPr lang="de-DE" smtClean="0"/>
              <a:t>112</a:t>
            </a:fld>
            <a:endParaRPr lang="de-DE"/>
          </a:p>
        </p:txBody>
      </p:sp>
    </p:spTree>
    <p:extLst>
      <p:ext uri="{BB962C8B-B14F-4D97-AF65-F5344CB8AC3E}">
        <p14:creationId xmlns:p14="http://schemas.microsoft.com/office/powerpoint/2010/main" val="51157672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AA8399-AD3D-498A-B046-17D063610500}"/>
              </a:ext>
            </a:extLst>
          </p:cNvPr>
          <p:cNvSpPr>
            <a:spLocks noGrp="1"/>
          </p:cNvSpPr>
          <p:nvPr>
            <p:ph type="title"/>
          </p:nvPr>
        </p:nvSpPr>
        <p:spPr/>
        <p:txBody>
          <a:bodyPr/>
          <a:lstStyle/>
          <a:p>
            <a:r>
              <a:rPr lang="fr-FR" dirty="0"/>
              <a:t>Création de tables temporaires</a:t>
            </a:r>
          </a:p>
        </p:txBody>
      </p:sp>
      <p:sp>
        <p:nvSpPr>
          <p:cNvPr id="3" name="Espace réservé du contenu 2">
            <a:extLst>
              <a:ext uri="{FF2B5EF4-FFF2-40B4-BE49-F238E27FC236}">
                <a16:creationId xmlns:a16="http://schemas.microsoft.com/office/drawing/2014/main" id="{7E4FEFB7-03F0-4ACF-AEAE-B970C3F688A8}"/>
              </a:ext>
            </a:extLst>
          </p:cNvPr>
          <p:cNvSpPr>
            <a:spLocks noGrp="1"/>
          </p:cNvSpPr>
          <p:nvPr>
            <p:ph idx="1"/>
          </p:nvPr>
        </p:nvSpPr>
        <p:spPr/>
        <p:txBody>
          <a:bodyPr/>
          <a:lstStyle/>
          <a:p>
            <a:r>
              <a:rPr lang="fr-FR" dirty="0"/>
              <a:t>La création de tables temporaires permet de stocker des données pendant une durée limitée</a:t>
            </a:r>
          </a:p>
          <a:p>
            <a:endParaRPr lang="fr-FR" dirty="0"/>
          </a:p>
          <a:p>
            <a:pPr marL="0" indent="0" algn="ctr">
              <a:buNone/>
            </a:pPr>
            <a:r>
              <a:rPr lang="fr-FR" b="1" dirty="0"/>
              <a:t>CREATE TEMPORARY TABLE </a:t>
            </a:r>
            <a:r>
              <a:rPr lang="fr-FR" i="1" dirty="0"/>
              <a:t>schéma de table </a:t>
            </a:r>
            <a:r>
              <a:rPr lang="fr-FR" b="1" dirty="0"/>
              <a:t>AS</a:t>
            </a:r>
            <a:r>
              <a:rPr lang="fr-FR" i="1" dirty="0"/>
              <a:t> requête</a:t>
            </a:r>
            <a:r>
              <a:rPr lang="fr-FR" dirty="0"/>
              <a:t>;</a:t>
            </a:r>
          </a:p>
        </p:txBody>
      </p:sp>
      <p:sp>
        <p:nvSpPr>
          <p:cNvPr id="4" name="Espace réservé du numéro de diapositive 3">
            <a:extLst>
              <a:ext uri="{FF2B5EF4-FFF2-40B4-BE49-F238E27FC236}">
                <a16:creationId xmlns:a16="http://schemas.microsoft.com/office/drawing/2014/main" id="{C9563195-BFB5-45A7-86E5-E0BDD36BCF47}"/>
              </a:ext>
            </a:extLst>
          </p:cNvPr>
          <p:cNvSpPr>
            <a:spLocks noGrp="1"/>
          </p:cNvSpPr>
          <p:nvPr>
            <p:ph type="sldNum" sz="quarter" idx="12"/>
          </p:nvPr>
        </p:nvSpPr>
        <p:spPr/>
        <p:txBody>
          <a:bodyPr/>
          <a:lstStyle/>
          <a:p>
            <a:fld id="{27C6CCC6-2BE5-4E42-96A4-D1E8E81A3D8E}" type="slidenum">
              <a:rPr lang="de-DE" smtClean="0"/>
              <a:t>113</a:t>
            </a:fld>
            <a:endParaRPr lang="de-DE"/>
          </a:p>
        </p:txBody>
      </p:sp>
    </p:spTree>
    <p:extLst>
      <p:ext uri="{BB962C8B-B14F-4D97-AF65-F5344CB8AC3E}">
        <p14:creationId xmlns:p14="http://schemas.microsoft.com/office/powerpoint/2010/main" val="73422227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2C5577-529E-4389-A205-57008FE8D588}"/>
              </a:ext>
            </a:extLst>
          </p:cNvPr>
          <p:cNvSpPr>
            <a:spLocks noGrp="1"/>
          </p:cNvSpPr>
          <p:nvPr>
            <p:ph type="title"/>
          </p:nvPr>
        </p:nvSpPr>
        <p:spPr>
          <a:xfrm>
            <a:off x="451514" y="947607"/>
            <a:ext cx="4389427" cy="4962786"/>
          </a:xfrm>
        </p:spPr>
        <p:txBody>
          <a:bodyPr vert="horz" lIns="91440" tIns="45720" rIns="91440" bIns="45720" rtlCol="0" anchor="ctr">
            <a:normAutofit/>
          </a:bodyPr>
          <a:lstStyle/>
          <a:p>
            <a:r>
              <a:rPr lang="en-US" sz="5400"/>
              <a:t>Contraintes d’intégrité</a:t>
            </a:r>
          </a:p>
        </p:txBody>
      </p:sp>
      <p:sp>
        <p:nvSpPr>
          <p:cNvPr id="3" name="Espace réservé du texte 2">
            <a:extLst>
              <a:ext uri="{FF2B5EF4-FFF2-40B4-BE49-F238E27FC236}">
                <a16:creationId xmlns:a16="http://schemas.microsoft.com/office/drawing/2014/main" id="{F0B9C18C-E3F5-4178-B572-BA43500A4D67}"/>
              </a:ext>
            </a:extLst>
          </p:cNvPr>
          <p:cNvSpPr>
            <a:spLocks noGrp="1"/>
          </p:cNvSpPr>
          <p:nvPr>
            <p:ph idx="1"/>
          </p:nvPr>
        </p:nvSpPr>
        <p:spPr>
          <a:xfrm>
            <a:off x="7229345" y="947607"/>
            <a:ext cx="4152655" cy="4962785"/>
          </a:xfrm>
          <a:effectLst/>
        </p:spPr>
        <p:txBody>
          <a:bodyPr vert="horz" lIns="91440" tIns="45720" rIns="91440" bIns="45720" rtlCol="0" anchor="ctr">
            <a:normAutofit/>
          </a:bodyPr>
          <a:lstStyle/>
          <a:p>
            <a:pPr marL="0" indent="0">
              <a:buNone/>
            </a:pPr>
            <a:r>
              <a:rPr lang="en-US" sz="2800" err="1"/>
              <a:t>Empêcher</a:t>
            </a:r>
            <a:r>
              <a:rPr lang="en-US" sz="2800"/>
              <a:t> les </a:t>
            </a:r>
            <a:r>
              <a:rPr lang="en-US" sz="2800" err="1"/>
              <a:t>erreurs</a:t>
            </a:r>
            <a:r>
              <a:rPr lang="en-US" sz="2800"/>
              <a:t> de </a:t>
            </a:r>
            <a:r>
              <a:rPr lang="en-US" sz="2800" err="1"/>
              <a:t>saisie</a:t>
            </a:r>
            <a:r>
              <a:rPr lang="en-US" sz="2800"/>
              <a:t> dans </a:t>
            </a:r>
            <a:r>
              <a:rPr lang="en-US" sz="2800" err="1"/>
              <a:t>une</a:t>
            </a:r>
            <a:r>
              <a:rPr lang="en-US" sz="2800"/>
              <a:t> base</a:t>
            </a:r>
          </a:p>
        </p:txBody>
      </p:sp>
      <p:sp>
        <p:nvSpPr>
          <p:cNvPr id="6" name="Espace réservé du numéro de diapositive 5">
            <a:extLst>
              <a:ext uri="{FF2B5EF4-FFF2-40B4-BE49-F238E27FC236}">
                <a16:creationId xmlns:a16="http://schemas.microsoft.com/office/drawing/2014/main" id="{6938E342-035B-4DAA-ACDA-F3D08A991C6D}"/>
              </a:ext>
            </a:extLst>
          </p:cNvPr>
          <p:cNvSpPr>
            <a:spLocks noGrp="1"/>
          </p:cNvSpPr>
          <p:nvPr>
            <p:ph type="sldNum" sz="quarter" idx="12"/>
          </p:nvPr>
        </p:nvSpPr>
        <p:spPr/>
        <p:txBody>
          <a:bodyPr/>
          <a:lstStyle/>
          <a:p>
            <a:fld id="{27C6CCC6-2BE5-4E42-96A4-D1E8E81A3D8E}" type="slidenum">
              <a:rPr lang="de-DE" smtClean="0"/>
              <a:t>114</a:t>
            </a:fld>
            <a:endParaRPr lang="de-DE"/>
          </a:p>
        </p:txBody>
      </p:sp>
    </p:spTree>
    <p:extLst>
      <p:ext uri="{BB962C8B-B14F-4D97-AF65-F5344CB8AC3E}">
        <p14:creationId xmlns:p14="http://schemas.microsoft.com/office/powerpoint/2010/main" val="237804903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F5BBD1-7157-4FF7-84A2-BDB8047B939A}"/>
              </a:ext>
            </a:extLst>
          </p:cNvPr>
          <p:cNvSpPr>
            <a:spLocks noGrp="1"/>
          </p:cNvSpPr>
          <p:nvPr>
            <p:ph type="title"/>
          </p:nvPr>
        </p:nvSpPr>
        <p:spPr/>
        <p:txBody>
          <a:bodyPr>
            <a:normAutofit/>
          </a:bodyPr>
          <a:lstStyle/>
          <a:p>
            <a:r>
              <a:rPr lang="fr-FR"/>
              <a:t>Contraintes d’intégrité</a:t>
            </a:r>
          </a:p>
        </p:txBody>
      </p:sp>
      <p:graphicFrame>
        <p:nvGraphicFramePr>
          <p:cNvPr id="5" name="Espace réservé du contenu 2">
            <a:extLst>
              <a:ext uri="{FF2B5EF4-FFF2-40B4-BE49-F238E27FC236}">
                <a16:creationId xmlns:a16="http://schemas.microsoft.com/office/drawing/2014/main" id="{EA815710-AFD1-49E3-8CDB-7D73133BA117}"/>
              </a:ext>
            </a:extLst>
          </p:cNvPr>
          <p:cNvGraphicFramePr>
            <a:graphicFrameLocks noGrp="1"/>
          </p:cNvGraphicFramePr>
          <p:nvPr>
            <p:ph idx="1"/>
            <p:extLst>
              <p:ext uri="{D42A27DB-BD31-4B8C-83A1-F6EECF244321}">
                <p14:modId xmlns:p14="http://schemas.microsoft.com/office/powerpoint/2010/main" val="2034309825"/>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Espace réservé du numéro de diapositive 5">
            <a:extLst>
              <a:ext uri="{FF2B5EF4-FFF2-40B4-BE49-F238E27FC236}">
                <a16:creationId xmlns:a16="http://schemas.microsoft.com/office/drawing/2014/main" id="{001C0196-EF51-4068-8E07-11839E126BF1}"/>
              </a:ext>
            </a:extLst>
          </p:cNvPr>
          <p:cNvSpPr>
            <a:spLocks noGrp="1"/>
          </p:cNvSpPr>
          <p:nvPr>
            <p:ph type="sldNum" sz="quarter" idx="12"/>
          </p:nvPr>
        </p:nvSpPr>
        <p:spPr/>
        <p:txBody>
          <a:bodyPr/>
          <a:lstStyle/>
          <a:p>
            <a:fld id="{27C6CCC6-2BE5-4E42-96A4-D1E8E81A3D8E}" type="slidenum">
              <a:rPr lang="de-DE" smtClean="0"/>
              <a:t>115</a:t>
            </a:fld>
            <a:endParaRPr lang="de-DE"/>
          </a:p>
        </p:txBody>
      </p:sp>
    </p:spTree>
    <p:extLst>
      <p:ext uri="{BB962C8B-B14F-4D97-AF65-F5344CB8AC3E}">
        <p14:creationId xmlns:p14="http://schemas.microsoft.com/office/powerpoint/2010/main" val="87892080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F5BBD1-7157-4FF7-84A2-BDB8047B939A}"/>
              </a:ext>
            </a:extLst>
          </p:cNvPr>
          <p:cNvSpPr>
            <a:spLocks noGrp="1"/>
          </p:cNvSpPr>
          <p:nvPr>
            <p:ph type="title"/>
          </p:nvPr>
        </p:nvSpPr>
        <p:spPr/>
        <p:txBody>
          <a:bodyPr>
            <a:normAutofit/>
          </a:bodyPr>
          <a:lstStyle/>
          <a:p>
            <a:r>
              <a:rPr lang="fr-FR"/>
              <a:t>Contraintes d’intégrité</a:t>
            </a:r>
          </a:p>
        </p:txBody>
      </p:sp>
      <p:graphicFrame>
        <p:nvGraphicFramePr>
          <p:cNvPr id="5" name="Espace réservé du contenu 2">
            <a:extLst>
              <a:ext uri="{FF2B5EF4-FFF2-40B4-BE49-F238E27FC236}">
                <a16:creationId xmlns:a16="http://schemas.microsoft.com/office/drawing/2014/main" id="{1E4A2FAE-CECC-471F-A2FD-A574DE9D0239}"/>
              </a:ext>
            </a:extLst>
          </p:cNvPr>
          <p:cNvGraphicFramePr>
            <a:graphicFrameLocks noGrp="1"/>
          </p:cNvGraphicFramePr>
          <p:nvPr>
            <p:ph idx="1"/>
            <p:extLst>
              <p:ext uri="{D42A27DB-BD31-4B8C-83A1-F6EECF244321}">
                <p14:modId xmlns:p14="http://schemas.microsoft.com/office/powerpoint/2010/main" val="3034848419"/>
              </p:ext>
            </p:extLst>
          </p:nvPr>
        </p:nvGraphicFramePr>
        <p:xfrm>
          <a:off x="819150" y="2494722"/>
          <a:ext cx="10553700" cy="33647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Espace réservé du numéro de diapositive 5">
            <a:extLst>
              <a:ext uri="{FF2B5EF4-FFF2-40B4-BE49-F238E27FC236}">
                <a16:creationId xmlns:a16="http://schemas.microsoft.com/office/drawing/2014/main" id="{77635C1D-2CC7-436D-AF93-64392DA675CA}"/>
              </a:ext>
            </a:extLst>
          </p:cNvPr>
          <p:cNvSpPr>
            <a:spLocks noGrp="1"/>
          </p:cNvSpPr>
          <p:nvPr>
            <p:ph type="sldNum" sz="quarter" idx="12"/>
          </p:nvPr>
        </p:nvSpPr>
        <p:spPr/>
        <p:txBody>
          <a:bodyPr/>
          <a:lstStyle/>
          <a:p>
            <a:fld id="{27C6CCC6-2BE5-4E42-96A4-D1E8E81A3D8E}" type="slidenum">
              <a:rPr lang="de-DE" smtClean="0"/>
              <a:t>116</a:t>
            </a:fld>
            <a:endParaRPr lang="de-DE"/>
          </a:p>
        </p:txBody>
      </p:sp>
    </p:spTree>
    <p:extLst>
      <p:ext uri="{BB962C8B-B14F-4D97-AF65-F5344CB8AC3E}">
        <p14:creationId xmlns:p14="http://schemas.microsoft.com/office/powerpoint/2010/main" val="53399571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918FCE-12EA-4227-B860-391D6D57816E}"/>
              </a:ext>
            </a:extLst>
          </p:cNvPr>
          <p:cNvSpPr>
            <a:spLocks noGrp="1"/>
          </p:cNvSpPr>
          <p:nvPr>
            <p:ph type="title"/>
          </p:nvPr>
        </p:nvSpPr>
        <p:spPr/>
        <p:txBody>
          <a:bodyPr>
            <a:normAutofit/>
          </a:bodyPr>
          <a:lstStyle/>
          <a:p>
            <a:r>
              <a:rPr lang="fr-FR"/>
              <a:t>Contraintes d’intégrité</a:t>
            </a:r>
          </a:p>
        </p:txBody>
      </p:sp>
      <p:graphicFrame>
        <p:nvGraphicFramePr>
          <p:cNvPr id="5" name="Espace réservé du contenu 2">
            <a:extLst>
              <a:ext uri="{FF2B5EF4-FFF2-40B4-BE49-F238E27FC236}">
                <a16:creationId xmlns:a16="http://schemas.microsoft.com/office/drawing/2014/main" id="{C994A4EC-B002-4F4F-8116-8648AF7A98D4}"/>
              </a:ext>
            </a:extLst>
          </p:cNvPr>
          <p:cNvGraphicFramePr>
            <a:graphicFrameLocks noGrp="1"/>
          </p:cNvGraphicFramePr>
          <p:nvPr>
            <p:ph idx="1"/>
            <p:extLst>
              <p:ext uri="{D42A27DB-BD31-4B8C-83A1-F6EECF244321}">
                <p14:modId xmlns:p14="http://schemas.microsoft.com/office/powerpoint/2010/main" val="2358792028"/>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Espace réservé du numéro de diapositive 5">
            <a:extLst>
              <a:ext uri="{FF2B5EF4-FFF2-40B4-BE49-F238E27FC236}">
                <a16:creationId xmlns:a16="http://schemas.microsoft.com/office/drawing/2014/main" id="{7A48E335-731F-4F4B-86BD-F53F32137560}"/>
              </a:ext>
            </a:extLst>
          </p:cNvPr>
          <p:cNvSpPr>
            <a:spLocks noGrp="1"/>
          </p:cNvSpPr>
          <p:nvPr>
            <p:ph type="sldNum" sz="quarter" idx="12"/>
          </p:nvPr>
        </p:nvSpPr>
        <p:spPr/>
        <p:txBody>
          <a:bodyPr/>
          <a:lstStyle/>
          <a:p>
            <a:fld id="{27C6CCC6-2BE5-4E42-96A4-D1E8E81A3D8E}" type="slidenum">
              <a:rPr lang="de-DE" smtClean="0"/>
              <a:t>117</a:t>
            </a:fld>
            <a:endParaRPr lang="de-DE"/>
          </a:p>
        </p:txBody>
      </p:sp>
    </p:spTree>
    <p:extLst>
      <p:ext uri="{BB962C8B-B14F-4D97-AF65-F5344CB8AC3E}">
        <p14:creationId xmlns:p14="http://schemas.microsoft.com/office/powerpoint/2010/main" val="110984515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a:t>Contraintes d’intégrité	</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lstStyle/>
          <a:p>
            <a:r>
              <a:rPr lang="fr-FR"/>
              <a:t>Syntaxe SQL : </a:t>
            </a:r>
          </a:p>
          <a:p>
            <a:pPr marL="3257100" lvl="8" indent="0">
              <a:buNone/>
            </a:pPr>
            <a:r>
              <a:rPr lang="fr-FR" b="1"/>
              <a:t>CREATE TABLE </a:t>
            </a:r>
            <a:r>
              <a:rPr lang="fr-FR" err="1"/>
              <a:t>nom_table</a:t>
            </a:r>
            <a:r>
              <a:rPr lang="fr-FR"/>
              <a:t> (</a:t>
            </a:r>
          </a:p>
          <a:p>
            <a:pPr marL="3257100" lvl="8" indent="0">
              <a:buNone/>
            </a:pPr>
            <a:r>
              <a:rPr lang="fr-FR"/>
              <a:t> nom_colonne1 domaine1 &lt;contraintes colonne1&gt;,</a:t>
            </a:r>
          </a:p>
          <a:p>
            <a:pPr marL="3257100" lvl="8" indent="0">
              <a:buNone/>
            </a:pPr>
            <a:r>
              <a:rPr lang="fr-FR"/>
              <a:t> nom_colonne2 domaine2 &lt;contraintes colonne2&gt;,</a:t>
            </a:r>
          </a:p>
          <a:p>
            <a:pPr marL="3257100" lvl="8" indent="0">
              <a:buNone/>
            </a:pPr>
            <a:r>
              <a:rPr lang="fr-FR"/>
              <a:t>    ...</a:t>
            </a:r>
          </a:p>
          <a:p>
            <a:pPr marL="3257100" lvl="8" indent="0">
              <a:buNone/>
            </a:pPr>
            <a:r>
              <a:rPr lang="fr-FR"/>
              <a:t> </a:t>
            </a:r>
            <a:r>
              <a:rPr lang="fr-FR" err="1"/>
              <a:t>nom_colonneN</a:t>
            </a:r>
            <a:r>
              <a:rPr lang="fr-FR"/>
              <a:t> </a:t>
            </a:r>
            <a:r>
              <a:rPr lang="fr-FR" err="1"/>
              <a:t>domaineN</a:t>
            </a:r>
            <a:r>
              <a:rPr lang="fr-FR"/>
              <a:t> &lt;contraintes </a:t>
            </a:r>
            <a:r>
              <a:rPr lang="fr-FR" err="1"/>
              <a:t>colonneN</a:t>
            </a:r>
            <a:r>
              <a:rPr lang="fr-FR"/>
              <a:t>&gt;,</a:t>
            </a:r>
          </a:p>
          <a:p>
            <a:pPr marL="3257100" lvl="8" indent="0">
              <a:buNone/>
            </a:pPr>
            <a:r>
              <a:rPr lang="fr-FR"/>
              <a:t>    &lt;contraintes de table&gt;</a:t>
            </a:r>
          </a:p>
          <a:p>
            <a:pPr marL="3257100" lvl="8" indent="0">
              <a:buNone/>
            </a:pPr>
            <a:r>
              <a:rPr lang="fr-FR"/>
              <a:t>);</a:t>
            </a:r>
          </a:p>
        </p:txBody>
      </p:sp>
      <p:sp>
        <p:nvSpPr>
          <p:cNvPr id="6" name="Espace réservé du numéro de diapositive 5">
            <a:extLst>
              <a:ext uri="{FF2B5EF4-FFF2-40B4-BE49-F238E27FC236}">
                <a16:creationId xmlns:a16="http://schemas.microsoft.com/office/drawing/2014/main" id="{EDDA7893-A1F8-4916-9D84-ADEE251B3002}"/>
              </a:ext>
            </a:extLst>
          </p:cNvPr>
          <p:cNvSpPr>
            <a:spLocks noGrp="1"/>
          </p:cNvSpPr>
          <p:nvPr>
            <p:ph type="sldNum" sz="quarter" idx="12"/>
          </p:nvPr>
        </p:nvSpPr>
        <p:spPr/>
        <p:txBody>
          <a:bodyPr/>
          <a:lstStyle/>
          <a:p>
            <a:fld id="{27C6CCC6-2BE5-4E42-96A4-D1E8E81A3D8E}" type="slidenum">
              <a:rPr lang="de-DE" smtClean="0"/>
              <a:t>118</a:t>
            </a:fld>
            <a:endParaRPr lang="de-DE"/>
          </a:p>
        </p:txBody>
      </p:sp>
    </p:spTree>
    <p:extLst>
      <p:ext uri="{BB962C8B-B14F-4D97-AF65-F5344CB8AC3E}">
        <p14:creationId xmlns:p14="http://schemas.microsoft.com/office/powerpoint/2010/main" val="268410995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a:t>Contraintes d’intégrité	</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lstStyle/>
          <a:p>
            <a:r>
              <a:rPr lang="fr-FR" dirty="0"/>
              <a:t>Exemple : </a:t>
            </a:r>
          </a:p>
          <a:p>
            <a:pPr marL="3257100" lvl="8" indent="0">
              <a:buNone/>
            </a:pPr>
            <a:r>
              <a:rPr lang="fr-FR" b="1" dirty="0"/>
              <a:t>CREATE TABLE </a:t>
            </a:r>
            <a:r>
              <a:rPr lang="fr-FR" dirty="0"/>
              <a:t>Personne (</a:t>
            </a:r>
          </a:p>
          <a:p>
            <a:pPr marL="3257100" lvl="8" indent="0">
              <a:buNone/>
            </a:pPr>
            <a:r>
              <a:rPr lang="fr-FR" dirty="0"/>
              <a:t>    ID CHAR(13) PRIMARY KEY,</a:t>
            </a:r>
          </a:p>
          <a:p>
            <a:pPr marL="3257100" lvl="8" indent="0">
              <a:buNone/>
            </a:pPr>
            <a:r>
              <a:rPr lang="fr-FR" dirty="0"/>
              <a:t>    Nom VARCHAR(25) NOT NULL,</a:t>
            </a:r>
          </a:p>
          <a:p>
            <a:pPr marL="3257100" lvl="8" indent="0">
              <a:buNone/>
            </a:pPr>
            <a:r>
              <a:rPr lang="fr-FR" dirty="0"/>
              <a:t>  </a:t>
            </a:r>
            <a:r>
              <a:rPr lang="fr-FR" dirty="0" err="1"/>
              <a:t>Prenom</a:t>
            </a:r>
            <a:r>
              <a:rPr lang="fr-FR" dirty="0"/>
              <a:t> VARCHAR(25) NOT NULL,</a:t>
            </a:r>
          </a:p>
          <a:p>
            <a:pPr marL="3257100" lvl="8" indent="0">
              <a:buNone/>
            </a:pPr>
            <a:r>
              <a:rPr lang="fr-FR" dirty="0"/>
              <a:t>  Age INTEGER(3) </a:t>
            </a:r>
            <a:r>
              <a:rPr lang="fr-FR" b="1" dirty="0"/>
              <a:t>CHECK</a:t>
            </a:r>
            <a:r>
              <a:rPr lang="fr-FR" dirty="0"/>
              <a:t> (Age </a:t>
            </a:r>
            <a:r>
              <a:rPr lang="fr-FR" b="1" dirty="0"/>
              <a:t>BETWEEN</a:t>
            </a:r>
            <a:r>
              <a:rPr lang="fr-FR" dirty="0"/>
              <a:t> 18 </a:t>
            </a:r>
            <a:r>
              <a:rPr lang="fr-FR" b="1" dirty="0"/>
              <a:t>AND</a:t>
            </a:r>
            <a:r>
              <a:rPr lang="fr-FR" dirty="0"/>
              <a:t> 65),</a:t>
            </a:r>
          </a:p>
          <a:p>
            <a:pPr marL="3257100" lvl="8" indent="0">
              <a:buNone/>
            </a:pPr>
            <a:r>
              <a:rPr lang="fr-FR" dirty="0"/>
              <a:t>  Mariage CHAR(13) </a:t>
            </a:r>
            <a:r>
              <a:rPr lang="fr-FR" b="1" dirty="0"/>
              <a:t>REFERENCES</a:t>
            </a:r>
            <a:r>
              <a:rPr lang="fr-FR" dirty="0"/>
              <a:t> Personne(ID),</a:t>
            </a:r>
          </a:p>
          <a:p>
            <a:pPr marL="3257100" lvl="8" indent="0">
              <a:buNone/>
            </a:pPr>
            <a:r>
              <a:rPr lang="fr-FR" dirty="0"/>
              <a:t>  </a:t>
            </a:r>
            <a:r>
              <a:rPr lang="fr-FR" b="1" dirty="0"/>
              <a:t>UNIQUE</a:t>
            </a:r>
            <a:r>
              <a:rPr lang="fr-FR" dirty="0"/>
              <a:t> (Nom, </a:t>
            </a:r>
            <a:r>
              <a:rPr lang="fr-FR" dirty="0" err="1"/>
              <a:t>Prenom</a:t>
            </a:r>
            <a:r>
              <a:rPr lang="fr-FR" dirty="0"/>
              <a:t>)</a:t>
            </a:r>
          </a:p>
          <a:p>
            <a:pPr marL="3257100" lvl="8" indent="0">
              <a:buNone/>
            </a:pPr>
            <a:r>
              <a:rPr lang="fr-FR" dirty="0"/>
              <a:t>);</a:t>
            </a:r>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119</a:t>
            </a:fld>
            <a:endParaRPr lang="de-DE"/>
          </a:p>
        </p:txBody>
      </p:sp>
    </p:spTree>
    <p:extLst>
      <p:ext uri="{BB962C8B-B14F-4D97-AF65-F5344CB8AC3E}">
        <p14:creationId xmlns:p14="http://schemas.microsoft.com/office/powerpoint/2010/main" val="13116371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a:t>Contraintes d’intégrité	</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lstStyle/>
          <a:p>
            <a:r>
              <a:rPr lang="fr-FR" dirty="0"/>
              <a:t>Il est possible de préciser des conditions de suppression dans la contrainte d’intégrité pour gérer plus simplement la base de données : il s’agit de supprimer les références lorsque l’objet référencé est supprimé</a:t>
            </a:r>
          </a:p>
          <a:p>
            <a:r>
              <a:rPr lang="fr-FR" dirty="0"/>
              <a:t>On rajoute « ON DELETE CASCADE » à la contrainte de clé étrangère</a:t>
            </a:r>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120</a:t>
            </a:fld>
            <a:endParaRPr lang="de-DE"/>
          </a:p>
        </p:txBody>
      </p:sp>
    </p:spTree>
    <p:extLst>
      <p:ext uri="{BB962C8B-B14F-4D97-AF65-F5344CB8AC3E}">
        <p14:creationId xmlns:p14="http://schemas.microsoft.com/office/powerpoint/2010/main" val="344159818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a:t>Contraintes d’intégrité	</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lstStyle/>
          <a:p>
            <a:r>
              <a:rPr lang="fr-FR" dirty="0"/>
              <a:t>Idem, on peut mettre à jour automatiquement les références en cas de mise à jour de la clé primaire</a:t>
            </a:r>
          </a:p>
          <a:p>
            <a:r>
              <a:rPr lang="fr-FR" dirty="0"/>
              <a:t>On rajoute « ON UPDATE CASCADE » à la contrainte de clé étrangère</a:t>
            </a:r>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121</a:t>
            </a:fld>
            <a:endParaRPr lang="de-DE"/>
          </a:p>
        </p:txBody>
      </p:sp>
    </p:spTree>
    <p:extLst>
      <p:ext uri="{BB962C8B-B14F-4D97-AF65-F5344CB8AC3E}">
        <p14:creationId xmlns:p14="http://schemas.microsoft.com/office/powerpoint/2010/main" val="204813819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a:t>Contraintes d’intégrité	</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normAutofit lnSpcReduction="10000"/>
          </a:bodyPr>
          <a:lstStyle/>
          <a:p>
            <a:r>
              <a:rPr lang="fr-FR" dirty="0"/>
              <a:t>Exemple (ajout d’une clé étrangère à une table avec la propagation de la suppression) :</a:t>
            </a:r>
          </a:p>
          <a:p>
            <a:pPr marL="0" indent="0">
              <a:buNone/>
            </a:pPr>
            <a:endParaRPr lang="fr-FR" dirty="0"/>
          </a:p>
          <a:p>
            <a:pPr marL="400050" lvl="1" indent="0">
              <a:buNone/>
            </a:pPr>
            <a:r>
              <a:rPr lang="en-US" dirty="0"/>
              <a:t>ALTER TABLE factures ADD  CONSTRAINT </a:t>
            </a:r>
            <a:r>
              <a:rPr lang="en-US" dirty="0" err="1"/>
              <a:t>FK_factures_client</a:t>
            </a:r>
            <a:r>
              <a:rPr lang="en-US" dirty="0"/>
              <a:t> FOREIGN KEY(</a:t>
            </a:r>
            <a:r>
              <a:rPr lang="en-US" dirty="0" err="1"/>
              <a:t>client_id</a:t>
            </a:r>
            <a:r>
              <a:rPr lang="en-US" dirty="0"/>
              <a:t>)</a:t>
            </a:r>
          </a:p>
          <a:p>
            <a:pPr marL="400050" lvl="1" indent="0">
              <a:buNone/>
            </a:pPr>
            <a:r>
              <a:rPr lang="en-US" dirty="0"/>
              <a:t>REFERENCES client (</a:t>
            </a:r>
            <a:r>
              <a:rPr lang="en-US" dirty="0" err="1"/>
              <a:t>client_id</a:t>
            </a:r>
            <a:r>
              <a:rPr lang="en-US" dirty="0"/>
              <a:t>) ON DELETE CASCADE </a:t>
            </a:r>
          </a:p>
          <a:p>
            <a:pPr marL="400050" lvl="1" indent="0">
              <a:buNone/>
            </a:pPr>
            <a:endParaRPr lang="en-US" dirty="0"/>
          </a:p>
          <a:p>
            <a:r>
              <a:rPr lang="en-US" dirty="0" err="1"/>
              <a:t>Lorsqu’un</a:t>
            </a:r>
            <a:r>
              <a:rPr lang="en-US" dirty="0"/>
              <a:t> client sera </a:t>
            </a:r>
            <a:r>
              <a:rPr lang="en-US" dirty="0" err="1"/>
              <a:t>supprimé</a:t>
            </a:r>
            <a:r>
              <a:rPr lang="en-US" dirty="0"/>
              <a:t>, les factures </a:t>
            </a:r>
            <a:r>
              <a:rPr lang="en-US" dirty="0" err="1"/>
              <a:t>associées</a:t>
            </a:r>
            <a:r>
              <a:rPr lang="en-US" dirty="0"/>
              <a:t> </a:t>
            </a:r>
            <a:r>
              <a:rPr lang="en-US" dirty="0" err="1"/>
              <a:t>seront</a:t>
            </a:r>
            <a:r>
              <a:rPr lang="en-US" dirty="0"/>
              <a:t> </a:t>
            </a:r>
            <a:r>
              <a:rPr lang="en-US" dirty="0" err="1"/>
              <a:t>également</a:t>
            </a:r>
            <a:r>
              <a:rPr lang="en-US" dirty="0"/>
              <a:t> </a:t>
            </a:r>
            <a:r>
              <a:rPr lang="en-US" dirty="0" err="1"/>
              <a:t>supprimées</a:t>
            </a:r>
            <a:endParaRPr lang="en-US" dirty="0"/>
          </a:p>
          <a:p>
            <a:r>
              <a:rPr lang="en-US" dirty="0" err="1"/>
              <a:t>Avertissement</a:t>
            </a:r>
            <a:r>
              <a:rPr lang="en-US" dirty="0"/>
              <a:t> : </a:t>
            </a:r>
            <a:r>
              <a:rPr lang="en-US" dirty="0" err="1"/>
              <a:t>supprimer</a:t>
            </a:r>
            <a:r>
              <a:rPr lang="en-US" dirty="0"/>
              <a:t> la table client engender la suppression de </a:t>
            </a:r>
            <a:r>
              <a:rPr lang="en-US" dirty="0" err="1"/>
              <a:t>toutes</a:t>
            </a:r>
            <a:r>
              <a:rPr lang="en-US" dirty="0"/>
              <a:t> les factures</a:t>
            </a:r>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122</a:t>
            </a:fld>
            <a:endParaRPr lang="de-DE"/>
          </a:p>
        </p:txBody>
      </p:sp>
    </p:spTree>
    <p:extLst>
      <p:ext uri="{BB962C8B-B14F-4D97-AF65-F5344CB8AC3E}">
        <p14:creationId xmlns:p14="http://schemas.microsoft.com/office/powerpoint/2010/main" val="321887167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A9842B-9AFF-41BA-A899-E92207A670F9}"/>
              </a:ext>
            </a:extLst>
          </p:cNvPr>
          <p:cNvSpPr>
            <a:spLocks noGrp="1"/>
          </p:cNvSpPr>
          <p:nvPr>
            <p:ph type="title"/>
          </p:nvPr>
        </p:nvSpPr>
        <p:spPr>
          <a:xfrm>
            <a:off x="451514" y="947607"/>
            <a:ext cx="4389427" cy="4962786"/>
          </a:xfrm>
        </p:spPr>
        <p:txBody>
          <a:bodyPr vert="horz" lIns="91440" tIns="45720" rIns="91440" bIns="45720" rtlCol="0" anchor="ctr">
            <a:normAutofit/>
          </a:bodyPr>
          <a:lstStyle/>
          <a:p>
            <a:r>
              <a:rPr lang="en-US" sz="5400" dirty="0" err="1"/>
              <a:t>Fonctions</a:t>
            </a:r>
            <a:r>
              <a:rPr lang="en-US" sz="5400" dirty="0"/>
              <a:t> </a:t>
            </a:r>
            <a:r>
              <a:rPr lang="en-US" sz="5400" dirty="0" err="1"/>
              <a:t>avancées</a:t>
            </a:r>
            <a:endParaRPr lang="en-US" sz="5400" dirty="0"/>
          </a:p>
        </p:txBody>
      </p:sp>
      <p:sp>
        <p:nvSpPr>
          <p:cNvPr id="3" name="Espace réservé du contenu 2">
            <a:extLst>
              <a:ext uri="{FF2B5EF4-FFF2-40B4-BE49-F238E27FC236}">
                <a16:creationId xmlns:a16="http://schemas.microsoft.com/office/drawing/2014/main" id="{64DBD916-8FC9-40A4-9D00-0A6E50F6C8C5}"/>
              </a:ext>
            </a:extLst>
          </p:cNvPr>
          <p:cNvSpPr>
            <a:spLocks noGrp="1"/>
          </p:cNvSpPr>
          <p:nvPr>
            <p:ph idx="1"/>
          </p:nvPr>
        </p:nvSpPr>
        <p:spPr>
          <a:xfrm>
            <a:off x="7229345" y="947607"/>
            <a:ext cx="4152655" cy="4962785"/>
          </a:xfrm>
          <a:effectLst/>
        </p:spPr>
        <p:txBody>
          <a:bodyPr vert="horz" lIns="91440" tIns="45720" rIns="91440" bIns="45720" rtlCol="0" anchor="ctr">
            <a:normAutofit/>
          </a:bodyPr>
          <a:lstStyle/>
          <a:p>
            <a:pPr marL="0" indent="0">
              <a:buNone/>
            </a:pPr>
            <a:r>
              <a:rPr lang="en-US" sz="2800" dirty="0"/>
              <a:t>Index, </a:t>
            </a:r>
            <a:r>
              <a:rPr lang="en-US" sz="2800" dirty="0" err="1"/>
              <a:t>optimisations</a:t>
            </a:r>
            <a:r>
              <a:rPr lang="en-US" sz="2800" dirty="0"/>
              <a:t> et </a:t>
            </a:r>
            <a:r>
              <a:rPr lang="en-US" sz="2800" dirty="0" err="1"/>
              <a:t>autres</a:t>
            </a:r>
            <a:endParaRPr lang="en-US" sz="2800" dirty="0"/>
          </a:p>
        </p:txBody>
      </p:sp>
      <p:sp>
        <p:nvSpPr>
          <p:cNvPr id="6" name="Espace réservé du numéro de diapositive 5">
            <a:extLst>
              <a:ext uri="{FF2B5EF4-FFF2-40B4-BE49-F238E27FC236}">
                <a16:creationId xmlns:a16="http://schemas.microsoft.com/office/drawing/2014/main" id="{1759B7EB-B9DD-49DB-9637-F63E418461CF}"/>
              </a:ext>
            </a:extLst>
          </p:cNvPr>
          <p:cNvSpPr>
            <a:spLocks noGrp="1"/>
          </p:cNvSpPr>
          <p:nvPr>
            <p:ph type="sldNum" sz="quarter" idx="12"/>
          </p:nvPr>
        </p:nvSpPr>
        <p:spPr/>
        <p:txBody>
          <a:bodyPr/>
          <a:lstStyle/>
          <a:p>
            <a:fld id="{27C6CCC6-2BE5-4E42-96A4-D1E8E81A3D8E}" type="slidenum">
              <a:rPr lang="de-DE" smtClean="0"/>
              <a:t>123</a:t>
            </a:fld>
            <a:endParaRPr lang="de-DE"/>
          </a:p>
        </p:txBody>
      </p:sp>
    </p:spTree>
    <p:extLst>
      <p:ext uri="{BB962C8B-B14F-4D97-AF65-F5344CB8AC3E}">
        <p14:creationId xmlns:p14="http://schemas.microsoft.com/office/powerpoint/2010/main" val="112113820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33642A-DE30-484F-822B-113826DA55DB}"/>
              </a:ext>
            </a:extLst>
          </p:cNvPr>
          <p:cNvSpPr>
            <a:spLocks noGrp="1"/>
          </p:cNvSpPr>
          <p:nvPr>
            <p:ph type="title"/>
          </p:nvPr>
        </p:nvSpPr>
        <p:spPr/>
        <p:txBody>
          <a:bodyPr/>
          <a:lstStyle/>
          <a:p>
            <a:r>
              <a:rPr lang="fr-FR" dirty="0"/>
              <a:t>Index</a:t>
            </a:r>
          </a:p>
        </p:txBody>
      </p:sp>
      <p:sp>
        <p:nvSpPr>
          <p:cNvPr id="3" name="Espace réservé du contenu 2">
            <a:extLst>
              <a:ext uri="{FF2B5EF4-FFF2-40B4-BE49-F238E27FC236}">
                <a16:creationId xmlns:a16="http://schemas.microsoft.com/office/drawing/2014/main" id="{0B93457B-6EB6-47A9-A05E-803E270FDDC2}"/>
              </a:ext>
            </a:extLst>
          </p:cNvPr>
          <p:cNvSpPr>
            <a:spLocks noGrp="1"/>
          </p:cNvSpPr>
          <p:nvPr>
            <p:ph idx="1"/>
          </p:nvPr>
        </p:nvSpPr>
        <p:spPr/>
        <p:txBody>
          <a:bodyPr/>
          <a:lstStyle/>
          <a:p>
            <a:r>
              <a:rPr lang="fr-FR" dirty="0"/>
              <a:t>Dans une base de données présentant de nombreux enregistrements, la récupération d’un élément en particulier peut prendre longtemps</a:t>
            </a:r>
          </a:p>
          <a:p>
            <a:r>
              <a:rPr lang="fr-FR" dirty="0"/>
              <a:t>En théorie, si on veut récupérer l’élément dont l’ID est X dans une table contenant 1M d’enregistrements, on devrait effectuer en moyenne 500000 comparaisons pour trouver l’enregistrement cherché (complexité en O(n))</a:t>
            </a:r>
          </a:p>
          <a:p>
            <a:r>
              <a:rPr lang="fr-FR" dirty="0"/>
              <a:t>L’utilisation d’un </a:t>
            </a:r>
            <a:r>
              <a:rPr lang="fr-FR" b="1" dirty="0"/>
              <a:t>index</a:t>
            </a:r>
            <a:r>
              <a:rPr lang="fr-FR" dirty="0"/>
              <a:t> permet de grandement accélérer le processus</a:t>
            </a:r>
          </a:p>
        </p:txBody>
      </p:sp>
      <p:sp>
        <p:nvSpPr>
          <p:cNvPr id="4" name="Espace réservé du numéro de diapositive 3">
            <a:extLst>
              <a:ext uri="{FF2B5EF4-FFF2-40B4-BE49-F238E27FC236}">
                <a16:creationId xmlns:a16="http://schemas.microsoft.com/office/drawing/2014/main" id="{315D26CE-29A4-4ECF-A4BE-813D18FA1D25}"/>
              </a:ext>
            </a:extLst>
          </p:cNvPr>
          <p:cNvSpPr>
            <a:spLocks noGrp="1"/>
          </p:cNvSpPr>
          <p:nvPr>
            <p:ph type="sldNum" sz="quarter" idx="12"/>
          </p:nvPr>
        </p:nvSpPr>
        <p:spPr/>
        <p:txBody>
          <a:bodyPr/>
          <a:lstStyle/>
          <a:p>
            <a:fld id="{27C6CCC6-2BE5-4E42-96A4-D1E8E81A3D8E}" type="slidenum">
              <a:rPr lang="de-DE" smtClean="0"/>
              <a:t>124</a:t>
            </a:fld>
            <a:endParaRPr lang="de-DE"/>
          </a:p>
        </p:txBody>
      </p:sp>
    </p:spTree>
    <p:extLst>
      <p:ext uri="{BB962C8B-B14F-4D97-AF65-F5344CB8AC3E}">
        <p14:creationId xmlns:p14="http://schemas.microsoft.com/office/powerpoint/2010/main" val="241833975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33642A-DE30-484F-822B-113826DA55DB}"/>
              </a:ext>
            </a:extLst>
          </p:cNvPr>
          <p:cNvSpPr>
            <a:spLocks noGrp="1"/>
          </p:cNvSpPr>
          <p:nvPr>
            <p:ph type="title"/>
          </p:nvPr>
        </p:nvSpPr>
        <p:spPr/>
        <p:txBody>
          <a:bodyPr/>
          <a:lstStyle/>
          <a:p>
            <a:r>
              <a:rPr lang="fr-FR" dirty="0"/>
              <a:t>Index</a:t>
            </a:r>
          </a:p>
        </p:txBody>
      </p:sp>
      <p:sp>
        <p:nvSpPr>
          <p:cNvPr id="3" name="Espace réservé du contenu 2">
            <a:extLst>
              <a:ext uri="{FF2B5EF4-FFF2-40B4-BE49-F238E27FC236}">
                <a16:creationId xmlns:a16="http://schemas.microsoft.com/office/drawing/2014/main" id="{0B93457B-6EB6-47A9-A05E-803E270FDDC2}"/>
              </a:ext>
            </a:extLst>
          </p:cNvPr>
          <p:cNvSpPr>
            <a:spLocks noGrp="1"/>
          </p:cNvSpPr>
          <p:nvPr>
            <p:ph idx="1"/>
          </p:nvPr>
        </p:nvSpPr>
        <p:spPr/>
        <p:txBody>
          <a:bodyPr/>
          <a:lstStyle/>
          <a:p>
            <a:r>
              <a:rPr lang="fr-FR" dirty="0"/>
              <a:t>Un index consiste en une sous-table ordonnée faisant le lien entre une colonne donnée et la clé primaire d’une table</a:t>
            </a:r>
          </a:p>
          <a:p>
            <a:r>
              <a:rPr lang="fr-FR" dirty="0"/>
              <a:t>La clé primaire peut être considérée comme un index</a:t>
            </a:r>
          </a:p>
          <a:p>
            <a:r>
              <a:rPr lang="fr-FR" dirty="0"/>
              <a:t>En utilisant des procédés comme la recherche dichotomique ou l’utilisation d’arbres binaires de recherches, la complexité de recherche d’un élément passe en O(log n) – en gros 15 opérations en moyenne pour trouver un élément dans une liste de 1M d’enregistrements</a:t>
            </a:r>
          </a:p>
        </p:txBody>
      </p:sp>
      <p:sp>
        <p:nvSpPr>
          <p:cNvPr id="4" name="Espace réservé du numéro de diapositive 3">
            <a:extLst>
              <a:ext uri="{FF2B5EF4-FFF2-40B4-BE49-F238E27FC236}">
                <a16:creationId xmlns:a16="http://schemas.microsoft.com/office/drawing/2014/main" id="{315D26CE-29A4-4ECF-A4BE-813D18FA1D25}"/>
              </a:ext>
            </a:extLst>
          </p:cNvPr>
          <p:cNvSpPr>
            <a:spLocks noGrp="1"/>
          </p:cNvSpPr>
          <p:nvPr>
            <p:ph type="sldNum" sz="quarter" idx="12"/>
          </p:nvPr>
        </p:nvSpPr>
        <p:spPr/>
        <p:txBody>
          <a:bodyPr/>
          <a:lstStyle/>
          <a:p>
            <a:fld id="{27C6CCC6-2BE5-4E42-96A4-D1E8E81A3D8E}" type="slidenum">
              <a:rPr lang="de-DE" smtClean="0"/>
              <a:t>125</a:t>
            </a:fld>
            <a:endParaRPr lang="de-DE"/>
          </a:p>
        </p:txBody>
      </p:sp>
    </p:spTree>
    <p:extLst>
      <p:ext uri="{BB962C8B-B14F-4D97-AF65-F5344CB8AC3E}">
        <p14:creationId xmlns:p14="http://schemas.microsoft.com/office/powerpoint/2010/main" val="171367571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33642A-DE30-484F-822B-113826DA55DB}"/>
              </a:ext>
            </a:extLst>
          </p:cNvPr>
          <p:cNvSpPr>
            <a:spLocks noGrp="1"/>
          </p:cNvSpPr>
          <p:nvPr>
            <p:ph type="title"/>
          </p:nvPr>
        </p:nvSpPr>
        <p:spPr/>
        <p:txBody>
          <a:bodyPr/>
          <a:lstStyle/>
          <a:p>
            <a:r>
              <a:rPr lang="fr-FR" dirty="0"/>
              <a:t>Index</a:t>
            </a:r>
          </a:p>
        </p:txBody>
      </p:sp>
      <p:sp>
        <p:nvSpPr>
          <p:cNvPr id="3" name="Espace réservé du contenu 2">
            <a:extLst>
              <a:ext uri="{FF2B5EF4-FFF2-40B4-BE49-F238E27FC236}">
                <a16:creationId xmlns:a16="http://schemas.microsoft.com/office/drawing/2014/main" id="{0B93457B-6EB6-47A9-A05E-803E270FDDC2}"/>
              </a:ext>
            </a:extLst>
          </p:cNvPr>
          <p:cNvSpPr>
            <a:spLocks noGrp="1"/>
          </p:cNvSpPr>
          <p:nvPr>
            <p:ph idx="1"/>
          </p:nvPr>
        </p:nvSpPr>
        <p:spPr/>
        <p:txBody>
          <a:bodyPr>
            <a:normAutofit fontScale="92500" lnSpcReduction="10000"/>
          </a:bodyPr>
          <a:lstStyle/>
          <a:p>
            <a:r>
              <a:rPr lang="fr-FR" dirty="0"/>
              <a:t>Cas d’utilisation :</a:t>
            </a:r>
          </a:p>
          <a:p>
            <a:endParaRPr lang="fr-FR" dirty="0"/>
          </a:p>
          <a:p>
            <a:endParaRPr lang="fr-FR" dirty="0"/>
          </a:p>
          <a:p>
            <a:endParaRPr lang="fr-FR" dirty="0"/>
          </a:p>
          <a:p>
            <a:endParaRPr lang="fr-FR" dirty="0"/>
          </a:p>
          <a:p>
            <a:endParaRPr lang="fr-FR" dirty="0"/>
          </a:p>
          <a:p>
            <a:r>
              <a:rPr lang="fr-FR" dirty="0"/>
              <a:t>L’ID est clé primaire donc récupérer un élément par son ID est rapide (la clé primaire est indexée)</a:t>
            </a:r>
          </a:p>
          <a:p>
            <a:r>
              <a:rPr lang="fr-FR" dirty="0"/>
              <a:t>Mais la date de naissance ne l’est pas a priori : récupérer, par exemple, toutes les personnes nées après 1991 demandera de tester chaque élément</a:t>
            </a:r>
          </a:p>
        </p:txBody>
      </p:sp>
      <p:sp>
        <p:nvSpPr>
          <p:cNvPr id="4" name="Espace réservé du numéro de diapositive 3">
            <a:extLst>
              <a:ext uri="{FF2B5EF4-FFF2-40B4-BE49-F238E27FC236}">
                <a16:creationId xmlns:a16="http://schemas.microsoft.com/office/drawing/2014/main" id="{315D26CE-29A4-4ECF-A4BE-813D18FA1D25}"/>
              </a:ext>
            </a:extLst>
          </p:cNvPr>
          <p:cNvSpPr>
            <a:spLocks noGrp="1"/>
          </p:cNvSpPr>
          <p:nvPr>
            <p:ph type="sldNum" sz="quarter" idx="12"/>
          </p:nvPr>
        </p:nvSpPr>
        <p:spPr/>
        <p:txBody>
          <a:bodyPr/>
          <a:lstStyle/>
          <a:p>
            <a:fld id="{27C6CCC6-2BE5-4E42-96A4-D1E8E81A3D8E}" type="slidenum">
              <a:rPr lang="de-DE" smtClean="0"/>
              <a:t>126</a:t>
            </a:fld>
            <a:endParaRPr lang="de-DE"/>
          </a:p>
        </p:txBody>
      </p:sp>
      <p:graphicFrame>
        <p:nvGraphicFramePr>
          <p:cNvPr id="5" name="Tableau 4">
            <a:extLst>
              <a:ext uri="{FF2B5EF4-FFF2-40B4-BE49-F238E27FC236}">
                <a16:creationId xmlns:a16="http://schemas.microsoft.com/office/drawing/2014/main" id="{9939D5E5-7D22-4A25-8318-53BCA6891B3F}"/>
              </a:ext>
            </a:extLst>
          </p:cNvPr>
          <p:cNvGraphicFramePr>
            <a:graphicFrameLocks noGrp="1"/>
          </p:cNvGraphicFramePr>
          <p:nvPr>
            <p:extLst>
              <p:ext uri="{D42A27DB-BD31-4B8C-83A1-F6EECF244321}">
                <p14:modId xmlns:p14="http://schemas.microsoft.com/office/powerpoint/2010/main" val="3423675898"/>
              </p:ext>
            </p:extLst>
          </p:nvPr>
        </p:nvGraphicFramePr>
        <p:xfrm>
          <a:off x="3657600" y="3301410"/>
          <a:ext cx="4876800" cy="148336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126966605"/>
                    </a:ext>
                  </a:extLst>
                </a:gridCol>
                <a:gridCol w="1297172">
                  <a:extLst>
                    <a:ext uri="{9D8B030D-6E8A-4147-A177-3AD203B41FA5}">
                      <a16:colId xmlns:a16="http://schemas.microsoft.com/office/drawing/2014/main" val="3337942749"/>
                    </a:ext>
                  </a:extLst>
                </a:gridCol>
                <a:gridCol w="1954028">
                  <a:extLst>
                    <a:ext uri="{9D8B030D-6E8A-4147-A177-3AD203B41FA5}">
                      <a16:colId xmlns:a16="http://schemas.microsoft.com/office/drawing/2014/main" val="988637430"/>
                    </a:ext>
                  </a:extLst>
                </a:gridCol>
              </a:tblGrid>
              <a:tr h="370840">
                <a:tc>
                  <a:txBody>
                    <a:bodyPr/>
                    <a:lstStyle/>
                    <a:p>
                      <a:r>
                        <a:rPr lang="fr-FR" u="sng" dirty="0"/>
                        <a:t>id</a:t>
                      </a:r>
                    </a:p>
                  </a:txBody>
                  <a:tcPr/>
                </a:tc>
                <a:tc>
                  <a:txBody>
                    <a:bodyPr/>
                    <a:lstStyle/>
                    <a:p>
                      <a:r>
                        <a:rPr lang="fr-FR" dirty="0"/>
                        <a:t>nom</a:t>
                      </a:r>
                    </a:p>
                  </a:txBody>
                  <a:tcPr/>
                </a:tc>
                <a:tc>
                  <a:txBody>
                    <a:bodyPr/>
                    <a:lstStyle/>
                    <a:p>
                      <a:r>
                        <a:rPr lang="fr-FR" dirty="0" err="1"/>
                        <a:t>date_naissance</a:t>
                      </a:r>
                      <a:endParaRPr lang="fr-FR" dirty="0"/>
                    </a:p>
                  </a:txBody>
                  <a:tcPr/>
                </a:tc>
                <a:extLst>
                  <a:ext uri="{0D108BD9-81ED-4DB2-BD59-A6C34878D82A}">
                    <a16:rowId xmlns:a16="http://schemas.microsoft.com/office/drawing/2014/main" val="2875013886"/>
                  </a:ext>
                </a:extLst>
              </a:tr>
              <a:tr h="370840">
                <a:tc>
                  <a:txBody>
                    <a:bodyPr/>
                    <a:lstStyle/>
                    <a:p>
                      <a:r>
                        <a:rPr lang="fr-FR" dirty="0"/>
                        <a:t>1</a:t>
                      </a:r>
                    </a:p>
                  </a:txBody>
                  <a:tcPr/>
                </a:tc>
                <a:tc>
                  <a:txBody>
                    <a:bodyPr/>
                    <a:lstStyle/>
                    <a:p>
                      <a:r>
                        <a:rPr lang="fr-FR" dirty="0"/>
                        <a:t>Smith</a:t>
                      </a:r>
                    </a:p>
                  </a:txBody>
                  <a:tcPr/>
                </a:tc>
                <a:tc>
                  <a:txBody>
                    <a:bodyPr/>
                    <a:lstStyle/>
                    <a:p>
                      <a:r>
                        <a:rPr lang="fr-FR" dirty="0"/>
                        <a:t>01/01/1990</a:t>
                      </a:r>
                    </a:p>
                  </a:txBody>
                  <a:tcPr/>
                </a:tc>
                <a:extLst>
                  <a:ext uri="{0D108BD9-81ED-4DB2-BD59-A6C34878D82A}">
                    <a16:rowId xmlns:a16="http://schemas.microsoft.com/office/drawing/2014/main" val="257893841"/>
                  </a:ext>
                </a:extLst>
              </a:tr>
              <a:tr h="370840">
                <a:tc>
                  <a:txBody>
                    <a:bodyPr/>
                    <a:lstStyle/>
                    <a:p>
                      <a:r>
                        <a:rPr lang="fr-FR" dirty="0"/>
                        <a:t>2</a:t>
                      </a:r>
                    </a:p>
                  </a:txBody>
                  <a:tcPr/>
                </a:tc>
                <a:tc>
                  <a:txBody>
                    <a:bodyPr/>
                    <a:lstStyle/>
                    <a:p>
                      <a:r>
                        <a:rPr lang="fr-FR" dirty="0"/>
                        <a:t>Doe</a:t>
                      </a:r>
                    </a:p>
                  </a:txBody>
                  <a:tcPr/>
                </a:tc>
                <a:tc>
                  <a:txBody>
                    <a:bodyPr/>
                    <a:lstStyle/>
                    <a:p>
                      <a:r>
                        <a:rPr lang="fr-FR" dirty="0"/>
                        <a:t>02/02/1991</a:t>
                      </a:r>
                    </a:p>
                  </a:txBody>
                  <a:tcPr/>
                </a:tc>
                <a:extLst>
                  <a:ext uri="{0D108BD9-81ED-4DB2-BD59-A6C34878D82A}">
                    <a16:rowId xmlns:a16="http://schemas.microsoft.com/office/drawing/2014/main" val="371286151"/>
                  </a:ext>
                </a:extLst>
              </a:tr>
              <a:tr h="370840">
                <a:tc>
                  <a:txBody>
                    <a:bodyPr/>
                    <a:lstStyle/>
                    <a:p>
                      <a:r>
                        <a:rPr lang="fr-FR" dirty="0"/>
                        <a:t>3</a:t>
                      </a:r>
                    </a:p>
                  </a:txBody>
                  <a:tcPr/>
                </a:tc>
                <a:tc>
                  <a:txBody>
                    <a:bodyPr/>
                    <a:lstStyle/>
                    <a:p>
                      <a:r>
                        <a:rPr lang="fr-FR" dirty="0"/>
                        <a:t>John</a:t>
                      </a:r>
                    </a:p>
                  </a:txBody>
                  <a:tcPr/>
                </a:tc>
                <a:tc>
                  <a:txBody>
                    <a:bodyPr/>
                    <a:lstStyle/>
                    <a:p>
                      <a:r>
                        <a:rPr lang="fr-FR" dirty="0"/>
                        <a:t>03/03/1992</a:t>
                      </a:r>
                    </a:p>
                  </a:txBody>
                  <a:tcPr/>
                </a:tc>
                <a:extLst>
                  <a:ext uri="{0D108BD9-81ED-4DB2-BD59-A6C34878D82A}">
                    <a16:rowId xmlns:a16="http://schemas.microsoft.com/office/drawing/2014/main" val="2987094444"/>
                  </a:ext>
                </a:extLst>
              </a:tr>
            </a:tbl>
          </a:graphicData>
        </a:graphic>
      </p:graphicFrame>
    </p:spTree>
    <p:extLst>
      <p:ext uri="{BB962C8B-B14F-4D97-AF65-F5344CB8AC3E}">
        <p14:creationId xmlns:p14="http://schemas.microsoft.com/office/powerpoint/2010/main" val="313048192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33642A-DE30-484F-822B-113826DA55DB}"/>
              </a:ext>
            </a:extLst>
          </p:cNvPr>
          <p:cNvSpPr>
            <a:spLocks noGrp="1"/>
          </p:cNvSpPr>
          <p:nvPr>
            <p:ph type="title"/>
          </p:nvPr>
        </p:nvSpPr>
        <p:spPr/>
        <p:txBody>
          <a:bodyPr/>
          <a:lstStyle/>
          <a:p>
            <a:r>
              <a:rPr lang="fr-FR" dirty="0"/>
              <a:t>Index</a:t>
            </a:r>
          </a:p>
        </p:txBody>
      </p:sp>
      <p:sp>
        <p:nvSpPr>
          <p:cNvPr id="3" name="Espace réservé du contenu 2">
            <a:extLst>
              <a:ext uri="{FF2B5EF4-FFF2-40B4-BE49-F238E27FC236}">
                <a16:creationId xmlns:a16="http://schemas.microsoft.com/office/drawing/2014/main" id="{0B93457B-6EB6-47A9-A05E-803E270FDDC2}"/>
              </a:ext>
            </a:extLst>
          </p:cNvPr>
          <p:cNvSpPr>
            <a:spLocks noGrp="1"/>
          </p:cNvSpPr>
          <p:nvPr>
            <p:ph idx="1"/>
          </p:nvPr>
        </p:nvSpPr>
        <p:spPr/>
        <p:txBody>
          <a:bodyPr/>
          <a:lstStyle/>
          <a:p>
            <a:r>
              <a:rPr lang="fr-FR" dirty="0"/>
              <a:t>Création d’un index :</a:t>
            </a:r>
          </a:p>
          <a:p>
            <a:pPr marL="0" indent="0" algn="ctr">
              <a:buNone/>
            </a:pPr>
            <a:r>
              <a:rPr lang="fr-FR" b="1" dirty="0"/>
              <a:t>CREATE</a:t>
            </a:r>
            <a:r>
              <a:rPr lang="fr-FR" dirty="0"/>
              <a:t> </a:t>
            </a:r>
            <a:r>
              <a:rPr lang="fr-FR" b="1" dirty="0"/>
              <a:t>INDEX</a:t>
            </a:r>
            <a:r>
              <a:rPr lang="fr-FR" dirty="0"/>
              <a:t> `</a:t>
            </a:r>
            <a:r>
              <a:rPr lang="fr-FR" dirty="0" err="1"/>
              <a:t>nom_index</a:t>
            </a:r>
            <a:r>
              <a:rPr lang="fr-FR" dirty="0"/>
              <a:t>` </a:t>
            </a:r>
            <a:r>
              <a:rPr lang="fr-FR" b="1" dirty="0"/>
              <a:t>ON</a:t>
            </a:r>
            <a:r>
              <a:rPr lang="fr-FR" dirty="0"/>
              <a:t> `table` (`colonne`)</a:t>
            </a:r>
          </a:p>
          <a:p>
            <a:r>
              <a:rPr lang="fr-FR" dirty="0"/>
              <a:t>Si on reprend l’exemple précédent, la création d’un index sur la colonne </a:t>
            </a:r>
            <a:r>
              <a:rPr lang="fr-FR" i="1" dirty="0" err="1"/>
              <a:t>date_naissance</a:t>
            </a:r>
            <a:r>
              <a:rPr lang="fr-FR" i="1" dirty="0"/>
              <a:t> </a:t>
            </a:r>
            <a:r>
              <a:rPr lang="fr-FR" dirty="0"/>
              <a:t>permettra de faire des récupérations beaucoup plus rapides par rapport à cet attribut</a:t>
            </a:r>
          </a:p>
          <a:p>
            <a:r>
              <a:rPr lang="fr-FR" dirty="0"/>
              <a:t>L’utilisation d’un index rend également plus rapide les fonctions d’agrégation (le parcours de l’ensemble des valeurs indexées est plus rapide que le parcours de la même valeur non-indexée)</a:t>
            </a:r>
          </a:p>
        </p:txBody>
      </p:sp>
      <p:sp>
        <p:nvSpPr>
          <p:cNvPr id="4" name="Espace réservé du numéro de diapositive 3">
            <a:extLst>
              <a:ext uri="{FF2B5EF4-FFF2-40B4-BE49-F238E27FC236}">
                <a16:creationId xmlns:a16="http://schemas.microsoft.com/office/drawing/2014/main" id="{315D26CE-29A4-4ECF-A4BE-813D18FA1D25}"/>
              </a:ext>
            </a:extLst>
          </p:cNvPr>
          <p:cNvSpPr>
            <a:spLocks noGrp="1"/>
          </p:cNvSpPr>
          <p:nvPr>
            <p:ph type="sldNum" sz="quarter" idx="12"/>
          </p:nvPr>
        </p:nvSpPr>
        <p:spPr/>
        <p:txBody>
          <a:bodyPr/>
          <a:lstStyle/>
          <a:p>
            <a:fld id="{27C6CCC6-2BE5-4E42-96A4-D1E8E81A3D8E}" type="slidenum">
              <a:rPr lang="de-DE" smtClean="0"/>
              <a:t>127</a:t>
            </a:fld>
            <a:endParaRPr lang="de-DE"/>
          </a:p>
        </p:txBody>
      </p:sp>
    </p:spTree>
    <p:extLst>
      <p:ext uri="{BB962C8B-B14F-4D97-AF65-F5344CB8AC3E}">
        <p14:creationId xmlns:p14="http://schemas.microsoft.com/office/powerpoint/2010/main" val="168966103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33642A-DE30-484F-822B-113826DA55DB}"/>
              </a:ext>
            </a:extLst>
          </p:cNvPr>
          <p:cNvSpPr>
            <a:spLocks noGrp="1"/>
          </p:cNvSpPr>
          <p:nvPr>
            <p:ph type="title"/>
          </p:nvPr>
        </p:nvSpPr>
        <p:spPr/>
        <p:txBody>
          <a:bodyPr/>
          <a:lstStyle/>
          <a:p>
            <a:r>
              <a:rPr lang="fr-FR" dirty="0"/>
              <a:t>Index</a:t>
            </a:r>
          </a:p>
        </p:txBody>
      </p:sp>
      <p:sp>
        <p:nvSpPr>
          <p:cNvPr id="3" name="Espace réservé du contenu 2">
            <a:extLst>
              <a:ext uri="{FF2B5EF4-FFF2-40B4-BE49-F238E27FC236}">
                <a16:creationId xmlns:a16="http://schemas.microsoft.com/office/drawing/2014/main" id="{0B93457B-6EB6-47A9-A05E-803E270FDDC2}"/>
              </a:ext>
            </a:extLst>
          </p:cNvPr>
          <p:cNvSpPr>
            <a:spLocks noGrp="1"/>
          </p:cNvSpPr>
          <p:nvPr>
            <p:ph idx="1"/>
          </p:nvPr>
        </p:nvSpPr>
        <p:spPr/>
        <p:txBody>
          <a:bodyPr/>
          <a:lstStyle/>
          <a:p>
            <a:r>
              <a:rPr lang="fr-FR" dirty="0"/>
              <a:t>Suppression d’un index :</a:t>
            </a:r>
          </a:p>
          <a:p>
            <a:pPr marL="0" indent="0" algn="ctr">
              <a:buNone/>
            </a:pPr>
            <a:r>
              <a:rPr lang="fr-FR" b="1" dirty="0"/>
              <a:t>ALTER TABLE </a:t>
            </a:r>
            <a:r>
              <a:rPr lang="fr-FR" dirty="0"/>
              <a:t>`table` </a:t>
            </a:r>
            <a:r>
              <a:rPr lang="fr-FR" b="1" dirty="0"/>
              <a:t>DROP INDEX</a:t>
            </a:r>
            <a:r>
              <a:rPr lang="fr-FR" dirty="0"/>
              <a:t> `</a:t>
            </a:r>
            <a:r>
              <a:rPr lang="fr-FR" dirty="0" err="1"/>
              <a:t>nom_index</a:t>
            </a:r>
            <a:r>
              <a:rPr lang="fr-FR" dirty="0"/>
              <a:t>`</a:t>
            </a:r>
          </a:p>
          <a:p>
            <a:r>
              <a:rPr lang="fr-FR" dirty="0"/>
              <a:t>Cette syntaxe (non normalisée – compatible MySQL) permet de supprimer un index existant</a:t>
            </a:r>
          </a:p>
        </p:txBody>
      </p:sp>
      <p:sp>
        <p:nvSpPr>
          <p:cNvPr id="4" name="Espace réservé du numéro de diapositive 3">
            <a:extLst>
              <a:ext uri="{FF2B5EF4-FFF2-40B4-BE49-F238E27FC236}">
                <a16:creationId xmlns:a16="http://schemas.microsoft.com/office/drawing/2014/main" id="{315D26CE-29A4-4ECF-A4BE-813D18FA1D25}"/>
              </a:ext>
            </a:extLst>
          </p:cNvPr>
          <p:cNvSpPr>
            <a:spLocks noGrp="1"/>
          </p:cNvSpPr>
          <p:nvPr>
            <p:ph type="sldNum" sz="quarter" idx="12"/>
          </p:nvPr>
        </p:nvSpPr>
        <p:spPr/>
        <p:txBody>
          <a:bodyPr/>
          <a:lstStyle/>
          <a:p>
            <a:fld id="{27C6CCC6-2BE5-4E42-96A4-D1E8E81A3D8E}" type="slidenum">
              <a:rPr lang="de-DE" smtClean="0"/>
              <a:t>128</a:t>
            </a:fld>
            <a:endParaRPr lang="de-DE"/>
          </a:p>
        </p:txBody>
      </p:sp>
    </p:spTree>
    <p:extLst>
      <p:ext uri="{BB962C8B-B14F-4D97-AF65-F5344CB8AC3E}">
        <p14:creationId xmlns:p14="http://schemas.microsoft.com/office/powerpoint/2010/main" val="345858313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33642A-DE30-484F-822B-113826DA55DB}"/>
              </a:ext>
            </a:extLst>
          </p:cNvPr>
          <p:cNvSpPr>
            <a:spLocks noGrp="1"/>
          </p:cNvSpPr>
          <p:nvPr>
            <p:ph type="title"/>
          </p:nvPr>
        </p:nvSpPr>
        <p:spPr/>
        <p:txBody>
          <a:bodyPr/>
          <a:lstStyle/>
          <a:p>
            <a:r>
              <a:rPr lang="fr-FR" dirty="0"/>
              <a:t>Index</a:t>
            </a:r>
          </a:p>
        </p:txBody>
      </p:sp>
      <p:sp>
        <p:nvSpPr>
          <p:cNvPr id="3" name="Espace réservé du contenu 2">
            <a:extLst>
              <a:ext uri="{FF2B5EF4-FFF2-40B4-BE49-F238E27FC236}">
                <a16:creationId xmlns:a16="http://schemas.microsoft.com/office/drawing/2014/main" id="{0B93457B-6EB6-47A9-A05E-803E270FDDC2}"/>
              </a:ext>
            </a:extLst>
          </p:cNvPr>
          <p:cNvSpPr>
            <a:spLocks noGrp="1"/>
          </p:cNvSpPr>
          <p:nvPr>
            <p:ph idx="1"/>
          </p:nvPr>
        </p:nvSpPr>
        <p:spPr/>
        <p:txBody>
          <a:bodyPr/>
          <a:lstStyle/>
          <a:p>
            <a:r>
              <a:rPr lang="fr-FR" dirty="0"/>
              <a:t>Pourquoi ne pas mettre des indexes partout ?</a:t>
            </a:r>
          </a:p>
          <a:p>
            <a:pPr lvl="1"/>
            <a:r>
              <a:rPr lang="fr-FR" dirty="0"/>
              <a:t>Un index possède un </a:t>
            </a:r>
            <a:r>
              <a:rPr lang="fr-FR" b="1" dirty="0"/>
              <a:t>coût en espace mémoire </a:t>
            </a:r>
            <a:r>
              <a:rPr lang="fr-FR" dirty="0"/>
              <a:t>(ça correspond virtuellement à la création d’une table supplémentaire contenant autant d’enregistrements que la table indexée)</a:t>
            </a:r>
          </a:p>
          <a:p>
            <a:pPr lvl="1"/>
            <a:r>
              <a:rPr lang="fr-FR" dirty="0"/>
              <a:t>Un index introduit un </a:t>
            </a:r>
            <a:r>
              <a:rPr lang="fr-FR" b="1" dirty="0"/>
              <a:t>coût lors de l’insertion et la mise à jour des données </a:t>
            </a:r>
            <a:r>
              <a:rPr lang="fr-FR" dirty="0"/>
              <a:t>: la mise à jour de la table d’origine implique une mise à jour de tous les indexes associés</a:t>
            </a:r>
          </a:p>
          <a:p>
            <a:r>
              <a:rPr lang="fr-FR" dirty="0"/>
              <a:t>Par défaut : les clés primaires et étrangères sont des index ; pour le reste, il faudra utiliser les index avec parcimonie pour optimiser les requêtes fréquentes</a:t>
            </a:r>
          </a:p>
        </p:txBody>
      </p:sp>
      <p:sp>
        <p:nvSpPr>
          <p:cNvPr id="4" name="Espace réservé du numéro de diapositive 3">
            <a:extLst>
              <a:ext uri="{FF2B5EF4-FFF2-40B4-BE49-F238E27FC236}">
                <a16:creationId xmlns:a16="http://schemas.microsoft.com/office/drawing/2014/main" id="{315D26CE-29A4-4ECF-A4BE-813D18FA1D25}"/>
              </a:ext>
            </a:extLst>
          </p:cNvPr>
          <p:cNvSpPr>
            <a:spLocks noGrp="1"/>
          </p:cNvSpPr>
          <p:nvPr>
            <p:ph type="sldNum" sz="quarter" idx="12"/>
          </p:nvPr>
        </p:nvSpPr>
        <p:spPr/>
        <p:txBody>
          <a:bodyPr/>
          <a:lstStyle/>
          <a:p>
            <a:fld id="{27C6CCC6-2BE5-4E42-96A4-D1E8E81A3D8E}" type="slidenum">
              <a:rPr lang="de-DE" smtClean="0"/>
              <a:t>129</a:t>
            </a:fld>
            <a:endParaRPr lang="de-DE"/>
          </a:p>
        </p:txBody>
      </p:sp>
    </p:spTree>
    <p:extLst>
      <p:ext uri="{BB962C8B-B14F-4D97-AF65-F5344CB8AC3E}">
        <p14:creationId xmlns:p14="http://schemas.microsoft.com/office/powerpoint/2010/main" val="416730534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C6FB9D-E783-4783-A27E-02A8A571FA25}"/>
              </a:ext>
            </a:extLst>
          </p:cNvPr>
          <p:cNvSpPr>
            <a:spLocks noGrp="1"/>
          </p:cNvSpPr>
          <p:nvPr>
            <p:ph type="title"/>
          </p:nvPr>
        </p:nvSpPr>
        <p:spPr/>
        <p:txBody>
          <a:bodyPr/>
          <a:lstStyle/>
          <a:p>
            <a:r>
              <a:rPr lang="fr-FR" dirty="0"/>
              <a:t>Full-</a:t>
            </a:r>
            <a:r>
              <a:rPr lang="fr-FR" dirty="0" err="1"/>
              <a:t>text</a:t>
            </a:r>
            <a:r>
              <a:rPr lang="fr-FR" dirty="0"/>
              <a:t> Index</a:t>
            </a:r>
          </a:p>
        </p:txBody>
      </p:sp>
      <p:sp>
        <p:nvSpPr>
          <p:cNvPr id="3" name="Espace réservé du contenu 2">
            <a:extLst>
              <a:ext uri="{FF2B5EF4-FFF2-40B4-BE49-F238E27FC236}">
                <a16:creationId xmlns:a16="http://schemas.microsoft.com/office/drawing/2014/main" id="{F2D39613-F5E1-4CFF-8D72-78F5AD2AB483}"/>
              </a:ext>
            </a:extLst>
          </p:cNvPr>
          <p:cNvSpPr>
            <a:spLocks noGrp="1"/>
          </p:cNvSpPr>
          <p:nvPr>
            <p:ph idx="1"/>
          </p:nvPr>
        </p:nvSpPr>
        <p:spPr/>
        <p:txBody>
          <a:bodyPr/>
          <a:lstStyle/>
          <a:p>
            <a:r>
              <a:rPr lang="fr-FR" dirty="0"/>
              <a:t>MySQL propose la fonctionnalité « full-</a:t>
            </a:r>
            <a:r>
              <a:rPr lang="fr-FR" dirty="0" err="1"/>
              <a:t>text</a:t>
            </a:r>
            <a:r>
              <a:rPr lang="fr-FR" dirty="0"/>
              <a:t> index » pour indexer le contenu de textes, afin d’optimiser fortement la recherche d’informations dans des textes</a:t>
            </a:r>
          </a:p>
          <a:p>
            <a:r>
              <a:rPr lang="fr-FR" dirty="0"/>
              <a:t>Il suffit de préciser la contrainte de table « FULLTEXT </a:t>
            </a:r>
            <a:r>
              <a:rPr lang="fr-FR" i="1" dirty="0" err="1"/>
              <a:t>idx</a:t>
            </a:r>
            <a:r>
              <a:rPr lang="fr-FR" dirty="0"/>
              <a:t> (</a:t>
            </a:r>
            <a:r>
              <a:rPr lang="fr-FR" i="1" dirty="0" err="1"/>
              <a:t>column</a:t>
            </a:r>
            <a:r>
              <a:rPr lang="fr-FR" dirty="0"/>
              <a:t>) » lors de sa création</a:t>
            </a:r>
          </a:p>
          <a:p>
            <a:r>
              <a:rPr lang="fr-FR" dirty="0"/>
              <a:t>Les requêtes utilisant MATCH sur cette colonne seront optimisées</a:t>
            </a:r>
          </a:p>
        </p:txBody>
      </p:sp>
      <p:sp>
        <p:nvSpPr>
          <p:cNvPr id="4" name="Espace réservé du numéro de diapositive 3">
            <a:extLst>
              <a:ext uri="{FF2B5EF4-FFF2-40B4-BE49-F238E27FC236}">
                <a16:creationId xmlns:a16="http://schemas.microsoft.com/office/drawing/2014/main" id="{A9573B00-F51F-4735-AEA6-0CFF484600F1}"/>
              </a:ext>
            </a:extLst>
          </p:cNvPr>
          <p:cNvSpPr>
            <a:spLocks noGrp="1"/>
          </p:cNvSpPr>
          <p:nvPr>
            <p:ph type="sldNum" sz="quarter" idx="12"/>
          </p:nvPr>
        </p:nvSpPr>
        <p:spPr/>
        <p:txBody>
          <a:bodyPr/>
          <a:lstStyle/>
          <a:p>
            <a:fld id="{27C6CCC6-2BE5-4E42-96A4-D1E8E81A3D8E}" type="slidenum">
              <a:rPr lang="de-DE" smtClean="0"/>
              <a:t>130</a:t>
            </a:fld>
            <a:endParaRPr lang="de-DE"/>
          </a:p>
        </p:txBody>
      </p:sp>
    </p:spTree>
    <p:extLst>
      <p:ext uri="{BB962C8B-B14F-4D97-AF65-F5344CB8AC3E}">
        <p14:creationId xmlns:p14="http://schemas.microsoft.com/office/powerpoint/2010/main" val="193949028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757939-16E2-433A-BB82-4F5A054CDD28}"/>
              </a:ext>
            </a:extLst>
          </p:cNvPr>
          <p:cNvSpPr>
            <a:spLocks noGrp="1"/>
          </p:cNvSpPr>
          <p:nvPr>
            <p:ph type="title"/>
          </p:nvPr>
        </p:nvSpPr>
        <p:spPr/>
        <p:txBody>
          <a:bodyPr/>
          <a:lstStyle/>
          <a:p>
            <a:r>
              <a:rPr lang="fr-FR" dirty="0"/>
              <a:t>Partitionnement</a:t>
            </a:r>
          </a:p>
        </p:txBody>
      </p:sp>
      <p:sp>
        <p:nvSpPr>
          <p:cNvPr id="3" name="Espace réservé du contenu 2">
            <a:extLst>
              <a:ext uri="{FF2B5EF4-FFF2-40B4-BE49-F238E27FC236}">
                <a16:creationId xmlns:a16="http://schemas.microsoft.com/office/drawing/2014/main" id="{BDB2F3FF-FE3D-49B5-8C16-6E7FA2043308}"/>
              </a:ext>
            </a:extLst>
          </p:cNvPr>
          <p:cNvSpPr>
            <a:spLocks noGrp="1"/>
          </p:cNvSpPr>
          <p:nvPr>
            <p:ph idx="1"/>
          </p:nvPr>
        </p:nvSpPr>
        <p:spPr/>
        <p:txBody>
          <a:bodyPr/>
          <a:lstStyle/>
          <a:p>
            <a:r>
              <a:rPr lang="fr-FR" dirty="0"/>
              <a:t>Le partitionnement (horizontal) est un mécanisme proposé par les bases de données pour leur optimisation</a:t>
            </a:r>
          </a:p>
          <a:p>
            <a:r>
              <a:rPr lang="fr-FR" dirty="0"/>
              <a:t>Il consiste à « diviser » une table en plusieurs à partir d’une clé de partitionnement (une colonne de la table) ; la division se faisant à partir des valeurs de cette clé</a:t>
            </a:r>
          </a:p>
          <a:p>
            <a:r>
              <a:rPr lang="fr-FR" dirty="0"/>
              <a:t>Par exemple : partitionner une table par dates (avec, par exemple, une partition par mois ou par année)</a:t>
            </a:r>
          </a:p>
        </p:txBody>
      </p:sp>
      <p:sp>
        <p:nvSpPr>
          <p:cNvPr id="4" name="Espace réservé du numéro de diapositive 3">
            <a:extLst>
              <a:ext uri="{FF2B5EF4-FFF2-40B4-BE49-F238E27FC236}">
                <a16:creationId xmlns:a16="http://schemas.microsoft.com/office/drawing/2014/main" id="{00EBE956-009F-4155-ACFD-7B909F872C0C}"/>
              </a:ext>
            </a:extLst>
          </p:cNvPr>
          <p:cNvSpPr>
            <a:spLocks noGrp="1"/>
          </p:cNvSpPr>
          <p:nvPr>
            <p:ph type="sldNum" sz="quarter" idx="12"/>
          </p:nvPr>
        </p:nvSpPr>
        <p:spPr/>
        <p:txBody>
          <a:bodyPr/>
          <a:lstStyle/>
          <a:p>
            <a:fld id="{27C6CCC6-2BE5-4E42-96A4-D1E8E81A3D8E}" type="slidenum">
              <a:rPr lang="de-DE" smtClean="0"/>
              <a:t>131</a:t>
            </a:fld>
            <a:endParaRPr lang="de-DE"/>
          </a:p>
        </p:txBody>
      </p:sp>
    </p:spTree>
    <p:extLst>
      <p:ext uri="{BB962C8B-B14F-4D97-AF65-F5344CB8AC3E}">
        <p14:creationId xmlns:p14="http://schemas.microsoft.com/office/powerpoint/2010/main" val="395118747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757939-16E2-433A-BB82-4F5A054CDD28}"/>
              </a:ext>
            </a:extLst>
          </p:cNvPr>
          <p:cNvSpPr>
            <a:spLocks noGrp="1"/>
          </p:cNvSpPr>
          <p:nvPr>
            <p:ph type="title"/>
          </p:nvPr>
        </p:nvSpPr>
        <p:spPr/>
        <p:txBody>
          <a:bodyPr/>
          <a:lstStyle/>
          <a:p>
            <a:r>
              <a:rPr lang="fr-FR" dirty="0"/>
              <a:t>Partitionnement</a:t>
            </a:r>
          </a:p>
        </p:txBody>
      </p:sp>
      <p:sp>
        <p:nvSpPr>
          <p:cNvPr id="3" name="Espace réservé du contenu 2">
            <a:extLst>
              <a:ext uri="{FF2B5EF4-FFF2-40B4-BE49-F238E27FC236}">
                <a16:creationId xmlns:a16="http://schemas.microsoft.com/office/drawing/2014/main" id="{BDB2F3FF-FE3D-49B5-8C16-6E7FA2043308}"/>
              </a:ext>
            </a:extLst>
          </p:cNvPr>
          <p:cNvSpPr>
            <a:spLocks noGrp="1"/>
          </p:cNvSpPr>
          <p:nvPr>
            <p:ph idx="1"/>
          </p:nvPr>
        </p:nvSpPr>
        <p:spPr/>
        <p:txBody>
          <a:bodyPr/>
          <a:lstStyle/>
          <a:p>
            <a:r>
              <a:rPr lang="fr-FR" dirty="0"/>
              <a:t>Les techniques de partitionnement sont :</a:t>
            </a:r>
          </a:p>
          <a:p>
            <a:pPr lvl="1"/>
            <a:r>
              <a:rPr lang="fr-FR" dirty="0"/>
              <a:t>Par intervalles : les valeurs sont divisées selon des intervalles continus</a:t>
            </a:r>
          </a:p>
          <a:p>
            <a:pPr lvl="1"/>
            <a:r>
              <a:rPr lang="fr-FR" dirty="0"/>
              <a:t>Par liste : les valeurs sont divisées selon leur valeur parmi une liste définie</a:t>
            </a:r>
          </a:p>
          <a:p>
            <a:pPr lvl="1"/>
            <a:r>
              <a:rPr lang="fr-FR" dirty="0"/>
              <a:t>Par </a:t>
            </a:r>
            <a:r>
              <a:rPr lang="fr-FR" dirty="0" err="1"/>
              <a:t>hashage</a:t>
            </a:r>
            <a:r>
              <a:rPr lang="fr-FR" dirty="0"/>
              <a:t> : les valeurs sont divisées en un nombre de partitions défini, puis réparties de façon pseudo-aléatoire</a:t>
            </a:r>
          </a:p>
          <a:p>
            <a:pPr lvl="1"/>
            <a:r>
              <a:rPr lang="fr-FR" dirty="0"/>
              <a:t>Composite : composition de plusieurs techniques de partitionnement</a:t>
            </a:r>
          </a:p>
        </p:txBody>
      </p:sp>
      <p:sp>
        <p:nvSpPr>
          <p:cNvPr id="4" name="Espace réservé du numéro de diapositive 3">
            <a:extLst>
              <a:ext uri="{FF2B5EF4-FFF2-40B4-BE49-F238E27FC236}">
                <a16:creationId xmlns:a16="http://schemas.microsoft.com/office/drawing/2014/main" id="{00EBE956-009F-4155-ACFD-7B909F872C0C}"/>
              </a:ext>
            </a:extLst>
          </p:cNvPr>
          <p:cNvSpPr>
            <a:spLocks noGrp="1"/>
          </p:cNvSpPr>
          <p:nvPr>
            <p:ph type="sldNum" sz="quarter" idx="12"/>
          </p:nvPr>
        </p:nvSpPr>
        <p:spPr/>
        <p:txBody>
          <a:bodyPr/>
          <a:lstStyle/>
          <a:p>
            <a:fld id="{27C6CCC6-2BE5-4E42-96A4-D1E8E81A3D8E}" type="slidenum">
              <a:rPr lang="de-DE" smtClean="0"/>
              <a:t>132</a:t>
            </a:fld>
            <a:endParaRPr lang="de-DE"/>
          </a:p>
        </p:txBody>
      </p:sp>
    </p:spTree>
    <p:extLst>
      <p:ext uri="{BB962C8B-B14F-4D97-AF65-F5344CB8AC3E}">
        <p14:creationId xmlns:p14="http://schemas.microsoft.com/office/powerpoint/2010/main" val="191015065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757939-16E2-433A-BB82-4F5A054CDD28}"/>
              </a:ext>
            </a:extLst>
          </p:cNvPr>
          <p:cNvSpPr>
            <a:spLocks noGrp="1"/>
          </p:cNvSpPr>
          <p:nvPr>
            <p:ph type="title"/>
          </p:nvPr>
        </p:nvSpPr>
        <p:spPr>
          <a:xfrm>
            <a:off x="1154954" y="973669"/>
            <a:ext cx="8825659" cy="706964"/>
          </a:xfrm>
        </p:spPr>
        <p:txBody>
          <a:bodyPr>
            <a:normAutofit/>
          </a:bodyPr>
          <a:lstStyle/>
          <a:p>
            <a:r>
              <a:rPr lang="fr-FR" dirty="0"/>
              <a:t>Partitionnement</a:t>
            </a:r>
          </a:p>
        </p:txBody>
      </p:sp>
      <p:sp>
        <p:nvSpPr>
          <p:cNvPr id="4" name="Espace réservé du numéro de diapositive 3">
            <a:extLst>
              <a:ext uri="{FF2B5EF4-FFF2-40B4-BE49-F238E27FC236}">
                <a16:creationId xmlns:a16="http://schemas.microsoft.com/office/drawing/2014/main" id="{00EBE956-009F-4155-ACFD-7B909F872C0C}"/>
              </a:ext>
            </a:extLst>
          </p:cNvPr>
          <p:cNvSpPr>
            <a:spLocks noGrp="1"/>
          </p:cNvSpPr>
          <p:nvPr>
            <p:ph type="sldNum" sz="quarter" idx="12"/>
          </p:nvPr>
        </p:nvSpPr>
        <p:spPr>
          <a:xfrm>
            <a:off x="10352540" y="295729"/>
            <a:ext cx="838199" cy="767687"/>
          </a:xfrm>
        </p:spPr>
        <p:txBody>
          <a:bodyPr>
            <a:normAutofit/>
          </a:bodyPr>
          <a:lstStyle/>
          <a:p>
            <a:pPr>
              <a:spcAft>
                <a:spcPts val="600"/>
              </a:spcAft>
            </a:pPr>
            <a:fld id="{27C6CCC6-2BE5-4E42-96A4-D1E8E81A3D8E}" type="slidenum">
              <a:rPr lang="de-DE" smtClean="0"/>
              <a:pPr>
                <a:spcAft>
                  <a:spcPts val="600"/>
                </a:spcAft>
              </a:pPr>
              <a:t>133</a:t>
            </a:fld>
            <a:endParaRPr lang="de-DE"/>
          </a:p>
        </p:txBody>
      </p:sp>
      <p:pic>
        <p:nvPicPr>
          <p:cNvPr id="5" name="Espace réservé du contenu 4">
            <a:extLst>
              <a:ext uri="{FF2B5EF4-FFF2-40B4-BE49-F238E27FC236}">
                <a16:creationId xmlns:a16="http://schemas.microsoft.com/office/drawing/2014/main" id="{DCAA756B-87B3-453F-84A6-9D6B67BE7CE8}"/>
              </a:ext>
            </a:extLst>
          </p:cNvPr>
          <p:cNvPicPr>
            <a:picLocks noChangeAspect="1"/>
          </p:cNvPicPr>
          <p:nvPr/>
        </p:nvPicPr>
        <p:blipFill>
          <a:blip r:embed="rId2"/>
          <a:stretch>
            <a:fillRect/>
          </a:stretch>
        </p:blipFill>
        <p:spPr>
          <a:xfrm>
            <a:off x="1436913" y="2775951"/>
            <a:ext cx="3774132" cy="3067163"/>
          </a:xfrm>
          <a:prstGeom prst="roundRect">
            <a:avLst>
              <a:gd name="adj" fmla="val 1858"/>
            </a:avLst>
          </a:prstGeom>
          <a:effectLst>
            <a:outerShdw blurRad="50800" dist="50800" dir="5400000" algn="tl" rotWithShape="0">
              <a:srgbClr val="000000">
                <a:alpha val="43000"/>
              </a:srgbClr>
            </a:outerShdw>
          </a:effectLst>
        </p:spPr>
      </p:pic>
      <p:sp>
        <p:nvSpPr>
          <p:cNvPr id="9" name="Content Placeholder 8">
            <a:extLst>
              <a:ext uri="{FF2B5EF4-FFF2-40B4-BE49-F238E27FC236}">
                <a16:creationId xmlns:a16="http://schemas.microsoft.com/office/drawing/2014/main" id="{99E8BCD2-189E-B24A-621F-E947F46A7604}"/>
              </a:ext>
            </a:extLst>
          </p:cNvPr>
          <p:cNvSpPr>
            <a:spLocks noGrp="1"/>
          </p:cNvSpPr>
          <p:nvPr>
            <p:ph idx="1"/>
          </p:nvPr>
        </p:nvSpPr>
        <p:spPr>
          <a:xfrm>
            <a:off x="5980954" y="2603500"/>
            <a:ext cx="5211979" cy="3416300"/>
          </a:xfrm>
        </p:spPr>
        <p:txBody>
          <a:bodyPr anchor="ctr">
            <a:normAutofit/>
          </a:bodyPr>
          <a:lstStyle/>
          <a:p>
            <a:r>
              <a:rPr lang="en-US" dirty="0"/>
              <a:t>Le </a:t>
            </a:r>
            <a:r>
              <a:rPr lang="en-US" dirty="0" err="1"/>
              <a:t>partitionnement</a:t>
            </a:r>
            <a:r>
              <a:rPr lang="en-US" dirty="0"/>
              <a:t> </a:t>
            </a:r>
            <a:r>
              <a:rPr lang="en-US" dirty="0" err="1"/>
              <a:t>peut</a:t>
            </a:r>
            <a:r>
              <a:rPr lang="en-US" dirty="0"/>
              <a:t> se </a:t>
            </a:r>
            <a:r>
              <a:rPr lang="en-US" dirty="0" err="1"/>
              <a:t>définir</a:t>
            </a:r>
            <a:r>
              <a:rPr lang="en-US" dirty="0"/>
              <a:t> à la </a:t>
            </a:r>
            <a:r>
              <a:rPr lang="en-US" dirty="0" err="1"/>
              <a:t>création</a:t>
            </a:r>
            <a:r>
              <a:rPr lang="en-US" dirty="0"/>
              <a:t> (CREATE TABLE) </a:t>
            </a:r>
            <a:r>
              <a:rPr lang="en-US" dirty="0" err="1"/>
              <a:t>ou</a:t>
            </a:r>
            <a:r>
              <a:rPr lang="en-US" dirty="0"/>
              <a:t> plus tard (ALTER TABLE)</a:t>
            </a:r>
          </a:p>
          <a:p>
            <a:r>
              <a:rPr lang="en-US" dirty="0"/>
              <a:t>Il </a:t>
            </a:r>
            <a:r>
              <a:rPr lang="en-US" dirty="0" err="1"/>
              <a:t>faut</a:t>
            </a:r>
            <a:r>
              <a:rPr lang="en-US" dirty="0"/>
              <a:t> </a:t>
            </a:r>
            <a:r>
              <a:rPr lang="en-US" dirty="0" err="1"/>
              <a:t>décrire</a:t>
            </a:r>
            <a:r>
              <a:rPr lang="en-US" dirty="0"/>
              <a:t> :</a:t>
            </a:r>
          </a:p>
          <a:p>
            <a:pPr lvl="1"/>
            <a:r>
              <a:rPr lang="en-US" dirty="0"/>
              <a:t>La </a:t>
            </a:r>
            <a:r>
              <a:rPr lang="en-US" dirty="0" err="1"/>
              <a:t>méthode</a:t>
            </a:r>
            <a:r>
              <a:rPr lang="en-US" dirty="0"/>
              <a:t> de </a:t>
            </a:r>
            <a:r>
              <a:rPr lang="en-US" dirty="0" err="1"/>
              <a:t>partionnement</a:t>
            </a:r>
            <a:endParaRPr lang="en-US" dirty="0"/>
          </a:p>
          <a:p>
            <a:pPr lvl="1"/>
            <a:r>
              <a:rPr lang="en-US" dirty="0"/>
              <a:t>La </a:t>
            </a:r>
            <a:r>
              <a:rPr lang="en-US" dirty="0" err="1"/>
              <a:t>clé</a:t>
            </a:r>
            <a:r>
              <a:rPr lang="en-US" dirty="0"/>
              <a:t> de </a:t>
            </a:r>
            <a:r>
              <a:rPr lang="en-US" dirty="0" err="1"/>
              <a:t>partitionnement</a:t>
            </a:r>
            <a:endParaRPr lang="en-US" dirty="0"/>
          </a:p>
          <a:p>
            <a:pPr lvl="1"/>
            <a:r>
              <a:rPr lang="en-US" dirty="0"/>
              <a:t>Le </a:t>
            </a:r>
            <a:r>
              <a:rPr lang="en-US" dirty="0" err="1"/>
              <a:t>paramétrage</a:t>
            </a:r>
            <a:r>
              <a:rPr lang="en-US" dirty="0"/>
              <a:t> des partitions</a:t>
            </a:r>
          </a:p>
        </p:txBody>
      </p:sp>
    </p:spTree>
    <p:extLst>
      <p:ext uri="{BB962C8B-B14F-4D97-AF65-F5344CB8AC3E}">
        <p14:creationId xmlns:p14="http://schemas.microsoft.com/office/powerpoint/2010/main" val="425648559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EE139F-EC08-4207-9CD6-F5CEEA6FD76B}"/>
              </a:ext>
            </a:extLst>
          </p:cNvPr>
          <p:cNvSpPr>
            <a:spLocks noGrp="1"/>
          </p:cNvSpPr>
          <p:nvPr>
            <p:ph type="title"/>
          </p:nvPr>
        </p:nvSpPr>
        <p:spPr/>
        <p:txBody>
          <a:bodyPr/>
          <a:lstStyle/>
          <a:p>
            <a:r>
              <a:rPr lang="fr-FR" dirty="0"/>
              <a:t>Partitionnement</a:t>
            </a:r>
          </a:p>
        </p:txBody>
      </p:sp>
      <p:sp>
        <p:nvSpPr>
          <p:cNvPr id="3" name="Espace réservé du contenu 2">
            <a:extLst>
              <a:ext uri="{FF2B5EF4-FFF2-40B4-BE49-F238E27FC236}">
                <a16:creationId xmlns:a16="http://schemas.microsoft.com/office/drawing/2014/main" id="{4E5E51D3-29C9-473E-B238-F319B405DC87}"/>
              </a:ext>
            </a:extLst>
          </p:cNvPr>
          <p:cNvSpPr>
            <a:spLocks noGrp="1"/>
          </p:cNvSpPr>
          <p:nvPr>
            <p:ph idx="1"/>
          </p:nvPr>
        </p:nvSpPr>
        <p:spPr/>
        <p:txBody>
          <a:bodyPr/>
          <a:lstStyle/>
          <a:p>
            <a:r>
              <a:rPr lang="fr-FR" dirty="0"/>
              <a:t>Le partitionnement peut optimiser certaines requêtes (pour l’exemple précédent, celles qui manipulent la date)</a:t>
            </a:r>
          </a:p>
          <a:p>
            <a:r>
              <a:rPr lang="fr-FR" dirty="0"/>
              <a:t>Les opérations de modifications des partitions se font via des mots clés dédiés :</a:t>
            </a:r>
          </a:p>
          <a:p>
            <a:pPr lvl="1"/>
            <a:r>
              <a:rPr lang="fr-FR" dirty="0"/>
              <a:t>ADD PARTITION</a:t>
            </a:r>
          </a:p>
          <a:p>
            <a:pPr lvl="1"/>
            <a:r>
              <a:rPr lang="fr-FR" dirty="0"/>
              <a:t>REORGANIZE PARTITION</a:t>
            </a:r>
          </a:p>
          <a:p>
            <a:pPr lvl="1"/>
            <a:r>
              <a:rPr lang="fr-FR" dirty="0"/>
              <a:t>DROP PARTITION</a:t>
            </a:r>
          </a:p>
        </p:txBody>
      </p:sp>
      <p:sp>
        <p:nvSpPr>
          <p:cNvPr id="4" name="Espace réservé du numéro de diapositive 3">
            <a:extLst>
              <a:ext uri="{FF2B5EF4-FFF2-40B4-BE49-F238E27FC236}">
                <a16:creationId xmlns:a16="http://schemas.microsoft.com/office/drawing/2014/main" id="{72E657A9-F35C-4F43-B4D2-BEC40108C5E2}"/>
              </a:ext>
            </a:extLst>
          </p:cNvPr>
          <p:cNvSpPr>
            <a:spLocks noGrp="1"/>
          </p:cNvSpPr>
          <p:nvPr>
            <p:ph type="sldNum" sz="quarter" idx="12"/>
          </p:nvPr>
        </p:nvSpPr>
        <p:spPr/>
        <p:txBody>
          <a:bodyPr/>
          <a:lstStyle/>
          <a:p>
            <a:fld id="{27C6CCC6-2BE5-4E42-96A4-D1E8E81A3D8E}" type="slidenum">
              <a:rPr lang="de-DE" smtClean="0"/>
              <a:t>134</a:t>
            </a:fld>
            <a:endParaRPr lang="de-DE"/>
          </a:p>
        </p:txBody>
      </p:sp>
    </p:spTree>
    <p:extLst>
      <p:ext uri="{BB962C8B-B14F-4D97-AF65-F5344CB8AC3E}">
        <p14:creationId xmlns:p14="http://schemas.microsoft.com/office/powerpoint/2010/main" val="230322539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A9842B-9AFF-41BA-A899-E92207A670F9}"/>
              </a:ext>
            </a:extLst>
          </p:cNvPr>
          <p:cNvSpPr>
            <a:spLocks noGrp="1"/>
          </p:cNvSpPr>
          <p:nvPr>
            <p:ph type="title"/>
          </p:nvPr>
        </p:nvSpPr>
        <p:spPr>
          <a:xfrm>
            <a:off x="451514" y="947607"/>
            <a:ext cx="4389427" cy="4962786"/>
          </a:xfrm>
        </p:spPr>
        <p:txBody>
          <a:bodyPr vert="horz" lIns="91440" tIns="45720" rIns="91440" bIns="45720" rtlCol="0" anchor="ctr">
            <a:normAutofit/>
          </a:bodyPr>
          <a:lstStyle/>
          <a:p>
            <a:r>
              <a:rPr lang="en-US" sz="5400" dirty="0" err="1"/>
              <a:t>Automatisation</a:t>
            </a:r>
            <a:r>
              <a:rPr lang="en-US" sz="5400" dirty="0"/>
              <a:t> de la base</a:t>
            </a:r>
          </a:p>
        </p:txBody>
      </p:sp>
      <p:sp>
        <p:nvSpPr>
          <p:cNvPr id="3" name="Espace réservé du contenu 2">
            <a:extLst>
              <a:ext uri="{FF2B5EF4-FFF2-40B4-BE49-F238E27FC236}">
                <a16:creationId xmlns:a16="http://schemas.microsoft.com/office/drawing/2014/main" id="{64DBD916-8FC9-40A4-9D00-0A6E50F6C8C5}"/>
              </a:ext>
            </a:extLst>
          </p:cNvPr>
          <p:cNvSpPr>
            <a:spLocks noGrp="1"/>
          </p:cNvSpPr>
          <p:nvPr>
            <p:ph idx="1"/>
          </p:nvPr>
        </p:nvSpPr>
        <p:spPr>
          <a:xfrm>
            <a:off x="7229345" y="947607"/>
            <a:ext cx="4152655" cy="4962785"/>
          </a:xfrm>
          <a:effectLst/>
        </p:spPr>
        <p:txBody>
          <a:bodyPr vert="horz" lIns="91440" tIns="45720" rIns="91440" bIns="45720" rtlCol="0" anchor="ctr">
            <a:normAutofit/>
          </a:bodyPr>
          <a:lstStyle/>
          <a:p>
            <a:pPr marL="0" indent="0">
              <a:buNone/>
            </a:pPr>
            <a:r>
              <a:rPr lang="en-US" sz="2800" dirty="0" err="1"/>
              <a:t>Fonctions</a:t>
            </a:r>
            <a:r>
              <a:rPr lang="en-US" sz="2800" dirty="0"/>
              <a:t>, procedures </a:t>
            </a:r>
            <a:r>
              <a:rPr lang="en-US" sz="2800" dirty="0" err="1"/>
              <a:t>stockées</a:t>
            </a:r>
            <a:r>
              <a:rPr lang="en-US" sz="2800" dirty="0"/>
              <a:t>,</a:t>
            </a:r>
            <a:br>
              <a:rPr lang="en-US" sz="2800" dirty="0"/>
            </a:br>
            <a:r>
              <a:rPr lang="en-US" sz="2800" dirty="0" err="1"/>
              <a:t>déclencheurs</a:t>
            </a:r>
            <a:r>
              <a:rPr lang="en-US" sz="2800" dirty="0"/>
              <a:t>, </a:t>
            </a:r>
            <a:r>
              <a:rPr lang="en-US" sz="2800" dirty="0" err="1"/>
              <a:t>évènements</a:t>
            </a:r>
            <a:endParaRPr lang="en-US" sz="2800" dirty="0"/>
          </a:p>
        </p:txBody>
      </p:sp>
      <p:sp>
        <p:nvSpPr>
          <p:cNvPr id="6" name="Espace réservé du numéro de diapositive 5">
            <a:extLst>
              <a:ext uri="{FF2B5EF4-FFF2-40B4-BE49-F238E27FC236}">
                <a16:creationId xmlns:a16="http://schemas.microsoft.com/office/drawing/2014/main" id="{1759B7EB-B9DD-49DB-9637-F63E418461CF}"/>
              </a:ext>
            </a:extLst>
          </p:cNvPr>
          <p:cNvSpPr>
            <a:spLocks noGrp="1"/>
          </p:cNvSpPr>
          <p:nvPr>
            <p:ph type="sldNum" sz="quarter" idx="12"/>
          </p:nvPr>
        </p:nvSpPr>
        <p:spPr/>
        <p:txBody>
          <a:bodyPr/>
          <a:lstStyle/>
          <a:p>
            <a:fld id="{27C6CCC6-2BE5-4E42-96A4-D1E8E81A3D8E}" type="slidenum">
              <a:rPr lang="de-DE" smtClean="0"/>
              <a:t>135</a:t>
            </a:fld>
            <a:endParaRPr lang="de-DE"/>
          </a:p>
        </p:txBody>
      </p:sp>
    </p:spTree>
    <p:extLst>
      <p:ext uri="{BB962C8B-B14F-4D97-AF65-F5344CB8AC3E}">
        <p14:creationId xmlns:p14="http://schemas.microsoft.com/office/powerpoint/2010/main" val="177789130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dirty="0"/>
              <a:t>Typologie des fonctions</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lstStyle/>
          <a:p>
            <a:r>
              <a:rPr lang="en-US" dirty="0"/>
              <a:t>MySQL </a:t>
            </a:r>
            <a:r>
              <a:rPr lang="en-US" dirty="0" err="1"/>
              <a:t>est</a:t>
            </a:r>
            <a:r>
              <a:rPr lang="en-US" dirty="0"/>
              <a:t> capable </a:t>
            </a:r>
            <a:r>
              <a:rPr lang="en-US" dirty="0" err="1"/>
              <a:t>d’executer</a:t>
            </a:r>
            <a:r>
              <a:rPr lang="en-US" dirty="0"/>
              <a:t> de </a:t>
            </a:r>
            <a:r>
              <a:rPr lang="en-US" dirty="0" err="1"/>
              <a:t>façon</a:t>
            </a:r>
            <a:r>
              <a:rPr lang="en-US" dirty="0"/>
              <a:t> </a:t>
            </a:r>
            <a:r>
              <a:rPr lang="en-US" dirty="0" err="1"/>
              <a:t>automatique</a:t>
            </a:r>
            <a:r>
              <a:rPr lang="en-US" dirty="0"/>
              <a:t> </a:t>
            </a:r>
            <a:r>
              <a:rPr lang="en-US" dirty="0" err="1"/>
              <a:t>certains</a:t>
            </a:r>
            <a:r>
              <a:rPr lang="en-US" dirty="0"/>
              <a:t> </a:t>
            </a:r>
            <a:r>
              <a:rPr lang="en-US" dirty="0" err="1"/>
              <a:t>traitement</a:t>
            </a:r>
            <a:r>
              <a:rPr lang="en-US" dirty="0"/>
              <a:t>, on </a:t>
            </a:r>
            <a:r>
              <a:rPr lang="en-US" dirty="0" err="1"/>
              <a:t>en</a:t>
            </a:r>
            <a:r>
              <a:rPr lang="en-US" dirty="0"/>
              <a:t> distingue trois categories :</a:t>
            </a:r>
          </a:p>
          <a:p>
            <a:pPr lvl="1"/>
            <a:r>
              <a:rPr lang="en-US" dirty="0"/>
              <a:t>Les </a:t>
            </a:r>
            <a:r>
              <a:rPr lang="en-US" b="1" dirty="0" err="1"/>
              <a:t>fonctions</a:t>
            </a:r>
            <a:r>
              <a:rPr lang="en-US" b="1" dirty="0"/>
              <a:t> (FUNCTION) et </a:t>
            </a:r>
            <a:r>
              <a:rPr lang="en-US" b="1" dirty="0" err="1"/>
              <a:t>procédures</a:t>
            </a:r>
            <a:r>
              <a:rPr lang="en-US" b="1" dirty="0"/>
              <a:t> (PROCEDURE) </a:t>
            </a:r>
            <a:r>
              <a:rPr lang="en-US" b="1" dirty="0" err="1"/>
              <a:t>stockées</a:t>
            </a:r>
            <a:r>
              <a:rPr lang="en-US" b="1" dirty="0"/>
              <a:t> </a:t>
            </a:r>
            <a:r>
              <a:rPr lang="en-US" dirty="0"/>
              <a:t>: </a:t>
            </a:r>
            <a:r>
              <a:rPr lang="en-US" dirty="0" err="1"/>
              <a:t>invocables</a:t>
            </a:r>
            <a:r>
              <a:rPr lang="en-US" dirty="0"/>
              <a:t> </a:t>
            </a:r>
            <a:r>
              <a:rPr lang="en-US" dirty="0" err="1"/>
              <a:t>depuis</a:t>
            </a:r>
            <a:r>
              <a:rPr lang="en-US" dirty="0"/>
              <a:t> des </a:t>
            </a:r>
            <a:r>
              <a:rPr lang="en-US" dirty="0" err="1"/>
              <a:t>commandes</a:t>
            </a:r>
            <a:r>
              <a:rPr lang="en-US" dirty="0"/>
              <a:t> SQL</a:t>
            </a:r>
          </a:p>
          <a:p>
            <a:pPr lvl="1"/>
            <a:r>
              <a:rPr lang="en-US" dirty="0"/>
              <a:t>Les </a:t>
            </a:r>
            <a:r>
              <a:rPr lang="en-US" b="1" dirty="0" err="1"/>
              <a:t>déclencheurs</a:t>
            </a:r>
            <a:r>
              <a:rPr lang="en-US" b="1" dirty="0"/>
              <a:t> (triggers) </a:t>
            </a:r>
            <a:r>
              <a:rPr lang="en-US" dirty="0"/>
              <a:t>: </a:t>
            </a:r>
            <a:r>
              <a:rPr lang="en-US" dirty="0" err="1"/>
              <a:t>programmes</a:t>
            </a:r>
            <a:r>
              <a:rPr lang="en-US" dirty="0"/>
              <a:t> qui se </a:t>
            </a:r>
            <a:r>
              <a:rPr lang="en-US" dirty="0" err="1"/>
              <a:t>déclenchent</a:t>
            </a:r>
            <a:r>
              <a:rPr lang="en-US" dirty="0"/>
              <a:t> </a:t>
            </a:r>
            <a:r>
              <a:rPr lang="en-US" dirty="0" err="1"/>
              <a:t>avant</a:t>
            </a:r>
            <a:r>
              <a:rPr lang="en-US" dirty="0"/>
              <a:t> </a:t>
            </a:r>
            <a:r>
              <a:rPr lang="en-US" dirty="0" err="1"/>
              <a:t>ou</a:t>
            </a:r>
            <a:r>
              <a:rPr lang="en-US" dirty="0"/>
              <a:t> après un </a:t>
            </a:r>
            <a:r>
              <a:rPr lang="en-US" dirty="0" err="1"/>
              <a:t>évènement</a:t>
            </a:r>
            <a:r>
              <a:rPr lang="en-US" dirty="0"/>
              <a:t> </a:t>
            </a:r>
            <a:r>
              <a:rPr lang="en-US" dirty="0" err="1"/>
              <a:t>concernant</a:t>
            </a:r>
            <a:r>
              <a:rPr lang="en-US" dirty="0"/>
              <a:t> </a:t>
            </a:r>
            <a:r>
              <a:rPr lang="en-US" dirty="0" err="1"/>
              <a:t>une</a:t>
            </a:r>
            <a:r>
              <a:rPr lang="en-US" dirty="0"/>
              <a:t> table</a:t>
            </a:r>
          </a:p>
          <a:p>
            <a:pPr lvl="1"/>
            <a:r>
              <a:rPr lang="en-US" dirty="0"/>
              <a:t>Les </a:t>
            </a:r>
            <a:r>
              <a:rPr lang="en-US" b="1" dirty="0" err="1"/>
              <a:t>évènements</a:t>
            </a:r>
            <a:r>
              <a:rPr lang="en-US" dirty="0"/>
              <a:t> : </a:t>
            </a:r>
            <a:r>
              <a:rPr lang="en-US" dirty="0" err="1"/>
              <a:t>programmes</a:t>
            </a:r>
            <a:r>
              <a:rPr lang="en-US" dirty="0"/>
              <a:t> </a:t>
            </a:r>
            <a:r>
              <a:rPr lang="en-US" dirty="0" err="1"/>
              <a:t>éxecutés</a:t>
            </a:r>
            <a:r>
              <a:rPr lang="en-US" dirty="0"/>
              <a:t> </a:t>
            </a:r>
            <a:r>
              <a:rPr lang="en-US" dirty="0" err="1"/>
              <a:t>périodiquement</a:t>
            </a:r>
            <a:endParaRPr lang="en-US" dirty="0"/>
          </a:p>
          <a:p>
            <a:pPr lvl="1"/>
            <a:endParaRPr lang="en-US" dirty="0"/>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136</a:t>
            </a:fld>
            <a:endParaRPr lang="de-DE"/>
          </a:p>
        </p:txBody>
      </p:sp>
    </p:spTree>
    <p:extLst>
      <p:ext uri="{BB962C8B-B14F-4D97-AF65-F5344CB8AC3E}">
        <p14:creationId xmlns:p14="http://schemas.microsoft.com/office/powerpoint/2010/main" val="130549940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dirty="0"/>
              <a:t>Fonctions personnalisées</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lstStyle/>
          <a:p>
            <a:r>
              <a:rPr lang="en-US" dirty="0" err="1"/>
              <a:t>Création</a:t>
            </a:r>
            <a:r>
              <a:rPr lang="en-US" dirty="0"/>
              <a:t> </a:t>
            </a:r>
            <a:r>
              <a:rPr lang="en-US" dirty="0" err="1"/>
              <a:t>d’une</a:t>
            </a:r>
            <a:r>
              <a:rPr lang="en-US" dirty="0"/>
              <a:t> </a:t>
            </a:r>
            <a:r>
              <a:rPr lang="en-US" dirty="0" err="1"/>
              <a:t>fonction</a:t>
            </a:r>
            <a:r>
              <a:rPr lang="en-US" dirty="0"/>
              <a:t> avec MySQL (</a:t>
            </a:r>
            <a:r>
              <a:rPr lang="en-US" dirty="0" err="1"/>
              <a:t>syntaxe</a:t>
            </a:r>
            <a:r>
              <a:rPr lang="en-US" dirty="0"/>
              <a:t> “inline”)</a:t>
            </a:r>
          </a:p>
          <a:p>
            <a:pPr marL="457200" lvl="1" indent="0">
              <a:buNone/>
            </a:pPr>
            <a:endParaRPr lang="en-US" dirty="0"/>
          </a:p>
          <a:p>
            <a:pPr marL="457200" lvl="1" indent="0">
              <a:buNone/>
            </a:pPr>
            <a:r>
              <a:rPr lang="en-US" b="1" dirty="0"/>
              <a:t>CREATE FUNCTION </a:t>
            </a:r>
            <a:r>
              <a:rPr lang="en-US" dirty="0"/>
              <a:t>`HelloWorld`() </a:t>
            </a:r>
            <a:r>
              <a:rPr lang="en-US" b="1" dirty="0"/>
              <a:t>RETURNS</a:t>
            </a:r>
            <a:r>
              <a:rPr lang="en-US" dirty="0"/>
              <a:t> </a:t>
            </a:r>
            <a:r>
              <a:rPr lang="en-US" b="1" dirty="0"/>
              <a:t>VARCHAR</a:t>
            </a:r>
            <a:r>
              <a:rPr lang="en-US" dirty="0"/>
              <a:t>(20) </a:t>
            </a:r>
            <a:r>
              <a:rPr lang="en-US" b="1" dirty="0"/>
              <a:t>RETURN</a:t>
            </a:r>
            <a:r>
              <a:rPr lang="en-US" dirty="0"/>
              <a:t> 'Hello World!’;</a:t>
            </a:r>
          </a:p>
          <a:p>
            <a:pPr marL="457200" lvl="1" indent="0">
              <a:buNone/>
            </a:pPr>
            <a:endParaRPr lang="en-US" dirty="0"/>
          </a:p>
          <a:p>
            <a:pPr marL="457200" lvl="1" indent="0">
              <a:buNone/>
            </a:pPr>
            <a:r>
              <a:rPr lang="en-US" dirty="0" err="1"/>
              <a:t>Utilisation</a:t>
            </a:r>
            <a:r>
              <a:rPr lang="en-US" dirty="0"/>
              <a:t> de la function :</a:t>
            </a:r>
          </a:p>
          <a:p>
            <a:pPr marL="457200" lvl="1" indent="0">
              <a:buNone/>
            </a:pPr>
            <a:endParaRPr lang="en-US" dirty="0"/>
          </a:p>
          <a:p>
            <a:pPr marL="457200" lvl="1" indent="0">
              <a:buNone/>
            </a:pPr>
            <a:r>
              <a:rPr lang="en-US" b="1" dirty="0"/>
              <a:t>SELECT</a:t>
            </a:r>
            <a:r>
              <a:rPr lang="en-US" dirty="0"/>
              <a:t> HelloWorld();</a:t>
            </a:r>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137</a:t>
            </a:fld>
            <a:endParaRPr lang="de-DE"/>
          </a:p>
        </p:txBody>
      </p:sp>
    </p:spTree>
    <p:extLst>
      <p:ext uri="{BB962C8B-B14F-4D97-AF65-F5344CB8AC3E}">
        <p14:creationId xmlns:p14="http://schemas.microsoft.com/office/powerpoint/2010/main" val="144418288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dirty="0"/>
              <a:t>Fonctions personnalisées</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normAutofit fontScale="85000" lnSpcReduction="10000"/>
          </a:bodyPr>
          <a:lstStyle/>
          <a:p>
            <a:r>
              <a:rPr lang="en-US" dirty="0" err="1"/>
              <a:t>Création</a:t>
            </a:r>
            <a:r>
              <a:rPr lang="en-US" dirty="0"/>
              <a:t> </a:t>
            </a:r>
            <a:r>
              <a:rPr lang="en-US" dirty="0" err="1"/>
              <a:t>d’une</a:t>
            </a:r>
            <a:r>
              <a:rPr lang="en-US" dirty="0"/>
              <a:t> </a:t>
            </a:r>
            <a:r>
              <a:rPr lang="en-US" dirty="0" err="1"/>
              <a:t>fonction</a:t>
            </a:r>
            <a:r>
              <a:rPr lang="en-US" dirty="0"/>
              <a:t> avec MySQL (</a:t>
            </a:r>
            <a:r>
              <a:rPr lang="en-US" dirty="0" err="1"/>
              <a:t>syntaxe</a:t>
            </a:r>
            <a:r>
              <a:rPr lang="en-US" dirty="0"/>
              <a:t> “bloc”)</a:t>
            </a:r>
          </a:p>
          <a:p>
            <a:pPr marL="457200" lvl="1" indent="0">
              <a:buNone/>
            </a:pPr>
            <a:endParaRPr lang="en-US" dirty="0"/>
          </a:p>
          <a:p>
            <a:pPr marL="457200" lvl="1" indent="0">
              <a:buNone/>
            </a:pPr>
            <a:r>
              <a:rPr lang="en-US" b="1" dirty="0"/>
              <a:t>DELIMITER $$</a:t>
            </a:r>
          </a:p>
          <a:p>
            <a:pPr marL="457200" lvl="1" indent="0">
              <a:buNone/>
            </a:pPr>
            <a:r>
              <a:rPr lang="en-US" b="1" dirty="0"/>
              <a:t>CREATE FUNCTION </a:t>
            </a:r>
            <a:r>
              <a:rPr lang="en-US" dirty="0"/>
              <a:t>`HelloWorld`()</a:t>
            </a:r>
          </a:p>
          <a:p>
            <a:pPr marL="457200" lvl="1" indent="0">
              <a:buNone/>
            </a:pPr>
            <a:r>
              <a:rPr lang="en-US" b="1" dirty="0"/>
              <a:t>RETURNS</a:t>
            </a:r>
            <a:r>
              <a:rPr lang="en-US" dirty="0"/>
              <a:t> </a:t>
            </a:r>
            <a:r>
              <a:rPr lang="en-US" b="1" dirty="0"/>
              <a:t>VARCHAR</a:t>
            </a:r>
            <a:r>
              <a:rPr lang="en-US" dirty="0"/>
              <a:t>(20)</a:t>
            </a:r>
          </a:p>
          <a:p>
            <a:pPr marL="457200" lvl="1" indent="0">
              <a:buNone/>
            </a:pPr>
            <a:r>
              <a:rPr lang="en-US" b="1" dirty="0"/>
              <a:t>BEGIN</a:t>
            </a:r>
          </a:p>
          <a:p>
            <a:pPr marL="457200" lvl="1" indent="0">
              <a:buNone/>
            </a:pPr>
            <a:r>
              <a:rPr lang="en-US" b="1" dirty="0"/>
              <a:t>	RETURN</a:t>
            </a:r>
            <a:r>
              <a:rPr lang="en-US" dirty="0"/>
              <a:t> 'Hello World!’;</a:t>
            </a:r>
          </a:p>
          <a:p>
            <a:pPr marL="457200" lvl="1" indent="0">
              <a:buNone/>
            </a:pPr>
            <a:r>
              <a:rPr lang="en-US" b="1" dirty="0"/>
              <a:t>END $$</a:t>
            </a:r>
          </a:p>
          <a:p>
            <a:pPr marL="457200" lvl="1" indent="0">
              <a:buNone/>
            </a:pPr>
            <a:r>
              <a:rPr lang="en-US" b="1" dirty="0"/>
              <a:t>DELIMITER</a:t>
            </a:r>
            <a:r>
              <a:rPr lang="en-US" dirty="0"/>
              <a:t> ;</a:t>
            </a:r>
          </a:p>
          <a:p>
            <a:r>
              <a:rPr lang="en-US" dirty="0"/>
              <a:t>Le </a:t>
            </a:r>
            <a:r>
              <a:rPr lang="en-US" dirty="0" err="1"/>
              <a:t>changement</a:t>
            </a:r>
            <a:r>
              <a:rPr lang="en-US" dirty="0"/>
              <a:t> de </a:t>
            </a:r>
            <a:r>
              <a:rPr lang="en-US" dirty="0" err="1"/>
              <a:t>délimiteur</a:t>
            </a:r>
            <a:r>
              <a:rPr lang="en-US" dirty="0"/>
              <a:t> </a:t>
            </a:r>
            <a:r>
              <a:rPr lang="en-US" dirty="0" err="1"/>
              <a:t>permet</a:t>
            </a:r>
            <a:r>
              <a:rPr lang="en-US" dirty="0"/>
              <a:t> à MySQL de ne pas </a:t>
            </a:r>
            <a:r>
              <a:rPr lang="en-US" dirty="0" err="1"/>
              <a:t>considérer</a:t>
            </a:r>
            <a:r>
              <a:rPr lang="en-US" dirty="0"/>
              <a:t> le ; qui suit RETURN ‘Hello World’ </a:t>
            </a:r>
            <a:r>
              <a:rPr lang="en-US" dirty="0" err="1"/>
              <a:t>comme</a:t>
            </a:r>
            <a:r>
              <a:rPr lang="en-US" dirty="0"/>
              <a:t> </a:t>
            </a:r>
            <a:r>
              <a:rPr lang="en-US" dirty="0" err="1"/>
              <a:t>étant</a:t>
            </a:r>
            <a:r>
              <a:rPr lang="en-US" dirty="0"/>
              <a:t> le </a:t>
            </a:r>
            <a:r>
              <a:rPr lang="en-US" dirty="0" err="1"/>
              <a:t>marqueur</a:t>
            </a:r>
            <a:r>
              <a:rPr lang="en-US" dirty="0"/>
              <a:t> de fin de declaration de la </a:t>
            </a:r>
            <a:r>
              <a:rPr lang="en-US" dirty="0" err="1"/>
              <a:t>fonction</a:t>
            </a:r>
            <a:endParaRPr lang="en-US" dirty="0"/>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138</a:t>
            </a:fld>
            <a:endParaRPr lang="de-DE"/>
          </a:p>
        </p:txBody>
      </p:sp>
    </p:spTree>
    <p:extLst>
      <p:ext uri="{BB962C8B-B14F-4D97-AF65-F5344CB8AC3E}">
        <p14:creationId xmlns:p14="http://schemas.microsoft.com/office/powerpoint/2010/main" val="18738569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dirty="0"/>
              <a:t>Fonctions personnalisées</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normAutofit fontScale="92500" lnSpcReduction="10000"/>
          </a:bodyPr>
          <a:lstStyle/>
          <a:p>
            <a:r>
              <a:rPr lang="en-US" dirty="0" err="1"/>
              <a:t>Déclaration</a:t>
            </a:r>
            <a:endParaRPr lang="en-US" dirty="0"/>
          </a:p>
          <a:p>
            <a:pPr marL="400050" lvl="1" indent="0">
              <a:buNone/>
            </a:pPr>
            <a:r>
              <a:rPr lang="en-US" b="1" dirty="0"/>
              <a:t>DELIMITER</a:t>
            </a:r>
            <a:r>
              <a:rPr lang="en-US" dirty="0"/>
              <a:t> $$</a:t>
            </a:r>
          </a:p>
          <a:p>
            <a:pPr marL="400050" lvl="1" indent="0">
              <a:buNone/>
            </a:pPr>
            <a:r>
              <a:rPr lang="en-US" b="1" dirty="0"/>
              <a:t>CREATE FUNCTION </a:t>
            </a:r>
            <a:r>
              <a:rPr lang="en-US" dirty="0"/>
              <a:t>`HelloWorld2`(_nom VARCHAR(255))</a:t>
            </a:r>
          </a:p>
          <a:p>
            <a:pPr marL="400050" lvl="1" indent="0">
              <a:buNone/>
            </a:pPr>
            <a:r>
              <a:rPr lang="en-US" b="1" dirty="0"/>
              <a:t>RETURNS</a:t>
            </a:r>
            <a:r>
              <a:rPr lang="en-US" dirty="0"/>
              <a:t> </a:t>
            </a:r>
            <a:r>
              <a:rPr lang="en-US" b="1" dirty="0"/>
              <a:t>VARCHAR</a:t>
            </a:r>
            <a:r>
              <a:rPr lang="en-US" dirty="0"/>
              <a:t>(255)</a:t>
            </a:r>
          </a:p>
          <a:p>
            <a:pPr marL="400050" lvl="1" indent="0">
              <a:buNone/>
            </a:pPr>
            <a:r>
              <a:rPr lang="en-US" b="1" dirty="0"/>
              <a:t>BEGIN</a:t>
            </a:r>
          </a:p>
          <a:p>
            <a:pPr marL="400050" lvl="1" indent="0">
              <a:buNone/>
            </a:pPr>
            <a:r>
              <a:rPr lang="en-US" dirty="0"/>
              <a:t>    </a:t>
            </a:r>
            <a:r>
              <a:rPr lang="en-US" b="1" dirty="0"/>
              <a:t>RETURN</a:t>
            </a:r>
            <a:r>
              <a:rPr lang="en-US" dirty="0"/>
              <a:t> </a:t>
            </a:r>
            <a:r>
              <a:rPr lang="en-US" b="1" dirty="0"/>
              <a:t>CONCAT</a:t>
            </a:r>
            <a:r>
              <a:rPr lang="en-US" dirty="0"/>
              <a:t>('Hello World ', _nom, '!');</a:t>
            </a:r>
          </a:p>
          <a:p>
            <a:pPr marL="400050" lvl="1" indent="0">
              <a:buNone/>
            </a:pPr>
            <a:r>
              <a:rPr lang="en-US" b="1" dirty="0"/>
              <a:t>END</a:t>
            </a:r>
            <a:r>
              <a:rPr lang="en-US" dirty="0"/>
              <a:t> $$</a:t>
            </a:r>
          </a:p>
          <a:p>
            <a:pPr marL="400050" lvl="1" indent="0">
              <a:buNone/>
            </a:pPr>
            <a:r>
              <a:rPr lang="en-US" b="1" dirty="0"/>
              <a:t>DELIMITER</a:t>
            </a:r>
            <a:r>
              <a:rPr lang="en-US" dirty="0"/>
              <a:t> ;</a:t>
            </a:r>
          </a:p>
          <a:p>
            <a:r>
              <a:rPr lang="en-US" dirty="0" err="1"/>
              <a:t>Utilisation</a:t>
            </a:r>
            <a:endParaRPr lang="en-US" dirty="0"/>
          </a:p>
          <a:p>
            <a:pPr marL="400050" lvl="1" indent="0">
              <a:buNone/>
            </a:pPr>
            <a:r>
              <a:rPr lang="en-US" b="1" dirty="0"/>
              <a:t>SELECT</a:t>
            </a:r>
            <a:r>
              <a:rPr lang="en-US" dirty="0"/>
              <a:t> HelloWorld2('monsieur’);  # Affiche "Hello World monsieur!"</a:t>
            </a:r>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139</a:t>
            </a:fld>
            <a:endParaRPr lang="de-DE"/>
          </a:p>
        </p:txBody>
      </p:sp>
    </p:spTree>
    <p:extLst>
      <p:ext uri="{BB962C8B-B14F-4D97-AF65-F5344CB8AC3E}">
        <p14:creationId xmlns:p14="http://schemas.microsoft.com/office/powerpoint/2010/main" val="258403788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dirty="0"/>
              <a:t>Fonctions personnalisées</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normAutofit/>
          </a:bodyPr>
          <a:lstStyle/>
          <a:p>
            <a:r>
              <a:rPr lang="en-US" dirty="0" err="1"/>
              <a:t>Déclaration</a:t>
            </a:r>
            <a:r>
              <a:rPr lang="en-US" dirty="0"/>
              <a:t> et </a:t>
            </a:r>
            <a:r>
              <a:rPr lang="en-US" dirty="0" err="1"/>
              <a:t>utilisation</a:t>
            </a:r>
            <a:r>
              <a:rPr lang="en-US" dirty="0"/>
              <a:t> </a:t>
            </a:r>
            <a:r>
              <a:rPr lang="en-US" dirty="0" err="1"/>
              <a:t>d’une</a:t>
            </a:r>
            <a:r>
              <a:rPr lang="en-US" dirty="0"/>
              <a:t> </a:t>
            </a:r>
            <a:r>
              <a:rPr lang="en-US" dirty="0" err="1"/>
              <a:t>procédure</a:t>
            </a:r>
            <a:endParaRPr lang="en-US" dirty="0"/>
          </a:p>
          <a:p>
            <a:pPr marL="0" indent="0">
              <a:buNone/>
            </a:pPr>
            <a:endParaRPr lang="en-US" dirty="0"/>
          </a:p>
          <a:p>
            <a:pPr marL="400050" lvl="1" indent="0">
              <a:buNone/>
            </a:pPr>
            <a:r>
              <a:rPr lang="en-US" b="1" dirty="0"/>
              <a:t>CREATE PROCEDURE `Module1` ( ) OPTIMIZE TABLE wiki1_page;</a:t>
            </a:r>
          </a:p>
          <a:p>
            <a:pPr marL="400050" lvl="1" indent="0">
              <a:buNone/>
            </a:pPr>
            <a:endParaRPr lang="en-US" b="1" dirty="0"/>
          </a:p>
          <a:p>
            <a:pPr marL="400050" lvl="1" indent="0">
              <a:buNone/>
            </a:pPr>
            <a:r>
              <a:rPr lang="en-US" b="1" dirty="0"/>
              <a:t>CALL Module1();</a:t>
            </a:r>
          </a:p>
          <a:p>
            <a:pPr marL="400050" lvl="1" indent="0">
              <a:buNone/>
            </a:pPr>
            <a:endParaRPr lang="en-US" b="1" dirty="0"/>
          </a:p>
          <a:p>
            <a:pPr marL="285750"/>
            <a:r>
              <a:rPr lang="en-US" dirty="0"/>
              <a:t>A </a:t>
            </a:r>
            <a:r>
              <a:rPr lang="en-US" dirty="0" err="1"/>
              <a:t>noter</a:t>
            </a:r>
            <a:r>
              <a:rPr lang="en-US" dirty="0"/>
              <a:t> : les </a:t>
            </a:r>
            <a:r>
              <a:rPr lang="en-US" dirty="0" err="1"/>
              <a:t>fonctions</a:t>
            </a:r>
            <a:r>
              <a:rPr lang="en-US" dirty="0"/>
              <a:t> </a:t>
            </a:r>
            <a:r>
              <a:rPr lang="en-US" dirty="0" err="1"/>
              <a:t>s’appelent</a:t>
            </a:r>
            <a:r>
              <a:rPr lang="en-US" dirty="0"/>
              <a:t> avec SELECT, les procedures avec CALL (et </a:t>
            </a:r>
            <a:r>
              <a:rPr lang="en-US" dirty="0" err="1"/>
              <a:t>une</a:t>
            </a:r>
            <a:r>
              <a:rPr lang="en-US" dirty="0"/>
              <a:t> procedure ne </a:t>
            </a:r>
            <a:r>
              <a:rPr lang="en-US" dirty="0" err="1"/>
              <a:t>retourne</a:t>
            </a:r>
            <a:r>
              <a:rPr lang="en-US" dirty="0"/>
              <a:t> jamais de </a:t>
            </a:r>
            <a:r>
              <a:rPr lang="en-US" dirty="0" err="1"/>
              <a:t>résultat</a:t>
            </a:r>
            <a:r>
              <a:rPr lang="en-US" dirty="0"/>
              <a:t>)</a:t>
            </a:r>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140</a:t>
            </a:fld>
            <a:endParaRPr lang="de-DE"/>
          </a:p>
        </p:txBody>
      </p:sp>
    </p:spTree>
    <p:extLst>
      <p:ext uri="{BB962C8B-B14F-4D97-AF65-F5344CB8AC3E}">
        <p14:creationId xmlns:p14="http://schemas.microsoft.com/office/powerpoint/2010/main" val="280798749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dirty="0"/>
              <a:t>Fonctions personnalisées</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normAutofit/>
          </a:bodyPr>
          <a:lstStyle/>
          <a:p>
            <a:r>
              <a:rPr lang="en-US" dirty="0" err="1"/>
              <a:t>Fonctions</a:t>
            </a:r>
            <a:r>
              <a:rPr lang="en-US" dirty="0"/>
              <a:t> et </a:t>
            </a:r>
            <a:r>
              <a:rPr lang="en-US" dirty="0" err="1"/>
              <a:t>procédures</a:t>
            </a:r>
            <a:r>
              <a:rPr lang="en-US" dirty="0"/>
              <a:t> </a:t>
            </a:r>
            <a:r>
              <a:rPr lang="en-US" dirty="0" err="1"/>
              <a:t>peuvent</a:t>
            </a:r>
            <a:r>
              <a:rPr lang="en-US" dirty="0"/>
              <a:t> </a:t>
            </a:r>
            <a:r>
              <a:rPr lang="en-US" dirty="0" err="1"/>
              <a:t>être</a:t>
            </a:r>
            <a:r>
              <a:rPr lang="en-US" dirty="0"/>
              <a:t> </a:t>
            </a:r>
            <a:r>
              <a:rPr lang="en-US" dirty="0" err="1"/>
              <a:t>supprimées</a:t>
            </a:r>
            <a:r>
              <a:rPr lang="en-US" dirty="0"/>
              <a:t> </a:t>
            </a:r>
            <a:r>
              <a:rPr lang="en-US" dirty="0" err="1"/>
              <a:t>respectivement</a:t>
            </a:r>
            <a:r>
              <a:rPr lang="en-US" dirty="0"/>
              <a:t> par :</a:t>
            </a:r>
          </a:p>
          <a:p>
            <a:pPr lvl="1"/>
            <a:r>
              <a:rPr lang="en-US" dirty="0"/>
              <a:t>DROP FUNCTION `nom`</a:t>
            </a:r>
          </a:p>
          <a:p>
            <a:pPr lvl="1"/>
            <a:r>
              <a:rPr lang="en-US" dirty="0"/>
              <a:t>DROP PROCEDURE `nom`</a:t>
            </a:r>
          </a:p>
          <a:p>
            <a:endParaRPr lang="en-US" dirty="0"/>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141</a:t>
            </a:fld>
            <a:endParaRPr lang="de-DE"/>
          </a:p>
        </p:txBody>
      </p:sp>
    </p:spTree>
    <p:extLst>
      <p:ext uri="{BB962C8B-B14F-4D97-AF65-F5344CB8AC3E}">
        <p14:creationId xmlns:p14="http://schemas.microsoft.com/office/powerpoint/2010/main" val="187428106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dirty="0"/>
              <a:t>Déclencheurs</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normAutofit/>
          </a:bodyPr>
          <a:lstStyle/>
          <a:p>
            <a:r>
              <a:rPr lang="en-US" dirty="0"/>
              <a:t>Les </a:t>
            </a:r>
            <a:r>
              <a:rPr lang="en-US" dirty="0" err="1"/>
              <a:t>déclencheurs</a:t>
            </a:r>
            <a:r>
              <a:rPr lang="en-US" dirty="0"/>
              <a:t> </a:t>
            </a:r>
            <a:r>
              <a:rPr lang="en-US" dirty="0" err="1"/>
              <a:t>ou</a:t>
            </a:r>
            <a:r>
              <a:rPr lang="en-US" dirty="0"/>
              <a:t> triggers </a:t>
            </a:r>
            <a:r>
              <a:rPr lang="en-US" dirty="0" err="1"/>
              <a:t>permettent</a:t>
            </a:r>
            <a:r>
              <a:rPr lang="en-US" dirty="0"/>
              <a:t> </a:t>
            </a:r>
            <a:r>
              <a:rPr lang="en-US" dirty="0" err="1"/>
              <a:t>d’automatiser</a:t>
            </a:r>
            <a:r>
              <a:rPr lang="en-US" dirty="0"/>
              <a:t> des </a:t>
            </a:r>
            <a:r>
              <a:rPr lang="en-US" dirty="0" err="1"/>
              <a:t>traitements</a:t>
            </a:r>
            <a:r>
              <a:rPr lang="en-US" dirty="0"/>
              <a:t> </a:t>
            </a:r>
            <a:r>
              <a:rPr lang="en-US" dirty="0" err="1"/>
              <a:t>en</a:t>
            </a:r>
            <a:r>
              <a:rPr lang="en-US" dirty="0"/>
              <a:t> </a:t>
            </a:r>
            <a:r>
              <a:rPr lang="en-US" dirty="0" err="1"/>
              <a:t>réaction</a:t>
            </a:r>
            <a:r>
              <a:rPr lang="en-US" dirty="0"/>
              <a:t> à des </a:t>
            </a:r>
            <a:r>
              <a:rPr lang="en-US" dirty="0" err="1"/>
              <a:t>évènements</a:t>
            </a:r>
            <a:r>
              <a:rPr lang="en-US" dirty="0"/>
              <a:t> </a:t>
            </a:r>
            <a:r>
              <a:rPr lang="en-US" dirty="0" err="1"/>
              <a:t>ayant</a:t>
            </a:r>
            <a:r>
              <a:rPr lang="en-US" dirty="0"/>
              <a:t> lieu dans la base</a:t>
            </a:r>
          </a:p>
          <a:p>
            <a:r>
              <a:rPr lang="en-US" dirty="0"/>
              <a:t>Par </a:t>
            </a:r>
            <a:r>
              <a:rPr lang="en-US" dirty="0" err="1"/>
              <a:t>exemple</a:t>
            </a:r>
            <a:r>
              <a:rPr lang="en-US" dirty="0"/>
              <a:t>, </a:t>
            </a:r>
            <a:r>
              <a:rPr lang="en-US" dirty="0" err="1"/>
              <a:t>si</a:t>
            </a:r>
            <a:r>
              <a:rPr lang="en-US" dirty="0"/>
              <a:t> on </a:t>
            </a:r>
            <a:r>
              <a:rPr lang="en-US" dirty="0" err="1"/>
              <a:t>veut</a:t>
            </a:r>
            <a:r>
              <a:rPr lang="en-US" dirty="0"/>
              <a:t> effacer les </a:t>
            </a:r>
            <a:r>
              <a:rPr lang="en-US" dirty="0" err="1"/>
              <a:t>anciens</a:t>
            </a:r>
            <a:r>
              <a:rPr lang="en-US" dirty="0"/>
              <a:t> </a:t>
            </a:r>
            <a:r>
              <a:rPr lang="en-US" dirty="0" err="1"/>
              <a:t>enregistrements</a:t>
            </a:r>
            <a:r>
              <a:rPr lang="en-US" dirty="0"/>
              <a:t> </a:t>
            </a:r>
            <a:r>
              <a:rPr lang="en-US" dirty="0" err="1"/>
              <a:t>d’une</a:t>
            </a:r>
            <a:r>
              <a:rPr lang="en-US" dirty="0"/>
              <a:t> table </a:t>
            </a:r>
            <a:r>
              <a:rPr lang="en-US" dirty="0" err="1"/>
              <a:t>lorsque</a:t>
            </a:r>
            <a:r>
              <a:rPr lang="en-US" dirty="0"/>
              <a:t> de nouveaux </a:t>
            </a:r>
            <a:r>
              <a:rPr lang="en-US" dirty="0" err="1"/>
              <a:t>sont</a:t>
            </a:r>
            <a:r>
              <a:rPr lang="en-US" dirty="0"/>
              <a:t> </a:t>
            </a:r>
            <a:r>
              <a:rPr lang="en-US" dirty="0" err="1"/>
              <a:t>ajoutés</a:t>
            </a:r>
            <a:r>
              <a:rPr lang="en-US" dirty="0"/>
              <a:t> :</a:t>
            </a:r>
          </a:p>
          <a:p>
            <a:endParaRPr lang="en-US" dirty="0"/>
          </a:p>
          <a:p>
            <a:pPr marL="0" indent="0">
              <a:buNone/>
            </a:pPr>
            <a:r>
              <a:rPr lang="en-US" b="1" dirty="0"/>
              <a:t>CREATE TRIGGER </a:t>
            </a:r>
            <a:r>
              <a:rPr lang="en-US" dirty="0"/>
              <a:t>`</a:t>
            </a:r>
            <a:r>
              <a:rPr lang="en-US" dirty="0" err="1"/>
              <a:t>effacer_ancien</a:t>
            </a:r>
            <a:r>
              <a:rPr lang="en-US" dirty="0"/>
              <a:t>` </a:t>
            </a:r>
            <a:r>
              <a:rPr lang="en-US" b="1" dirty="0"/>
              <a:t>AFTER INSERT ON </a:t>
            </a:r>
            <a:r>
              <a:rPr lang="en-US" dirty="0"/>
              <a:t>`wiki1_page`</a:t>
            </a:r>
          </a:p>
          <a:p>
            <a:pPr marL="0" indent="0">
              <a:buNone/>
            </a:pPr>
            <a:r>
              <a:rPr lang="en-US" dirty="0"/>
              <a:t>     </a:t>
            </a:r>
            <a:r>
              <a:rPr lang="en-US" b="1" dirty="0"/>
              <a:t>FOR EACH ROW</a:t>
            </a:r>
          </a:p>
          <a:p>
            <a:pPr marL="0" indent="0">
              <a:buNone/>
            </a:pPr>
            <a:r>
              <a:rPr lang="en-US" dirty="0"/>
              <a:t>         </a:t>
            </a:r>
            <a:r>
              <a:rPr lang="en-US" b="1" dirty="0"/>
              <a:t>DELETE</a:t>
            </a:r>
            <a:r>
              <a:rPr lang="en-US" dirty="0"/>
              <a:t> </a:t>
            </a:r>
            <a:r>
              <a:rPr lang="en-US" b="1" dirty="0"/>
              <a:t>FROM</a:t>
            </a:r>
            <a:r>
              <a:rPr lang="en-US" dirty="0"/>
              <a:t> `wiki1_page</a:t>
            </a:r>
            <a:r>
              <a:rPr lang="en-US" b="1" dirty="0"/>
              <a:t>` ORDER BY </a:t>
            </a:r>
            <a:r>
              <a:rPr lang="en-US" dirty="0"/>
              <a:t>`</a:t>
            </a:r>
            <a:r>
              <a:rPr lang="en-US" dirty="0" err="1"/>
              <a:t>page_id</a:t>
            </a:r>
            <a:r>
              <a:rPr lang="en-US" dirty="0"/>
              <a:t>` </a:t>
            </a:r>
            <a:r>
              <a:rPr lang="en-US" b="1" dirty="0"/>
              <a:t>ASC LIMIT 1</a:t>
            </a:r>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142</a:t>
            </a:fld>
            <a:endParaRPr lang="de-DE"/>
          </a:p>
        </p:txBody>
      </p:sp>
    </p:spTree>
    <p:extLst>
      <p:ext uri="{BB962C8B-B14F-4D97-AF65-F5344CB8AC3E}">
        <p14:creationId xmlns:p14="http://schemas.microsoft.com/office/powerpoint/2010/main" val="6205294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dirty="0"/>
              <a:t>Déclencheurs (syntaxe)</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normAutofit fontScale="85000" lnSpcReduction="20000"/>
          </a:bodyPr>
          <a:lstStyle/>
          <a:p>
            <a:pPr marL="0" indent="0">
              <a:buNone/>
            </a:pPr>
            <a:r>
              <a:rPr lang="en-US" b="1" dirty="0"/>
              <a:t>CREATE</a:t>
            </a:r>
          </a:p>
          <a:p>
            <a:pPr marL="0" indent="0">
              <a:buNone/>
            </a:pPr>
            <a:r>
              <a:rPr lang="en-US" dirty="0"/>
              <a:t>    [DEFINER = user]</a:t>
            </a:r>
          </a:p>
          <a:p>
            <a:pPr marL="0" indent="0">
              <a:buNone/>
            </a:pPr>
            <a:r>
              <a:rPr lang="en-US" dirty="0"/>
              <a:t>    </a:t>
            </a:r>
            <a:r>
              <a:rPr lang="en-US" b="1" dirty="0"/>
              <a:t>TRIGGER</a:t>
            </a:r>
            <a:r>
              <a:rPr lang="en-US" dirty="0"/>
              <a:t> [IF NOT EXISTS] </a:t>
            </a:r>
            <a:r>
              <a:rPr lang="en-US" dirty="0" err="1"/>
              <a:t>trigger_name</a:t>
            </a:r>
            <a:endParaRPr lang="en-US" dirty="0"/>
          </a:p>
          <a:p>
            <a:pPr marL="0" indent="0">
              <a:buNone/>
            </a:pPr>
            <a:r>
              <a:rPr lang="en-US" dirty="0"/>
              <a:t>    </a:t>
            </a:r>
            <a:r>
              <a:rPr lang="en-US" dirty="0" err="1"/>
              <a:t>trigger_time</a:t>
            </a:r>
            <a:r>
              <a:rPr lang="en-US" dirty="0"/>
              <a:t> </a:t>
            </a:r>
            <a:r>
              <a:rPr lang="en-US" dirty="0" err="1"/>
              <a:t>trigger_event</a:t>
            </a:r>
            <a:endParaRPr lang="en-US" dirty="0"/>
          </a:p>
          <a:p>
            <a:pPr marL="0" indent="0">
              <a:buNone/>
            </a:pPr>
            <a:r>
              <a:rPr lang="en-US" dirty="0"/>
              <a:t>    </a:t>
            </a:r>
            <a:r>
              <a:rPr lang="en-US" b="1" dirty="0"/>
              <a:t>ON</a:t>
            </a:r>
            <a:r>
              <a:rPr lang="en-US" dirty="0"/>
              <a:t> </a:t>
            </a:r>
            <a:r>
              <a:rPr lang="en-US" dirty="0" err="1"/>
              <a:t>tbl_name</a:t>
            </a:r>
            <a:r>
              <a:rPr lang="en-US" dirty="0"/>
              <a:t> </a:t>
            </a:r>
            <a:r>
              <a:rPr lang="en-US" b="1" dirty="0"/>
              <a:t>FOR EACH ROW</a:t>
            </a:r>
          </a:p>
          <a:p>
            <a:pPr marL="0" indent="0">
              <a:buNone/>
            </a:pPr>
            <a:r>
              <a:rPr lang="en-US" dirty="0"/>
              <a:t>    [</a:t>
            </a:r>
            <a:r>
              <a:rPr lang="en-US" dirty="0" err="1"/>
              <a:t>trigger_order</a:t>
            </a:r>
            <a:r>
              <a:rPr lang="en-US" dirty="0"/>
              <a:t>]</a:t>
            </a:r>
          </a:p>
          <a:p>
            <a:pPr marL="0" indent="0">
              <a:buNone/>
            </a:pPr>
            <a:r>
              <a:rPr lang="en-US" dirty="0"/>
              <a:t>    </a:t>
            </a:r>
            <a:r>
              <a:rPr lang="en-US" dirty="0" err="1"/>
              <a:t>trigger_body</a:t>
            </a:r>
            <a:endParaRPr lang="en-US" dirty="0"/>
          </a:p>
          <a:p>
            <a:pPr marL="0" indent="0">
              <a:buNone/>
            </a:pPr>
            <a:endParaRPr lang="en-US" dirty="0"/>
          </a:p>
          <a:p>
            <a:pPr marL="0" indent="0">
              <a:buNone/>
            </a:pPr>
            <a:r>
              <a:rPr lang="en-US" dirty="0" err="1"/>
              <a:t>trigger_time</a:t>
            </a:r>
            <a:r>
              <a:rPr lang="en-US" dirty="0"/>
              <a:t>: { BEFORE | AFTER }</a:t>
            </a:r>
          </a:p>
          <a:p>
            <a:pPr marL="0" indent="0">
              <a:buNone/>
            </a:pPr>
            <a:r>
              <a:rPr lang="en-US" dirty="0" err="1"/>
              <a:t>trigger_event</a:t>
            </a:r>
            <a:r>
              <a:rPr lang="en-US" dirty="0"/>
              <a:t>: { INSERT | UPDATE | DELETE }</a:t>
            </a:r>
          </a:p>
          <a:p>
            <a:pPr marL="0" indent="0">
              <a:buNone/>
            </a:pPr>
            <a:r>
              <a:rPr lang="en-US" dirty="0" err="1"/>
              <a:t>trigger_order</a:t>
            </a:r>
            <a:r>
              <a:rPr lang="en-US" dirty="0"/>
              <a:t>: { FOLLOWS | PRECEDES } </a:t>
            </a:r>
            <a:r>
              <a:rPr lang="en-US" dirty="0" err="1"/>
              <a:t>other_trigger_name</a:t>
            </a:r>
            <a:endParaRPr lang="en-US" dirty="0"/>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143</a:t>
            </a:fld>
            <a:endParaRPr lang="de-DE"/>
          </a:p>
        </p:txBody>
      </p:sp>
    </p:spTree>
    <p:extLst>
      <p:ext uri="{BB962C8B-B14F-4D97-AF65-F5344CB8AC3E}">
        <p14:creationId xmlns:p14="http://schemas.microsoft.com/office/powerpoint/2010/main" val="80074885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dirty="0"/>
              <a:t>Déclencheurs (syntaxe)</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normAutofit/>
          </a:bodyPr>
          <a:lstStyle/>
          <a:p>
            <a:r>
              <a:rPr lang="en-US" dirty="0"/>
              <a:t>La suppression se fait par </a:t>
            </a:r>
            <a:r>
              <a:rPr lang="en-US" b="1" dirty="0"/>
              <a:t>DROP TRIGGER </a:t>
            </a:r>
            <a:r>
              <a:rPr lang="en-US" dirty="0"/>
              <a:t>`nom`</a:t>
            </a:r>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144</a:t>
            </a:fld>
            <a:endParaRPr lang="de-DE"/>
          </a:p>
        </p:txBody>
      </p:sp>
    </p:spTree>
    <p:extLst>
      <p:ext uri="{BB962C8B-B14F-4D97-AF65-F5344CB8AC3E}">
        <p14:creationId xmlns:p14="http://schemas.microsoft.com/office/powerpoint/2010/main" val="334500340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68A893-8923-4C5F-8760-79E51769C1E7}"/>
              </a:ext>
            </a:extLst>
          </p:cNvPr>
          <p:cNvSpPr>
            <a:spLocks noGrp="1"/>
          </p:cNvSpPr>
          <p:nvPr>
            <p:ph type="title"/>
          </p:nvPr>
        </p:nvSpPr>
        <p:spPr/>
        <p:txBody>
          <a:bodyPr/>
          <a:lstStyle/>
          <a:p>
            <a:r>
              <a:rPr lang="fr-FR" dirty="0"/>
              <a:t>Déclencheurs - Historisation</a:t>
            </a:r>
          </a:p>
        </p:txBody>
      </p:sp>
      <p:sp>
        <p:nvSpPr>
          <p:cNvPr id="3" name="Espace réservé du contenu 2">
            <a:extLst>
              <a:ext uri="{FF2B5EF4-FFF2-40B4-BE49-F238E27FC236}">
                <a16:creationId xmlns:a16="http://schemas.microsoft.com/office/drawing/2014/main" id="{939D0624-F4B4-4F4A-8854-3B57E83BA2AF}"/>
              </a:ext>
            </a:extLst>
          </p:cNvPr>
          <p:cNvSpPr>
            <a:spLocks noGrp="1"/>
          </p:cNvSpPr>
          <p:nvPr>
            <p:ph idx="1"/>
          </p:nvPr>
        </p:nvSpPr>
        <p:spPr/>
        <p:txBody>
          <a:bodyPr>
            <a:normAutofit lnSpcReduction="10000"/>
          </a:bodyPr>
          <a:lstStyle/>
          <a:p>
            <a:r>
              <a:rPr lang="fr-FR" dirty="0"/>
              <a:t>Un cas d’utilisation des triggers est l’</a:t>
            </a:r>
            <a:r>
              <a:rPr lang="fr-FR" b="1" dirty="0"/>
              <a:t>historisation des données</a:t>
            </a:r>
          </a:p>
          <a:p>
            <a:r>
              <a:rPr lang="fr-FR" dirty="0"/>
              <a:t>Par exemple :</a:t>
            </a:r>
          </a:p>
          <a:p>
            <a:pPr lvl="1"/>
            <a:r>
              <a:rPr lang="fr-FR" dirty="0"/>
              <a:t>Une table contient des millions d’enregistrements, mais les plus anciens ne sont plus consultés car plus pertinents, néanmoins il faut les conserver pour des raisons d’archivage</a:t>
            </a:r>
          </a:p>
          <a:p>
            <a:pPr lvl="1"/>
            <a:r>
              <a:rPr lang="fr-FR" dirty="0"/>
              <a:t>En utilisant un trigger, on peut régulièrement déplacer les enregistrements les plus anciens dans une table « historique » afin de libérer de la place dans la table d’origine</a:t>
            </a:r>
          </a:p>
          <a:p>
            <a:pPr lvl="1"/>
            <a:r>
              <a:rPr lang="fr-FR" dirty="0"/>
              <a:t>La table d’origine sera allégée et les requêtes seront effectuées plus rapidement (comparable au partitionnement)</a:t>
            </a:r>
          </a:p>
          <a:p>
            <a:pPr lvl="1"/>
            <a:r>
              <a:rPr lang="fr-FR" dirty="0"/>
              <a:t>Attention : si des opérations doivent porter sur l’ensemble des valeurs (actuelles et historisées), il faudra joindre les deux tables avec </a:t>
            </a:r>
            <a:r>
              <a:rPr lang="fr-FR" b="1" dirty="0"/>
              <a:t>UNION ALL</a:t>
            </a:r>
          </a:p>
        </p:txBody>
      </p:sp>
      <p:sp>
        <p:nvSpPr>
          <p:cNvPr id="4" name="Espace réservé du numéro de diapositive 3">
            <a:extLst>
              <a:ext uri="{FF2B5EF4-FFF2-40B4-BE49-F238E27FC236}">
                <a16:creationId xmlns:a16="http://schemas.microsoft.com/office/drawing/2014/main" id="{CACB94DF-AA88-4EDB-BD2B-BC0ED66A41BE}"/>
              </a:ext>
            </a:extLst>
          </p:cNvPr>
          <p:cNvSpPr>
            <a:spLocks noGrp="1"/>
          </p:cNvSpPr>
          <p:nvPr>
            <p:ph type="sldNum" sz="quarter" idx="12"/>
          </p:nvPr>
        </p:nvSpPr>
        <p:spPr/>
        <p:txBody>
          <a:bodyPr/>
          <a:lstStyle/>
          <a:p>
            <a:fld id="{27C6CCC6-2BE5-4E42-96A4-D1E8E81A3D8E}" type="slidenum">
              <a:rPr lang="de-DE" smtClean="0"/>
              <a:t>145</a:t>
            </a:fld>
            <a:endParaRPr lang="de-DE"/>
          </a:p>
        </p:txBody>
      </p:sp>
    </p:spTree>
    <p:extLst>
      <p:ext uri="{BB962C8B-B14F-4D97-AF65-F5344CB8AC3E}">
        <p14:creationId xmlns:p14="http://schemas.microsoft.com/office/powerpoint/2010/main" val="314568749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dirty="0"/>
              <a:t>Évènements</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normAutofit/>
          </a:bodyPr>
          <a:lstStyle/>
          <a:p>
            <a:r>
              <a:rPr lang="en-US" dirty="0"/>
              <a:t>Les </a:t>
            </a:r>
            <a:r>
              <a:rPr lang="en-US" dirty="0" err="1"/>
              <a:t>évènements</a:t>
            </a:r>
            <a:r>
              <a:rPr lang="en-US" dirty="0"/>
              <a:t> </a:t>
            </a:r>
            <a:r>
              <a:rPr lang="en-US" dirty="0" err="1"/>
              <a:t>sont</a:t>
            </a:r>
            <a:r>
              <a:rPr lang="en-US" dirty="0"/>
              <a:t> des </a:t>
            </a:r>
            <a:r>
              <a:rPr lang="en-US" dirty="0" err="1"/>
              <a:t>déclencheurs</a:t>
            </a:r>
            <a:r>
              <a:rPr lang="en-US" dirty="0"/>
              <a:t> </a:t>
            </a:r>
            <a:r>
              <a:rPr lang="en-US" dirty="0" err="1"/>
              <a:t>temporels</a:t>
            </a:r>
            <a:r>
              <a:rPr lang="en-US" dirty="0"/>
              <a:t>, </a:t>
            </a:r>
            <a:r>
              <a:rPr lang="en-US" dirty="0" err="1"/>
              <a:t>planifiés</a:t>
            </a:r>
            <a:r>
              <a:rPr lang="en-US" dirty="0"/>
              <a:t> pour </a:t>
            </a:r>
            <a:r>
              <a:rPr lang="en-US" dirty="0" err="1"/>
              <a:t>s’executer</a:t>
            </a:r>
            <a:r>
              <a:rPr lang="en-US" dirty="0"/>
              <a:t> </a:t>
            </a:r>
            <a:r>
              <a:rPr lang="en-US" dirty="0" err="1"/>
              <a:t>selon</a:t>
            </a:r>
            <a:r>
              <a:rPr lang="en-US" dirty="0"/>
              <a:t> </a:t>
            </a:r>
            <a:r>
              <a:rPr lang="en-US" dirty="0" err="1"/>
              <a:t>une</a:t>
            </a:r>
            <a:r>
              <a:rPr lang="en-US" dirty="0"/>
              <a:t> </a:t>
            </a:r>
            <a:r>
              <a:rPr lang="en-US" dirty="0" err="1"/>
              <a:t>périodicité</a:t>
            </a:r>
            <a:r>
              <a:rPr lang="en-US" dirty="0"/>
              <a:t> </a:t>
            </a:r>
            <a:r>
              <a:rPr lang="en-US" dirty="0" err="1"/>
              <a:t>donné</a:t>
            </a:r>
            <a:r>
              <a:rPr lang="en-US" dirty="0"/>
              <a:t> </a:t>
            </a:r>
            <a:r>
              <a:rPr lang="en-US" dirty="0" err="1"/>
              <a:t>ou</a:t>
            </a:r>
            <a:r>
              <a:rPr lang="en-US" dirty="0"/>
              <a:t> à un moment </a:t>
            </a:r>
            <a:r>
              <a:rPr lang="en-US" dirty="0" err="1"/>
              <a:t>donné</a:t>
            </a:r>
            <a:endParaRPr lang="en-US" dirty="0"/>
          </a:p>
          <a:p>
            <a:r>
              <a:rPr lang="en-US" dirty="0"/>
              <a:t>Par </a:t>
            </a:r>
            <a:r>
              <a:rPr lang="en-US" dirty="0" err="1"/>
              <a:t>exemple</a:t>
            </a:r>
            <a:r>
              <a:rPr lang="en-US" dirty="0"/>
              <a:t> :</a:t>
            </a:r>
          </a:p>
          <a:p>
            <a:pPr marL="0" indent="0">
              <a:buNone/>
            </a:pPr>
            <a:r>
              <a:rPr lang="en-US" b="1" dirty="0"/>
              <a:t> CREATE EVENT </a:t>
            </a:r>
            <a:r>
              <a:rPr lang="en-US" dirty="0"/>
              <a:t>`évènement1`</a:t>
            </a:r>
          </a:p>
          <a:p>
            <a:pPr marL="0" indent="0">
              <a:buNone/>
            </a:pPr>
            <a:r>
              <a:rPr lang="en-US" b="1" dirty="0"/>
              <a:t>   ON SCHEDULE AT CURRENT_TIMESTAMP </a:t>
            </a:r>
            <a:r>
              <a:rPr lang="en-US" dirty="0"/>
              <a:t>+ </a:t>
            </a:r>
            <a:r>
              <a:rPr lang="en-US" b="1" dirty="0"/>
              <a:t>INTERVAL 1 DAY</a:t>
            </a:r>
          </a:p>
          <a:p>
            <a:pPr marL="0" indent="0">
              <a:buNone/>
            </a:pPr>
            <a:r>
              <a:rPr lang="en-US" dirty="0"/>
              <a:t>   </a:t>
            </a:r>
            <a:r>
              <a:rPr lang="en-US" b="1" dirty="0"/>
              <a:t>DO</a:t>
            </a:r>
          </a:p>
          <a:p>
            <a:pPr marL="0" indent="0">
              <a:buNone/>
            </a:pPr>
            <a:r>
              <a:rPr lang="en-US" dirty="0"/>
              <a:t>     </a:t>
            </a:r>
            <a:r>
              <a:rPr lang="en-US" b="1" dirty="0"/>
              <a:t>INSERT INTO </a:t>
            </a:r>
            <a:r>
              <a:rPr lang="en-US" dirty="0"/>
              <a:t>`wiki1`.`news` (`title`, `text`) </a:t>
            </a:r>
            <a:r>
              <a:rPr lang="en-US" b="1" dirty="0"/>
              <a:t>VALUES</a:t>
            </a:r>
            <a:r>
              <a:rPr lang="en-US" dirty="0"/>
              <a:t> ('Example!', 'This is not a real news')</a:t>
            </a:r>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146</a:t>
            </a:fld>
            <a:endParaRPr lang="de-DE"/>
          </a:p>
        </p:txBody>
      </p:sp>
    </p:spTree>
    <p:extLst>
      <p:ext uri="{BB962C8B-B14F-4D97-AF65-F5344CB8AC3E}">
        <p14:creationId xmlns:p14="http://schemas.microsoft.com/office/powerpoint/2010/main" val="74276364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dirty="0"/>
              <a:t>Évènements</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p:txBody>
          <a:bodyPr>
            <a:normAutofit/>
          </a:bodyPr>
          <a:lstStyle/>
          <a:p>
            <a:r>
              <a:rPr lang="en-US" dirty="0"/>
              <a:t>Une </a:t>
            </a:r>
            <a:r>
              <a:rPr lang="en-US" dirty="0" err="1"/>
              <a:t>tâche</a:t>
            </a:r>
            <a:r>
              <a:rPr lang="en-US" dirty="0"/>
              <a:t> </a:t>
            </a:r>
            <a:r>
              <a:rPr lang="en-US" dirty="0" err="1"/>
              <a:t>récurrente</a:t>
            </a:r>
            <a:r>
              <a:rPr lang="en-US" dirty="0"/>
              <a:t> </a:t>
            </a:r>
            <a:r>
              <a:rPr lang="en-US" dirty="0" err="1"/>
              <a:t>s’obtient</a:t>
            </a:r>
            <a:r>
              <a:rPr lang="en-US" dirty="0"/>
              <a:t> avec EVERY :</a:t>
            </a:r>
          </a:p>
          <a:p>
            <a:endParaRPr lang="en-US" dirty="0"/>
          </a:p>
          <a:p>
            <a:pPr marL="0" indent="0">
              <a:buNone/>
            </a:pPr>
            <a:r>
              <a:rPr lang="en-US" b="1" dirty="0"/>
              <a:t>CREATE EVENT </a:t>
            </a:r>
            <a:r>
              <a:rPr lang="en-US" dirty="0"/>
              <a:t>`évènement2`</a:t>
            </a:r>
          </a:p>
          <a:p>
            <a:pPr marL="0" indent="0">
              <a:buNone/>
            </a:pPr>
            <a:r>
              <a:rPr lang="en-US" dirty="0"/>
              <a:t>   </a:t>
            </a:r>
            <a:r>
              <a:rPr lang="en-US" b="1" dirty="0"/>
              <a:t>ON SCHEDULE EVERY 2 DAY</a:t>
            </a:r>
          </a:p>
          <a:p>
            <a:pPr marL="0" indent="0">
              <a:buNone/>
            </a:pPr>
            <a:r>
              <a:rPr lang="en-US" dirty="0"/>
              <a:t>   </a:t>
            </a:r>
            <a:r>
              <a:rPr lang="en-US" b="1" dirty="0"/>
              <a:t>DO</a:t>
            </a:r>
          </a:p>
          <a:p>
            <a:pPr marL="0" indent="0">
              <a:buNone/>
            </a:pPr>
            <a:r>
              <a:rPr lang="en-US" b="1" dirty="0"/>
              <a:t>     OPTIMIZE TABLE </a:t>
            </a:r>
            <a:r>
              <a:rPr lang="en-US" dirty="0"/>
              <a:t>`wiki1`.`news`</a:t>
            </a:r>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147</a:t>
            </a:fld>
            <a:endParaRPr lang="de-DE"/>
          </a:p>
        </p:txBody>
      </p:sp>
    </p:spTree>
    <p:extLst>
      <p:ext uri="{BB962C8B-B14F-4D97-AF65-F5344CB8AC3E}">
        <p14:creationId xmlns:p14="http://schemas.microsoft.com/office/powerpoint/2010/main" val="99480936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dirty="0"/>
              <a:t>Évènements (syntaxe)</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a:xfrm>
            <a:off x="818712" y="2222287"/>
            <a:ext cx="5277288" cy="3636511"/>
          </a:xfrm>
        </p:spPr>
        <p:txBody>
          <a:bodyPr>
            <a:normAutofit fontScale="92500" lnSpcReduction="10000"/>
          </a:bodyPr>
          <a:lstStyle/>
          <a:p>
            <a:pPr marL="0" indent="0">
              <a:buNone/>
            </a:pPr>
            <a:r>
              <a:rPr lang="en-US" b="1" dirty="0"/>
              <a:t>CREATE</a:t>
            </a:r>
          </a:p>
          <a:p>
            <a:pPr marL="0" indent="0">
              <a:buNone/>
            </a:pPr>
            <a:r>
              <a:rPr lang="en-US" dirty="0"/>
              <a:t>    [DEFINER = user]</a:t>
            </a:r>
          </a:p>
          <a:p>
            <a:pPr marL="0" indent="0">
              <a:buNone/>
            </a:pPr>
            <a:r>
              <a:rPr lang="en-US" dirty="0"/>
              <a:t>    </a:t>
            </a:r>
            <a:r>
              <a:rPr lang="en-US" b="1" dirty="0"/>
              <a:t>EVENT</a:t>
            </a:r>
          </a:p>
          <a:p>
            <a:pPr marL="0" indent="0">
              <a:buNone/>
            </a:pPr>
            <a:r>
              <a:rPr lang="en-US" dirty="0"/>
              <a:t>    [IF NOT EXISTS]</a:t>
            </a:r>
          </a:p>
          <a:p>
            <a:pPr marL="0" indent="0">
              <a:buNone/>
            </a:pPr>
            <a:r>
              <a:rPr lang="en-US" dirty="0"/>
              <a:t>    </a:t>
            </a:r>
            <a:r>
              <a:rPr lang="en-US" dirty="0" err="1"/>
              <a:t>event_name</a:t>
            </a:r>
            <a:endParaRPr lang="en-US" dirty="0"/>
          </a:p>
          <a:p>
            <a:pPr marL="0" indent="0">
              <a:buNone/>
            </a:pPr>
            <a:r>
              <a:rPr lang="en-US" dirty="0"/>
              <a:t>    </a:t>
            </a:r>
            <a:r>
              <a:rPr lang="en-US" b="1" dirty="0"/>
              <a:t>ON SCHEDULE </a:t>
            </a:r>
            <a:r>
              <a:rPr lang="en-US" dirty="0" err="1"/>
              <a:t>schedule</a:t>
            </a:r>
            <a:endParaRPr lang="en-US" dirty="0"/>
          </a:p>
          <a:p>
            <a:pPr marL="0" indent="0">
              <a:buNone/>
            </a:pPr>
            <a:r>
              <a:rPr lang="en-US" dirty="0"/>
              <a:t>    [ON COMPLETION [NOT] PRESERVE]</a:t>
            </a:r>
          </a:p>
          <a:p>
            <a:pPr marL="0" indent="0">
              <a:buNone/>
            </a:pPr>
            <a:r>
              <a:rPr lang="en-US" dirty="0"/>
              <a:t>    [ENABLE | DISABLE | DISABLE ON SLAVE]</a:t>
            </a:r>
          </a:p>
          <a:p>
            <a:pPr marL="0" indent="0">
              <a:buNone/>
            </a:pPr>
            <a:r>
              <a:rPr lang="en-US" dirty="0"/>
              <a:t>    [COMMENT 'string']</a:t>
            </a:r>
          </a:p>
          <a:p>
            <a:pPr marL="0" indent="0">
              <a:buNone/>
            </a:pPr>
            <a:r>
              <a:rPr lang="en-US" dirty="0"/>
              <a:t>    </a:t>
            </a:r>
            <a:r>
              <a:rPr lang="en-US" b="1" dirty="0"/>
              <a:t>DO</a:t>
            </a:r>
            <a:r>
              <a:rPr lang="en-US" dirty="0"/>
              <a:t> </a:t>
            </a:r>
            <a:r>
              <a:rPr lang="en-US" dirty="0" err="1"/>
              <a:t>event_body</a:t>
            </a:r>
            <a:r>
              <a:rPr lang="en-US" dirty="0"/>
              <a:t>;</a:t>
            </a:r>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148</a:t>
            </a:fld>
            <a:endParaRPr lang="de-DE"/>
          </a:p>
        </p:txBody>
      </p:sp>
      <p:sp>
        <p:nvSpPr>
          <p:cNvPr id="5" name="Rectangle 4">
            <a:extLst>
              <a:ext uri="{FF2B5EF4-FFF2-40B4-BE49-F238E27FC236}">
                <a16:creationId xmlns:a16="http://schemas.microsoft.com/office/drawing/2014/main" id="{AC35A100-AD6A-4CBC-8ACD-1A8A42D53D53}"/>
              </a:ext>
            </a:extLst>
          </p:cNvPr>
          <p:cNvSpPr/>
          <p:nvPr/>
        </p:nvSpPr>
        <p:spPr>
          <a:xfrm>
            <a:off x="6329357" y="2222287"/>
            <a:ext cx="6096000" cy="3970318"/>
          </a:xfrm>
          <a:prstGeom prst="rect">
            <a:avLst/>
          </a:prstGeom>
        </p:spPr>
        <p:txBody>
          <a:bodyPr>
            <a:spAutoFit/>
          </a:bodyPr>
          <a:lstStyle/>
          <a:p>
            <a:r>
              <a:rPr lang="fr-FR" dirty="0" err="1"/>
              <a:t>schedule</a:t>
            </a:r>
            <a:r>
              <a:rPr lang="fr-FR" dirty="0"/>
              <a:t>: {</a:t>
            </a:r>
          </a:p>
          <a:p>
            <a:r>
              <a:rPr lang="fr-FR" dirty="0"/>
              <a:t>    AT timestamp [+ INTERVAL </a:t>
            </a:r>
            <a:r>
              <a:rPr lang="fr-FR" dirty="0" err="1"/>
              <a:t>interval</a:t>
            </a:r>
            <a:r>
              <a:rPr lang="fr-FR" dirty="0"/>
              <a:t>] ...</a:t>
            </a:r>
          </a:p>
          <a:p>
            <a:r>
              <a:rPr lang="fr-FR" dirty="0"/>
              <a:t>  | EVERY </a:t>
            </a:r>
            <a:r>
              <a:rPr lang="fr-FR" dirty="0" err="1"/>
              <a:t>interval</a:t>
            </a:r>
            <a:endParaRPr lang="fr-FR" dirty="0"/>
          </a:p>
          <a:p>
            <a:r>
              <a:rPr lang="fr-FR" dirty="0"/>
              <a:t>    [STARTS timestamp [+ INTERVAL </a:t>
            </a:r>
            <a:r>
              <a:rPr lang="fr-FR" dirty="0" err="1"/>
              <a:t>interval</a:t>
            </a:r>
            <a:r>
              <a:rPr lang="fr-FR" dirty="0"/>
              <a:t>] ...]</a:t>
            </a:r>
          </a:p>
          <a:p>
            <a:r>
              <a:rPr lang="fr-FR" dirty="0"/>
              <a:t>    [ENDS timestamp [+ INTERVAL </a:t>
            </a:r>
            <a:r>
              <a:rPr lang="fr-FR" dirty="0" err="1"/>
              <a:t>interval</a:t>
            </a:r>
            <a:r>
              <a:rPr lang="fr-FR" dirty="0"/>
              <a:t>] ...]</a:t>
            </a:r>
          </a:p>
          <a:p>
            <a:r>
              <a:rPr lang="fr-FR" dirty="0"/>
              <a:t>}</a:t>
            </a:r>
          </a:p>
          <a:p>
            <a:endParaRPr lang="fr-FR" dirty="0"/>
          </a:p>
          <a:p>
            <a:r>
              <a:rPr lang="fr-FR" dirty="0" err="1"/>
              <a:t>interval</a:t>
            </a:r>
            <a:r>
              <a:rPr lang="fr-FR" dirty="0"/>
              <a:t>:</a:t>
            </a:r>
          </a:p>
          <a:p>
            <a:r>
              <a:rPr lang="fr-FR" dirty="0"/>
              <a:t>    </a:t>
            </a:r>
            <a:r>
              <a:rPr lang="fr-FR" dirty="0" err="1"/>
              <a:t>quantity</a:t>
            </a:r>
            <a:r>
              <a:rPr lang="fr-FR" dirty="0"/>
              <a:t> {YEAR | QUARTER | MONTH | DAY | HOUR | MINUTE |</a:t>
            </a:r>
          </a:p>
          <a:p>
            <a:r>
              <a:rPr lang="fr-FR" dirty="0"/>
              <a:t>              WEEK | SECOND | YEAR_MONTH | DAY_HOUR | DAY_MINUTE |</a:t>
            </a:r>
          </a:p>
          <a:p>
            <a:r>
              <a:rPr lang="fr-FR" dirty="0"/>
              <a:t>              DAY_SECOND | HOUR_MINUTE | HOUR_SECOND | MINUTE_SECOND}</a:t>
            </a:r>
          </a:p>
        </p:txBody>
      </p:sp>
    </p:spTree>
    <p:extLst>
      <p:ext uri="{BB962C8B-B14F-4D97-AF65-F5344CB8AC3E}">
        <p14:creationId xmlns:p14="http://schemas.microsoft.com/office/powerpoint/2010/main" val="319853435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05CF0-E7F4-4AA4-9F2C-CF195E478460}"/>
              </a:ext>
            </a:extLst>
          </p:cNvPr>
          <p:cNvSpPr>
            <a:spLocks noGrp="1"/>
          </p:cNvSpPr>
          <p:nvPr>
            <p:ph type="title"/>
          </p:nvPr>
        </p:nvSpPr>
        <p:spPr/>
        <p:txBody>
          <a:bodyPr/>
          <a:lstStyle/>
          <a:p>
            <a:r>
              <a:rPr lang="fr-FR" dirty="0"/>
              <a:t>Précautions</a:t>
            </a:r>
          </a:p>
        </p:txBody>
      </p:sp>
      <p:sp>
        <p:nvSpPr>
          <p:cNvPr id="3" name="Espace réservé du contenu 2">
            <a:extLst>
              <a:ext uri="{FF2B5EF4-FFF2-40B4-BE49-F238E27FC236}">
                <a16:creationId xmlns:a16="http://schemas.microsoft.com/office/drawing/2014/main" id="{C1036FDE-C58B-4335-909F-E44526F63CBF}"/>
              </a:ext>
            </a:extLst>
          </p:cNvPr>
          <p:cNvSpPr>
            <a:spLocks noGrp="1"/>
          </p:cNvSpPr>
          <p:nvPr>
            <p:ph idx="1"/>
          </p:nvPr>
        </p:nvSpPr>
        <p:spPr>
          <a:xfrm>
            <a:off x="818712" y="2446421"/>
            <a:ext cx="10563286" cy="3412377"/>
          </a:xfrm>
        </p:spPr>
        <p:txBody>
          <a:bodyPr>
            <a:normAutofit/>
          </a:bodyPr>
          <a:lstStyle/>
          <a:p>
            <a:r>
              <a:rPr lang="en-US" dirty="0"/>
              <a:t>Une </a:t>
            </a:r>
            <a:r>
              <a:rPr lang="en-US" dirty="0" err="1"/>
              <a:t>certaine</a:t>
            </a:r>
            <a:r>
              <a:rPr lang="en-US" dirty="0"/>
              <a:t> </a:t>
            </a:r>
            <a:r>
              <a:rPr lang="en-US" dirty="0" err="1"/>
              <a:t>parcimonie</a:t>
            </a:r>
            <a:r>
              <a:rPr lang="en-US" dirty="0"/>
              <a:t> </a:t>
            </a:r>
            <a:r>
              <a:rPr lang="en-US" dirty="0" err="1"/>
              <a:t>est</a:t>
            </a:r>
            <a:r>
              <a:rPr lang="en-US" dirty="0"/>
              <a:t> de rigueur </a:t>
            </a:r>
            <a:r>
              <a:rPr lang="en-US" dirty="0" err="1"/>
              <a:t>quand</a:t>
            </a:r>
            <a:r>
              <a:rPr lang="en-US" dirty="0"/>
              <a:t> </a:t>
            </a:r>
            <a:r>
              <a:rPr lang="en-US" dirty="0" err="1"/>
              <a:t>vous</a:t>
            </a:r>
            <a:r>
              <a:rPr lang="en-US" dirty="0"/>
              <a:t> </a:t>
            </a:r>
            <a:r>
              <a:rPr lang="en-US" dirty="0" err="1"/>
              <a:t>manipulez</a:t>
            </a:r>
            <a:r>
              <a:rPr lang="en-US" dirty="0"/>
              <a:t> des </a:t>
            </a:r>
            <a:r>
              <a:rPr lang="en-US" dirty="0" err="1"/>
              <a:t>déclencheurs</a:t>
            </a:r>
            <a:r>
              <a:rPr lang="en-US" dirty="0"/>
              <a:t> </a:t>
            </a:r>
            <a:r>
              <a:rPr lang="en-US" dirty="0" err="1"/>
              <a:t>ou</a:t>
            </a:r>
            <a:r>
              <a:rPr lang="en-US" dirty="0"/>
              <a:t> </a:t>
            </a:r>
            <a:r>
              <a:rPr lang="en-US" dirty="0" err="1"/>
              <a:t>évènements</a:t>
            </a:r>
            <a:endParaRPr lang="en-US" dirty="0"/>
          </a:p>
          <a:p>
            <a:r>
              <a:rPr lang="en-US" dirty="0"/>
              <a:t>Le fait </a:t>
            </a:r>
            <a:r>
              <a:rPr lang="en-US" dirty="0" err="1"/>
              <a:t>qu’ils</a:t>
            </a:r>
            <a:r>
              <a:rPr lang="en-US" dirty="0"/>
              <a:t> ne </a:t>
            </a:r>
            <a:r>
              <a:rPr lang="en-US" dirty="0" err="1"/>
              <a:t>soient</a:t>
            </a:r>
            <a:r>
              <a:rPr lang="en-US" dirty="0"/>
              <a:t> pas </a:t>
            </a:r>
            <a:r>
              <a:rPr lang="en-US" dirty="0" err="1"/>
              <a:t>déclenchés</a:t>
            </a:r>
            <a:r>
              <a:rPr lang="en-US" dirty="0"/>
              <a:t> </a:t>
            </a:r>
            <a:r>
              <a:rPr lang="en-US" dirty="0" err="1"/>
              <a:t>manuellement</a:t>
            </a:r>
            <a:r>
              <a:rPr lang="en-US" dirty="0"/>
              <a:t> </a:t>
            </a:r>
            <a:r>
              <a:rPr lang="en-US" dirty="0" err="1"/>
              <a:t>dissimule</a:t>
            </a:r>
            <a:r>
              <a:rPr lang="en-US" dirty="0"/>
              <a:t> </a:t>
            </a:r>
            <a:r>
              <a:rPr lang="en-US" dirty="0" err="1"/>
              <a:t>leur</a:t>
            </a:r>
            <a:r>
              <a:rPr lang="en-US" dirty="0"/>
              <a:t> impact sur la </a:t>
            </a:r>
            <a:r>
              <a:rPr lang="en-US" dirty="0" err="1"/>
              <a:t>quantité</a:t>
            </a:r>
            <a:r>
              <a:rPr lang="en-US" dirty="0"/>
              <a:t> </a:t>
            </a:r>
            <a:r>
              <a:rPr lang="en-US" dirty="0" err="1"/>
              <a:t>totale</a:t>
            </a:r>
            <a:r>
              <a:rPr lang="en-US" dirty="0"/>
              <a:t> </a:t>
            </a:r>
            <a:r>
              <a:rPr lang="en-US" dirty="0" err="1"/>
              <a:t>d’opérations</a:t>
            </a:r>
            <a:r>
              <a:rPr lang="en-US" dirty="0"/>
              <a:t> </a:t>
            </a:r>
            <a:r>
              <a:rPr lang="en-US" dirty="0" err="1"/>
              <a:t>exécutées</a:t>
            </a:r>
            <a:r>
              <a:rPr lang="en-US" dirty="0"/>
              <a:t> par la base </a:t>
            </a:r>
            <a:r>
              <a:rPr lang="en-US" dirty="0" err="1"/>
              <a:t>lorsqu’une</a:t>
            </a:r>
            <a:r>
              <a:rPr lang="en-US" dirty="0"/>
              <a:t> </a:t>
            </a:r>
            <a:r>
              <a:rPr lang="en-US" dirty="0" err="1"/>
              <a:t>requête</a:t>
            </a:r>
            <a:r>
              <a:rPr lang="en-US" dirty="0"/>
              <a:t> </a:t>
            </a:r>
            <a:r>
              <a:rPr lang="en-US" dirty="0" err="1"/>
              <a:t>est</a:t>
            </a:r>
            <a:r>
              <a:rPr lang="en-US" dirty="0"/>
              <a:t> </a:t>
            </a:r>
            <a:r>
              <a:rPr lang="en-US" dirty="0" err="1"/>
              <a:t>lancée</a:t>
            </a:r>
            <a:endParaRPr lang="en-US" dirty="0"/>
          </a:p>
          <a:p>
            <a:r>
              <a:rPr lang="en-US" dirty="0" err="1"/>
              <a:t>Leur</a:t>
            </a:r>
            <a:r>
              <a:rPr lang="en-US" dirty="0"/>
              <a:t> </a:t>
            </a:r>
            <a:r>
              <a:rPr lang="en-US" dirty="0" err="1"/>
              <a:t>utilisation</a:t>
            </a:r>
            <a:r>
              <a:rPr lang="en-US" dirty="0"/>
              <a:t> </a:t>
            </a:r>
            <a:r>
              <a:rPr lang="en-US" dirty="0" err="1"/>
              <a:t>devrait</a:t>
            </a:r>
            <a:r>
              <a:rPr lang="en-US" dirty="0"/>
              <a:t> se limiter à assurer la </a:t>
            </a:r>
            <a:r>
              <a:rPr lang="en-US" dirty="0" err="1"/>
              <a:t>cohérence</a:t>
            </a:r>
            <a:r>
              <a:rPr lang="en-US" dirty="0"/>
              <a:t> de la base de données et/</a:t>
            </a:r>
            <a:r>
              <a:rPr lang="en-US" dirty="0" err="1"/>
              <a:t>où</a:t>
            </a:r>
            <a:r>
              <a:rPr lang="en-US" dirty="0"/>
              <a:t> </a:t>
            </a:r>
            <a:r>
              <a:rPr lang="en-US" dirty="0" err="1"/>
              <a:t>sa</a:t>
            </a:r>
            <a:r>
              <a:rPr lang="en-US" dirty="0"/>
              <a:t> performance</a:t>
            </a:r>
          </a:p>
        </p:txBody>
      </p:sp>
      <p:sp>
        <p:nvSpPr>
          <p:cNvPr id="6" name="Espace réservé du numéro de diapositive 5">
            <a:extLst>
              <a:ext uri="{FF2B5EF4-FFF2-40B4-BE49-F238E27FC236}">
                <a16:creationId xmlns:a16="http://schemas.microsoft.com/office/drawing/2014/main" id="{765F0D5C-055A-42F9-AC05-766EFE85D9B7}"/>
              </a:ext>
            </a:extLst>
          </p:cNvPr>
          <p:cNvSpPr>
            <a:spLocks noGrp="1"/>
          </p:cNvSpPr>
          <p:nvPr>
            <p:ph type="sldNum" sz="quarter" idx="12"/>
          </p:nvPr>
        </p:nvSpPr>
        <p:spPr/>
        <p:txBody>
          <a:bodyPr/>
          <a:lstStyle/>
          <a:p>
            <a:fld id="{27C6CCC6-2BE5-4E42-96A4-D1E8E81A3D8E}" type="slidenum">
              <a:rPr lang="de-DE" smtClean="0"/>
              <a:t>149</a:t>
            </a:fld>
            <a:endParaRPr lang="de-DE"/>
          </a:p>
        </p:txBody>
      </p:sp>
    </p:spTree>
    <p:extLst>
      <p:ext uri="{BB962C8B-B14F-4D97-AF65-F5344CB8AC3E}">
        <p14:creationId xmlns:p14="http://schemas.microsoft.com/office/powerpoint/2010/main" val="270301286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3C2A1B-0FBF-4349-8C61-A3F273CB2FAA}"/>
              </a:ext>
            </a:extLst>
          </p:cNvPr>
          <p:cNvSpPr>
            <a:spLocks noGrp="1"/>
          </p:cNvSpPr>
          <p:nvPr>
            <p:ph type="title"/>
          </p:nvPr>
        </p:nvSpPr>
        <p:spPr/>
        <p:txBody>
          <a:bodyPr/>
          <a:lstStyle/>
          <a:p>
            <a:r>
              <a:rPr lang="fr-FR" dirty="0"/>
              <a:t>Procédures, fonctions, déclencheurs</a:t>
            </a:r>
          </a:p>
        </p:txBody>
      </p:sp>
      <p:sp>
        <p:nvSpPr>
          <p:cNvPr id="3" name="Espace réservé du contenu 2">
            <a:extLst>
              <a:ext uri="{FF2B5EF4-FFF2-40B4-BE49-F238E27FC236}">
                <a16:creationId xmlns:a16="http://schemas.microsoft.com/office/drawing/2014/main" id="{EEA9F770-E7C4-4F1B-983C-80C9AA4B482F}"/>
              </a:ext>
            </a:extLst>
          </p:cNvPr>
          <p:cNvSpPr>
            <a:spLocks noGrp="1"/>
          </p:cNvSpPr>
          <p:nvPr>
            <p:ph idx="1"/>
          </p:nvPr>
        </p:nvSpPr>
        <p:spPr/>
        <p:txBody>
          <a:bodyPr/>
          <a:lstStyle/>
          <a:p>
            <a:r>
              <a:rPr lang="fr-FR" dirty="0"/>
              <a:t>Éléments de syntaxe :</a:t>
            </a:r>
          </a:p>
          <a:p>
            <a:pPr lvl="1"/>
            <a:r>
              <a:rPr lang="fr-FR" dirty="0"/>
              <a:t>Déclaration de variable : </a:t>
            </a:r>
            <a:r>
              <a:rPr lang="fr-FR" b="1" dirty="0"/>
              <a:t>DECLARE</a:t>
            </a:r>
            <a:r>
              <a:rPr lang="fr-FR" dirty="0"/>
              <a:t> </a:t>
            </a:r>
            <a:r>
              <a:rPr lang="fr-FR" i="1" dirty="0" err="1"/>
              <a:t>ma_variable</a:t>
            </a:r>
            <a:r>
              <a:rPr lang="fr-FR" dirty="0"/>
              <a:t> </a:t>
            </a:r>
            <a:r>
              <a:rPr lang="fr-FR" i="1" dirty="0"/>
              <a:t>type</a:t>
            </a:r>
            <a:r>
              <a:rPr lang="fr-FR" dirty="0"/>
              <a:t> [</a:t>
            </a:r>
            <a:r>
              <a:rPr lang="fr-FR" b="1" dirty="0"/>
              <a:t>DEFAULT</a:t>
            </a:r>
            <a:r>
              <a:rPr lang="fr-FR" dirty="0"/>
              <a:t> </a:t>
            </a:r>
            <a:r>
              <a:rPr lang="fr-FR" i="1" dirty="0"/>
              <a:t>valeur</a:t>
            </a:r>
            <a:r>
              <a:rPr lang="fr-FR" dirty="0"/>
              <a:t>];</a:t>
            </a:r>
          </a:p>
          <a:p>
            <a:pPr lvl="1"/>
            <a:r>
              <a:rPr lang="fr-FR" dirty="0"/>
              <a:t>Initialisation de variable : </a:t>
            </a:r>
            <a:r>
              <a:rPr lang="fr-FR" b="1" dirty="0"/>
              <a:t>SET</a:t>
            </a:r>
            <a:r>
              <a:rPr lang="fr-FR" dirty="0"/>
              <a:t> </a:t>
            </a:r>
            <a:r>
              <a:rPr lang="fr-FR" i="1" dirty="0" err="1"/>
              <a:t>ma_variable</a:t>
            </a:r>
            <a:r>
              <a:rPr lang="fr-FR" dirty="0"/>
              <a:t> = </a:t>
            </a:r>
            <a:r>
              <a:rPr lang="fr-FR" i="1" dirty="0" err="1"/>
              <a:t>ma_valeur</a:t>
            </a:r>
            <a:r>
              <a:rPr lang="fr-FR" dirty="0"/>
              <a:t>;</a:t>
            </a:r>
          </a:p>
          <a:p>
            <a:pPr lvl="1"/>
            <a:r>
              <a:rPr lang="fr-FR" dirty="0"/>
              <a:t>Variables depuis une requête :</a:t>
            </a:r>
          </a:p>
          <a:p>
            <a:pPr lvl="1"/>
            <a:r>
              <a:rPr lang="fr-FR" dirty="0"/>
              <a:t>Condition :</a:t>
            </a:r>
          </a:p>
          <a:p>
            <a:pPr marL="914400" lvl="2" indent="0">
              <a:buNone/>
            </a:pPr>
            <a:r>
              <a:rPr lang="fr-FR" b="1" dirty="0"/>
              <a:t>IF</a:t>
            </a:r>
            <a:r>
              <a:rPr lang="fr-FR" dirty="0"/>
              <a:t> </a:t>
            </a:r>
            <a:r>
              <a:rPr lang="fr-FR" i="1" dirty="0"/>
              <a:t>condition</a:t>
            </a:r>
            <a:r>
              <a:rPr lang="fr-FR" dirty="0"/>
              <a:t> </a:t>
            </a:r>
            <a:r>
              <a:rPr lang="fr-FR" b="1" dirty="0"/>
              <a:t>THEN</a:t>
            </a:r>
          </a:p>
          <a:p>
            <a:pPr marL="914400" lvl="2" indent="0">
              <a:buNone/>
            </a:pPr>
            <a:r>
              <a:rPr lang="fr-FR" dirty="0"/>
              <a:t>	</a:t>
            </a:r>
            <a:r>
              <a:rPr lang="fr-FR" i="1" dirty="0"/>
              <a:t>body</a:t>
            </a:r>
          </a:p>
          <a:p>
            <a:pPr marL="914400" lvl="2" indent="0">
              <a:buNone/>
            </a:pPr>
            <a:r>
              <a:rPr lang="fr-FR" b="1" dirty="0"/>
              <a:t>END IF</a:t>
            </a:r>
            <a:r>
              <a:rPr lang="fr-FR" dirty="0"/>
              <a:t>;</a:t>
            </a:r>
          </a:p>
          <a:p>
            <a:pPr marL="914400" lvl="2" indent="0">
              <a:buNone/>
            </a:pPr>
            <a:endParaRPr lang="fr-FR" dirty="0"/>
          </a:p>
        </p:txBody>
      </p:sp>
      <p:sp>
        <p:nvSpPr>
          <p:cNvPr id="4" name="Espace réservé du numéro de diapositive 3">
            <a:extLst>
              <a:ext uri="{FF2B5EF4-FFF2-40B4-BE49-F238E27FC236}">
                <a16:creationId xmlns:a16="http://schemas.microsoft.com/office/drawing/2014/main" id="{AF0FBD8A-3076-4E2B-91BA-B07C0D247A43}"/>
              </a:ext>
            </a:extLst>
          </p:cNvPr>
          <p:cNvSpPr>
            <a:spLocks noGrp="1"/>
          </p:cNvSpPr>
          <p:nvPr>
            <p:ph type="sldNum" sz="quarter" idx="12"/>
          </p:nvPr>
        </p:nvSpPr>
        <p:spPr/>
        <p:txBody>
          <a:bodyPr/>
          <a:lstStyle/>
          <a:p>
            <a:fld id="{27C6CCC6-2BE5-4E42-96A4-D1E8E81A3D8E}" type="slidenum">
              <a:rPr lang="de-DE" smtClean="0"/>
              <a:t>150</a:t>
            </a:fld>
            <a:endParaRPr lang="de-DE"/>
          </a:p>
        </p:txBody>
      </p:sp>
    </p:spTree>
    <p:extLst>
      <p:ext uri="{BB962C8B-B14F-4D97-AF65-F5344CB8AC3E}">
        <p14:creationId xmlns:p14="http://schemas.microsoft.com/office/powerpoint/2010/main" val="268488544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3C2A1B-0FBF-4349-8C61-A3F273CB2FAA}"/>
              </a:ext>
            </a:extLst>
          </p:cNvPr>
          <p:cNvSpPr>
            <a:spLocks noGrp="1"/>
          </p:cNvSpPr>
          <p:nvPr>
            <p:ph type="title"/>
          </p:nvPr>
        </p:nvSpPr>
        <p:spPr/>
        <p:txBody>
          <a:bodyPr/>
          <a:lstStyle/>
          <a:p>
            <a:r>
              <a:rPr lang="fr-FR" dirty="0"/>
              <a:t>Procédures, fonctions, déclencheurs</a:t>
            </a:r>
          </a:p>
        </p:txBody>
      </p:sp>
      <p:sp>
        <p:nvSpPr>
          <p:cNvPr id="3" name="Espace réservé du contenu 2">
            <a:extLst>
              <a:ext uri="{FF2B5EF4-FFF2-40B4-BE49-F238E27FC236}">
                <a16:creationId xmlns:a16="http://schemas.microsoft.com/office/drawing/2014/main" id="{EEA9F770-E7C4-4F1B-983C-80C9AA4B482F}"/>
              </a:ext>
            </a:extLst>
          </p:cNvPr>
          <p:cNvSpPr>
            <a:spLocks noGrp="1"/>
          </p:cNvSpPr>
          <p:nvPr>
            <p:ph idx="1"/>
          </p:nvPr>
        </p:nvSpPr>
        <p:spPr/>
        <p:txBody>
          <a:bodyPr/>
          <a:lstStyle/>
          <a:p>
            <a:r>
              <a:rPr lang="fr-FR" dirty="0"/>
              <a:t>Éléments de syntaxe :</a:t>
            </a:r>
          </a:p>
          <a:p>
            <a:pPr lvl="1"/>
            <a:r>
              <a:rPr lang="fr-FR" dirty="0"/>
              <a:t>Boucle :</a:t>
            </a:r>
          </a:p>
          <a:p>
            <a:pPr marL="914400" lvl="2" indent="0">
              <a:buNone/>
            </a:pPr>
            <a:r>
              <a:rPr lang="fr-FR" dirty="0" err="1"/>
              <a:t>loop_label</a:t>
            </a:r>
            <a:r>
              <a:rPr lang="fr-FR" dirty="0"/>
              <a:t>: </a:t>
            </a:r>
            <a:r>
              <a:rPr lang="fr-FR" b="1" dirty="0"/>
              <a:t>LOOP</a:t>
            </a:r>
          </a:p>
          <a:p>
            <a:pPr marL="914400" lvl="2" indent="0">
              <a:buNone/>
            </a:pPr>
            <a:r>
              <a:rPr lang="fr-FR" dirty="0"/>
              <a:t>    </a:t>
            </a:r>
            <a:r>
              <a:rPr lang="fr-FR" b="1" dirty="0"/>
              <a:t>IF</a:t>
            </a:r>
            <a:r>
              <a:rPr lang="fr-FR" dirty="0"/>
              <a:t> </a:t>
            </a:r>
            <a:r>
              <a:rPr lang="fr-FR" i="1" dirty="0"/>
              <a:t>condition</a:t>
            </a:r>
            <a:r>
              <a:rPr lang="fr-FR" dirty="0"/>
              <a:t> </a:t>
            </a:r>
            <a:r>
              <a:rPr lang="fr-FR" b="1" dirty="0"/>
              <a:t>THEN</a:t>
            </a:r>
          </a:p>
          <a:p>
            <a:pPr marL="914400" lvl="2" indent="0">
              <a:buNone/>
            </a:pPr>
            <a:r>
              <a:rPr lang="fr-FR" dirty="0"/>
              <a:t>        </a:t>
            </a:r>
            <a:r>
              <a:rPr lang="fr-FR" b="1" dirty="0"/>
              <a:t>LEAVE</a:t>
            </a:r>
            <a:r>
              <a:rPr lang="fr-FR" dirty="0"/>
              <a:t> </a:t>
            </a:r>
            <a:r>
              <a:rPr lang="fr-FR" dirty="0" err="1"/>
              <a:t>loop_label</a:t>
            </a:r>
            <a:r>
              <a:rPr lang="fr-FR" dirty="0"/>
              <a:t>;</a:t>
            </a:r>
          </a:p>
          <a:p>
            <a:pPr marL="914400" lvl="2" indent="0">
              <a:buNone/>
            </a:pPr>
            <a:r>
              <a:rPr lang="fr-FR" dirty="0"/>
              <a:t>    </a:t>
            </a:r>
            <a:r>
              <a:rPr lang="fr-FR" b="1" dirty="0"/>
              <a:t>END IF</a:t>
            </a:r>
            <a:r>
              <a:rPr lang="fr-FR" dirty="0"/>
              <a:t>;</a:t>
            </a:r>
          </a:p>
          <a:p>
            <a:pPr marL="914400" lvl="2" indent="0">
              <a:buNone/>
            </a:pPr>
            <a:endParaRPr lang="fr-FR" dirty="0"/>
          </a:p>
          <a:p>
            <a:pPr marL="914400" lvl="2" indent="0">
              <a:buNone/>
            </a:pPr>
            <a:r>
              <a:rPr lang="fr-FR" dirty="0"/>
              <a:t>   </a:t>
            </a:r>
            <a:r>
              <a:rPr lang="fr-FR" i="1" dirty="0"/>
              <a:t>body</a:t>
            </a:r>
          </a:p>
          <a:p>
            <a:pPr marL="914400" lvl="2" indent="0">
              <a:buNone/>
            </a:pPr>
            <a:r>
              <a:rPr lang="fr-FR" b="1" dirty="0"/>
              <a:t>END LOOP</a:t>
            </a:r>
            <a:r>
              <a:rPr lang="fr-FR" dirty="0"/>
              <a:t>;</a:t>
            </a:r>
          </a:p>
          <a:p>
            <a:pPr marL="914400" lvl="2" indent="0">
              <a:buNone/>
            </a:pPr>
            <a:endParaRPr lang="fr-FR" dirty="0"/>
          </a:p>
        </p:txBody>
      </p:sp>
      <p:sp>
        <p:nvSpPr>
          <p:cNvPr id="4" name="Espace réservé du numéro de diapositive 3">
            <a:extLst>
              <a:ext uri="{FF2B5EF4-FFF2-40B4-BE49-F238E27FC236}">
                <a16:creationId xmlns:a16="http://schemas.microsoft.com/office/drawing/2014/main" id="{AF0FBD8A-3076-4E2B-91BA-B07C0D247A43}"/>
              </a:ext>
            </a:extLst>
          </p:cNvPr>
          <p:cNvSpPr>
            <a:spLocks noGrp="1"/>
          </p:cNvSpPr>
          <p:nvPr>
            <p:ph type="sldNum" sz="quarter" idx="12"/>
          </p:nvPr>
        </p:nvSpPr>
        <p:spPr/>
        <p:txBody>
          <a:bodyPr/>
          <a:lstStyle/>
          <a:p>
            <a:fld id="{27C6CCC6-2BE5-4E42-96A4-D1E8E81A3D8E}" type="slidenum">
              <a:rPr lang="de-DE" smtClean="0"/>
              <a:t>151</a:t>
            </a:fld>
            <a:endParaRPr lang="de-DE"/>
          </a:p>
        </p:txBody>
      </p:sp>
    </p:spTree>
    <p:extLst>
      <p:ext uri="{BB962C8B-B14F-4D97-AF65-F5344CB8AC3E}">
        <p14:creationId xmlns:p14="http://schemas.microsoft.com/office/powerpoint/2010/main" val="348818008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3C2A1B-0FBF-4349-8C61-A3F273CB2FAA}"/>
              </a:ext>
            </a:extLst>
          </p:cNvPr>
          <p:cNvSpPr>
            <a:spLocks noGrp="1"/>
          </p:cNvSpPr>
          <p:nvPr>
            <p:ph type="title"/>
          </p:nvPr>
        </p:nvSpPr>
        <p:spPr/>
        <p:txBody>
          <a:bodyPr/>
          <a:lstStyle/>
          <a:p>
            <a:r>
              <a:rPr lang="fr-FR" dirty="0"/>
              <a:t>Procédures, fonctions, déclencheurs</a:t>
            </a:r>
          </a:p>
        </p:txBody>
      </p:sp>
      <p:sp>
        <p:nvSpPr>
          <p:cNvPr id="3" name="Espace réservé du contenu 2">
            <a:extLst>
              <a:ext uri="{FF2B5EF4-FFF2-40B4-BE49-F238E27FC236}">
                <a16:creationId xmlns:a16="http://schemas.microsoft.com/office/drawing/2014/main" id="{EEA9F770-E7C4-4F1B-983C-80C9AA4B482F}"/>
              </a:ext>
            </a:extLst>
          </p:cNvPr>
          <p:cNvSpPr>
            <a:spLocks noGrp="1"/>
          </p:cNvSpPr>
          <p:nvPr>
            <p:ph idx="1"/>
          </p:nvPr>
        </p:nvSpPr>
        <p:spPr/>
        <p:txBody>
          <a:bodyPr/>
          <a:lstStyle/>
          <a:p>
            <a:r>
              <a:rPr lang="fr-FR" dirty="0"/>
              <a:t>Éléments de syntaxe :</a:t>
            </a:r>
          </a:p>
          <a:p>
            <a:pPr lvl="1"/>
            <a:r>
              <a:rPr lang="fr-FR" dirty="0"/>
              <a:t>Boucle (avec </a:t>
            </a:r>
            <a:r>
              <a:rPr lang="fr-FR" dirty="0" err="1"/>
              <a:t>while</a:t>
            </a:r>
            <a:r>
              <a:rPr lang="fr-FR"/>
              <a:t>) </a:t>
            </a:r>
            <a:r>
              <a:rPr lang="fr-FR" dirty="0"/>
              <a:t>:</a:t>
            </a:r>
          </a:p>
          <a:p>
            <a:pPr marL="914400" lvl="2" indent="0">
              <a:buNone/>
            </a:pPr>
            <a:r>
              <a:rPr lang="fr-FR" b="1" dirty="0"/>
              <a:t>DECLARE</a:t>
            </a:r>
            <a:r>
              <a:rPr lang="fr-FR" dirty="0"/>
              <a:t> v1 </a:t>
            </a:r>
            <a:r>
              <a:rPr lang="fr-FR" b="1" dirty="0"/>
              <a:t>INT</a:t>
            </a:r>
            <a:r>
              <a:rPr lang="fr-FR" dirty="0"/>
              <a:t> </a:t>
            </a:r>
            <a:r>
              <a:rPr lang="fr-FR" b="1" dirty="0"/>
              <a:t>DEFAULT</a:t>
            </a:r>
            <a:r>
              <a:rPr lang="fr-FR" dirty="0"/>
              <a:t> 5;</a:t>
            </a:r>
          </a:p>
          <a:p>
            <a:pPr marL="914400" lvl="2" indent="0">
              <a:buNone/>
            </a:pPr>
            <a:r>
              <a:rPr lang="fr-FR" b="1" dirty="0"/>
              <a:t>WHILE</a:t>
            </a:r>
            <a:r>
              <a:rPr lang="fr-FR" dirty="0"/>
              <a:t> v1 &gt; 0 </a:t>
            </a:r>
            <a:r>
              <a:rPr lang="fr-FR" b="1" dirty="0"/>
              <a:t>DO</a:t>
            </a:r>
          </a:p>
          <a:p>
            <a:pPr marL="914400" lvl="2" indent="0">
              <a:buNone/>
            </a:pPr>
            <a:r>
              <a:rPr lang="fr-FR" dirty="0"/>
              <a:t>	…</a:t>
            </a:r>
          </a:p>
          <a:p>
            <a:pPr marL="914400" lvl="2" indent="0">
              <a:buNone/>
            </a:pPr>
            <a:r>
              <a:rPr lang="fr-FR" dirty="0"/>
              <a:t>	</a:t>
            </a:r>
            <a:r>
              <a:rPr lang="fr-FR" b="1" dirty="0"/>
              <a:t>SET</a:t>
            </a:r>
            <a:r>
              <a:rPr lang="fr-FR" dirty="0"/>
              <a:t> v1 = v1 – 1</a:t>
            </a:r>
          </a:p>
          <a:p>
            <a:pPr marL="914400" lvl="2" indent="0">
              <a:buNone/>
            </a:pPr>
            <a:r>
              <a:rPr lang="fr-FR" b="1" dirty="0"/>
              <a:t>END</a:t>
            </a:r>
            <a:r>
              <a:rPr lang="fr-FR" dirty="0"/>
              <a:t> </a:t>
            </a:r>
            <a:r>
              <a:rPr lang="fr-FR" b="1" dirty="0"/>
              <a:t>WHILE</a:t>
            </a:r>
            <a:r>
              <a:rPr lang="fr-FR" dirty="0"/>
              <a:t>;</a:t>
            </a:r>
          </a:p>
          <a:p>
            <a:pPr marL="914400" lvl="2" indent="0">
              <a:buNone/>
            </a:pPr>
            <a:endParaRPr lang="fr-FR" dirty="0"/>
          </a:p>
        </p:txBody>
      </p:sp>
      <p:sp>
        <p:nvSpPr>
          <p:cNvPr id="4" name="Espace réservé du numéro de diapositive 3">
            <a:extLst>
              <a:ext uri="{FF2B5EF4-FFF2-40B4-BE49-F238E27FC236}">
                <a16:creationId xmlns:a16="http://schemas.microsoft.com/office/drawing/2014/main" id="{AF0FBD8A-3076-4E2B-91BA-B07C0D247A43}"/>
              </a:ext>
            </a:extLst>
          </p:cNvPr>
          <p:cNvSpPr>
            <a:spLocks noGrp="1"/>
          </p:cNvSpPr>
          <p:nvPr>
            <p:ph type="sldNum" sz="quarter" idx="12"/>
          </p:nvPr>
        </p:nvSpPr>
        <p:spPr/>
        <p:txBody>
          <a:bodyPr/>
          <a:lstStyle/>
          <a:p>
            <a:fld id="{27C6CCC6-2BE5-4E42-96A4-D1E8E81A3D8E}" type="slidenum">
              <a:rPr lang="de-DE" smtClean="0"/>
              <a:t>152</a:t>
            </a:fld>
            <a:endParaRPr lang="de-DE"/>
          </a:p>
        </p:txBody>
      </p:sp>
    </p:spTree>
    <p:extLst>
      <p:ext uri="{BB962C8B-B14F-4D97-AF65-F5344CB8AC3E}">
        <p14:creationId xmlns:p14="http://schemas.microsoft.com/office/powerpoint/2010/main" val="275113371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3C2A1B-0FBF-4349-8C61-A3F273CB2FAA}"/>
              </a:ext>
            </a:extLst>
          </p:cNvPr>
          <p:cNvSpPr>
            <a:spLocks noGrp="1"/>
          </p:cNvSpPr>
          <p:nvPr>
            <p:ph type="title"/>
          </p:nvPr>
        </p:nvSpPr>
        <p:spPr/>
        <p:txBody>
          <a:bodyPr/>
          <a:lstStyle/>
          <a:p>
            <a:r>
              <a:rPr lang="fr-FR" dirty="0"/>
              <a:t>Exercice</a:t>
            </a:r>
          </a:p>
        </p:txBody>
      </p:sp>
      <p:sp>
        <p:nvSpPr>
          <p:cNvPr id="3" name="Espace réservé du contenu 2">
            <a:extLst>
              <a:ext uri="{FF2B5EF4-FFF2-40B4-BE49-F238E27FC236}">
                <a16:creationId xmlns:a16="http://schemas.microsoft.com/office/drawing/2014/main" id="{EEA9F770-E7C4-4F1B-983C-80C9AA4B482F}"/>
              </a:ext>
            </a:extLst>
          </p:cNvPr>
          <p:cNvSpPr>
            <a:spLocks noGrp="1"/>
          </p:cNvSpPr>
          <p:nvPr>
            <p:ph idx="1"/>
          </p:nvPr>
        </p:nvSpPr>
        <p:spPr/>
        <p:txBody>
          <a:bodyPr/>
          <a:lstStyle/>
          <a:p>
            <a:r>
              <a:rPr lang="fr-FR" dirty="0"/>
              <a:t>Créer une table contenant une date et une valeur numérique</a:t>
            </a:r>
          </a:p>
          <a:p>
            <a:r>
              <a:rPr lang="fr-FR" dirty="0"/>
              <a:t>Créer un évènement qui ajoute automatiquement une valeur numérique aléatoire toute les secondes pour la date actuelle</a:t>
            </a:r>
          </a:p>
          <a:p>
            <a:r>
              <a:rPr lang="fr-FR" dirty="0"/>
              <a:t>Créer une procédure qui supprime les enregistrements les plus vieux lorsqu’il y a plus de 10 enregistrements</a:t>
            </a:r>
          </a:p>
          <a:p>
            <a:r>
              <a:rPr lang="fr-FR" dirty="0"/>
              <a:t>Modifier l’évènement pour qu’il appelle également la procédure de suppression après l’insertion</a:t>
            </a:r>
            <a:endParaRPr lang="fr-FR" b="1" dirty="0"/>
          </a:p>
        </p:txBody>
      </p:sp>
      <p:sp>
        <p:nvSpPr>
          <p:cNvPr id="4" name="Espace réservé du numéro de diapositive 3">
            <a:extLst>
              <a:ext uri="{FF2B5EF4-FFF2-40B4-BE49-F238E27FC236}">
                <a16:creationId xmlns:a16="http://schemas.microsoft.com/office/drawing/2014/main" id="{AF0FBD8A-3076-4E2B-91BA-B07C0D247A43}"/>
              </a:ext>
            </a:extLst>
          </p:cNvPr>
          <p:cNvSpPr>
            <a:spLocks noGrp="1"/>
          </p:cNvSpPr>
          <p:nvPr>
            <p:ph type="sldNum" sz="quarter" idx="12"/>
          </p:nvPr>
        </p:nvSpPr>
        <p:spPr/>
        <p:txBody>
          <a:bodyPr/>
          <a:lstStyle/>
          <a:p>
            <a:fld id="{27C6CCC6-2BE5-4E42-96A4-D1E8E81A3D8E}" type="slidenum">
              <a:rPr lang="de-DE" smtClean="0"/>
              <a:t>153</a:t>
            </a:fld>
            <a:endParaRPr lang="de-DE"/>
          </a:p>
        </p:txBody>
      </p:sp>
    </p:spTree>
    <p:extLst>
      <p:ext uri="{BB962C8B-B14F-4D97-AF65-F5344CB8AC3E}">
        <p14:creationId xmlns:p14="http://schemas.microsoft.com/office/powerpoint/2010/main" val="108756039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3C2A1B-0FBF-4349-8C61-A3F273CB2FAA}"/>
              </a:ext>
            </a:extLst>
          </p:cNvPr>
          <p:cNvSpPr>
            <a:spLocks noGrp="1"/>
          </p:cNvSpPr>
          <p:nvPr>
            <p:ph type="title"/>
          </p:nvPr>
        </p:nvSpPr>
        <p:spPr/>
        <p:txBody>
          <a:bodyPr/>
          <a:lstStyle/>
          <a:p>
            <a:r>
              <a:rPr lang="fr-FR" dirty="0"/>
              <a:t>Exercice</a:t>
            </a:r>
          </a:p>
        </p:txBody>
      </p:sp>
      <p:sp>
        <p:nvSpPr>
          <p:cNvPr id="3" name="Espace réservé du contenu 2">
            <a:extLst>
              <a:ext uri="{FF2B5EF4-FFF2-40B4-BE49-F238E27FC236}">
                <a16:creationId xmlns:a16="http://schemas.microsoft.com/office/drawing/2014/main" id="{EEA9F770-E7C4-4F1B-983C-80C9AA4B482F}"/>
              </a:ext>
            </a:extLst>
          </p:cNvPr>
          <p:cNvSpPr>
            <a:spLocks noGrp="1"/>
          </p:cNvSpPr>
          <p:nvPr>
            <p:ph idx="1"/>
          </p:nvPr>
        </p:nvSpPr>
        <p:spPr/>
        <p:txBody>
          <a:bodyPr>
            <a:normAutofit fontScale="55000" lnSpcReduction="20000"/>
          </a:bodyPr>
          <a:lstStyle/>
          <a:p>
            <a:r>
              <a:rPr lang="fr-FR" dirty="0"/>
              <a:t>Créer une table contenant une date et une valeur numérique</a:t>
            </a:r>
          </a:p>
          <a:p>
            <a:pPr marL="0" indent="0">
              <a:buNone/>
            </a:pPr>
            <a:r>
              <a:rPr lang="fr-FR" b="1" dirty="0"/>
              <a:t>CREATE TABLE valeurs (date DATETIME, valeur FLOAT);</a:t>
            </a:r>
          </a:p>
          <a:p>
            <a:r>
              <a:rPr lang="fr-FR" dirty="0"/>
              <a:t>Créer un évènement qui ajoute automatiquement une valeur numérique aléatoire toute les secondes pour la date actuelle</a:t>
            </a:r>
          </a:p>
          <a:p>
            <a:pPr marL="0" indent="0">
              <a:buNone/>
            </a:pPr>
            <a:r>
              <a:rPr lang="fr-FR" b="1" dirty="0"/>
              <a:t>CREATE EVENT </a:t>
            </a:r>
            <a:r>
              <a:rPr lang="fr-FR" b="1" dirty="0" err="1"/>
              <a:t>AddNewValues</a:t>
            </a:r>
            <a:r>
              <a:rPr lang="fr-FR" b="1" dirty="0"/>
              <a:t> ON SCHEDULE EVERY 1 SECOND DO INSERT INTO valeurs (date, valeur) VALUES (NOW(), RAND())</a:t>
            </a:r>
          </a:p>
          <a:p>
            <a:r>
              <a:rPr lang="fr-FR" dirty="0"/>
              <a:t>Créer une procédure qui supprime les enregistrements les plus vieux lorsqu’il y a plus de 10 enregistrements</a:t>
            </a:r>
          </a:p>
          <a:p>
            <a:pPr marL="0" indent="0">
              <a:buNone/>
            </a:pPr>
            <a:r>
              <a:rPr lang="fr-FR" b="1" dirty="0"/>
              <a:t>CREATE PROCEDURE  </a:t>
            </a:r>
            <a:r>
              <a:rPr lang="fr-FR" b="1" dirty="0" err="1"/>
              <a:t>DeleteOldValues</a:t>
            </a:r>
            <a:r>
              <a:rPr lang="fr-FR" b="1" dirty="0"/>
              <a:t>()</a:t>
            </a:r>
          </a:p>
          <a:p>
            <a:pPr marL="0" indent="0">
              <a:buNone/>
            </a:pPr>
            <a:r>
              <a:rPr lang="fr-FR" b="1" dirty="0"/>
              <a:t>BEGIN</a:t>
            </a:r>
          </a:p>
          <a:p>
            <a:pPr marL="0" indent="0">
              <a:buNone/>
            </a:pPr>
            <a:r>
              <a:rPr lang="fr-FR" b="1" dirty="0"/>
              <a:t>    DECLARE </a:t>
            </a:r>
            <a:r>
              <a:rPr lang="fr-FR" b="1" dirty="0" err="1"/>
              <a:t>date_var</a:t>
            </a:r>
            <a:r>
              <a:rPr lang="fr-FR" b="1" dirty="0"/>
              <a:t> DATETIME;</a:t>
            </a:r>
          </a:p>
          <a:p>
            <a:pPr marL="0" indent="0">
              <a:buNone/>
            </a:pPr>
            <a:r>
              <a:rPr lang="fr-FR" b="1" dirty="0"/>
              <a:t>    SELECT date INTO </a:t>
            </a:r>
            <a:r>
              <a:rPr lang="fr-FR" b="1" dirty="0" err="1"/>
              <a:t>date_var</a:t>
            </a:r>
            <a:r>
              <a:rPr lang="fr-FR" b="1" dirty="0"/>
              <a:t> FROM valeurs ORDER BY date DESC LIMIT 1 OFFSET 10;</a:t>
            </a:r>
          </a:p>
          <a:p>
            <a:pPr marL="0" indent="0">
              <a:buNone/>
            </a:pPr>
            <a:r>
              <a:rPr lang="fr-FR" b="1" dirty="0"/>
              <a:t>    DELETE FROM valeurs WHERE date &lt; </a:t>
            </a:r>
            <a:r>
              <a:rPr lang="fr-FR" b="1" dirty="0" err="1"/>
              <a:t>date_var</a:t>
            </a:r>
            <a:r>
              <a:rPr lang="fr-FR" b="1" dirty="0"/>
              <a:t>;</a:t>
            </a:r>
          </a:p>
          <a:p>
            <a:pPr marL="0" indent="0">
              <a:buNone/>
            </a:pPr>
            <a:r>
              <a:rPr lang="fr-FR" b="1" dirty="0"/>
              <a:t>END</a:t>
            </a:r>
          </a:p>
          <a:p>
            <a:r>
              <a:rPr lang="fr-FR" dirty="0"/>
              <a:t>Modifier l’évènement pour qu’il appelle également la procédure de suppression après l’insertion</a:t>
            </a:r>
            <a:endParaRPr lang="fr-FR" b="1" dirty="0"/>
          </a:p>
          <a:p>
            <a:pPr marL="0" indent="0">
              <a:buNone/>
            </a:pPr>
            <a:r>
              <a:rPr lang="fr-FR" b="1" dirty="0"/>
              <a:t>CREATE TRIGGER </a:t>
            </a:r>
            <a:r>
              <a:rPr lang="fr-FR" b="1" dirty="0" err="1"/>
              <a:t>DeleteOldTrigger</a:t>
            </a:r>
            <a:r>
              <a:rPr lang="fr-FR" b="1" dirty="0"/>
              <a:t> AFTER INSERT ON valeurs FOR EACH ROW CALL </a:t>
            </a:r>
            <a:r>
              <a:rPr lang="fr-FR" b="1" dirty="0" err="1"/>
              <a:t>DeleteOldValues</a:t>
            </a:r>
            <a:r>
              <a:rPr lang="fr-FR" b="1" dirty="0"/>
              <a:t>();</a:t>
            </a:r>
          </a:p>
        </p:txBody>
      </p:sp>
      <p:sp>
        <p:nvSpPr>
          <p:cNvPr id="4" name="Espace réservé du numéro de diapositive 3">
            <a:extLst>
              <a:ext uri="{FF2B5EF4-FFF2-40B4-BE49-F238E27FC236}">
                <a16:creationId xmlns:a16="http://schemas.microsoft.com/office/drawing/2014/main" id="{AF0FBD8A-3076-4E2B-91BA-B07C0D247A43}"/>
              </a:ext>
            </a:extLst>
          </p:cNvPr>
          <p:cNvSpPr>
            <a:spLocks noGrp="1"/>
          </p:cNvSpPr>
          <p:nvPr>
            <p:ph type="sldNum" sz="quarter" idx="12"/>
          </p:nvPr>
        </p:nvSpPr>
        <p:spPr/>
        <p:txBody>
          <a:bodyPr/>
          <a:lstStyle/>
          <a:p>
            <a:fld id="{27C6CCC6-2BE5-4E42-96A4-D1E8E81A3D8E}" type="slidenum">
              <a:rPr lang="de-DE" smtClean="0"/>
              <a:t>154</a:t>
            </a:fld>
            <a:endParaRPr lang="de-DE"/>
          </a:p>
        </p:txBody>
      </p:sp>
    </p:spTree>
    <p:extLst>
      <p:ext uri="{BB962C8B-B14F-4D97-AF65-F5344CB8AC3E}">
        <p14:creationId xmlns:p14="http://schemas.microsoft.com/office/powerpoint/2010/main" val="262531738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A9842B-9AFF-41BA-A899-E92207A670F9}"/>
              </a:ext>
            </a:extLst>
          </p:cNvPr>
          <p:cNvSpPr>
            <a:spLocks noGrp="1"/>
          </p:cNvSpPr>
          <p:nvPr>
            <p:ph type="title"/>
          </p:nvPr>
        </p:nvSpPr>
        <p:spPr>
          <a:xfrm>
            <a:off x="451514" y="947607"/>
            <a:ext cx="4389427" cy="4962786"/>
          </a:xfrm>
        </p:spPr>
        <p:txBody>
          <a:bodyPr vert="horz" lIns="91440" tIns="45720" rIns="91440" bIns="45720" rtlCol="0" anchor="ctr">
            <a:normAutofit/>
          </a:bodyPr>
          <a:lstStyle/>
          <a:p>
            <a:r>
              <a:rPr lang="en-US" sz="5400" dirty="0"/>
              <a:t>Gestion des </a:t>
            </a:r>
            <a:r>
              <a:rPr lang="en-US" sz="5400" dirty="0" err="1"/>
              <a:t>accès</a:t>
            </a:r>
            <a:r>
              <a:rPr lang="en-US" sz="5400" dirty="0"/>
              <a:t> (DCL)</a:t>
            </a:r>
          </a:p>
        </p:txBody>
      </p:sp>
      <p:sp>
        <p:nvSpPr>
          <p:cNvPr id="3" name="Espace réservé du contenu 2">
            <a:extLst>
              <a:ext uri="{FF2B5EF4-FFF2-40B4-BE49-F238E27FC236}">
                <a16:creationId xmlns:a16="http://schemas.microsoft.com/office/drawing/2014/main" id="{64DBD916-8FC9-40A4-9D00-0A6E50F6C8C5}"/>
              </a:ext>
            </a:extLst>
          </p:cNvPr>
          <p:cNvSpPr>
            <a:spLocks noGrp="1"/>
          </p:cNvSpPr>
          <p:nvPr>
            <p:ph idx="1"/>
          </p:nvPr>
        </p:nvSpPr>
        <p:spPr>
          <a:xfrm>
            <a:off x="7229345" y="947607"/>
            <a:ext cx="4152655" cy="4962785"/>
          </a:xfrm>
          <a:effectLst/>
        </p:spPr>
        <p:txBody>
          <a:bodyPr vert="horz" lIns="91440" tIns="45720" rIns="91440" bIns="45720" rtlCol="0" anchor="ctr">
            <a:normAutofit/>
          </a:bodyPr>
          <a:lstStyle/>
          <a:p>
            <a:pPr marL="0" indent="0">
              <a:buNone/>
            </a:pPr>
            <a:r>
              <a:rPr lang="en-US" sz="2800" dirty="0" err="1"/>
              <a:t>Gérer</a:t>
            </a:r>
            <a:r>
              <a:rPr lang="en-US" sz="2800" dirty="0"/>
              <a:t> les droits avec SQL</a:t>
            </a:r>
          </a:p>
        </p:txBody>
      </p:sp>
      <p:sp>
        <p:nvSpPr>
          <p:cNvPr id="6" name="Espace réservé du numéro de diapositive 5">
            <a:extLst>
              <a:ext uri="{FF2B5EF4-FFF2-40B4-BE49-F238E27FC236}">
                <a16:creationId xmlns:a16="http://schemas.microsoft.com/office/drawing/2014/main" id="{1759B7EB-B9DD-49DB-9637-F63E418461CF}"/>
              </a:ext>
            </a:extLst>
          </p:cNvPr>
          <p:cNvSpPr>
            <a:spLocks noGrp="1"/>
          </p:cNvSpPr>
          <p:nvPr>
            <p:ph type="sldNum" sz="quarter" idx="12"/>
          </p:nvPr>
        </p:nvSpPr>
        <p:spPr/>
        <p:txBody>
          <a:bodyPr/>
          <a:lstStyle/>
          <a:p>
            <a:fld id="{27C6CCC6-2BE5-4E42-96A4-D1E8E81A3D8E}" type="slidenum">
              <a:rPr lang="de-DE" smtClean="0"/>
              <a:t>155</a:t>
            </a:fld>
            <a:endParaRPr lang="de-DE"/>
          </a:p>
        </p:txBody>
      </p:sp>
    </p:spTree>
    <p:extLst>
      <p:ext uri="{BB962C8B-B14F-4D97-AF65-F5344CB8AC3E}">
        <p14:creationId xmlns:p14="http://schemas.microsoft.com/office/powerpoint/2010/main" val="176250177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0F103F-EAA2-4ECF-BEB9-49B5B1CBC43B}"/>
              </a:ext>
            </a:extLst>
          </p:cNvPr>
          <p:cNvSpPr>
            <a:spLocks noGrp="1"/>
          </p:cNvSpPr>
          <p:nvPr>
            <p:ph type="title"/>
          </p:nvPr>
        </p:nvSpPr>
        <p:spPr/>
        <p:txBody>
          <a:bodyPr/>
          <a:lstStyle/>
          <a:p>
            <a:r>
              <a:rPr lang="fr-FR" dirty="0"/>
              <a:t>Data Control </a:t>
            </a:r>
            <a:r>
              <a:rPr lang="fr-FR" dirty="0" err="1"/>
              <a:t>Language</a:t>
            </a:r>
            <a:endParaRPr lang="fr-FR" dirty="0"/>
          </a:p>
        </p:txBody>
      </p:sp>
      <p:sp>
        <p:nvSpPr>
          <p:cNvPr id="3" name="Espace réservé du contenu 2">
            <a:extLst>
              <a:ext uri="{FF2B5EF4-FFF2-40B4-BE49-F238E27FC236}">
                <a16:creationId xmlns:a16="http://schemas.microsoft.com/office/drawing/2014/main" id="{498CDEF7-BFAA-461E-BBD0-BDB136F586EC}"/>
              </a:ext>
            </a:extLst>
          </p:cNvPr>
          <p:cNvSpPr>
            <a:spLocks noGrp="1"/>
          </p:cNvSpPr>
          <p:nvPr>
            <p:ph idx="1"/>
          </p:nvPr>
        </p:nvSpPr>
        <p:spPr/>
        <p:txBody>
          <a:bodyPr/>
          <a:lstStyle/>
          <a:p>
            <a:r>
              <a:rPr lang="fr-FR" dirty="0"/>
              <a:t>Le </a:t>
            </a:r>
            <a:r>
              <a:rPr lang="fr-FR" b="1" dirty="0"/>
              <a:t>Data Control </a:t>
            </a:r>
            <a:r>
              <a:rPr lang="fr-FR" b="1" dirty="0" err="1"/>
              <a:t>Language</a:t>
            </a:r>
            <a:r>
              <a:rPr lang="fr-FR" dirty="0"/>
              <a:t> (DCL) contient les instructions SQL permettant de piloter les droits des utilisateurs quant à une base de données</a:t>
            </a:r>
          </a:p>
          <a:p>
            <a:r>
              <a:rPr lang="fr-FR" dirty="0"/>
              <a:t>Les instructions principales sont :</a:t>
            </a:r>
          </a:p>
          <a:p>
            <a:pPr lvl="1"/>
            <a:r>
              <a:rPr lang="fr-FR" b="1" dirty="0"/>
              <a:t>GRANT</a:t>
            </a:r>
            <a:r>
              <a:rPr lang="fr-FR" dirty="0"/>
              <a:t> : octroie des droits à un utilisateur</a:t>
            </a:r>
          </a:p>
          <a:p>
            <a:pPr lvl="1"/>
            <a:r>
              <a:rPr lang="fr-FR" b="1" dirty="0"/>
              <a:t>REVOKE</a:t>
            </a:r>
            <a:r>
              <a:rPr lang="fr-FR" dirty="0"/>
              <a:t> : supprime des droits à un utilisateur</a:t>
            </a:r>
          </a:p>
        </p:txBody>
      </p:sp>
      <p:sp>
        <p:nvSpPr>
          <p:cNvPr id="4" name="Espace réservé du numéro de diapositive 3">
            <a:extLst>
              <a:ext uri="{FF2B5EF4-FFF2-40B4-BE49-F238E27FC236}">
                <a16:creationId xmlns:a16="http://schemas.microsoft.com/office/drawing/2014/main" id="{285CB931-550B-43C1-88E8-B98C4D67E90A}"/>
              </a:ext>
            </a:extLst>
          </p:cNvPr>
          <p:cNvSpPr>
            <a:spLocks noGrp="1"/>
          </p:cNvSpPr>
          <p:nvPr>
            <p:ph type="sldNum" sz="quarter" idx="12"/>
          </p:nvPr>
        </p:nvSpPr>
        <p:spPr/>
        <p:txBody>
          <a:bodyPr/>
          <a:lstStyle/>
          <a:p>
            <a:fld id="{27C6CCC6-2BE5-4E42-96A4-D1E8E81A3D8E}" type="slidenum">
              <a:rPr lang="de-DE" smtClean="0"/>
              <a:t>156</a:t>
            </a:fld>
            <a:endParaRPr lang="de-DE"/>
          </a:p>
        </p:txBody>
      </p:sp>
    </p:spTree>
    <p:extLst>
      <p:ext uri="{BB962C8B-B14F-4D97-AF65-F5344CB8AC3E}">
        <p14:creationId xmlns:p14="http://schemas.microsoft.com/office/powerpoint/2010/main" val="213188538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0F103F-EAA2-4ECF-BEB9-49B5B1CBC43B}"/>
              </a:ext>
            </a:extLst>
          </p:cNvPr>
          <p:cNvSpPr>
            <a:spLocks noGrp="1"/>
          </p:cNvSpPr>
          <p:nvPr>
            <p:ph type="title"/>
          </p:nvPr>
        </p:nvSpPr>
        <p:spPr/>
        <p:txBody>
          <a:bodyPr/>
          <a:lstStyle/>
          <a:p>
            <a:r>
              <a:rPr lang="fr-FR" dirty="0"/>
              <a:t>GRANT (octroi des droits)</a:t>
            </a:r>
          </a:p>
        </p:txBody>
      </p:sp>
      <p:sp>
        <p:nvSpPr>
          <p:cNvPr id="3" name="Espace réservé du contenu 2">
            <a:extLst>
              <a:ext uri="{FF2B5EF4-FFF2-40B4-BE49-F238E27FC236}">
                <a16:creationId xmlns:a16="http://schemas.microsoft.com/office/drawing/2014/main" id="{498CDEF7-BFAA-461E-BBD0-BDB136F586EC}"/>
              </a:ext>
            </a:extLst>
          </p:cNvPr>
          <p:cNvSpPr>
            <a:spLocks noGrp="1"/>
          </p:cNvSpPr>
          <p:nvPr>
            <p:ph idx="1"/>
          </p:nvPr>
        </p:nvSpPr>
        <p:spPr/>
        <p:txBody>
          <a:bodyPr/>
          <a:lstStyle/>
          <a:p>
            <a:r>
              <a:rPr lang="fr-FR" dirty="0"/>
              <a:t>La syntaxe générale de la requête GRANT est :</a:t>
            </a:r>
          </a:p>
          <a:p>
            <a:pPr marL="0" indent="0" algn="ctr">
              <a:buNone/>
            </a:pPr>
            <a:r>
              <a:rPr lang="fr-FR" b="1" i="1" dirty="0"/>
              <a:t>GRANT</a:t>
            </a:r>
            <a:r>
              <a:rPr lang="fr-FR" i="1" dirty="0"/>
              <a:t> &lt;opération&gt; [</a:t>
            </a:r>
            <a:r>
              <a:rPr lang="fr-FR" b="1" i="1" dirty="0"/>
              <a:t>ON</a:t>
            </a:r>
            <a:r>
              <a:rPr lang="fr-FR" i="1" dirty="0"/>
              <a:t> &lt;table&gt;] </a:t>
            </a:r>
            <a:r>
              <a:rPr lang="fr-FR" b="1" i="1" dirty="0"/>
              <a:t>TO</a:t>
            </a:r>
            <a:r>
              <a:rPr lang="fr-FR" i="1" dirty="0"/>
              <a:t> &lt;</a:t>
            </a:r>
            <a:r>
              <a:rPr lang="fr-FR" i="1" dirty="0" err="1"/>
              <a:t>users</a:t>
            </a:r>
            <a:r>
              <a:rPr lang="fr-FR" i="1" dirty="0"/>
              <a:t>&gt;</a:t>
            </a:r>
          </a:p>
          <a:p>
            <a:r>
              <a:rPr lang="fr-FR" dirty="0"/>
              <a:t>Exemples :</a:t>
            </a:r>
          </a:p>
          <a:p>
            <a:pPr marL="0" indent="0" algn="ctr">
              <a:buNone/>
            </a:pPr>
            <a:r>
              <a:rPr lang="fr-FR" b="1" dirty="0"/>
              <a:t>GRANT</a:t>
            </a:r>
            <a:r>
              <a:rPr lang="fr-FR" dirty="0"/>
              <a:t> UPDATE </a:t>
            </a:r>
            <a:r>
              <a:rPr lang="fr-FR" b="1" dirty="0"/>
              <a:t>ON</a:t>
            </a:r>
            <a:r>
              <a:rPr lang="fr-FR" dirty="0"/>
              <a:t> </a:t>
            </a:r>
            <a:r>
              <a:rPr lang="fr-FR" dirty="0" err="1"/>
              <a:t>ma_table</a:t>
            </a:r>
            <a:r>
              <a:rPr lang="fr-FR" dirty="0"/>
              <a:t> </a:t>
            </a:r>
            <a:r>
              <a:rPr lang="fr-FR" b="1" dirty="0"/>
              <a:t>TO</a:t>
            </a:r>
            <a:r>
              <a:rPr lang="fr-FR" dirty="0"/>
              <a:t> ‘</a:t>
            </a:r>
            <a:r>
              <a:rPr lang="fr-FR" dirty="0" err="1"/>
              <a:t>mark’@’localhost</a:t>
            </a:r>
            <a:r>
              <a:rPr lang="fr-FR" dirty="0"/>
              <a:t>’</a:t>
            </a:r>
            <a:endParaRPr lang="fr-FR" b="1" dirty="0"/>
          </a:p>
          <a:p>
            <a:pPr marL="0" indent="0" algn="ctr">
              <a:buNone/>
            </a:pPr>
            <a:r>
              <a:rPr lang="fr-FR" b="1" dirty="0"/>
              <a:t>GRANT</a:t>
            </a:r>
            <a:r>
              <a:rPr lang="fr-FR" dirty="0"/>
              <a:t> SELECT </a:t>
            </a:r>
            <a:r>
              <a:rPr lang="fr-FR" b="1" dirty="0"/>
              <a:t>TO</a:t>
            </a:r>
            <a:r>
              <a:rPr lang="fr-FR" dirty="0"/>
              <a:t> PUBLIC</a:t>
            </a:r>
          </a:p>
          <a:p>
            <a:pPr marL="0" indent="0" algn="ctr">
              <a:buNone/>
            </a:pPr>
            <a:endParaRPr lang="fr-FR" dirty="0"/>
          </a:p>
        </p:txBody>
      </p:sp>
      <p:sp>
        <p:nvSpPr>
          <p:cNvPr id="4" name="Espace réservé du numéro de diapositive 3">
            <a:extLst>
              <a:ext uri="{FF2B5EF4-FFF2-40B4-BE49-F238E27FC236}">
                <a16:creationId xmlns:a16="http://schemas.microsoft.com/office/drawing/2014/main" id="{285CB931-550B-43C1-88E8-B98C4D67E90A}"/>
              </a:ext>
            </a:extLst>
          </p:cNvPr>
          <p:cNvSpPr>
            <a:spLocks noGrp="1"/>
          </p:cNvSpPr>
          <p:nvPr>
            <p:ph type="sldNum" sz="quarter" idx="12"/>
          </p:nvPr>
        </p:nvSpPr>
        <p:spPr/>
        <p:txBody>
          <a:bodyPr/>
          <a:lstStyle/>
          <a:p>
            <a:fld id="{27C6CCC6-2BE5-4E42-96A4-D1E8E81A3D8E}" type="slidenum">
              <a:rPr lang="de-DE" smtClean="0"/>
              <a:t>157</a:t>
            </a:fld>
            <a:endParaRPr lang="de-DE"/>
          </a:p>
        </p:txBody>
      </p:sp>
    </p:spTree>
    <p:extLst>
      <p:ext uri="{BB962C8B-B14F-4D97-AF65-F5344CB8AC3E}">
        <p14:creationId xmlns:p14="http://schemas.microsoft.com/office/powerpoint/2010/main" val="195824333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0F103F-EAA2-4ECF-BEB9-49B5B1CBC43B}"/>
              </a:ext>
            </a:extLst>
          </p:cNvPr>
          <p:cNvSpPr>
            <a:spLocks noGrp="1"/>
          </p:cNvSpPr>
          <p:nvPr>
            <p:ph type="title"/>
          </p:nvPr>
        </p:nvSpPr>
        <p:spPr/>
        <p:txBody>
          <a:bodyPr/>
          <a:lstStyle/>
          <a:p>
            <a:r>
              <a:rPr lang="fr-FR" dirty="0"/>
              <a:t>REVOKE (suppression des droits)</a:t>
            </a:r>
          </a:p>
        </p:txBody>
      </p:sp>
      <p:sp>
        <p:nvSpPr>
          <p:cNvPr id="3" name="Espace réservé du contenu 2">
            <a:extLst>
              <a:ext uri="{FF2B5EF4-FFF2-40B4-BE49-F238E27FC236}">
                <a16:creationId xmlns:a16="http://schemas.microsoft.com/office/drawing/2014/main" id="{498CDEF7-BFAA-461E-BBD0-BDB136F586EC}"/>
              </a:ext>
            </a:extLst>
          </p:cNvPr>
          <p:cNvSpPr>
            <a:spLocks noGrp="1"/>
          </p:cNvSpPr>
          <p:nvPr>
            <p:ph idx="1"/>
          </p:nvPr>
        </p:nvSpPr>
        <p:spPr/>
        <p:txBody>
          <a:bodyPr/>
          <a:lstStyle/>
          <a:p>
            <a:r>
              <a:rPr lang="fr-FR" dirty="0"/>
              <a:t>La syntaxe générale de la requête REVOKE est :</a:t>
            </a:r>
          </a:p>
          <a:p>
            <a:pPr marL="0" indent="0" algn="ctr">
              <a:buNone/>
            </a:pPr>
            <a:r>
              <a:rPr lang="fr-FR" b="1" i="1" dirty="0"/>
              <a:t>REVOKE</a:t>
            </a:r>
            <a:r>
              <a:rPr lang="fr-FR" i="1" dirty="0"/>
              <a:t> &lt;opération&gt; [</a:t>
            </a:r>
            <a:r>
              <a:rPr lang="fr-FR" b="1" i="1" dirty="0"/>
              <a:t>ON</a:t>
            </a:r>
            <a:r>
              <a:rPr lang="fr-FR" i="1" dirty="0"/>
              <a:t> &lt;table&gt;] </a:t>
            </a:r>
            <a:r>
              <a:rPr lang="fr-FR" b="1" i="1" dirty="0"/>
              <a:t>FROM</a:t>
            </a:r>
            <a:r>
              <a:rPr lang="fr-FR" i="1" dirty="0"/>
              <a:t> &lt;</a:t>
            </a:r>
            <a:r>
              <a:rPr lang="fr-FR" i="1" dirty="0" err="1"/>
              <a:t>users</a:t>
            </a:r>
            <a:r>
              <a:rPr lang="fr-FR" i="1" dirty="0"/>
              <a:t>&gt;</a:t>
            </a:r>
          </a:p>
          <a:p>
            <a:r>
              <a:rPr lang="fr-FR" dirty="0"/>
              <a:t>Exemples :</a:t>
            </a:r>
          </a:p>
          <a:p>
            <a:pPr marL="0" indent="0" algn="ctr">
              <a:buNone/>
            </a:pPr>
            <a:r>
              <a:rPr lang="fr-FR" b="1" dirty="0"/>
              <a:t>REVOKE</a:t>
            </a:r>
            <a:r>
              <a:rPr lang="fr-FR" dirty="0"/>
              <a:t> UPDATE </a:t>
            </a:r>
            <a:r>
              <a:rPr lang="fr-FR" b="1" dirty="0"/>
              <a:t>ON</a:t>
            </a:r>
            <a:r>
              <a:rPr lang="fr-FR" dirty="0"/>
              <a:t> </a:t>
            </a:r>
            <a:r>
              <a:rPr lang="fr-FR" dirty="0" err="1"/>
              <a:t>ma_table</a:t>
            </a:r>
            <a:r>
              <a:rPr lang="fr-FR" dirty="0"/>
              <a:t> </a:t>
            </a:r>
            <a:r>
              <a:rPr lang="fr-FR" b="1" dirty="0"/>
              <a:t>FROM</a:t>
            </a:r>
            <a:r>
              <a:rPr lang="fr-FR" dirty="0"/>
              <a:t> ‘</a:t>
            </a:r>
            <a:r>
              <a:rPr lang="fr-FR" dirty="0" err="1"/>
              <a:t>mark’@’localhost</a:t>
            </a:r>
            <a:r>
              <a:rPr lang="fr-FR" dirty="0"/>
              <a:t>’</a:t>
            </a:r>
            <a:endParaRPr lang="fr-FR" b="1" dirty="0"/>
          </a:p>
          <a:p>
            <a:pPr marL="0" indent="0" algn="ctr">
              <a:buNone/>
            </a:pPr>
            <a:r>
              <a:rPr lang="fr-FR" b="1" dirty="0"/>
              <a:t>REVOKE </a:t>
            </a:r>
            <a:r>
              <a:rPr lang="fr-FR" dirty="0"/>
              <a:t>SELECT </a:t>
            </a:r>
            <a:r>
              <a:rPr lang="fr-FR" b="1" dirty="0"/>
              <a:t>FROM</a:t>
            </a:r>
            <a:r>
              <a:rPr lang="fr-FR" dirty="0"/>
              <a:t> PUBLIC</a:t>
            </a:r>
          </a:p>
          <a:p>
            <a:pPr marL="0" indent="0" algn="ctr">
              <a:buNone/>
            </a:pPr>
            <a:endParaRPr lang="fr-FR" dirty="0"/>
          </a:p>
          <a:p>
            <a:pPr marL="0" indent="0" algn="ctr">
              <a:buNone/>
            </a:pPr>
            <a:endParaRPr lang="fr-FR" dirty="0"/>
          </a:p>
        </p:txBody>
      </p:sp>
      <p:sp>
        <p:nvSpPr>
          <p:cNvPr id="4" name="Espace réservé du numéro de diapositive 3">
            <a:extLst>
              <a:ext uri="{FF2B5EF4-FFF2-40B4-BE49-F238E27FC236}">
                <a16:creationId xmlns:a16="http://schemas.microsoft.com/office/drawing/2014/main" id="{285CB931-550B-43C1-88E8-B98C4D67E90A}"/>
              </a:ext>
            </a:extLst>
          </p:cNvPr>
          <p:cNvSpPr>
            <a:spLocks noGrp="1"/>
          </p:cNvSpPr>
          <p:nvPr>
            <p:ph type="sldNum" sz="quarter" idx="12"/>
          </p:nvPr>
        </p:nvSpPr>
        <p:spPr/>
        <p:txBody>
          <a:bodyPr/>
          <a:lstStyle/>
          <a:p>
            <a:fld id="{27C6CCC6-2BE5-4E42-96A4-D1E8E81A3D8E}" type="slidenum">
              <a:rPr lang="de-DE" smtClean="0"/>
              <a:t>158</a:t>
            </a:fld>
            <a:endParaRPr lang="de-DE"/>
          </a:p>
        </p:txBody>
      </p:sp>
    </p:spTree>
    <p:extLst>
      <p:ext uri="{BB962C8B-B14F-4D97-AF65-F5344CB8AC3E}">
        <p14:creationId xmlns:p14="http://schemas.microsoft.com/office/powerpoint/2010/main" val="170349167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A9842B-9AFF-41BA-A899-E92207A670F9}"/>
              </a:ext>
            </a:extLst>
          </p:cNvPr>
          <p:cNvSpPr>
            <a:spLocks noGrp="1"/>
          </p:cNvSpPr>
          <p:nvPr>
            <p:ph type="title"/>
          </p:nvPr>
        </p:nvSpPr>
        <p:spPr>
          <a:xfrm>
            <a:off x="451514" y="947607"/>
            <a:ext cx="4389427" cy="4962786"/>
          </a:xfrm>
        </p:spPr>
        <p:txBody>
          <a:bodyPr vert="horz" lIns="91440" tIns="45720" rIns="91440" bIns="45720" rtlCol="0" anchor="ctr">
            <a:normAutofit/>
          </a:bodyPr>
          <a:lstStyle/>
          <a:p>
            <a:r>
              <a:rPr lang="en-US" sz="5400" dirty="0"/>
              <a:t>Gestion des transactions (TCL)</a:t>
            </a:r>
          </a:p>
        </p:txBody>
      </p:sp>
      <p:sp>
        <p:nvSpPr>
          <p:cNvPr id="3" name="Espace réservé du contenu 2">
            <a:extLst>
              <a:ext uri="{FF2B5EF4-FFF2-40B4-BE49-F238E27FC236}">
                <a16:creationId xmlns:a16="http://schemas.microsoft.com/office/drawing/2014/main" id="{64DBD916-8FC9-40A4-9D00-0A6E50F6C8C5}"/>
              </a:ext>
            </a:extLst>
          </p:cNvPr>
          <p:cNvSpPr>
            <a:spLocks noGrp="1"/>
          </p:cNvSpPr>
          <p:nvPr>
            <p:ph idx="1"/>
          </p:nvPr>
        </p:nvSpPr>
        <p:spPr>
          <a:xfrm>
            <a:off x="7229345" y="947607"/>
            <a:ext cx="4152655" cy="4962785"/>
          </a:xfrm>
          <a:effectLst/>
        </p:spPr>
        <p:txBody>
          <a:bodyPr vert="horz" lIns="91440" tIns="45720" rIns="91440" bIns="45720" rtlCol="0" anchor="ctr">
            <a:normAutofit/>
          </a:bodyPr>
          <a:lstStyle/>
          <a:p>
            <a:pPr marL="0" indent="0">
              <a:buNone/>
            </a:pPr>
            <a:r>
              <a:rPr lang="en-US" sz="2800" dirty="0" err="1"/>
              <a:t>Gérer</a:t>
            </a:r>
            <a:r>
              <a:rPr lang="en-US" sz="2800" dirty="0"/>
              <a:t> </a:t>
            </a:r>
            <a:r>
              <a:rPr lang="en-US" sz="2800" dirty="0" err="1"/>
              <a:t>l’intégrité</a:t>
            </a:r>
            <a:r>
              <a:rPr lang="en-US" sz="2800" dirty="0"/>
              <a:t> des </a:t>
            </a:r>
            <a:r>
              <a:rPr lang="en-US" sz="2800" dirty="0" err="1"/>
              <a:t>requêtes</a:t>
            </a:r>
            <a:r>
              <a:rPr lang="en-US" sz="2800" dirty="0"/>
              <a:t> SQL</a:t>
            </a:r>
          </a:p>
        </p:txBody>
      </p:sp>
      <p:sp>
        <p:nvSpPr>
          <p:cNvPr id="6" name="Espace réservé du numéro de diapositive 5">
            <a:extLst>
              <a:ext uri="{FF2B5EF4-FFF2-40B4-BE49-F238E27FC236}">
                <a16:creationId xmlns:a16="http://schemas.microsoft.com/office/drawing/2014/main" id="{1759B7EB-B9DD-49DB-9637-F63E418461CF}"/>
              </a:ext>
            </a:extLst>
          </p:cNvPr>
          <p:cNvSpPr>
            <a:spLocks noGrp="1"/>
          </p:cNvSpPr>
          <p:nvPr>
            <p:ph type="sldNum" sz="quarter" idx="12"/>
          </p:nvPr>
        </p:nvSpPr>
        <p:spPr/>
        <p:txBody>
          <a:bodyPr/>
          <a:lstStyle/>
          <a:p>
            <a:fld id="{27C6CCC6-2BE5-4E42-96A4-D1E8E81A3D8E}" type="slidenum">
              <a:rPr lang="de-DE" smtClean="0"/>
              <a:t>159</a:t>
            </a:fld>
            <a:endParaRPr lang="de-DE"/>
          </a:p>
        </p:txBody>
      </p:sp>
    </p:spTree>
    <p:extLst>
      <p:ext uri="{BB962C8B-B14F-4D97-AF65-F5344CB8AC3E}">
        <p14:creationId xmlns:p14="http://schemas.microsoft.com/office/powerpoint/2010/main" val="75155260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0F103F-EAA2-4ECF-BEB9-49B5B1CBC43B}"/>
              </a:ext>
            </a:extLst>
          </p:cNvPr>
          <p:cNvSpPr>
            <a:spLocks noGrp="1"/>
          </p:cNvSpPr>
          <p:nvPr>
            <p:ph type="title"/>
          </p:nvPr>
        </p:nvSpPr>
        <p:spPr/>
        <p:txBody>
          <a:bodyPr/>
          <a:lstStyle/>
          <a:p>
            <a:r>
              <a:rPr lang="fr-FR" dirty="0"/>
              <a:t>Transaction Control </a:t>
            </a:r>
            <a:r>
              <a:rPr lang="fr-FR" dirty="0" err="1"/>
              <a:t>Language</a:t>
            </a:r>
            <a:endParaRPr lang="fr-FR" dirty="0"/>
          </a:p>
        </p:txBody>
      </p:sp>
      <p:sp>
        <p:nvSpPr>
          <p:cNvPr id="3" name="Espace réservé du contenu 2">
            <a:extLst>
              <a:ext uri="{FF2B5EF4-FFF2-40B4-BE49-F238E27FC236}">
                <a16:creationId xmlns:a16="http://schemas.microsoft.com/office/drawing/2014/main" id="{498CDEF7-BFAA-461E-BBD0-BDB136F586EC}"/>
              </a:ext>
            </a:extLst>
          </p:cNvPr>
          <p:cNvSpPr>
            <a:spLocks noGrp="1"/>
          </p:cNvSpPr>
          <p:nvPr>
            <p:ph idx="1"/>
          </p:nvPr>
        </p:nvSpPr>
        <p:spPr/>
        <p:txBody>
          <a:bodyPr/>
          <a:lstStyle/>
          <a:p>
            <a:r>
              <a:rPr lang="fr-FR" dirty="0"/>
              <a:t>Le concept de </a:t>
            </a:r>
            <a:r>
              <a:rPr lang="fr-FR" b="1" dirty="0"/>
              <a:t>transaction</a:t>
            </a:r>
            <a:r>
              <a:rPr lang="fr-FR" dirty="0"/>
              <a:t>, brièvement abordé au début de ce cours, permet de garantir qu’un ensemble de requête sera exécuté en un bloc : si l’une des requête de la transaction échoue, les requêtes seront annulées</a:t>
            </a:r>
          </a:p>
          <a:p>
            <a:r>
              <a:rPr lang="fr-FR" dirty="0"/>
              <a:t>Les transactions sont particulièrement utiles en cas d’accès concurrents à la base</a:t>
            </a:r>
          </a:p>
          <a:p>
            <a:r>
              <a:rPr lang="fr-FR" dirty="0"/>
              <a:t>Un cas d’utilisation des transactions sont la réalisation de « migrations » : des scripts qui modifient le modèle relationnel et requièrent le déplacement de données dans différentes tables</a:t>
            </a:r>
          </a:p>
        </p:txBody>
      </p:sp>
      <p:sp>
        <p:nvSpPr>
          <p:cNvPr id="4" name="Espace réservé du numéro de diapositive 3">
            <a:extLst>
              <a:ext uri="{FF2B5EF4-FFF2-40B4-BE49-F238E27FC236}">
                <a16:creationId xmlns:a16="http://schemas.microsoft.com/office/drawing/2014/main" id="{285CB931-550B-43C1-88E8-B98C4D67E90A}"/>
              </a:ext>
            </a:extLst>
          </p:cNvPr>
          <p:cNvSpPr>
            <a:spLocks noGrp="1"/>
          </p:cNvSpPr>
          <p:nvPr>
            <p:ph type="sldNum" sz="quarter" idx="12"/>
          </p:nvPr>
        </p:nvSpPr>
        <p:spPr/>
        <p:txBody>
          <a:bodyPr/>
          <a:lstStyle/>
          <a:p>
            <a:fld id="{27C6CCC6-2BE5-4E42-96A4-D1E8E81A3D8E}" type="slidenum">
              <a:rPr lang="de-DE" smtClean="0"/>
              <a:t>160</a:t>
            </a:fld>
            <a:endParaRPr lang="de-DE"/>
          </a:p>
        </p:txBody>
      </p:sp>
    </p:spTree>
    <p:extLst>
      <p:ext uri="{BB962C8B-B14F-4D97-AF65-F5344CB8AC3E}">
        <p14:creationId xmlns:p14="http://schemas.microsoft.com/office/powerpoint/2010/main" val="378914594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0F103F-EAA2-4ECF-BEB9-49B5B1CBC43B}"/>
              </a:ext>
            </a:extLst>
          </p:cNvPr>
          <p:cNvSpPr>
            <a:spLocks noGrp="1"/>
          </p:cNvSpPr>
          <p:nvPr>
            <p:ph type="title"/>
          </p:nvPr>
        </p:nvSpPr>
        <p:spPr/>
        <p:txBody>
          <a:bodyPr/>
          <a:lstStyle/>
          <a:p>
            <a:r>
              <a:rPr lang="fr-FR" dirty="0"/>
              <a:t>Propriétés des transactions</a:t>
            </a:r>
          </a:p>
        </p:txBody>
      </p:sp>
      <p:sp>
        <p:nvSpPr>
          <p:cNvPr id="3" name="Espace réservé du contenu 2">
            <a:extLst>
              <a:ext uri="{FF2B5EF4-FFF2-40B4-BE49-F238E27FC236}">
                <a16:creationId xmlns:a16="http://schemas.microsoft.com/office/drawing/2014/main" id="{498CDEF7-BFAA-461E-BBD0-BDB136F586EC}"/>
              </a:ext>
            </a:extLst>
          </p:cNvPr>
          <p:cNvSpPr>
            <a:spLocks noGrp="1"/>
          </p:cNvSpPr>
          <p:nvPr>
            <p:ph idx="1"/>
          </p:nvPr>
        </p:nvSpPr>
        <p:spPr/>
        <p:txBody>
          <a:bodyPr>
            <a:normAutofit/>
          </a:bodyPr>
          <a:lstStyle/>
          <a:p>
            <a:r>
              <a:rPr lang="fr-FR" dirty="0"/>
              <a:t>Les transactions sont régies par le propriétés </a:t>
            </a:r>
            <a:r>
              <a:rPr lang="fr-FR" b="1" dirty="0"/>
              <a:t>ACID</a:t>
            </a:r>
            <a:r>
              <a:rPr lang="fr-FR" dirty="0"/>
              <a:t> :</a:t>
            </a:r>
          </a:p>
          <a:p>
            <a:r>
              <a:rPr lang="fr-FR" b="1" dirty="0"/>
              <a:t>Atomicité : </a:t>
            </a:r>
            <a:r>
              <a:rPr lang="fr-FR" dirty="0"/>
              <a:t>Le résultat d'une transaction peut être soit un succès total, soit un échec total. L'ensemble de la transaction doit être annulé si l'une de ses parties échoue.</a:t>
            </a:r>
          </a:p>
          <a:p>
            <a:r>
              <a:rPr lang="fr-FR" b="1" dirty="0"/>
              <a:t>Cohérence : </a:t>
            </a:r>
            <a:r>
              <a:rPr lang="fr-FR" dirty="0"/>
              <a:t>Les transactions maintiennent les contraintes d'intégrité en faisant passer la base de données d'un état valide à un autre.</a:t>
            </a:r>
          </a:p>
          <a:p>
            <a:r>
              <a:rPr lang="fr-FR" b="1" dirty="0"/>
              <a:t>Isolation : </a:t>
            </a:r>
            <a:r>
              <a:rPr lang="fr-FR" dirty="0"/>
              <a:t>Les transactions simultanées sont isolées les unes des autres, ce qui garantit l'exactitude des données.</a:t>
            </a:r>
          </a:p>
          <a:p>
            <a:r>
              <a:rPr lang="fr-FR" b="1" dirty="0"/>
              <a:t>Durabilité : </a:t>
            </a:r>
            <a:r>
              <a:rPr lang="fr-FR" dirty="0"/>
              <a:t>Une fois qu'une transaction est validée, ses modifications restent effectives même en cas de défaillance du système.</a:t>
            </a:r>
            <a:endParaRPr lang="en-US" dirty="0"/>
          </a:p>
        </p:txBody>
      </p:sp>
      <p:sp>
        <p:nvSpPr>
          <p:cNvPr id="4" name="Espace réservé du numéro de diapositive 3">
            <a:extLst>
              <a:ext uri="{FF2B5EF4-FFF2-40B4-BE49-F238E27FC236}">
                <a16:creationId xmlns:a16="http://schemas.microsoft.com/office/drawing/2014/main" id="{285CB931-550B-43C1-88E8-B98C4D67E90A}"/>
              </a:ext>
            </a:extLst>
          </p:cNvPr>
          <p:cNvSpPr>
            <a:spLocks noGrp="1"/>
          </p:cNvSpPr>
          <p:nvPr>
            <p:ph type="sldNum" sz="quarter" idx="12"/>
          </p:nvPr>
        </p:nvSpPr>
        <p:spPr/>
        <p:txBody>
          <a:bodyPr/>
          <a:lstStyle/>
          <a:p>
            <a:fld id="{27C6CCC6-2BE5-4E42-96A4-D1E8E81A3D8E}" type="slidenum">
              <a:rPr lang="de-DE" smtClean="0"/>
              <a:t>161</a:t>
            </a:fld>
            <a:endParaRPr lang="de-DE"/>
          </a:p>
        </p:txBody>
      </p:sp>
    </p:spTree>
    <p:extLst>
      <p:ext uri="{BB962C8B-B14F-4D97-AF65-F5344CB8AC3E}">
        <p14:creationId xmlns:p14="http://schemas.microsoft.com/office/powerpoint/2010/main" val="153846414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0F103F-EAA2-4ECF-BEB9-49B5B1CBC43B}"/>
              </a:ext>
            </a:extLst>
          </p:cNvPr>
          <p:cNvSpPr>
            <a:spLocks noGrp="1"/>
          </p:cNvSpPr>
          <p:nvPr>
            <p:ph type="title"/>
          </p:nvPr>
        </p:nvSpPr>
        <p:spPr/>
        <p:txBody>
          <a:bodyPr/>
          <a:lstStyle/>
          <a:p>
            <a:r>
              <a:rPr lang="fr-FR" dirty="0"/>
              <a:t>Transaction Control </a:t>
            </a:r>
            <a:r>
              <a:rPr lang="fr-FR" dirty="0" err="1"/>
              <a:t>Language</a:t>
            </a:r>
            <a:endParaRPr lang="fr-FR" dirty="0"/>
          </a:p>
        </p:txBody>
      </p:sp>
      <p:sp>
        <p:nvSpPr>
          <p:cNvPr id="3" name="Espace réservé du contenu 2">
            <a:extLst>
              <a:ext uri="{FF2B5EF4-FFF2-40B4-BE49-F238E27FC236}">
                <a16:creationId xmlns:a16="http://schemas.microsoft.com/office/drawing/2014/main" id="{498CDEF7-BFAA-461E-BBD0-BDB136F586EC}"/>
              </a:ext>
            </a:extLst>
          </p:cNvPr>
          <p:cNvSpPr>
            <a:spLocks noGrp="1"/>
          </p:cNvSpPr>
          <p:nvPr>
            <p:ph idx="1"/>
          </p:nvPr>
        </p:nvSpPr>
        <p:spPr/>
        <p:txBody>
          <a:bodyPr/>
          <a:lstStyle/>
          <a:p>
            <a:r>
              <a:rPr lang="fr-FR" dirty="0"/>
              <a:t>La définition d’une transaction repose sur plusieurs opérations :</a:t>
            </a:r>
          </a:p>
          <a:p>
            <a:pPr lvl="1"/>
            <a:r>
              <a:rPr lang="fr-FR" b="1" dirty="0"/>
              <a:t>BEGIN</a:t>
            </a:r>
            <a:r>
              <a:rPr lang="fr-FR" dirty="0"/>
              <a:t> : Initialisation du début d’une transaction</a:t>
            </a:r>
          </a:p>
          <a:p>
            <a:pPr lvl="1"/>
            <a:r>
              <a:rPr lang="fr-FR" b="1" dirty="0"/>
              <a:t>SET TRANSACTION </a:t>
            </a:r>
            <a:r>
              <a:rPr lang="fr-FR" dirty="0"/>
              <a:t>: paramétrage de la transaction courante</a:t>
            </a:r>
          </a:p>
          <a:p>
            <a:pPr lvl="1"/>
            <a:r>
              <a:rPr lang="fr-FR" b="1" dirty="0"/>
              <a:t>COMMIT </a:t>
            </a:r>
            <a:r>
              <a:rPr lang="fr-FR" dirty="0"/>
              <a:t>: déclenchement des requêtes en attente</a:t>
            </a:r>
          </a:p>
        </p:txBody>
      </p:sp>
      <p:sp>
        <p:nvSpPr>
          <p:cNvPr id="4" name="Espace réservé du numéro de diapositive 3">
            <a:extLst>
              <a:ext uri="{FF2B5EF4-FFF2-40B4-BE49-F238E27FC236}">
                <a16:creationId xmlns:a16="http://schemas.microsoft.com/office/drawing/2014/main" id="{285CB931-550B-43C1-88E8-B98C4D67E90A}"/>
              </a:ext>
            </a:extLst>
          </p:cNvPr>
          <p:cNvSpPr>
            <a:spLocks noGrp="1"/>
          </p:cNvSpPr>
          <p:nvPr>
            <p:ph type="sldNum" sz="quarter" idx="12"/>
          </p:nvPr>
        </p:nvSpPr>
        <p:spPr/>
        <p:txBody>
          <a:bodyPr/>
          <a:lstStyle/>
          <a:p>
            <a:fld id="{27C6CCC6-2BE5-4E42-96A4-D1E8E81A3D8E}" type="slidenum">
              <a:rPr lang="de-DE" smtClean="0"/>
              <a:t>162</a:t>
            </a:fld>
            <a:endParaRPr lang="de-DE"/>
          </a:p>
        </p:txBody>
      </p:sp>
    </p:spTree>
    <p:extLst>
      <p:ext uri="{BB962C8B-B14F-4D97-AF65-F5344CB8AC3E}">
        <p14:creationId xmlns:p14="http://schemas.microsoft.com/office/powerpoint/2010/main" val="107221800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0F103F-EAA2-4ECF-BEB9-49B5B1CBC43B}"/>
              </a:ext>
            </a:extLst>
          </p:cNvPr>
          <p:cNvSpPr>
            <a:spLocks noGrp="1"/>
          </p:cNvSpPr>
          <p:nvPr>
            <p:ph type="title"/>
          </p:nvPr>
        </p:nvSpPr>
        <p:spPr/>
        <p:txBody>
          <a:bodyPr/>
          <a:lstStyle/>
          <a:p>
            <a:r>
              <a:rPr lang="fr-FR" dirty="0"/>
              <a:t>Transaction Control </a:t>
            </a:r>
            <a:r>
              <a:rPr lang="fr-FR" dirty="0" err="1"/>
              <a:t>Language</a:t>
            </a:r>
            <a:endParaRPr lang="fr-FR" dirty="0"/>
          </a:p>
        </p:txBody>
      </p:sp>
      <p:sp>
        <p:nvSpPr>
          <p:cNvPr id="3" name="Espace réservé du contenu 2">
            <a:extLst>
              <a:ext uri="{FF2B5EF4-FFF2-40B4-BE49-F238E27FC236}">
                <a16:creationId xmlns:a16="http://schemas.microsoft.com/office/drawing/2014/main" id="{498CDEF7-BFAA-461E-BBD0-BDB136F586EC}"/>
              </a:ext>
            </a:extLst>
          </p:cNvPr>
          <p:cNvSpPr>
            <a:spLocks noGrp="1"/>
          </p:cNvSpPr>
          <p:nvPr>
            <p:ph idx="1"/>
          </p:nvPr>
        </p:nvSpPr>
        <p:spPr/>
        <p:txBody>
          <a:bodyPr>
            <a:normAutofit lnSpcReduction="10000"/>
          </a:bodyPr>
          <a:lstStyle/>
          <a:p>
            <a:r>
              <a:rPr lang="fr-FR" dirty="0"/>
              <a:t>Exemple :</a:t>
            </a:r>
          </a:p>
          <a:p>
            <a:pPr marL="0" indent="0">
              <a:buNone/>
            </a:pPr>
            <a:r>
              <a:rPr lang="fr-FR" b="1"/>
              <a:t>START </a:t>
            </a:r>
            <a:r>
              <a:rPr lang="fr-FR" b="1" dirty="0"/>
              <a:t>TRANSACTION;</a:t>
            </a:r>
          </a:p>
          <a:p>
            <a:pPr marL="0" indent="0">
              <a:buNone/>
            </a:pPr>
            <a:r>
              <a:rPr lang="fr-FR" dirty="0"/>
              <a:t>SET autocommit = 0;</a:t>
            </a:r>
          </a:p>
          <a:p>
            <a:pPr marL="0" indent="0">
              <a:buNone/>
            </a:pPr>
            <a:r>
              <a:rPr lang="en-US" dirty="0"/>
              <a:t>CREATE TABLE </a:t>
            </a:r>
            <a:r>
              <a:rPr lang="en-US" dirty="0" err="1"/>
              <a:t>t_school</a:t>
            </a:r>
            <a:r>
              <a:rPr lang="en-US" dirty="0"/>
              <a:t>(ID INT, </a:t>
            </a:r>
            <a:r>
              <a:rPr lang="en-US" dirty="0" err="1"/>
              <a:t>School_Name</a:t>
            </a:r>
            <a:r>
              <a:rPr lang="en-US" dirty="0"/>
              <a:t> VARCHAR(40), </a:t>
            </a:r>
            <a:r>
              <a:rPr lang="en-US" dirty="0" err="1"/>
              <a:t>Number_Of_Students</a:t>
            </a:r>
            <a:r>
              <a:rPr lang="en-US" dirty="0"/>
              <a:t> INT, </a:t>
            </a:r>
            <a:r>
              <a:rPr lang="en-US" dirty="0" err="1"/>
              <a:t>Number_Of_Teachers</a:t>
            </a:r>
            <a:r>
              <a:rPr lang="en-US" dirty="0"/>
              <a:t> INT, </a:t>
            </a:r>
            <a:r>
              <a:rPr lang="en-US" dirty="0" err="1"/>
              <a:t>Number_Of_Classrooms</a:t>
            </a:r>
            <a:r>
              <a:rPr lang="en-US" dirty="0"/>
              <a:t> INT, </a:t>
            </a:r>
            <a:r>
              <a:rPr lang="en-US" dirty="0" err="1"/>
              <a:t>EmailID</a:t>
            </a:r>
            <a:r>
              <a:rPr lang="en-US" dirty="0"/>
              <a:t> VARCHAR(40));</a:t>
            </a:r>
          </a:p>
          <a:p>
            <a:pPr marL="0" indent="0">
              <a:buNone/>
            </a:pPr>
            <a:r>
              <a:rPr lang="fr-FR" dirty="0"/>
              <a:t> INSERT INTO </a:t>
            </a:r>
            <a:r>
              <a:rPr lang="fr-FR" dirty="0" err="1"/>
              <a:t>t_school</a:t>
            </a:r>
            <a:r>
              <a:rPr lang="fr-FR" dirty="0"/>
              <a:t>(ID, </a:t>
            </a:r>
            <a:r>
              <a:rPr lang="fr-FR" dirty="0" err="1"/>
              <a:t>School_Name</a:t>
            </a:r>
            <a:r>
              <a:rPr lang="fr-FR" dirty="0"/>
              <a:t>, </a:t>
            </a:r>
            <a:r>
              <a:rPr lang="fr-FR" dirty="0" err="1"/>
              <a:t>Number_Of_Students</a:t>
            </a:r>
            <a:r>
              <a:rPr lang="fr-FR" dirty="0"/>
              <a:t>, </a:t>
            </a:r>
            <a:r>
              <a:rPr lang="fr-FR" dirty="0" err="1"/>
              <a:t>Number_Of_Teachers</a:t>
            </a:r>
            <a:r>
              <a:rPr lang="fr-FR" dirty="0"/>
              <a:t>, </a:t>
            </a:r>
            <a:r>
              <a:rPr lang="fr-FR" dirty="0" err="1"/>
              <a:t>Number_Of_Classrooms</a:t>
            </a:r>
            <a:r>
              <a:rPr lang="fr-FR" dirty="0"/>
              <a:t>, </a:t>
            </a:r>
            <a:r>
              <a:rPr lang="fr-FR" dirty="0" err="1"/>
              <a:t>EmailID</a:t>
            </a:r>
            <a:r>
              <a:rPr lang="fr-FR" dirty="0"/>
              <a:t>) VALUES(1, "Boys Town Public </a:t>
            </a:r>
            <a:r>
              <a:rPr lang="fr-FR" dirty="0" err="1"/>
              <a:t>School</a:t>
            </a:r>
            <a:r>
              <a:rPr lang="fr-FR" dirty="0"/>
              <a:t>", 1000, 80, 12, "btps15@gmail.com);  </a:t>
            </a:r>
            <a:endParaRPr lang="en-US" dirty="0"/>
          </a:p>
          <a:p>
            <a:pPr marL="0" indent="0">
              <a:buNone/>
            </a:pPr>
            <a:r>
              <a:rPr lang="fr-FR" b="1" dirty="0"/>
              <a:t>COMMIT;</a:t>
            </a:r>
          </a:p>
          <a:p>
            <a:pPr marL="0" indent="0">
              <a:buNone/>
            </a:pPr>
            <a:endParaRPr lang="fr-FR" dirty="0"/>
          </a:p>
        </p:txBody>
      </p:sp>
      <p:sp>
        <p:nvSpPr>
          <p:cNvPr id="4" name="Espace réservé du numéro de diapositive 3">
            <a:extLst>
              <a:ext uri="{FF2B5EF4-FFF2-40B4-BE49-F238E27FC236}">
                <a16:creationId xmlns:a16="http://schemas.microsoft.com/office/drawing/2014/main" id="{285CB931-550B-43C1-88E8-B98C4D67E90A}"/>
              </a:ext>
            </a:extLst>
          </p:cNvPr>
          <p:cNvSpPr>
            <a:spLocks noGrp="1"/>
          </p:cNvSpPr>
          <p:nvPr>
            <p:ph type="sldNum" sz="quarter" idx="12"/>
          </p:nvPr>
        </p:nvSpPr>
        <p:spPr/>
        <p:txBody>
          <a:bodyPr/>
          <a:lstStyle/>
          <a:p>
            <a:fld id="{27C6CCC6-2BE5-4E42-96A4-D1E8E81A3D8E}" type="slidenum">
              <a:rPr lang="de-DE" smtClean="0"/>
              <a:t>163</a:t>
            </a:fld>
            <a:endParaRPr lang="de-DE"/>
          </a:p>
        </p:txBody>
      </p:sp>
    </p:spTree>
    <p:extLst>
      <p:ext uri="{BB962C8B-B14F-4D97-AF65-F5344CB8AC3E}">
        <p14:creationId xmlns:p14="http://schemas.microsoft.com/office/powerpoint/2010/main" val="316455359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0F103F-EAA2-4ECF-BEB9-49B5B1CBC43B}"/>
              </a:ext>
            </a:extLst>
          </p:cNvPr>
          <p:cNvSpPr>
            <a:spLocks noGrp="1"/>
          </p:cNvSpPr>
          <p:nvPr>
            <p:ph type="title"/>
          </p:nvPr>
        </p:nvSpPr>
        <p:spPr/>
        <p:txBody>
          <a:bodyPr/>
          <a:lstStyle/>
          <a:p>
            <a:r>
              <a:rPr lang="fr-FR" dirty="0"/>
              <a:t>Transaction Control </a:t>
            </a:r>
            <a:r>
              <a:rPr lang="fr-FR" dirty="0" err="1"/>
              <a:t>Language</a:t>
            </a:r>
            <a:endParaRPr lang="fr-FR" dirty="0"/>
          </a:p>
        </p:txBody>
      </p:sp>
      <p:sp>
        <p:nvSpPr>
          <p:cNvPr id="3" name="Espace réservé du contenu 2">
            <a:extLst>
              <a:ext uri="{FF2B5EF4-FFF2-40B4-BE49-F238E27FC236}">
                <a16:creationId xmlns:a16="http://schemas.microsoft.com/office/drawing/2014/main" id="{498CDEF7-BFAA-461E-BBD0-BDB136F586EC}"/>
              </a:ext>
            </a:extLst>
          </p:cNvPr>
          <p:cNvSpPr>
            <a:spLocks noGrp="1"/>
          </p:cNvSpPr>
          <p:nvPr>
            <p:ph idx="1"/>
          </p:nvPr>
        </p:nvSpPr>
        <p:spPr/>
        <p:txBody>
          <a:bodyPr>
            <a:normAutofit fontScale="92500" lnSpcReduction="20000"/>
          </a:bodyPr>
          <a:lstStyle/>
          <a:p>
            <a:r>
              <a:rPr lang="fr-FR" dirty="0"/>
              <a:t>Les transactions prennent tout leur intérêt lorsqu’elles ont utilisées dans des scripts</a:t>
            </a:r>
            <a:endParaRPr lang="fr-FR" b="1" dirty="0"/>
          </a:p>
          <a:p>
            <a:pPr marL="0" indent="0">
              <a:buNone/>
            </a:pPr>
            <a:r>
              <a:rPr lang="fr-FR" dirty="0"/>
              <a:t>BEGIN TRANSACTION;</a:t>
            </a:r>
          </a:p>
          <a:p>
            <a:pPr marL="0" indent="0">
              <a:buNone/>
            </a:pPr>
            <a:r>
              <a:rPr lang="fr-FR" dirty="0"/>
              <a:t>UPDATE </a:t>
            </a:r>
            <a:r>
              <a:rPr lang="fr-FR" dirty="0" err="1"/>
              <a:t>employees</a:t>
            </a:r>
            <a:r>
              <a:rPr lang="fr-FR" dirty="0"/>
              <a:t> SET </a:t>
            </a:r>
            <a:r>
              <a:rPr lang="fr-FR" dirty="0" err="1"/>
              <a:t>empname</a:t>
            </a:r>
            <a:r>
              <a:rPr lang="fr-FR" dirty="0"/>
              <a:t>=’bob’ WHERE </a:t>
            </a:r>
            <a:r>
              <a:rPr lang="fr-FR" dirty="0" err="1"/>
              <a:t>empid</a:t>
            </a:r>
            <a:r>
              <a:rPr lang="fr-FR" dirty="0"/>
              <a:t>=’001’;</a:t>
            </a:r>
          </a:p>
          <a:p>
            <a:pPr marL="0" indent="0">
              <a:buNone/>
            </a:pPr>
            <a:r>
              <a:rPr lang="fr-FR" dirty="0"/>
              <a:t>UPDATE </a:t>
            </a:r>
            <a:r>
              <a:rPr lang="fr-FR" dirty="0" err="1"/>
              <a:t>employees</a:t>
            </a:r>
            <a:r>
              <a:rPr lang="fr-FR" dirty="0"/>
              <a:t> SET </a:t>
            </a:r>
            <a:r>
              <a:rPr lang="fr-FR" dirty="0" err="1"/>
              <a:t>empname</a:t>
            </a:r>
            <a:r>
              <a:rPr lang="fr-FR" dirty="0"/>
              <a:t> =’bob’ WHERE city=’</a:t>
            </a:r>
            <a:r>
              <a:rPr lang="fr-FR" dirty="0" err="1"/>
              <a:t>hyderabad</a:t>
            </a:r>
            <a:r>
              <a:rPr lang="fr-FR" dirty="0"/>
              <a:t>’;</a:t>
            </a:r>
          </a:p>
          <a:p>
            <a:pPr marL="0" indent="0">
              <a:buNone/>
            </a:pPr>
            <a:endParaRPr lang="fr-FR" dirty="0"/>
          </a:p>
          <a:p>
            <a:pPr marL="0" indent="0">
              <a:buNone/>
            </a:pPr>
            <a:r>
              <a:rPr lang="fr-FR" i="1" dirty="0"/>
              <a:t>IF @@ROWCOUNT=5</a:t>
            </a:r>
          </a:p>
          <a:p>
            <a:pPr marL="0" indent="0">
              <a:buNone/>
            </a:pPr>
            <a:r>
              <a:rPr lang="fr-FR" i="1" dirty="0"/>
              <a:t>   COMMIT;</a:t>
            </a:r>
          </a:p>
          <a:p>
            <a:pPr marL="0" indent="0">
              <a:buNone/>
            </a:pPr>
            <a:r>
              <a:rPr lang="fr-FR" i="1" dirty="0"/>
              <a:t>ELSE</a:t>
            </a:r>
          </a:p>
          <a:p>
            <a:pPr marL="0" indent="0">
              <a:buNone/>
            </a:pPr>
            <a:r>
              <a:rPr lang="fr-FR" i="1" dirty="0"/>
              <a:t>   ROLLBACK;</a:t>
            </a:r>
          </a:p>
        </p:txBody>
      </p:sp>
      <p:sp>
        <p:nvSpPr>
          <p:cNvPr id="4" name="Espace réservé du numéro de diapositive 3">
            <a:extLst>
              <a:ext uri="{FF2B5EF4-FFF2-40B4-BE49-F238E27FC236}">
                <a16:creationId xmlns:a16="http://schemas.microsoft.com/office/drawing/2014/main" id="{285CB931-550B-43C1-88E8-B98C4D67E90A}"/>
              </a:ext>
            </a:extLst>
          </p:cNvPr>
          <p:cNvSpPr>
            <a:spLocks noGrp="1"/>
          </p:cNvSpPr>
          <p:nvPr>
            <p:ph type="sldNum" sz="quarter" idx="12"/>
          </p:nvPr>
        </p:nvSpPr>
        <p:spPr/>
        <p:txBody>
          <a:bodyPr/>
          <a:lstStyle/>
          <a:p>
            <a:fld id="{27C6CCC6-2BE5-4E42-96A4-D1E8E81A3D8E}" type="slidenum">
              <a:rPr lang="de-DE" smtClean="0"/>
              <a:t>164</a:t>
            </a:fld>
            <a:endParaRPr lang="de-DE"/>
          </a:p>
        </p:txBody>
      </p:sp>
    </p:spTree>
    <p:extLst>
      <p:ext uri="{BB962C8B-B14F-4D97-AF65-F5344CB8AC3E}">
        <p14:creationId xmlns:p14="http://schemas.microsoft.com/office/powerpoint/2010/main" val="306995982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0F103F-EAA2-4ECF-BEB9-49B5B1CBC43B}"/>
              </a:ext>
            </a:extLst>
          </p:cNvPr>
          <p:cNvSpPr>
            <a:spLocks noGrp="1"/>
          </p:cNvSpPr>
          <p:nvPr>
            <p:ph type="title"/>
          </p:nvPr>
        </p:nvSpPr>
        <p:spPr/>
        <p:txBody>
          <a:bodyPr/>
          <a:lstStyle/>
          <a:p>
            <a:r>
              <a:rPr lang="fr-FR" dirty="0"/>
              <a:t>Transaction Control </a:t>
            </a:r>
            <a:r>
              <a:rPr lang="fr-FR" dirty="0" err="1"/>
              <a:t>Language</a:t>
            </a:r>
            <a:endParaRPr lang="fr-FR" dirty="0"/>
          </a:p>
        </p:txBody>
      </p:sp>
      <p:sp>
        <p:nvSpPr>
          <p:cNvPr id="3" name="Espace réservé du contenu 2">
            <a:extLst>
              <a:ext uri="{FF2B5EF4-FFF2-40B4-BE49-F238E27FC236}">
                <a16:creationId xmlns:a16="http://schemas.microsoft.com/office/drawing/2014/main" id="{498CDEF7-BFAA-461E-BBD0-BDB136F586EC}"/>
              </a:ext>
            </a:extLst>
          </p:cNvPr>
          <p:cNvSpPr>
            <a:spLocks noGrp="1"/>
          </p:cNvSpPr>
          <p:nvPr>
            <p:ph idx="1"/>
          </p:nvPr>
        </p:nvSpPr>
        <p:spPr/>
        <p:txBody>
          <a:bodyPr>
            <a:normAutofit/>
          </a:bodyPr>
          <a:lstStyle/>
          <a:p>
            <a:r>
              <a:rPr lang="fr-FR" dirty="0"/>
              <a:t>A noter : </a:t>
            </a:r>
            <a:r>
              <a:rPr lang="fr-FR" b="1" dirty="0"/>
              <a:t>ROLLBACK</a:t>
            </a:r>
            <a:r>
              <a:rPr lang="fr-FR" dirty="0"/>
              <a:t> permet d’annuler toutes les requêtes depuis le dernier COMMIT ou le dernier ROLLBACK.</a:t>
            </a:r>
            <a:endParaRPr lang="fr-FR" i="1" dirty="0"/>
          </a:p>
        </p:txBody>
      </p:sp>
      <p:sp>
        <p:nvSpPr>
          <p:cNvPr id="4" name="Espace réservé du numéro de diapositive 3">
            <a:extLst>
              <a:ext uri="{FF2B5EF4-FFF2-40B4-BE49-F238E27FC236}">
                <a16:creationId xmlns:a16="http://schemas.microsoft.com/office/drawing/2014/main" id="{285CB931-550B-43C1-88E8-B98C4D67E90A}"/>
              </a:ext>
            </a:extLst>
          </p:cNvPr>
          <p:cNvSpPr>
            <a:spLocks noGrp="1"/>
          </p:cNvSpPr>
          <p:nvPr>
            <p:ph type="sldNum" sz="quarter" idx="12"/>
          </p:nvPr>
        </p:nvSpPr>
        <p:spPr/>
        <p:txBody>
          <a:bodyPr/>
          <a:lstStyle/>
          <a:p>
            <a:fld id="{27C6CCC6-2BE5-4E42-96A4-D1E8E81A3D8E}" type="slidenum">
              <a:rPr lang="de-DE" smtClean="0"/>
              <a:t>165</a:t>
            </a:fld>
            <a:endParaRPr lang="de-DE"/>
          </a:p>
        </p:txBody>
      </p:sp>
    </p:spTree>
    <p:extLst>
      <p:ext uri="{BB962C8B-B14F-4D97-AF65-F5344CB8AC3E}">
        <p14:creationId xmlns:p14="http://schemas.microsoft.com/office/powerpoint/2010/main" val="72294634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CE0A24-6455-4D04-903B-56FE4FEE7B1B}"/>
              </a:ext>
            </a:extLst>
          </p:cNvPr>
          <p:cNvSpPr>
            <a:spLocks noGrp="1"/>
          </p:cNvSpPr>
          <p:nvPr>
            <p:ph type="title"/>
          </p:nvPr>
        </p:nvSpPr>
        <p:spPr/>
        <p:txBody>
          <a:bodyPr/>
          <a:lstStyle/>
          <a:p>
            <a:r>
              <a:rPr lang="fr-FR"/>
              <a:t>Règles de conception d’une base de données</a:t>
            </a:r>
          </a:p>
        </p:txBody>
      </p:sp>
      <p:sp>
        <p:nvSpPr>
          <p:cNvPr id="3" name="Espace réservé du texte 2">
            <a:extLst>
              <a:ext uri="{FF2B5EF4-FFF2-40B4-BE49-F238E27FC236}">
                <a16:creationId xmlns:a16="http://schemas.microsoft.com/office/drawing/2014/main" id="{83595102-21BD-41C1-A3FC-53550105B2AC}"/>
              </a:ext>
            </a:extLst>
          </p:cNvPr>
          <p:cNvSpPr>
            <a:spLocks noGrp="1"/>
          </p:cNvSpPr>
          <p:nvPr>
            <p:ph type="body" idx="1"/>
          </p:nvPr>
        </p:nvSpPr>
        <p:spPr/>
        <p:txBody>
          <a:bodyPr/>
          <a:lstStyle/>
          <a:p>
            <a:r>
              <a:rPr lang="fr-FR"/>
              <a:t>Quelles règles doit-on respecter lorsqu’on conçoit une base de données ?</a:t>
            </a:r>
          </a:p>
        </p:txBody>
      </p:sp>
      <p:sp>
        <p:nvSpPr>
          <p:cNvPr id="6" name="Espace réservé du numéro de diapositive 5">
            <a:extLst>
              <a:ext uri="{FF2B5EF4-FFF2-40B4-BE49-F238E27FC236}">
                <a16:creationId xmlns:a16="http://schemas.microsoft.com/office/drawing/2014/main" id="{A0BD37F6-C307-4305-A659-0CFA8DADFC68}"/>
              </a:ext>
            </a:extLst>
          </p:cNvPr>
          <p:cNvSpPr>
            <a:spLocks noGrp="1"/>
          </p:cNvSpPr>
          <p:nvPr>
            <p:ph type="sldNum" sz="quarter" idx="12"/>
          </p:nvPr>
        </p:nvSpPr>
        <p:spPr/>
        <p:txBody>
          <a:bodyPr/>
          <a:lstStyle/>
          <a:p>
            <a:fld id="{27C6CCC6-2BE5-4E42-96A4-D1E8E81A3D8E}" type="slidenum">
              <a:rPr lang="de-DE" smtClean="0"/>
              <a:t>166</a:t>
            </a:fld>
            <a:endParaRPr lang="de-DE"/>
          </a:p>
        </p:txBody>
      </p:sp>
    </p:spTree>
    <p:extLst>
      <p:ext uri="{BB962C8B-B14F-4D97-AF65-F5344CB8AC3E}">
        <p14:creationId xmlns:p14="http://schemas.microsoft.com/office/powerpoint/2010/main" val="250551850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A9842B-9AFF-41BA-A899-E92207A670F9}"/>
              </a:ext>
            </a:extLst>
          </p:cNvPr>
          <p:cNvSpPr>
            <a:spLocks noGrp="1"/>
          </p:cNvSpPr>
          <p:nvPr>
            <p:ph type="title"/>
          </p:nvPr>
        </p:nvSpPr>
        <p:spPr>
          <a:xfrm>
            <a:off x="451514" y="947607"/>
            <a:ext cx="4389427" cy="4962786"/>
          </a:xfrm>
        </p:spPr>
        <p:txBody>
          <a:bodyPr vert="horz" lIns="91440" tIns="45720" rIns="91440" bIns="45720" rtlCol="0" anchor="ctr">
            <a:normAutofit/>
          </a:bodyPr>
          <a:lstStyle/>
          <a:p>
            <a:r>
              <a:rPr lang="en-US" sz="5400"/>
              <a:t>Règles de conception</a:t>
            </a:r>
          </a:p>
        </p:txBody>
      </p:sp>
      <p:sp>
        <p:nvSpPr>
          <p:cNvPr id="3" name="Espace réservé du contenu 2">
            <a:extLst>
              <a:ext uri="{FF2B5EF4-FFF2-40B4-BE49-F238E27FC236}">
                <a16:creationId xmlns:a16="http://schemas.microsoft.com/office/drawing/2014/main" id="{64DBD916-8FC9-40A4-9D00-0A6E50F6C8C5}"/>
              </a:ext>
            </a:extLst>
          </p:cNvPr>
          <p:cNvSpPr>
            <a:spLocks noGrp="1"/>
          </p:cNvSpPr>
          <p:nvPr>
            <p:ph idx="1"/>
          </p:nvPr>
        </p:nvSpPr>
        <p:spPr>
          <a:xfrm>
            <a:off x="7229345" y="947607"/>
            <a:ext cx="4152655" cy="4962785"/>
          </a:xfrm>
          <a:effectLst/>
        </p:spPr>
        <p:txBody>
          <a:bodyPr vert="horz" lIns="91440" tIns="45720" rIns="91440" bIns="45720" rtlCol="0" anchor="ctr">
            <a:normAutofit/>
          </a:bodyPr>
          <a:lstStyle/>
          <a:p>
            <a:pPr marL="0" indent="0">
              <a:buNone/>
            </a:pPr>
            <a:r>
              <a:rPr lang="en-US" sz="2800" err="1"/>
              <a:t>Erreurs</a:t>
            </a:r>
            <a:r>
              <a:rPr lang="en-US" sz="2800"/>
              <a:t> communes</a:t>
            </a:r>
          </a:p>
        </p:txBody>
      </p:sp>
      <p:sp>
        <p:nvSpPr>
          <p:cNvPr id="6" name="Espace réservé du numéro de diapositive 5">
            <a:extLst>
              <a:ext uri="{FF2B5EF4-FFF2-40B4-BE49-F238E27FC236}">
                <a16:creationId xmlns:a16="http://schemas.microsoft.com/office/drawing/2014/main" id="{1759B7EB-B9DD-49DB-9637-F63E418461CF}"/>
              </a:ext>
            </a:extLst>
          </p:cNvPr>
          <p:cNvSpPr>
            <a:spLocks noGrp="1"/>
          </p:cNvSpPr>
          <p:nvPr>
            <p:ph type="sldNum" sz="quarter" idx="12"/>
          </p:nvPr>
        </p:nvSpPr>
        <p:spPr/>
        <p:txBody>
          <a:bodyPr/>
          <a:lstStyle/>
          <a:p>
            <a:fld id="{27C6CCC6-2BE5-4E42-96A4-D1E8E81A3D8E}" type="slidenum">
              <a:rPr lang="de-DE" smtClean="0"/>
              <a:t>167</a:t>
            </a:fld>
            <a:endParaRPr lang="de-DE"/>
          </a:p>
        </p:txBody>
      </p:sp>
    </p:spTree>
    <p:extLst>
      <p:ext uri="{BB962C8B-B14F-4D97-AF65-F5344CB8AC3E}">
        <p14:creationId xmlns:p14="http://schemas.microsoft.com/office/powerpoint/2010/main" val="355809649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0000" y="2222287"/>
            <a:ext cx="10554574" cy="465033"/>
          </a:xfrm>
        </p:spPr>
        <p:txBody>
          <a:bodyPr anchor="t"/>
          <a:lstStyle/>
          <a:p>
            <a:r>
              <a:rPr lang="fr-FR"/>
              <a:t>Quelques erreurs communes :</a:t>
            </a:r>
          </a:p>
        </p:txBody>
      </p:sp>
      <p:sp>
        <p:nvSpPr>
          <p:cNvPr id="7" name="Espace réservé du numéro de diapositive 6">
            <a:extLst>
              <a:ext uri="{FF2B5EF4-FFF2-40B4-BE49-F238E27FC236}">
                <a16:creationId xmlns:a16="http://schemas.microsoft.com/office/drawing/2014/main" id="{88CA5C7F-2094-4170-A756-96D7B1501829}"/>
              </a:ext>
            </a:extLst>
          </p:cNvPr>
          <p:cNvSpPr>
            <a:spLocks noGrp="1"/>
          </p:cNvSpPr>
          <p:nvPr>
            <p:ph type="sldNum" sz="quarter" idx="12"/>
          </p:nvPr>
        </p:nvSpPr>
        <p:spPr/>
        <p:txBody>
          <a:bodyPr/>
          <a:lstStyle/>
          <a:p>
            <a:fld id="{27C6CCC6-2BE5-4E42-96A4-D1E8E81A3D8E}" type="slidenum">
              <a:rPr lang="de-DE" smtClean="0"/>
              <a:t>168</a:t>
            </a:fld>
            <a:endParaRPr lang="de-DE"/>
          </a:p>
        </p:txBody>
      </p:sp>
      <p:graphicFrame>
        <p:nvGraphicFramePr>
          <p:cNvPr id="6" name="Tableau 5">
            <a:extLst>
              <a:ext uri="{FF2B5EF4-FFF2-40B4-BE49-F238E27FC236}">
                <a16:creationId xmlns:a16="http://schemas.microsoft.com/office/drawing/2014/main" id="{E6134ED1-BA40-4526-B417-974BB77C859D}"/>
              </a:ext>
            </a:extLst>
          </p:cNvPr>
          <p:cNvGraphicFramePr>
            <a:graphicFrameLocks noGrp="1"/>
          </p:cNvGraphicFramePr>
          <p:nvPr>
            <p:extLst>
              <p:ext uri="{D42A27DB-BD31-4B8C-83A1-F6EECF244321}">
                <p14:modId xmlns:p14="http://schemas.microsoft.com/office/powerpoint/2010/main" val="632508946"/>
              </p:ext>
            </p:extLst>
          </p:nvPr>
        </p:nvGraphicFramePr>
        <p:xfrm>
          <a:off x="2023287" y="2687320"/>
          <a:ext cx="8128000" cy="1483360"/>
        </p:xfrm>
        <a:graphic>
          <a:graphicData uri="http://schemas.openxmlformats.org/drawingml/2006/table">
            <a:tbl>
              <a:tblPr firstRow="1" bandRow="1">
                <a:tableStyleId>{5C22544A-7EE6-4342-B048-85BDC9FD1C3A}</a:tableStyleId>
              </a:tblPr>
              <a:tblGrid>
                <a:gridCol w="1675933">
                  <a:extLst>
                    <a:ext uri="{9D8B030D-6E8A-4147-A177-3AD203B41FA5}">
                      <a16:colId xmlns:a16="http://schemas.microsoft.com/office/drawing/2014/main" val="390215274"/>
                    </a:ext>
                  </a:extLst>
                </a:gridCol>
                <a:gridCol w="2122415">
                  <a:extLst>
                    <a:ext uri="{9D8B030D-6E8A-4147-A177-3AD203B41FA5}">
                      <a16:colId xmlns:a16="http://schemas.microsoft.com/office/drawing/2014/main" val="4094920416"/>
                    </a:ext>
                  </a:extLst>
                </a:gridCol>
                <a:gridCol w="1837189">
                  <a:extLst>
                    <a:ext uri="{9D8B030D-6E8A-4147-A177-3AD203B41FA5}">
                      <a16:colId xmlns:a16="http://schemas.microsoft.com/office/drawing/2014/main" val="4194652004"/>
                    </a:ext>
                  </a:extLst>
                </a:gridCol>
                <a:gridCol w="2492463">
                  <a:extLst>
                    <a:ext uri="{9D8B030D-6E8A-4147-A177-3AD203B41FA5}">
                      <a16:colId xmlns:a16="http://schemas.microsoft.com/office/drawing/2014/main" val="3080150349"/>
                    </a:ext>
                  </a:extLst>
                </a:gridCol>
              </a:tblGrid>
              <a:tr h="370840">
                <a:tc>
                  <a:txBody>
                    <a:bodyPr/>
                    <a:lstStyle/>
                    <a:p>
                      <a:r>
                        <a:rPr lang="fr-FR"/>
                        <a:t>ID</a:t>
                      </a:r>
                    </a:p>
                  </a:txBody>
                  <a:tcPr/>
                </a:tc>
                <a:tc>
                  <a:txBody>
                    <a:bodyPr/>
                    <a:lstStyle/>
                    <a:p>
                      <a:r>
                        <a:rPr lang="fr-FR"/>
                        <a:t>Nom</a:t>
                      </a:r>
                    </a:p>
                  </a:txBody>
                  <a:tcPr/>
                </a:tc>
                <a:tc>
                  <a:txBody>
                    <a:bodyPr/>
                    <a:lstStyle/>
                    <a:p>
                      <a:r>
                        <a:rPr lang="fr-FR"/>
                        <a:t>Prénom</a:t>
                      </a:r>
                    </a:p>
                  </a:txBody>
                  <a:tcPr/>
                </a:tc>
                <a:tc>
                  <a:txBody>
                    <a:bodyPr/>
                    <a:lstStyle/>
                    <a:p>
                      <a:r>
                        <a:rPr lang="fr-FR"/>
                        <a:t>Téléphone</a:t>
                      </a:r>
                    </a:p>
                  </a:txBody>
                  <a:tcPr/>
                </a:tc>
                <a:extLst>
                  <a:ext uri="{0D108BD9-81ED-4DB2-BD59-A6C34878D82A}">
                    <a16:rowId xmlns:a16="http://schemas.microsoft.com/office/drawing/2014/main" val="2910648804"/>
                  </a:ext>
                </a:extLst>
              </a:tr>
              <a:tr h="370840">
                <a:tc>
                  <a:txBody>
                    <a:bodyPr/>
                    <a:lstStyle/>
                    <a:p>
                      <a:r>
                        <a:rPr lang="fr-FR"/>
                        <a:t>1</a:t>
                      </a:r>
                    </a:p>
                  </a:txBody>
                  <a:tcPr/>
                </a:tc>
                <a:tc>
                  <a:txBody>
                    <a:bodyPr/>
                    <a:lstStyle/>
                    <a:p>
                      <a:r>
                        <a:rPr lang="fr-FR"/>
                        <a:t>JEAN</a:t>
                      </a:r>
                    </a:p>
                  </a:txBody>
                  <a:tcPr/>
                </a:tc>
                <a:tc>
                  <a:txBody>
                    <a:bodyPr/>
                    <a:lstStyle/>
                    <a:p>
                      <a:r>
                        <a:rPr lang="fr-FR"/>
                        <a:t>Claude</a:t>
                      </a:r>
                    </a:p>
                  </a:txBody>
                  <a:tcPr/>
                </a:tc>
                <a:tc>
                  <a:txBody>
                    <a:bodyPr/>
                    <a:lstStyle/>
                    <a:p>
                      <a:r>
                        <a:rPr lang="fr-FR"/>
                        <a:t>03 88 88 84 25 </a:t>
                      </a:r>
                    </a:p>
                  </a:txBody>
                  <a:tcPr/>
                </a:tc>
                <a:extLst>
                  <a:ext uri="{0D108BD9-81ED-4DB2-BD59-A6C34878D82A}">
                    <a16:rowId xmlns:a16="http://schemas.microsoft.com/office/drawing/2014/main" val="2545457265"/>
                  </a:ext>
                </a:extLst>
              </a:tr>
              <a:tr h="370840">
                <a:tc>
                  <a:txBody>
                    <a:bodyPr/>
                    <a:lstStyle/>
                    <a:p>
                      <a:r>
                        <a:rPr lang="fr-FR"/>
                        <a:t>2</a:t>
                      </a:r>
                    </a:p>
                  </a:txBody>
                  <a:tcPr/>
                </a:tc>
                <a:tc>
                  <a:txBody>
                    <a:bodyPr/>
                    <a:lstStyle/>
                    <a:p>
                      <a:r>
                        <a:rPr lang="fr-FR"/>
                        <a:t>CHIRAC Patrick</a:t>
                      </a:r>
                    </a:p>
                  </a:txBody>
                  <a:tcPr/>
                </a:tc>
                <a:tc>
                  <a:txBody>
                    <a:bodyPr/>
                    <a:lstStyle/>
                    <a:p>
                      <a:endParaRPr lang="fr-FR"/>
                    </a:p>
                  </a:txBody>
                  <a:tcPr/>
                </a:tc>
                <a:tc>
                  <a:txBody>
                    <a:bodyPr/>
                    <a:lstStyle/>
                    <a:p>
                      <a:r>
                        <a:rPr lang="fr-FR"/>
                        <a:t>0388842565</a:t>
                      </a:r>
                    </a:p>
                  </a:txBody>
                  <a:tcPr/>
                </a:tc>
                <a:extLst>
                  <a:ext uri="{0D108BD9-81ED-4DB2-BD59-A6C34878D82A}">
                    <a16:rowId xmlns:a16="http://schemas.microsoft.com/office/drawing/2014/main" val="1940258236"/>
                  </a:ext>
                </a:extLst>
              </a:tr>
              <a:tr h="370840">
                <a:tc>
                  <a:txBody>
                    <a:bodyPr/>
                    <a:lstStyle/>
                    <a:p>
                      <a:r>
                        <a:rPr lang="fr-FR"/>
                        <a:t>3</a:t>
                      </a:r>
                    </a:p>
                  </a:txBody>
                  <a:tcPr/>
                </a:tc>
                <a:tc>
                  <a:txBody>
                    <a:bodyPr/>
                    <a:lstStyle/>
                    <a:p>
                      <a:r>
                        <a:rPr lang="fr-FR" err="1"/>
                        <a:t>édouard</a:t>
                      </a:r>
                      <a:endParaRPr lang="fr-FR"/>
                    </a:p>
                  </a:txBody>
                  <a:tcPr/>
                </a:tc>
                <a:tc>
                  <a:txBody>
                    <a:bodyPr/>
                    <a:lstStyle/>
                    <a:p>
                      <a:r>
                        <a:rPr lang="fr-FR" err="1"/>
                        <a:t>philippe</a:t>
                      </a:r>
                      <a:endParaRPr lang="fr-FR"/>
                    </a:p>
                  </a:txBody>
                  <a:tcPr/>
                </a:tc>
                <a:tc>
                  <a:txBody>
                    <a:bodyPr/>
                    <a:lstStyle/>
                    <a:p>
                      <a:r>
                        <a:rPr lang="fr-FR"/>
                        <a:t>+33 6 48 49 50 51</a:t>
                      </a:r>
                    </a:p>
                  </a:txBody>
                  <a:tcPr/>
                </a:tc>
                <a:extLst>
                  <a:ext uri="{0D108BD9-81ED-4DB2-BD59-A6C34878D82A}">
                    <a16:rowId xmlns:a16="http://schemas.microsoft.com/office/drawing/2014/main" val="372586814"/>
                  </a:ext>
                </a:extLst>
              </a:tr>
            </a:tbl>
          </a:graphicData>
        </a:graphic>
      </p:graphicFrame>
      <p:sp>
        <p:nvSpPr>
          <p:cNvPr id="9" name="Espace réservé du contenu 2">
            <a:extLst>
              <a:ext uri="{FF2B5EF4-FFF2-40B4-BE49-F238E27FC236}">
                <a16:creationId xmlns:a16="http://schemas.microsoft.com/office/drawing/2014/main" id="{889AED33-5615-46D0-9F90-9E0D075E4A5A}"/>
              </a:ext>
            </a:extLst>
          </p:cNvPr>
          <p:cNvSpPr txBox="1">
            <a:spLocks/>
          </p:cNvSpPr>
          <p:nvPr/>
        </p:nvSpPr>
        <p:spPr>
          <a:xfrm>
            <a:off x="810000" y="4403196"/>
            <a:ext cx="10554574" cy="2007616"/>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fr-FR"/>
              <a:t>Pas de consistance dans le format des noms, prénoms, numéro de téléphone</a:t>
            </a:r>
          </a:p>
          <a:p>
            <a:r>
              <a:rPr lang="fr-FR"/>
              <a:t>Des champs parfois laissés vides</a:t>
            </a:r>
          </a:p>
        </p:txBody>
      </p:sp>
    </p:spTree>
    <p:extLst>
      <p:ext uri="{BB962C8B-B14F-4D97-AF65-F5344CB8AC3E}">
        <p14:creationId xmlns:p14="http://schemas.microsoft.com/office/powerpoint/2010/main" val="2677387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7"/>
            <a:ext cx="10554574" cy="465033"/>
          </a:xfrm>
        </p:spPr>
        <p:txBody>
          <a:bodyPr anchor="t"/>
          <a:lstStyle/>
          <a:p>
            <a:r>
              <a:rPr lang="fr-FR"/>
              <a:t>Quelques erreurs communes :</a:t>
            </a:r>
          </a:p>
        </p:txBody>
      </p:sp>
      <p:sp>
        <p:nvSpPr>
          <p:cNvPr id="6" name="Espace réservé du numéro de diapositive 5">
            <a:extLst>
              <a:ext uri="{FF2B5EF4-FFF2-40B4-BE49-F238E27FC236}">
                <a16:creationId xmlns:a16="http://schemas.microsoft.com/office/drawing/2014/main" id="{B850C343-031D-4F85-90FB-0C667B3DDF83}"/>
              </a:ext>
            </a:extLst>
          </p:cNvPr>
          <p:cNvSpPr>
            <a:spLocks noGrp="1"/>
          </p:cNvSpPr>
          <p:nvPr>
            <p:ph type="sldNum" sz="quarter" idx="12"/>
          </p:nvPr>
        </p:nvSpPr>
        <p:spPr/>
        <p:txBody>
          <a:bodyPr/>
          <a:lstStyle/>
          <a:p>
            <a:fld id="{27C6CCC6-2BE5-4E42-96A4-D1E8E81A3D8E}" type="slidenum">
              <a:rPr lang="de-DE" smtClean="0"/>
              <a:t>169</a:t>
            </a:fld>
            <a:endParaRPr lang="de-DE"/>
          </a:p>
        </p:txBody>
      </p:sp>
      <p:graphicFrame>
        <p:nvGraphicFramePr>
          <p:cNvPr id="7" name="Tableau 6">
            <a:extLst>
              <a:ext uri="{FF2B5EF4-FFF2-40B4-BE49-F238E27FC236}">
                <a16:creationId xmlns:a16="http://schemas.microsoft.com/office/drawing/2014/main" id="{E5662BE3-910F-4E1E-AD15-17F7EB9FB891}"/>
              </a:ext>
            </a:extLst>
          </p:cNvPr>
          <p:cNvGraphicFramePr>
            <a:graphicFrameLocks noGrp="1"/>
          </p:cNvGraphicFramePr>
          <p:nvPr>
            <p:extLst>
              <p:ext uri="{D42A27DB-BD31-4B8C-83A1-F6EECF244321}">
                <p14:modId xmlns:p14="http://schemas.microsoft.com/office/powerpoint/2010/main" val="3192241934"/>
              </p:ext>
            </p:extLst>
          </p:nvPr>
        </p:nvGraphicFramePr>
        <p:xfrm>
          <a:off x="2359128" y="2750289"/>
          <a:ext cx="7473741" cy="1483360"/>
        </p:xfrm>
        <a:graphic>
          <a:graphicData uri="http://schemas.openxmlformats.org/drawingml/2006/table">
            <a:tbl>
              <a:tblPr firstRow="1" bandRow="1">
                <a:tableStyleId>{5C22544A-7EE6-4342-B048-85BDC9FD1C3A}</a:tableStyleId>
              </a:tblPr>
              <a:tblGrid>
                <a:gridCol w="2222590">
                  <a:extLst>
                    <a:ext uri="{9D8B030D-6E8A-4147-A177-3AD203B41FA5}">
                      <a16:colId xmlns:a16="http://schemas.microsoft.com/office/drawing/2014/main" val="390215274"/>
                    </a:ext>
                  </a:extLst>
                </a:gridCol>
                <a:gridCol w="2814706">
                  <a:extLst>
                    <a:ext uri="{9D8B030D-6E8A-4147-A177-3AD203B41FA5}">
                      <a16:colId xmlns:a16="http://schemas.microsoft.com/office/drawing/2014/main" val="4094920416"/>
                    </a:ext>
                  </a:extLst>
                </a:gridCol>
                <a:gridCol w="2436445">
                  <a:extLst>
                    <a:ext uri="{9D8B030D-6E8A-4147-A177-3AD203B41FA5}">
                      <a16:colId xmlns:a16="http://schemas.microsoft.com/office/drawing/2014/main" val="4194652004"/>
                    </a:ext>
                  </a:extLst>
                </a:gridCol>
              </a:tblGrid>
              <a:tr h="370840">
                <a:tc>
                  <a:txBody>
                    <a:bodyPr/>
                    <a:lstStyle/>
                    <a:p>
                      <a:r>
                        <a:rPr lang="fr-FR"/>
                        <a:t>ID</a:t>
                      </a:r>
                    </a:p>
                  </a:txBody>
                  <a:tcPr/>
                </a:tc>
                <a:tc>
                  <a:txBody>
                    <a:bodyPr/>
                    <a:lstStyle/>
                    <a:p>
                      <a:r>
                        <a:rPr lang="fr-FR"/>
                        <a:t>Date Facture</a:t>
                      </a:r>
                    </a:p>
                  </a:txBody>
                  <a:tcPr/>
                </a:tc>
                <a:tc>
                  <a:txBody>
                    <a:bodyPr/>
                    <a:lstStyle/>
                    <a:p>
                      <a:r>
                        <a:rPr lang="fr-FR"/>
                        <a:t>Produits</a:t>
                      </a:r>
                    </a:p>
                  </a:txBody>
                  <a:tcPr/>
                </a:tc>
                <a:extLst>
                  <a:ext uri="{0D108BD9-81ED-4DB2-BD59-A6C34878D82A}">
                    <a16:rowId xmlns:a16="http://schemas.microsoft.com/office/drawing/2014/main" val="2910648804"/>
                  </a:ext>
                </a:extLst>
              </a:tr>
              <a:tr h="370840">
                <a:tc>
                  <a:txBody>
                    <a:bodyPr/>
                    <a:lstStyle/>
                    <a:p>
                      <a:r>
                        <a:rPr lang="fr-FR"/>
                        <a:t>1</a:t>
                      </a:r>
                    </a:p>
                  </a:txBody>
                  <a:tcPr/>
                </a:tc>
                <a:tc>
                  <a:txBody>
                    <a:bodyPr/>
                    <a:lstStyle/>
                    <a:p>
                      <a:r>
                        <a:rPr lang="fr-FR"/>
                        <a:t>01/01/2019</a:t>
                      </a:r>
                    </a:p>
                  </a:txBody>
                  <a:tcPr/>
                </a:tc>
                <a:tc>
                  <a:txBody>
                    <a:bodyPr/>
                    <a:lstStyle/>
                    <a:p>
                      <a:r>
                        <a:rPr lang="fr-FR"/>
                        <a:t>1, 2, 3</a:t>
                      </a:r>
                    </a:p>
                  </a:txBody>
                  <a:tcPr/>
                </a:tc>
                <a:extLst>
                  <a:ext uri="{0D108BD9-81ED-4DB2-BD59-A6C34878D82A}">
                    <a16:rowId xmlns:a16="http://schemas.microsoft.com/office/drawing/2014/main" val="2545457265"/>
                  </a:ext>
                </a:extLst>
              </a:tr>
              <a:tr h="370840">
                <a:tc>
                  <a:txBody>
                    <a:bodyPr/>
                    <a:lstStyle/>
                    <a:p>
                      <a:r>
                        <a:rPr lang="fr-FR"/>
                        <a:t>2</a:t>
                      </a:r>
                    </a:p>
                  </a:txBody>
                  <a:tcPr/>
                </a:tc>
                <a:tc>
                  <a:txBody>
                    <a:bodyPr/>
                    <a:lstStyle/>
                    <a:p>
                      <a:r>
                        <a:rPr lang="fr-FR"/>
                        <a:t>02/01/2019</a:t>
                      </a:r>
                    </a:p>
                  </a:txBody>
                  <a:tcPr/>
                </a:tc>
                <a:tc>
                  <a:txBody>
                    <a:bodyPr/>
                    <a:lstStyle/>
                    <a:p>
                      <a:r>
                        <a:rPr lang="fr-FR"/>
                        <a:t>2, 3, 4</a:t>
                      </a:r>
                    </a:p>
                  </a:txBody>
                  <a:tcPr/>
                </a:tc>
                <a:extLst>
                  <a:ext uri="{0D108BD9-81ED-4DB2-BD59-A6C34878D82A}">
                    <a16:rowId xmlns:a16="http://schemas.microsoft.com/office/drawing/2014/main" val="1940258236"/>
                  </a:ext>
                </a:extLst>
              </a:tr>
              <a:tr h="370840">
                <a:tc>
                  <a:txBody>
                    <a:bodyPr/>
                    <a:lstStyle/>
                    <a:p>
                      <a:r>
                        <a:rPr lang="fr-FR"/>
                        <a:t>3</a:t>
                      </a:r>
                    </a:p>
                  </a:txBody>
                  <a:tcPr/>
                </a:tc>
                <a:tc>
                  <a:txBody>
                    <a:bodyPr/>
                    <a:lstStyle/>
                    <a:p>
                      <a:r>
                        <a:rPr lang="fr-FR"/>
                        <a:t>03/01/2019</a:t>
                      </a:r>
                    </a:p>
                  </a:txBody>
                  <a:tcPr/>
                </a:tc>
                <a:tc>
                  <a:txBody>
                    <a:bodyPr/>
                    <a:lstStyle/>
                    <a:p>
                      <a:r>
                        <a:rPr lang="fr-FR"/>
                        <a:t>5, 6, 7</a:t>
                      </a:r>
                    </a:p>
                  </a:txBody>
                  <a:tcPr/>
                </a:tc>
                <a:extLst>
                  <a:ext uri="{0D108BD9-81ED-4DB2-BD59-A6C34878D82A}">
                    <a16:rowId xmlns:a16="http://schemas.microsoft.com/office/drawing/2014/main" val="372586814"/>
                  </a:ext>
                </a:extLst>
              </a:tr>
            </a:tbl>
          </a:graphicData>
        </a:graphic>
      </p:graphicFrame>
      <p:sp>
        <p:nvSpPr>
          <p:cNvPr id="8" name="Espace réservé du contenu 2">
            <a:extLst>
              <a:ext uri="{FF2B5EF4-FFF2-40B4-BE49-F238E27FC236}">
                <a16:creationId xmlns:a16="http://schemas.microsoft.com/office/drawing/2014/main" id="{BBDF20CE-19C0-4DC8-BDD0-AC2CBA30078B}"/>
              </a:ext>
            </a:extLst>
          </p:cNvPr>
          <p:cNvSpPr txBox="1">
            <a:spLocks/>
          </p:cNvSpPr>
          <p:nvPr/>
        </p:nvSpPr>
        <p:spPr>
          <a:xfrm>
            <a:off x="827424" y="4296618"/>
            <a:ext cx="10554574" cy="2114194"/>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fr-FR"/>
              <a:t>Comment récupérer la liste des factures contenant le produit ‘2’ ?</a:t>
            </a:r>
          </a:p>
          <a:p>
            <a:pPr lvl="1"/>
            <a:r>
              <a:rPr lang="fr-FR"/>
              <a:t>Nécessite de séparer les valeurs de la colonne « Produits » : difficile à faire avec des requêtes SQL et peu performant</a:t>
            </a:r>
          </a:p>
        </p:txBody>
      </p:sp>
    </p:spTree>
    <p:extLst>
      <p:ext uri="{BB962C8B-B14F-4D97-AF65-F5344CB8AC3E}">
        <p14:creationId xmlns:p14="http://schemas.microsoft.com/office/powerpoint/2010/main" val="90758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0000" y="2222287"/>
            <a:ext cx="10554574" cy="465033"/>
          </a:xfrm>
        </p:spPr>
        <p:txBody>
          <a:bodyPr anchor="t"/>
          <a:lstStyle/>
          <a:p>
            <a:r>
              <a:rPr lang="fr-FR"/>
              <a:t>Quelques erreurs communes :</a:t>
            </a:r>
          </a:p>
        </p:txBody>
      </p:sp>
      <p:sp>
        <p:nvSpPr>
          <p:cNvPr id="7" name="Espace réservé du numéro de diapositive 6">
            <a:extLst>
              <a:ext uri="{FF2B5EF4-FFF2-40B4-BE49-F238E27FC236}">
                <a16:creationId xmlns:a16="http://schemas.microsoft.com/office/drawing/2014/main" id="{A71B1752-7060-44D4-9B0D-D85647638A35}"/>
              </a:ext>
            </a:extLst>
          </p:cNvPr>
          <p:cNvSpPr>
            <a:spLocks noGrp="1"/>
          </p:cNvSpPr>
          <p:nvPr>
            <p:ph type="sldNum" sz="quarter" idx="12"/>
          </p:nvPr>
        </p:nvSpPr>
        <p:spPr/>
        <p:txBody>
          <a:bodyPr/>
          <a:lstStyle/>
          <a:p>
            <a:fld id="{27C6CCC6-2BE5-4E42-96A4-D1E8E81A3D8E}" type="slidenum">
              <a:rPr lang="de-DE" smtClean="0"/>
              <a:t>170</a:t>
            </a:fld>
            <a:endParaRPr lang="de-DE"/>
          </a:p>
        </p:txBody>
      </p:sp>
      <p:graphicFrame>
        <p:nvGraphicFramePr>
          <p:cNvPr id="6" name="Tableau 5">
            <a:extLst>
              <a:ext uri="{FF2B5EF4-FFF2-40B4-BE49-F238E27FC236}">
                <a16:creationId xmlns:a16="http://schemas.microsoft.com/office/drawing/2014/main" id="{E6134ED1-BA40-4526-B417-974BB77C859D}"/>
              </a:ext>
            </a:extLst>
          </p:cNvPr>
          <p:cNvGraphicFramePr>
            <a:graphicFrameLocks noGrp="1"/>
          </p:cNvGraphicFramePr>
          <p:nvPr>
            <p:extLst>
              <p:ext uri="{D42A27DB-BD31-4B8C-83A1-F6EECF244321}">
                <p14:modId xmlns:p14="http://schemas.microsoft.com/office/powerpoint/2010/main" val="4184484792"/>
              </p:ext>
            </p:extLst>
          </p:nvPr>
        </p:nvGraphicFramePr>
        <p:xfrm>
          <a:off x="2023287" y="2687320"/>
          <a:ext cx="8128000" cy="1483360"/>
        </p:xfrm>
        <a:graphic>
          <a:graphicData uri="http://schemas.openxmlformats.org/drawingml/2006/table">
            <a:tbl>
              <a:tblPr firstRow="1" bandRow="1">
                <a:tableStyleId>{5C22544A-7EE6-4342-B048-85BDC9FD1C3A}</a:tableStyleId>
              </a:tblPr>
              <a:tblGrid>
                <a:gridCol w="1675933">
                  <a:extLst>
                    <a:ext uri="{9D8B030D-6E8A-4147-A177-3AD203B41FA5}">
                      <a16:colId xmlns:a16="http://schemas.microsoft.com/office/drawing/2014/main" val="390215274"/>
                    </a:ext>
                  </a:extLst>
                </a:gridCol>
                <a:gridCol w="2122415">
                  <a:extLst>
                    <a:ext uri="{9D8B030D-6E8A-4147-A177-3AD203B41FA5}">
                      <a16:colId xmlns:a16="http://schemas.microsoft.com/office/drawing/2014/main" val="4094920416"/>
                    </a:ext>
                  </a:extLst>
                </a:gridCol>
                <a:gridCol w="1837189">
                  <a:extLst>
                    <a:ext uri="{9D8B030D-6E8A-4147-A177-3AD203B41FA5}">
                      <a16:colId xmlns:a16="http://schemas.microsoft.com/office/drawing/2014/main" val="4194652004"/>
                    </a:ext>
                  </a:extLst>
                </a:gridCol>
                <a:gridCol w="2492463">
                  <a:extLst>
                    <a:ext uri="{9D8B030D-6E8A-4147-A177-3AD203B41FA5}">
                      <a16:colId xmlns:a16="http://schemas.microsoft.com/office/drawing/2014/main" val="3080150349"/>
                    </a:ext>
                  </a:extLst>
                </a:gridCol>
              </a:tblGrid>
              <a:tr h="370840">
                <a:tc>
                  <a:txBody>
                    <a:bodyPr/>
                    <a:lstStyle/>
                    <a:p>
                      <a:r>
                        <a:rPr lang="fr-FR"/>
                        <a:t>ID</a:t>
                      </a:r>
                    </a:p>
                  </a:txBody>
                  <a:tcPr/>
                </a:tc>
                <a:tc>
                  <a:txBody>
                    <a:bodyPr/>
                    <a:lstStyle/>
                    <a:p>
                      <a:r>
                        <a:rPr lang="fr-FR"/>
                        <a:t>Nom</a:t>
                      </a:r>
                    </a:p>
                  </a:txBody>
                  <a:tcPr/>
                </a:tc>
                <a:tc>
                  <a:txBody>
                    <a:bodyPr/>
                    <a:lstStyle/>
                    <a:p>
                      <a:r>
                        <a:rPr lang="fr-FR"/>
                        <a:t>Prénom</a:t>
                      </a:r>
                    </a:p>
                  </a:txBody>
                  <a:tcPr/>
                </a:tc>
                <a:tc>
                  <a:txBody>
                    <a:bodyPr/>
                    <a:lstStyle/>
                    <a:p>
                      <a:r>
                        <a:rPr lang="fr-FR"/>
                        <a:t>Age</a:t>
                      </a:r>
                    </a:p>
                  </a:txBody>
                  <a:tcPr/>
                </a:tc>
                <a:extLst>
                  <a:ext uri="{0D108BD9-81ED-4DB2-BD59-A6C34878D82A}">
                    <a16:rowId xmlns:a16="http://schemas.microsoft.com/office/drawing/2014/main" val="2910648804"/>
                  </a:ext>
                </a:extLst>
              </a:tr>
              <a:tr h="370840">
                <a:tc>
                  <a:txBody>
                    <a:bodyPr/>
                    <a:lstStyle/>
                    <a:p>
                      <a:r>
                        <a:rPr lang="fr-FR"/>
                        <a:t>1</a:t>
                      </a:r>
                    </a:p>
                  </a:txBody>
                  <a:tcPr/>
                </a:tc>
                <a:tc>
                  <a:txBody>
                    <a:bodyPr/>
                    <a:lstStyle/>
                    <a:p>
                      <a:r>
                        <a:rPr lang="fr-FR"/>
                        <a:t>JEAN</a:t>
                      </a:r>
                    </a:p>
                  </a:txBody>
                  <a:tcPr/>
                </a:tc>
                <a:tc>
                  <a:txBody>
                    <a:bodyPr/>
                    <a:lstStyle/>
                    <a:p>
                      <a:r>
                        <a:rPr lang="fr-FR"/>
                        <a:t>Claude</a:t>
                      </a:r>
                    </a:p>
                  </a:txBody>
                  <a:tcPr/>
                </a:tc>
                <a:tc>
                  <a:txBody>
                    <a:bodyPr/>
                    <a:lstStyle/>
                    <a:p>
                      <a:r>
                        <a:rPr lang="fr-FR"/>
                        <a:t>35</a:t>
                      </a:r>
                    </a:p>
                  </a:txBody>
                  <a:tcPr/>
                </a:tc>
                <a:extLst>
                  <a:ext uri="{0D108BD9-81ED-4DB2-BD59-A6C34878D82A}">
                    <a16:rowId xmlns:a16="http://schemas.microsoft.com/office/drawing/2014/main" val="2545457265"/>
                  </a:ext>
                </a:extLst>
              </a:tr>
              <a:tr h="370840">
                <a:tc>
                  <a:txBody>
                    <a:bodyPr/>
                    <a:lstStyle/>
                    <a:p>
                      <a:r>
                        <a:rPr lang="fr-FR"/>
                        <a:t>2</a:t>
                      </a:r>
                    </a:p>
                  </a:txBody>
                  <a:tcPr/>
                </a:tc>
                <a:tc>
                  <a:txBody>
                    <a:bodyPr/>
                    <a:lstStyle/>
                    <a:p>
                      <a:r>
                        <a:rPr lang="fr-FR"/>
                        <a:t>CHIRAC</a:t>
                      </a:r>
                    </a:p>
                  </a:txBody>
                  <a:tcPr/>
                </a:tc>
                <a:tc>
                  <a:txBody>
                    <a:bodyPr/>
                    <a:lstStyle/>
                    <a:p>
                      <a:r>
                        <a:rPr lang="fr-FR"/>
                        <a:t>Patrick</a:t>
                      </a:r>
                    </a:p>
                  </a:txBody>
                  <a:tcPr/>
                </a:tc>
                <a:tc>
                  <a:txBody>
                    <a:bodyPr/>
                    <a:lstStyle/>
                    <a:p>
                      <a:r>
                        <a:rPr lang="fr-FR"/>
                        <a:t>48</a:t>
                      </a:r>
                    </a:p>
                  </a:txBody>
                  <a:tcPr/>
                </a:tc>
                <a:extLst>
                  <a:ext uri="{0D108BD9-81ED-4DB2-BD59-A6C34878D82A}">
                    <a16:rowId xmlns:a16="http://schemas.microsoft.com/office/drawing/2014/main" val="1940258236"/>
                  </a:ext>
                </a:extLst>
              </a:tr>
              <a:tr h="370840">
                <a:tc>
                  <a:txBody>
                    <a:bodyPr/>
                    <a:lstStyle/>
                    <a:p>
                      <a:r>
                        <a:rPr lang="fr-FR"/>
                        <a:t>3</a:t>
                      </a:r>
                    </a:p>
                  </a:txBody>
                  <a:tcPr/>
                </a:tc>
                <a:tc>
                  <a:txBody>
                    <a:bodyPr/>
                    <a:lstStyle/>
                    <a:p>
                      <a:r>
                        <a:rPr lang="fr-FR"/>
                        <a:t>ÉDOUARD</a:t>
                      </a:r>
                    </a:p>
                  </a:txBody>
                  <a:tcPr/>
                </a:tc>
                <a:tc>
                  <a:txBody>
                    <a:bodyPr/>
                    <a:lstStyle/>
                    <a:p>
                      <a:r>
                        <a:rPr lang="fr-FR"/>
                        <a:t>Philippe</a:t>
                      </a:r>
                    </a:p>
                  </a:txBody>
                  <a:tcPr/>
                </a:tc>
                <a:tc>
                  <a:txBody>
                    <a:bodyPr/>
                    <a:lstStyle/>
                    <a:p>
                      <a:r>
                        <a:rPr lang="fr-FR"/>
                        <a:t>42</a:t>
                      </a:r>
                    </a:p>
                  </a:txBody>
                  <a:tcPr/>
                </a:tc>
                <a:extLst>
                  <a:ext uri="{0D108BD9-81ED-4DB2-BD59-A6C34878D82A}">
                    <a16:rowId xmlns:a16="http://schemas.microsoft.com/office/drawing/2014/main" val="372586814"/>
                  </a:ext>
                </a:extLst>
              </a:tr>
            </a:tbl>
          </a:graphicData>
        </a:graphic>
      </p:graphicFrame>
      <p:sp>
        <p:nvSpPr>
          <p:cNvPr id="9" name="Espace réservé du contenu 2">
            <a:extLst>
              <a:ext uri="{FF2B5EF4-FFF2-40B4-BE49-F238E27FC236}">
                <a16:creationId xmlns:a16="http://schemas.microsoft.com/office/drawing/2014/main" id="{889AED33-5615-46D0-9F90-9E0D075E4A5A}"/>
              </a:ext>
            </a:extLst>
          </p:cNvPr>
          <p:cNvSpPr txBox="1">
            <a:spLocks/>
          </p:cNvSpPr>
          <p:nvPr/>
        </p:nvSpPr>
        <p:spPr>
          <a:xfrm>
            <a:off x="810000" y="4403196"/>
            <a:ext cx="10554574" cy="2007616"/>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fr-FR"/>
              <a:t>Obligation de mettre à jour la base à chaque anniversaire ?</a:t>
            </a:r>
          </a:p>
        </p:txBody>
      </p:sp>
    </p:spTree>
    <p:extLst>
      <p:ext uri="{BB962C8B-B14F-4D97-AF65-F5344CB8AC3E}">
        <p14:creationId xmlns:p14="http://schemas.microsoft.com/office/powerpoint/2010/main" val="341566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7"/>
            <a:ext cx="10554574" cy="465033"/>
          </a:xfrm>
        </p:spPr>
        <p:txBody>
          <a:bodyPr anchor="t"/>
          <a:lstStyle/>
          <a:p>
            <a:r>
              <a:rPr lang="fr-FR"/>
              <a:t>Quelques erreurs communes :</a:t>
            </a:r>
          </a:p>
        </p:txBody>
      </p:sp>
      <p:sp>
        <p:nvSpPr>
          <p:cNvPr id="6" name="Espace réservé du numéro de diapositive 5">
            <a:extLst>
              <a:ext uri="{FF2B5EF4-FFF2-40B4-BE49-F238E27FC236}">
                <a16:creationId xmlns:a16="http://schemas.microsoft.com/office/drawing/2014/main" id="{AAC7D0EE-952E-4D52-BDF2-FF25A987CADD}"/>
              </a:ext>
            </a:extLst>
          </p:cNvPr>
          <p:cNvSpPr>
            <a:spLocks noGrp="1"/>
          </p:cNvSpPr>
          <p:nvPr>
            <p:ph type="sldNum" sz="quarter" idx="12"/>
          </p:nvPr>
        </p:nvSpPr>
        <p:spPr/>
        <p:txBody>
          <a:bodyPr/>
          <a:lstStyle/>
          <a:p>
            <a:fld id="{27C6CCC6-2BE5-4E42-96A4-D1E8E81A3D8E}" type="slidenum">
              <a:rPr lang="de-DE" smtClean="0"/>
              <a:t>171</a:t>
            </a:fld>
            <a:endParaRPr lang="de-DE"/>
          </a:p>
        </p:txBody>
      </p:sp>
      <p:graphicFrame>
        <p:nvGraphicFramePr>
          <p:cNvPr id="7" name="Tableau 6">
            <a:extLst>
              <a:ext uri="{FF2B5EF4-FFF2-40B4-BE49-F238E27FC236}">
                <a16:creationId xmlns:a16="http://schemas.microsoft.com/office/drawing/2014/main" id="{E5662BE3-910F-4E1E-AD15-17F7EB9FB891}"/>
              </a:ext>
            </a:extLst>
          </p:cNvPr>
          <p:cNvGraphicFramePr>
            <a:graphicFrameLocks noGrp="1"/>
          </p:cNvGraphicFramePr>
          <p:nvPr>
            <p:extLst>
              <p:ext uri="{D42A27DB-BD31-4B8C-83A1-F6EECF244321}">
                <p14:modId xmlns:p14="http://schemas.microsoft.com/office/powerpoint/2010/main" val="1851246819"/>
              </p:ext>
            </p:extLst>
          </p:nvPr>
        </p:nvGraphicFramePr>
        <p:xfrm>
          <a:off x="2359128" y="2750289"/>
          <a:ext cx="7473741" cy="1483360"/>
        </p:xfrm>
        <a:graphic>
          <a:graphicData uri="http://schemas.openxmlformats.org/drawingml/2006/table">
            <a:tbl>
              <a:tblPr firstRow="1" bandRow="1">
                <a:tableStyleId>{5C22544A-7EE6-4342-B048-85BDC9FD1C3A}</a:tableStyleId>
              </a:tblPr>
              <a:tblGrid>
                <a:gridCol w="1676160">
                  <a:extLst>
                    <a:ext uri="{9D8B030D-6E8A-4147-A177-3AD203B41FA5}">
                      <a16:colId xmlns:a16="http://schemas.microsoft.com/office/drawing/2014/main" val="390215274"/>
                    </a:ext>
                  </a:extLst>
                </a:gridCol>
                <a:gridCol w="2122703">
                  <a:extLst>
                    <a:ext uri="{9D8B030D-6E8A-4147-A177-3AD203B41FA5}">
                      <a16:colId xmlns:a16="http://schemas.microsoft.com/office/drawing/2014/main" val="4094920416"/>
                    </a:ext>
                  </a:extLst>
                </a:gridCol>
                <a:gridCol w="1837439">
                  <a:extLst>
                    <a:ext uri="{9D8B030D-6E8A-4147-A177-3AD203B41FA5}">
                      <a16:colId xmlns:a16="http://schemas.microsoft.com/office/drawing/2014/main" val="4194652004"/>
                    </a:ext>
                  </a:extLst>
                </a:gridCol>
                <a:gridCol w="1837439">
                  <a:extLst>
                    <a:ext uri="{9D8B030D-6E8A-4147-A177-3AD203B41FA5}">
                      <a16:colId xmlns:a16="http://schemas.microsoft.com/office/drawing/2014/main" val="2226672939"/>
                    </a:ext>
                  </a:extLst>
                </a:gridCol>
              </a:tblGrid>
              <a:tr h="370840">
                <a:tc>
                  <a:txBody>
                    <a:bodyPr/>
                    <a:lstStyle/>
                    <a:p>
                      <a:r>
                        <a:rPr lang="fr-FR"/>
                        <a:t>ID</a:t>
                      </a:r>
                    </a:p>
                  </a:txBody>
                  <a:tcPr/>
                </a:tc>
                <a:tc>
                  <a:txBody>
                    <a:bodyPr/>
                    <a:lstStyle/>
                    <a:p>
                      <a:r>
                        <a:rPr lang="fr-FR"/>
                        <a:t>Prix unitaire</a:t>
                      </a:r>
                    </a:p>
                  </a:txBody>
                  <a:tcPr/>
                </a:tc>
                <a:tc>
                  <a:txBody>
                    <a:bodyPr/>
                    <a:lstStyle/>
                    <a:p>
                      <a:r>
                        <a:rPr lang="fr-FR"/>
                        <a:t>Quantité</a:t>
                      </a:r>
                    </a:p>
                  </a:txBody>
                  <a:tcPr/>
                </a:tc>
                <a:tc>
                  <a:txBody>
                    <a:bodyPr/>
                    <a:lstStyle/>
                    <a:p>
                      <a:r>
                        <a:rPr lang="fr-FR"/>
                        <a:t>Prix total</a:t>
                      </a:r>
                    </a:p>
                  </a:txBody>
                  <a:tcPr/>
                </a:tc>
                <a:extLst>
                  <a:ext uri="{0D108BD9-81ED-4DB2-BD59-A6C34878D82A}">
                    <a16:rowId xmlns:a16="http://schemas.microsoft.com/office/drawing/2014/main" val="2910648804"/>
                  </a:ext>
                </a:extLst>
              </a:tr>
              <a:tr h="370840">
                <a:tc>
                  <a:txBody>
                    <a:bodyPr/>
                    <a:lstStyle/>
                    <a:p>
                      <a:r>
                        <a:rPr lang="fr-FR"/>
                        <a:t>1</a:t>
                      </a:r>
                    </a:p>
                  </a:txBody>
                  <a:tcPr/>
                </a:tc>
                <a:tc>
                  <a:txBody>
                    <a:bodyPr/>
                    <a:lstStyle/>
                    <a:p>
                      <a:r>
                        <a:rPr lang="fr-FR"/>
                        <a:t>1,50</a:t>
                      </a:r>
                    </a:p>
                  </a:txBody>
                  <a:tcPr/>
                </a:tc>
                <a:tc>
                  <a:txBody>
                    <a:bodyPr/>
                    <a:lstStyle/>
                    <a:p>
                      <a:r>
                        <a:rPr lang="fr-FR"/>
                        <a:t>10</a:t>
                      </a:r>
                    </a:p>
                  </a:txBody>
                  <a:tcPr/>
                </a:tc>
                <a:tc>
                  <a:txBody>
                    <a:bodyPr/>
                    <a:lstStyle/>
                    <a:p>
                      <a:r>
                        <a:rPr lang="fr-FR"/>
                        <a:t>15,0</a:t>
                      </a:r>
                    </a:p>
                  </a:txBody>
                  <a:tcPr/>
                </a:tc>
                <a:extLst>
                  <a:ext uri="{0D108BD9-81ED-4DB2-BD59-A6C34878D82A}">
                    <a16:rowId xmlns:a16="http://schemas.microsoft.com/office/drawing/2014/main" val="2545457265"/>
                  </a:ext>
                </a:extLst>
              </a:tr>
              <a:tr h="370840">
                <a:tc>
                  <a:txBody>
                    <a:bodyPr/>
                    <a:lstStyle/>
                    <a:p>
                      <a:r>
                        <a:rPr lang="fr-FR"/>
                        <a:t>2</a:t>
                      </a:r>
                    </a:p>
                  </a:txBody>
                  <a:tcPr/>
                </a:tc>
                <a:tc>
                  <a:txBody>
                    <a:bodyPr/>
                    <a:lstStyle/>
                    <a:p>
                      <a:r>
                        <a:rPr lang="fr-FR"/>
                        <a:t>25,0</a:t>
                      </a:r>
                    </a:p>
                  </a:txBody>
                  <a:tcPr/>
                </a:tc>
                <a:tc>
                  <a:txBody>
                    <a:bodyPr/>
                    <a:lstStyle/>
                    <a:p>
                      <a:r>
                        <a:rPr lang="fr-FR"/>
                        <a:t>5</a:t>
                      </a:r>
                    </a:p>
                  </a:txBody>
                  <a:tcPr/>
                </a:tc>
                <a:tc>
                  <a:txBody>
                    <a:bodyPr/>
                    <a:lstStyle/>
                    <a:p>
                      <a:r>
                        <a:rPr lang="fr-FR"/>
                        <a:t>100,0</a:t>
                      </a:r>
                    </a:p>
                  </a:txBody>
                  <a:tcPr/>
                </a:tc>
                <a:extLst>
                  <a:ext uri="{0D108BD9-81ED-4DB2-BD59-A6C34878D82A}">
                    <a16:rowId xmlns:a16="http://schemas.microsoft.com/office/drawing/2014/main" val="1940258236"/>
                  </a:ext>
                </a:extLst>
              </a:tr>
              <a:tr h="370840">
                <a:tc>
                  <a:txBody>
                    <a:bodyPr/>
                    <a:lstStyle/>
                    <a:p>
                      <a:r>
                        <a:rPr lang="fr-FR"/>
                        <a:t>3</a:t>
                      </a:r>
                    </a:p>
                  </a:txBody>
                  <a:tcPr/>
                </a:tc>
                <a:tc>
                  <a:txBody>
                    <a:bodyPr/>
                    <a:lstStyle/>
                    <a:p>
                      <a:r>
                        <a:rPr lang="fr-FR"/>
                        <a:t>12,5</a:t>
                      </a:r>
                    </a:p>
                  </a:txBody>
                  <a:tcPr/>
                </a:tc>
                <a:tc>
                  <a:txBody>
                    <a:bodyPr/>
                    <a:lstStyle/>
                    <a:p>
                      <a:r>
                        <a:rPr lang="fr-FR"/>
                        <a:t>2</a:t>
                      </a:r>
                    </a:p>
                  </a:txBody>
                  <a:tcPr/>
                </a:tc>
                <a:tc>
                  <a:txBody>
                    <a:bodyPr/>
                    <a:lstStyle/>
                    <a:p>
                      <a:r>
                        <a:rPr lang="fr-FR"/>
                        <a:t>25,0</a:t>
                      </a:r>
                    </a:p>
                  </a:txBody>
                  <a:tcPr/>
                </a:tc>
                <a:extLst>
                  <a:ext uri="{0D108BD9-81ED-4DB2-BD59-A6C34878D82A}">
                    <a16:rowId xmlns:a16="http://schemas.microsoft.com/office/drawing/2014/main" val="372586814"/>
                  </a:ext>
                </a:extLst>
              </a:tr>
            </a:tbl>
          </a:graphicData>
        </a:graphic>
      </p:graphicFrame>
      <p:sp>
        <p:nvSpPr>
          <p:cNvPr id="8" name="Espace réservé du contenu 2">
            <a:extLst>
              <a:ext uri="{FF2B5EF4-FFF2-40B4-BE49-F238E27FC236}">
                <a16:creationId xmlns:a16="http://schemas.microsoft.com/office/drawing/2014/main" id="{BBDF20CE-19C0-4DC8-BDD0-AC2CBA30078B}"/>
              </a:ext>
            </a:extLst>
          </p:cNvPr>
          <p:cNvSpPr txBox="1">
            <a:spLocks/>
          </p:cNvSpPr>
          <p:nvPr/>
        </p:nvSpPr>
        <p:spPr>
          <a:xfrm>
            <a:off x="827424" y="4296618"/>
            <a:ext cx="10554574" cy="2114194"/>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fr-FR"/>
              <a:t>Le prix total (d’une facture, d’une commande ou autre) est égal au prix unitaire du produit multiplié par la quantité de produit acheté</a:t>
            </a:r>
          </a:p>
          <a:p>
            <a:pPr lvl="1"/>
            <a:r>
              <a:rPr lang="fr-FR"/>
              <a:t>Que constatez-vous sur la deuxième ligne ?</a:t>
            </a:r>
          </a:p>
          <a:p>
            <a:endParaRPr lang="fr-FR"/>
          </a:p>
        </p:txBody>
      </p:sp>
    </p:spTree>
    <p:extLst>
      <p:ext uri="{BB962C8B-B14F-4D97-AF65-F5344CB8AC3E}">
        <p14:creationId xmlns:p14="http://schemas.microsoft.com/office/powerpoint/2010/main" val="1662533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7"/>
            <a:ext cx="10554574" cy="465033"/>
          </a:xfrm>
        </p:spPr>
        <p:txBody>
          <a:bodyPr anchor="t"/>
          <a:lstStyle/>
          <a:p>
            <a:r>
              <a:rPr lang="fr-FR"/>
              <a:t>Quelques erreurs communes :</a:t>
            </a:r>
          </a:p>
        </p:txBody>
      </p:sp>
      <p:sp>
        <p:nvSpPr>
          <p:cNvPr id="6" name="Espace réservé du numéro de diapositive 5">
            <a:extLst>
              <a:ext uri="{FF2B5EF4-FFF2-40B4-BE49-F238E27FC236}">
                <a16:creationId xmlns:a16="http://schemas.microsoft.com/office/drawing/2014/main" id="{2A7B0406-95A5-4666-9FC2-FCA71F92F7C3}"/>
              </a:ext>
            </a:extLst>
          </p:cNvPr>
          <p:cNvSpPr>
            <a:spLocks noGrp="1"/>
          </p:cNvSpPr>
          <p:nvPr>
            <p:ph type="sldNum" sz="quarter" idx="12"/>
          </p:nvPr>
        </p:nvSpPr>
        <p:spPr/>
        <p:txBody>
          <a:bodyPr/>
          <a:lstStyle/>
          <a:p>
            <a:fld id="{27C6CCC6-2BE5-4E42-96A4-D1E8E81A3D8E}" type="slidenum">
              <a:rPr lang="de-DE" smtClean="0"/>
              <a:t>172</a:t>
            </a:fld>
            <a:endParaRPr lang="de-DE"/>
          </a:p>
        </p:txBody>
      </p:sp>
      <p:graphicFrame>
        <p:nvGraphicFramePr>
          <p:cNvPr id="7" name="Tableau 6">
            <a:extLst>
              <a:ext uri="{FF2B5EF4-FFF2-40B4-BE49-F238E27FC236}">
                <a16:creationId xmlns:a16="http://schemas.microsoft.com/office/drawing/2014/main" id="{E5662BE3-910F-4E1E-AD15-17F7EB9FB891}"/>
              </a:ext>
            </a:extLst>
          </p:cNvPr>
          <p:cNvGraphicFramePr>
            <a:graphicFrameLocks noGrp="1"/>
          </p:cNvGraphicFramePr>
          <p:nvPr>
            <p:extLst>
              <p:ext uri="{D42A27DB-BD31-4B8C-83A1-F6EECF244321}">
                <p14:modId xmlns:p14="http://schemas.microsoft.com/office/powerpoint/2010/main" val="2897959894"/>
              </p:ext>
            </p:extLst>
          </p:nvPr>
        </p:nvGraphicFramePr>
        <p:xfrm>
          <a:off x="3277848" y="2750289"/>
          <a:ext cx="5636302" cy="2595880"/>
        </p:xfrm>
        <a:graphic>
          <a:graphicData uri="http://schemas.openxmlformats.org/drawingml/2006/table">
            <a:tbl>
              <a:tblPr firstRow="1" bandRow="1">
                <a:tableStyleId>{5C22544A-7EE6-4342-B048-85BDC9FD1C3A}</a:tableStyleId>
              </a:tblPr>
              <a:tblGrid>
                <a:gridCol w="1676160">
                  <a:extLst>
                    <a:ext uri="{9D8B030D-6E8A-4147-A177-3AD203B41FA5}">
                      <a16:colId xmlns:a16="http://schemas.microsoft.com/office/drawing/2014/main" val="390215274"/>
                    </a:ext>
                  </a:extLst>
                </a:gridCol>
                <a:gridCol w="2122703">
                  <a:extLst>
                    <a:ext uri="{9D8B030D-6E8A-4147-A177-3AD203B41FA5}">
                      <a16:colId xmlns:a16="http://schemas.microsoft.com/office/drawing/2014/main" val="4094920416"/>
                    </a:ext>
                  </a:extLst>
                </a:gridCol>
                <a:gridCol w="1837439">
                  <a:extLst>
                    <a:ext uri="{9D8B030D-6E8A-4147-A177-3AD203B41FA5}">
                      <a16:colId xmlns:a16="http://schemas.microsoft.com/office/drawing/2014/main" val="4194652004"/>
                    </a:ext>
                  </a:extLst>
                </a:gridCol>
              </a:tblGrid>
              <a:tr h="370840">
                <a:tc>
                  <a:txBody>
                    <a:bodyPr/>
                    <a:lstStyle/>
                    <a:p>
                      <a:r>
                        <a:rPr lang="fr-FR"/>
                        <a:t>ID</a:t>
                      </a:r>
                    </a:p>
                  </a:txBody>
                  <a:tcPr/>
                </a:tc>
                <a:tc>
                  <a:txBody>
                    <a:bodyPr/>
                    <a:lstStyle/>
                    <a:p>
                      <a:r>
                        <a:rPr lang="fr-FR"/>
                        <a:t>Marque</a:t>
                      </a:r>
                    </a:p>
                  </a:txBody>
                  <a:tcPr/>
                </a:tc>
                <a:tc>
                  <a:txBody>
                    <a:bodyPr/>
                    <a:lstStyle/>
                    <a:p>
                      <a:r>
                        <a:rPr lang="fr-FR"/>
                        <a:t>Modèle</a:t>
                      </a:r>
                    </a:p>
                  </a:txBody>
                  <a:tcPr/>
                </a:tc>
                <a:extLst>
                  <a:ext uri="{0D108BD9-81ED-4DB2-BD59-A6C34878D82A}">
                    <a16:rowId xmlns:a16="http://schemas.microsoft.com/office/drawing/2014/main" val="2910648804"/>
                  </a:ext>
                </a:extLst>
              </a:tr>
              <a:tr h="370840">
                <a:tc>
                  <a:txBody>
                    <a:bodyPr/>
                    <a:lstStyle/>
                    <a:p>
                      <a:r>
                        <a:rPr lang="fr-FR"/>
                        <a:t>1</a:t>
                      </a:r>
                    </a:p>
                  </a:txBody>
                  <a:tcPr/>
                </a:tc>
                <a:tc>
                  <a:txBody>
                    <a:bodyPr/>
                    <a:lstStyle/>
                    <a:p>
                      <a:r>
                        <a:rPr lang="fr-FR"/>
                        <a:t>Peugeot</a:t>
                      </a:r>
                    </a:p>
                  </a:txBody>
                  <a:tcPr/>
                </a:tc>
                <a:tc>
                  <a:txBody>
                    <a:bodyPr/>
                    <a:lstStyle/>
                    <a:p>
                      <a:r>
                        <a:rPr lang="fr-FR"/>
                        <a:t>208</a:t>
                      </a:r>
                    </a:p>
                  </a:txBody>
                  <a:tcPr/>
                </a:tc>
                <a:extLst>
                  <a:ext uri="{0D108BD9-81ED-4DB2-BD59-A6C34878D82A}">
                    <a16:rowId xmlns:a16="http://schemas.microsoft.com/office/drawing/2014/main" val="2545457265"/>
                  </a:ext>
                </a:extLst>
              </a:tr>
              <a:tr h="370840">
                <a:tc>
                  <a:txBody>
                    <a:bodyPr/>
                    <a:lstStyle/>
                    <a:p>
                      <a:r>
                        <a:rPr lang="fr-FR"/>
                        <a:t>2</a:t>
                      </a:r>
                    </a:p>
                  </a:txBody>
                  <a:tcPr/>
                </a:tc>
                <a:tc>
                  <a:txBody>
                    <a:bodyPr/>
                    <a:lstStyle/>
                    <a:p>
                      <a:r>
                        <a:rPr lang="fr-FR"/>
                        <a:t>Peugeot</a:t>
                      </a:r>
                    </a:p>
                  </a:txBody>
                  <a:tcPr/>
                </a:tc>
                <a:tc>
                  <a:txBody>
                    <a:bodyPr/>
                    <a:lstStyle/>
                    <a:p>
                      <a:r>
                        <a:rPr lang="fr-FR"/>
                        <a:t>308</a:t>
                      </a:r>
                    </a:p>
                  </a:txBody>
                  <a:tcPr/>
                </a:tc>
                <a:extLst>
                  <a:ext uri="{0D108BD9-81ED-4DB2-BD59-A6C34878D82A}">
                    <a16:rowId xmlns:a16="http://schemas.microsoft.com/office/drawing/2014/main" val="1940258236"/>
                  </a:ext>
                </a:extLst>
              </a:tr>
              <a:tr h="370840">
                <a:tc>
                  <a:txBody>
                    <a:bodyPr/>
                    <a:lstStyle/>
                    <a:p>
                      <a:r>
                        <a:rPr lang="fr-FR"/>
                        <a:t>3</a:t>
                      </a:r>
                    </a:p>
                  </a:txBody>
                  <a:tcPr/>
                </a:tc>
                <a:tc>
                  <a:txBody>
                    <a:bodyPr/>
                    <a:lstStyle/>
                    <a:p>
                      <a:r>
                        <a:rPr lang="fr-FR"/>
                        <a:t>Peugeot</a:t>
                      </a:r>
                    </a:p>
                  </a:txBody>
                  <a:tcPr/>
                </a:tc>
                <a:tc>
                  <a:txBody>
                    <a:bodyPr/>
                    <a:lstStyle/>
                    <a:p>
                      <a:r>
                        <a:rPr lang="fr-FR"/>
                        <a:t>508</a:t>
                      </a:r>
                    </a:p>
                  </a:txBody>
                  <a:tcPr/>
                </a:tc>
                <a:extLst>
                  <a:ext uri="{0D108BD9-81ED-4DB2-BD59-A6C34878D82A}">
                    <a16:rowId xmlns:a16="http://schemas.microsoft.com/office/drawing/2014/main" val="372586814"/>
                  </a:ext>
                </a:extLst>
              </a:tr>
              <a:tr h="370840">
                <a:tc>
                  <a:txBody>
                    <a:bodyPr/>
                    <a:lstStyle/>
                    <a:p>
                      <a:r>
                        <a:rPr lang="fr-FR"/>
                        <a:t>4</a:t>
                      </a:r>
                    </a:p>
                  </a:txBody>
                  <a:tcPr/>
                </a:tc>
                <a:tc>
                  <a:txBody>
                    <a:bodyPr/>
                    <a:lstStyle/>
                    <a:p>
                      <a:r>
                        <a:rPr lang="fr-FR"/>
                        <a:t>Peugeot</a:t>
                      </a:r>
                    </a:p>
                  </a:txBody>
                  <a:tcPr/>
                </a:tc>
                <a:tc>
                  <a:txBody>
                    <a:bodyPr/>
                    <a:lstStyle/>
                    <a:p>
                      <a:r>
                        <a:rPr lang="fr-FR"/>
                        <a:t>2008</a:t>
                      </a:r>
                    </a:p>
                  </a:txBody>
                  <a:tcPr/>
                </a:tc>
                <a:extLst>
                  <a:ext uri="{0D108BD9-81ED-4DB2-BD59-A6C34878D82A}">
                    <a16:rowId xmlns:a16="http://schemas.microsoft.com/office/drawing/2014/main" val="3679669941"/>
                  </a:ext>
                </a:extLst>
              </a:tr>
              <a:tr h="370840">
                <a:tc>
                  <a:txBody>
                    <a:bodyPr/>
                    <a:lstStyle/>
                    <a:p>
                      <a:r>
                        <a:rPr lang="fr-FR"/>
                        <a:t>5</a:t>
                      </a:r>
                    </a:p>
                  </a:txBody>
                  <a:tcPr/>
                </a:tc>
                <a:tc>
                  <a:txBody>
                    <a:bodyPr/>
                    <a:lstStyle/>
                    <a:p>
                      <a:r>
                        <a:rPr lang="fr-FR"/>
                        <a:t>Renault</a:t>
                      </a:r>
                    </a:p>
                  </a:txBody>
                  <a:tcPr/>
                </a:tc>
                <a:tc>
                  <a:txBody>
                    <a:bodyPr/>
                    <a:lstStyle/>
                    <a:p>
                      <a:r>
                        <a:rPr lang="fr-FR"/>
                        <a:t>Clio</a:t>
                      </a:r>
                    </a:p>
                  </a:txBody>
                  <a:tcPr/>
                </a:tc>
                <a:extLst>
                  <a:ext uri="{0D108BD9-81ED-4DB2-BD59-A6C34878D82A}">
                    <a16:rowId xmlns:a16="http://schemas.microsoft.com/office/drawing/2014/main" val="2910428464"/>
                  </a:ext>
                </a:extLst>
              </a:tr>
              <a:tr h="370840">
                <a:tc>
                  <a:txBody>
                    <a:bodyPr/>
                    <a:lstStyle/>
                    <a:p>
                      <a:r>
                        <a:rPr lang="fr-FR"/>
                        <a:t>6</a:t>
                      </a:r>
                    </a:p>
                  </a:txBody>
                  <a:tcPr/>
                </a:tc>
                <a:tc>
                  <a:txBody>
                    <a:bodyPr/>
                    <a:lstStyle/>
                    <a:p>
                      <a:r>
                        <a:rPr lang="fr-FR"/>
                        <a:t>Renault</a:t>
                      </a:r>
                    </a:p>
                  </a:txBody>
                  <a:tcPr/>
                </a:tc>
                <a:tc>
                  <a:txBody>
                    <a:bodyPr/>
                    <a:lstStyle/>
                    <a:p>
                      <a:r>
                        <a:rPr lang="fr-FR"/>
                        <a:t>Mégane</a:t>
                      </a:r>
                    </a:p>
                  </a:txBody>
                  <a:tcPr/>
                </a:tc>
                <a:extLst>
                  <a:ext uri="{0D108BD9-81ED-4DB2-BD59-A6C34878D82A}">
                    <a16:rowId xmlns:a16="http://schemas.microsoft.com/office/drawing/2014/main" val="2063162518"/>
                  </a:ext>
                </a:extLst>
              </a:tr>
            </a:tbl>
          </a:graphicData>
        </a:graphic>
      </p:graphicFrame>
      <p:sp>
        <p:nvSpPr>
          <p:cNvPr id="8" name="Espace réservé du contenu 2">
            <a:extLst>
              <a:ext uri="{FF2B5EF4-FFF2-40B4-BE49-F238E27FC236}">
                <a16:creationId xmlns:a16="http://schemas.microsoft.com/office/drawing/2014/main" id="{BBDF20CE-19C0-4DC8-BDD0-AC2CBA30078B}"/>
              </a:ext>
            </a:extLst>
          </p:cNvPr>
          <p:cNvSpPr txBox="1">
            <a:spLocks/>
          </p:cNvSpPr>
          <p:nvPr/>
        </p:nvSpPr>
        <p:spPr>
          <a:xfrm>
            <a:off x="827424" y="5409138"/>
            <a:ext cx="10554574" cy="1001674"/>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fr-FR"/>
              <a:t>Redondance : donnée répétée plusieurs fois…</a:t>
            </a:r>
          </a:p>
          <a:p>
            <a:endParaRPr lang="fr-FR"/>
          </a:p>
        </p:txBody>
      </p:sp>
    </p:spTree>
    <p:extLst>
      <p:ext uri="{BB962C8B-B14F-4D97-AF65-F5344CB8AC3E}">
        <p14:creationId xmlns:p14="http://schemas.microsoft.com/office/powerpoint/2010/main" val="3509472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A9842B-9AFF-41BA-A899-E92207A670F9}"/>
              </a:ext>
            </a:extLst>
          </p:cNvPr>
          <p:cNvSpPr>
            <a:spLocks noGrp="1"/>
          </p:cNvSpPr>
          <p:nvPr>
            <p:ph type="title"/>
          </p:nvPr>
        </p:nvSpPr>
        <p:spPr>
          <a:xfrm>
            <a:off x="451514" y="947607"/>
            <a:ext cx="4389427" cy="4962786"/>
          </a:xfrm>
        </p:spPr>
        <p:txBody>
          <a:bodyPr vert="horz" lIns="91440" tIns="45720" rIns="91440" bIns="45720" rtlCol="0" anchor="ctr">
            <a:normAutofit/>
          </a:bodyPr>
          <a:lstStyle/>
          <a:p>
            <a:r>
              <a:rPr lang="en-US" sz="5400" err="1"/>
              <a:t>Règles</a:t>
            </a:r>
            <a:r>
              <a:rPr lang="en-US" sz="5400"/>
              <a:t> de conception</a:t>
            </a:r>
          </a:p>
        </p:txBody>
      </p:sp>
      <p:sp>
        <p:nvSpPr>
          <p:cNvPr id="3" name="Espace réservé du contenu 2">
            <a:extLst>
              <a:ext uri="{FF2B5EF4-FFF2-40B4-BE49-F238E27FC236}">
                <a16:creationId xmlns:a16="http://schemas.microsoft.com/office/drawing/2014/main" id="{64DBD916-8FC9-40A4-9D00-0A6E50F6C8C5}"/>
              </a:ext>
            </a:extLst>
          </p:cNvPr>
          <p:cNvSpPr>
            <a:spLocks noGrp="1"/>
          </p:cNvSpPr>
          <p:nvPr>
            <p:ph idx="1"/>
          </p:nvPr>
        </p:nvSpPr>
        <p:spPr>
          <a:xfrm>
            <a:off x="7229345" y="947607"/>
            <a:ext cx="4152655" cy="4962785"/>
          </a:xfrm>
          <a:effectLst/>
        </p:spPr>
        <p:txBody>
          <a:bodyPr vert="horz" lIns="91440" tIns="45720" rIns="91440" bIns="45720" rtlCol="0" anchor="ctr">
            <a:normAutofit/>
          </a:bodyPr>
          <a:lstStyle/>
          <a:p>
            <a:pPr marL="0" indent="0">
              <a:buNone/>
            </a:pPr>
            <a:r>
              <a:rPr lang="en-US" sz="2800" err="1"/>
              <a:t>Normalisation</a:t>
            </a:r>
            <a:r>
              <a:rPr lang="en-US" sz="2800"/>
              <a:t> et </a:t>
            </a:r>
            <a:r>
              <a:rPr lang="en-US" sz="2800" err="1"/>
              <a:t>formes</a:t>
            </a:r>
            <a:r>
              <a:rPr lang="en-US" sz="2800"/>
              <a:t> </a:t>
            </a:r>
            <a:r>
              <a:rPr lang="en-US" sz="2800" err="1"/>
              <a:t>normales</a:t>
            </a:r>
            <a:endParaRPr lang="en-US" sz="2800"/>
          </a:p>
        </p:txBody>
      </p:sp>
      <p:sp>
        <p:nvSpPr>
          <p:cNvPr id="9" name="Espace réservé du numéro de diapositive 8">
            <a:extLst>
              <a:ext uri="{FF2B5EF4-FFF2-40B4-BE49-F238E27FC236}">
                <a16:creationId xmlns:a16="http://schemas.microsoft.com/office/drawing/2014/main" id="{592C2FFB-0C1C-48F6-8241-FFE5094C9D54}"/>
              </a:ext>
            </a:extLst>
          </p:cNvPr>
          <p:cNvSpPr>
            <a:spLocks noGrp="1"/>
          </p:cNvSpPr>
          <p:nvPr>
            <p:ph type="sldNum" sz="quarter" idx="12"/>
          </p:nvPr>
        </p:nvSpPr>
        <p:spPr/>
        <p:txBody>
          <a:bodyPr/>
          <a:lstStyle/>
          <a:p>
            <a:fld id="{27C6CCC6-2BE5-4E42-96A4-D1E8E81A3D8E}" type="slidenum">
              <a:rPr lang="de-DE" smtClean="0"/>
              <a:t>173</a:t>
            </a:fld>
            <a:endParaRPr lang="de-DE"/>
          </a:p>
        </p:txBody>
      </p:sp>
    </p:spTree>
    <p:extLst>
      <p:ext uri="{BB962C8B-B14F-4D97-AF65-F5344CB8AC3E}">
        <p14:creationId xmlns:p14="http://schemas.microsoft.com/office/powerpoint/2010/main" val="121333114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a:t>Afin de structurer proprement une base de données relationnelle, un certain nombre de règles doivent être suivies</a:t>
            </a:r>
          </a:p>
          <a:p>
            <a:r>
              <a:rPr lang="fr-FR"/>
              <a:t>Ces règles sont appelées « formes normales », on parle de « normalisation de la base »</a:t>
            </a:r>
          </a:p>
          <a:p>
            <a:r>
              <a:rPr lang="fr-FR"/>
              <a:t>Le suivi de ces règles limite les redondances, limite les erreurs de contenu dans la base et facilite les modifications de la structure de la base</a:t>
            </a:r>
          </a:p>
        </p:txBody>
      </p:sp>
      <p:sp>
        <p:nvSpPr>
          <p:cNvPr id="6" name="Espace réservé du numéro de diapositive 5">
            <a:extLst>
              <a:ext uri="{FF2B5EF4-FFF2-40B4-BE49-F238E27FC236}">
                <a16:creationId xmlns:a16="http://schemas.microsoft.com/office/drawing/2014/main" id="{1155F780-F4C9-4081-A45F-34F8078C435B}"/>
              </a:ext>
            </a:extLst>
          </p:cNvPr>
          <p:cNvSpPr>
            <a:spLocks noGrp="1"/>
          </p:cNvSpPr>
          <p:nvPr>
            <p:ph type="sldNum" sz="quarter" idx="12"/>
          </p:nvPr>
        </p:nvSpPr>
        <p:spPr/>
        <p:txBody>
          <a:bodyPr/>
          <a:lstStyle/>
          <a:p>
            <a:fld id="{27C6CCC6-2BE5-4E42-96A4-D1E8E81A3D8E}" type="slidenum">
              <a:rPr lang="de-DE" smtClean="0"/>
              <a:t>174</a:t>
            </a:fld>
            <a:endParaRPr lang="de-DE"/>
          </a:p>
        </p:txBody>
      </p:sp>
    </p:spTree>
    <p:extLst>
      <p:ext uri="{BB962C8B-B14F-4D97-AF65-F5344CB8AC3E}">
        <p14:creationId xmlns:p14="http://schemas.microsoft.com/office/powerpoint/2010/main" val="351641449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8A9F45-EACD-4152-8D94-A5D2F874B083}"/>
              </a:ext>
            </a:extLst>
          </p:cNvPr>
          <p:cNvSpPr>
            <a:spLocks noGrp="1"/>
          </p:cNvSpPr>
          <p:nvPr>
            <p:ph type="title"/>
          </p:nvPr>
        </p:nvSpPr>
        <p:spPr/>
        <p:txBody>
          <a:bodyPr/>
          <a:lstStyle/>
          <a:p>
            <a:r>
              <a:rPr lang="fr-FR"/>
              <a:t>Règles de conception</a:t>
            </a:r>
          </a:p>
        </p:txBody>
      </p:sp>
      <p:sp>
        <p:nvSpPr>
          <p:cNvPr id="3" name="Espace réservé du contenu 2">
            <a:extLst>
              <a:ext uri="{FF2B5EF4-FFF2-40B4-BE49-F238E27FC236}">
                <a16:creationId xmlns:a16="http://schemas.microsoft.com/office/drawing/2014/main" id="{17BA6E4E-EBC7-4F44-9643-733599FA557C}"/>
              </a:ext>
            </a:extLst>
          </p:cNvPr>
          <p:cNvSpPr>
            <a:spLocks noGrp="1"/>
          </p:cNvSpPr>
          <p:nvPr>
            <p:ph idx="1"/>
          </p:nvPr>
        </p:nvSpPr>
        <p:spPr/>
        <p:txBody>
          <a:bodyPr/>
          <a:lstStyle/>
          <a:p>
            <a:r>
              <a:rPr lang="fr-FR"/>
              <a:t>Clé candidate : colonne (ou ensemble de colonnes) sans doublon</a:t>
            </a:r>
          </a:p>
          <a:p>
            <a:r>
              <a:rPr lang="fr-FR"/>
              <a:t>Clé primaire : colonne (ou ensemble de colonnes) identifiant de façon unique un enregistrement (choisie parmi les clés candidates)</a:t>
            </a:r>
          </a:p>
          <a:p>
            <a:r>
              <a:rPr lang="fr-FR"/>
              <a:t>Dépendance fonctionnelle (DF) : il y a une dépendance fonctionnelle A → B entre deux ensembles d’attributs A et B si lorsque deux lignes ont les mêmes valeurs pour A, ça implique qu’elles ont les mêmes valeurs pour B (A détermine B)</a:t>
            </a:r>
          </a:p>
        </p:txBody>
      </p:sp>
      <p:sp>
        <p:nvSpPr>
          <p:cNvPr id="6" name="Espace réservé du numéro de diapositive 5">
            <a:extLst>
              <a:ext uri="{FF2B5EF4-FFF2-40B4-BE49-F238E27FC236}">
                <a16:creationId xmlns:a16="http://schemas.microsoft.com/office/drawing/2014/main" id="{D5DDD7DD-7CE9-446B-9F71-FE69051D1A6D}"/>
              </a:ext>
            </a:extLst>
          </p:cNvPr>
          <p:cNvSpPr>
            <a:spLocks noGrp="1"/>
          </p:cNvSpPr>
          <p:nvPr>
            <p:ph type="sldNum" sz="quarter" idx="12"/>
          </p:nvPr>
        </p:nvSpPr>
        <p:spPr/>
        <p:txBody>
          <a:bodyPr/>
          <a:lstStyle/>
          <a:p>
            <a:fld id="{27C6CCC6-2BE5-4E42-96A4-D1E8E81A3D8E}" type="slidenum">
              <a:rPr lang="de-DE" smtClean="0"/>
              <a:t>175</a:t>
            </a:fld>
            <a:endParaRPr lang="de-DE"/>
          </a:p>
        </p:txBody>
      </p:sp>
    </p:spTree>
    <p:extLst>
      <p:ext uri="{BB962C8B-B14F-4D97-AF65-F5344CB8AC3E}">
        <p14:creationId xmlns:p14="http://schemas.microsoft.com/office/powerpoint/2010/main" val="280999829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8A9F45-EACD-4152-8D94-A5D2F874B083}"/>
              </a:ext>
            </a:extLst>
          </p:cNvPr>
          <p:cNvSpPr>
            <a:spLocks noGrp="1"/>
          </p:cNvSpPr>
          <p:nvPr>
            <p:ph type="title"/>
          </p:nvPr>
        </p:nvSpPr>
        <p:spPr/>
        <p:txBody>
          <a:bodyPr/>
          <a:lstStyle/>
          <a:p>
            <a:r>
              <a:rPr lang="fr-FR"/>
              <a:t>Règles de conception</a:t>
            </a:r>
          </a:p>
        </p:txBody>
      </p:sp>
      <p:sp>
        <p:nvSpPr>
          <p:cNvPr id="7" name="Espace réservé du numéro de diapositive 6">
            <a:extLst>
              <a:ext uri="{FF2B5EF4-FFF2-40B4-BE49-F238E27FC236}">
                <a16:creationId xmlns:a16="http://schemas.microsoft.com/office/drawing/2014/main" id="{6A4F6A3A-88AA-4015-85C8-D1A2555FBCE4}"/>
              </a:ext>
            </a:extLst>
          </p:cNvPr>
          <p:cNvSpPr>
            <a:spLocks noGrp="1"/>
          </p:cNvSpPr>
          <p:nvPr>
            <p:ph type="sldNum" sz="quarter" idx="12"/>
          </p:nvPr>
        </p:nvSpPr>
        <p:spPr/>
        <p:txBody>
          <a:bodyPr/>
          <a:lstStyle/>
          <a:p>
            <a:fld id="{27C6CCC6-2BE5-4E42-96A4-D1E8E81A3D8E}" type="slidenum">
              <a:rPr lang="de-DE" smtClean="0"/>
              <a:t>176</a:t>
            </a:fld>
            <a:endParaRPr lang="de-DE"/>
          </a:p>
        </p:txBody>
      </p:sp>
      <p:graphicFrame>
        <p:nvGraphicFramePr>
          <p:cNvPr id="4" name="Tableau 3">
            <a:extLst>
              <a:ext uri="{FF2B5EF4-FFF2-40B4-BE49-F238E27FC236}">
                <a16:creationId xmlns:a16="http://schemas.microsoft.com/office/drawing/2014/main" id="{D6C5F075-8FE3-4D97-A9FE-FA952F05DD0F}"/>
              </a:ext>
            </a:extLst>
          </p:cNvPr>
          <p:cNvGraphicFramePr>
            <a:graphicFrameLocks noGrp="1"/>
          </p:cNvGraphicFramePr>
          <p:nvPr>
            <p:extLst>
              <p:ext uri="{D42A27DB-BD31-4B8C-83A1-F6EECF244321}">
                <p14:modId xmlns:p14="http://schemas.microsoft.com/office/powerpoint/2010/main" val="3307140152"/>
              </p:ext>
            </p:extLst>
          </p:nvPr>
        </p:nvGraphicFramePr>
        <p:xfrm>
          <a:off x="3277849" y="3095558"/>
          <a:ext cx="5636302" cy="2560320"/>
        </p:xfrm>
        <a:graphic>
          <a:graphicData uri="http://schemas.openxmlformats.org/drawingml/2006/table">
            <a:tbl>
              <a:tblPr firstRow="1" bandRow="1">
                <a:tableStyleId>{5C22544A-7EE6-4342-B048-85BDC9FD1C3A}</a:tableStyleId>
              </a:tblPr>
              <a:tblGrid>
                <a:gridCol w="1676160">
                  <a:extLst>
                    <a:ext uri="{9D8B030D-6E8A-4147-A177-3AD203B41FA5}">
                      <a16:colId xmlns:a16="http://schemas.microsoft.com/office/drawing/2014/main" val="390215274"/>
                    </a:ext>
                  </a:extLst>
                </a:gridCol>
                <a:gridCol w="2122703">
                  <a:extLst>
                    <a:ext uri="{9D8B030D-6E8A-4147-A177-3AD203B41FA5}">
                      <a16:colId xmlns:a16="http://schemas.microsoft.com/office/drawing/2014/main" val="4094920416"/>
                    </a:ext>
                  </a:extLst>
                </a:gridCol>
                <a:gridCol w="1837439">
                  <a:extLst>
                    <a:ext uri="{9D8B030D-6E8A-4147-A177-3AD203B41FA5}">
                      <a16:colId xmlns:a16="http://schemas.microsoft.com/office/drawing/2014/main" val="4194652004"/>
                    </a:ext>
                  </a:extLst>
                </a:gridCol>
              </a:tblGrid>
              <a:tr h="328469">
                <a:tc>
                  <a:txBody>
                    <a:bodyPr/>
                    <a:lstStyle/>
                    <a:p>
                      <a:r>
                        <a:rPr lang="fr-FR" u="sng"/>
                        <a:t>ID</a:t>
                      </a:r>
                    </a:p>
                  </a:txBody>
                  <a:tcPr/>
                </a:tc>
                <a:tc>
                  <a:txBody>
                    <a:bodyPr/>
                    <a:lstStyle/>
                    <a:p>
                      <a:r>
                        <a:rPr lang="fr-FR"/>
                        <a:t>Marque</a:t>
                      </a:r>
                    </a:p>
                  </a:txBody>
                  <a:tcPr/>
                </a:tc>
                <a:tc>
                  <a:txBody>
                    <a:bodyPr/>
                    <a:lstStyle/>
                    <a:p>
                      <a:r>
                        <a:rPr lang="fr-FR"/>
                        <a:t>Modèle</a:t>
                      </a:r>
                    </a:p>
                  </a:txBody>
                  <a:tcPr/>
                </a:tc>
                <a:extLst>
                  <a:ext uri="{0D108BD9-81ED-4DB2-BD59-A6C34878D82A}">
                    <a16:rowId xmlns:a16="http://schemas.microsoft.com/office/drawing/2014/main" val="2910648804"/>
                  </a:ext>
                </a:extLst>
              </a:tr>
              <a:tr h="302184">
                <a:tc>
                  <a:txBody>
                    <a:bodyPr/>
                    <a:lstStyle/>
                    <a:p>
                      <a:r>
                        <a:rPr lang="fr-FR"/>
                        <a:t>1</a:t>
                      </a:r>
                    </a:p>
                  </a:txBody>
                  <a:tcPr/>
                </a:tc>
                <a:tc>
                  <a:txBody>
                    <a:bodyPr/>
                    <a:lstStyle/>
                    <a:p>
                      <a:r>
                        <a:rPr lang="fr-FR"/>
                        <a:t>Peugeot</a:t>
                      </a:r>
                    </a:p>
                  </a:txBody>
                  <a:tcPr/>
                </a:tc>
                <a:tc>
                  <a:txBody>
                    <a:bodyPr/>
                    <a:lstStyle/>
                    <a:p>
                      <a:r>
                        <a:rPr lang="fr-FR"/>
                        <a:t>208</a:t>
                      </a:r>
                    </a:p>
                  </a:txBody>
                  <a:tcPr/>
                </a:tc>
                <a:extLst>
                  <a:ext uri="{0D108BD9-81ED-4DB2-BD59-A6C34878D82A}">
                    <a16:rowId xmlns:a16="http://schemas.microsoft.com/office/drawing/2014/main" val="2545457265"/>
                  </a:ext>
                </a:extLst>
              </a:tr>
              <a:tr h="302184">
                <a:tc>
                  <a:txBody>
                    <a:bodyPr/>
                    <a:lstStyle/>
                    <a:p>
                      <a:r>
                        <a:rPr lang="fr-FR"/>
                        <a:t>2</a:t>
                      </a:r>
                    </a:p>
                  </a:txBody>
                  <a:tcPr/>
                </a:tc>
                <a:tc>
                  <a:txBody>
                    <a:bodyPr/>
                    <a:lstStyle/>
                    <a:p>
                      <a:r>
                        <a:rPr lang="fr-FR"/>
                        <a:t>Peugeot</a:t>
                      </a:r>
                    </a:p>
                  </a:txBody>
                  <a:tcPr/>
                </a:tc>
                <a:tc>
                  <a:txBody>
                    <a:bodyPr/>
                    <a:lstStyle/>
                    <a:p>
                      <a:r>
                        <a:rPr lang="fr-FR"/>
                        <a:t>308</a:t>
                      </a:r>
                    </a:p>
                  </a:txBody>
                  <a:tcPr/>
                </a:tc>
                <a:extLst>
                  <a:ext uri="{0D108BD9-81ED-4DB2-BD59-A6C34878D82A}">
                    <a16:rowId xmlns:a16="http://schemas.microsoft.com/office/drawing/2014/main" val="1940258236"/>
                  </a:ext>
                </a:extLst>
              </a:tr>
              <a:tr h="302184">
                <a:tc>
                  <a:txBody>
                    <a:bodyPr/>
                    <a:lstStyle/>
                    <a:p>
                      <a:r>
                        <a:rPr lang="fr-FR"/>
                        <a:t>3</a:t>
                      </a:r>
                    </a:p>
                  </a:txBody>
                  <a:tcPr/>
                </a:tc>
                <a:tc>
                  <a:txBody>
                    <a:bodyPr/>
                    <a:lstStyle/>
                    <a:p>
                      <a:r>
                        <a:rPr lang="fr-FR"/>
                        <a:t>Peugeot</a:t>
                      </a:r>
                    </a:p>
                  </a:txBody>
                  <a:tcPr/>
                </a:tc>
                <a:tc>
                  <a:txBody>
                    <a:bodyPr/>
                    <a:lstStyle/>
                    <a:p>
                      <a:r>
                        <a:rPr lang="fr-FR"/>
                        <a:t>508</a:t>
                      </a:r>
                    </a:p>
                  </a:txBody>
                  <a:tcPr/>
                </a:tc>
                <a:extLst>
                  <a:ext uri="{0D108BD9-81ED-4DB2-BD59-A6C34878D82A}">
                    <a16:rowId xmlns:a16="http://schemas.microsoft.com/office/drawing/2014/main" val="372586814"/>
                  </a:ext>
                </a:extLst>
              </a:tr>
              <a:tr h="302184">
                <a:tc>
                  <a:txBody>
                    <a:bodyPr/>
                    <a:lstStyle/>
                    <a:p>
                      <a:r>
                        <a:rPr lang="fr-FR"/>
                        <a:t>4</a:t>
                      </a:r>
                    </a:p>
                  </a:txBody>
                  <a:tcPr/>
                </a:tc>
                <a:tc>
                  <a:txBody>
                    <a:bodyPr/>
                    <a:lstStyle/>
                    <a:p>
                      <a:r>
                        <a:rPr lang="fr-FR"/>
                        <a:t>Peugeot</a:t>
                      </a:r>
                    </a:p>
                  </a:txBody>
                  <a:tcPr/>
                </a:tc>
                <a:tc>
                  <a:txBody>
                    <a:bodyPr/>
                    <a:lstStyle/>
                    <a:p>
                      <a:r>
                        <a:rPr lang="fr-FR"/>
                        <a:t>2008</a:t>
                      </a:r>
                    </a:p>
                  </a:txBody>
                  <a:tcPr/>
                </a:tc>
                <a:extLst>
                  <a:ext uri="{0D108BD9-81ED-4DB2-BD59-A6C34878D82A}">
                    <a16:rowId xmlns:a16="http://schemas.microsoft.com/office/drawing/2014/main" val="3679669941"/>
                  </a:ext>
                </a:extLst>
              </a:tr>
              <a:tr h="302184">
                <a:tc>
                  <a:txBody>
                    <a:bodyPr/>
                    <a:lstStyle/>
                    <a:p>
                      <a:r>
                        <a:rPr lang="fr-FR"/>
                        <a:t>5</a:t>
                      </a:r>
                    </a:p>
                  </a:txBody>
                  <a:tcPr/>
                </a:tc>
                <a:tc>
                  <a:txBody>
                    <a:bodyPr/>
                    <a:lstStyle/>
                    <a:p>
                      <a:r>
                        <a:rPr lang="fr-FR"/>
                        <a:t>Renault</a:t>
                      </a:r>
                    </a:p>
                  </a:txBody>
                  <a:tcPr/>
                </a:tc>
                <a:tc>
                  <a:txBody>
                    <a:bodyPr/>
                    <a:lstStyle/>
                    <a:p>
                      <a:r>
                        <a:rPr lang="fr-FR"/>
                        <a:t>Clio</a:t>
                      </a:r>
                    </a:p>
                  </a:txBody>
                  <a:tcPr/>
                </a:tc>
                <a:extLst>
                  <a:ext uri="{0D108BD9-81ED-4DB2-BD59-A6C34878D82A}">
                    <a16:rowId xmlns:a16="http://schemas.microsoft.com/office/drawing/2014/main" val="2910428464"/>
                  </a:ext>
                </a:extLst>
              </a:tr>
              <a:tr h="302184">
                <a:tc>
                  <a:txBody>
                    <a:bodyPr/>
                    <a:lstStyle/>
                    <a:p>
                      <a:r>
                        <a:rPr lang="fr-FR"/>
                        <a:t>6</a:t>
                      </a:r>
                    </a:p>
                  </a:txBody>
                  <a:tcPr/>
                </a:tc>
                <a:tc>
                  <a:txBody>
                    <a:bodyPr/>
                    <a:lstStyle/>
                    <a:p>
                      <a:r>
                        <a:rPr lang="fr-FR"/>
                        <a:t>Renault</a:t>
                      </a:r>
                    </a:p>
                  </a:txBody>
                  <a:tcPr/>
                </a:tc>
                <a:tc>
                  <a:txBody>
                    <a:bodyPr/>
                    <a:lstStyle/>
                    <a:p>
                      <a:r>
                        <a:rPr lang="fr-FR"/>
                        <a:t>Mégane</a:t>
                      </a:r>
                    </a:p>
                  </a:txBody>
                  <a:tcPr/>
                </a:tc>
                <a:extLst>
                  <a:ext uri="{0D108BD9-81ED-4DB2-BD59-A6C34878D82A}">
                    <a16:rowId xmlns:a16="http://schemas.microsoft.com/office/drawing/2014/main" val="2063162518"/>
                  </a:ext>
                </a:extLst>
              </a:tr>
            </a:tbl>
          </a:graphicData>
        </a:graphic>
      </p:graphicFrame>
      <p:cxnSp>
        <p:nvCxnSpPr>
          <p:cNvPr id="6" name="Connecteur droit avec flèche 5">
            <a:extLst>
              <a:ext uri="{FF2B5EF4-FFF2-40B4-BE49-F238E27FC236}">
                <a16:creationId xmlns:a16="http://schemas.microsoft.com/office/drawing/2014/main" id="{CAA4DAD4-8D8B-4986-9CF7-3917FF5AD690}"/>
              </a:ext>
            </a:extLst>
          </p:cNvPr>
          <p:cNvCxnSpPr>
            <a:cxnSpLocks/>
          </p:cNvCxnSpPr>
          <p:nvPr/>
        </p:nvCxnSpPr>
        <p:spPr>
          <a:xfrm>
            <a:off x="2701255" y="2600587"/>
            <a:ext cx="1040235" cy="419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774ADEFF-0BFB-42DB-BB47-4CD9B9ECD440}"/>
              </a:ext>
            </a:extLst>
          </p:cNvPr>
          <p:cNvSpPr txBox="1"/>
          <p:nvPr/>
        </p:nvSpPr>
        <p:spPr>
          <a:xfrm>
            <a:off x="1155639" y="2340400"/>
            <a:ext cx="1545616" cy="369332"/>
          </a:xfrm>
          <a:prstGeom prst="rect">
            <a:avLst/>
          </a:prstGeom>
          <a:noFill/>
        </p:spPr>
        <p:txBody>
          <a:bodyPr wrap="none" rtlCol="0">
            <a:spAutoFit/>
          </a:bodyPr>
          <a:lstStyle/>
          <a:p>
            <a:r>
              <a:rPr lang="fr-FR"/>
              <a:t>Clé primaire</a:t>
            </a:r>
          </a:p>
        </p:txBody>
      </p:sp>
      <p:cxnSp>
        <p:nvCxnSpPr>
          <p:cNvPr id="9" name="Connecteur droit avec flèche 8">
            <a:extLst>
              <a:ext uri="{FF2B5EF4-FFF2-40B4-BE49-F238E27FC236}">
                <a16:creationId xmlns:a16="http://schemas.microsoft.com/office/drawing/2014/main" id="{34FD7B89-3F95-4ED1-80D4-8337E37EBDF6}"/>
              </a:ext>
            </a:extLst>
          </p:cNvPr>
          <p:cNvCxnSpPr>
            <a:cxnSpLocks/>
          </p:cNvCxnSpPr>
          <p:nvPr/>
        </p:nvCxnSpPr>
        <p:spPr>
          <a:xfrm flipH="1">
            <a:off x="8078598" y="2600587"/>
            <a:ext cx="1300294" cy="419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76C26DB8-80D7-431E-B150-70A8DFE0ABD9}"/>
              </a:ext>
            </a:extLst>
          </p:cNvPr>
          <p:cNvSpPr txBox="1"/>
          <p:nvPr/>
        </p:nvSpPr>
        <p:spPr>
          <a:xfrm>
            <a:off x="9378892" y="2415921"/>
            <a:ext cx="1830950" cy="369332"/>
          </a:xfrm>
          <a:prstGeom prst="rect">
            <a:avLst/>
          </a:prstGeom>
          <a:noFill/>
        </p:spPr>
        <p:txBody>
          <a:bodyPr wrap="none" rtlCol="0">
            <a:spAutoFit/>
          </a:bodyPr>
          <a:lstStyle/>
          <a:p>
            <a:r>
              <a:rPr lang="fr-FR"/>
              <a:t>Clé candidate</a:t>
            </a:r>
          </a:p>
        </p:txBody>
      </p:sp>
      <p:cxnSp>
        <p:nvCxnSpPr>
          <p:cNvPr id="14" name="Connecteur droit avec flèche 13">
            <a:extLst>
              <a:ext uri="{FF2B5EF4-FFF2-40B4-BE49-F238E27FC236}">
                <a16:creationId xmlns:a16="http://schemas.microsoft.com/office/drawing/2014/main" id="{379DBC4A-DFBE-4A6B-87F4-CFE2C4A83F87}"/>
              </a:ext>
            </a:extLst>
          </p:cNvPr>
          <p:cNvCxnSpPr>
            <a:cxnSpLocks/>
          </p:cNvCxnSpPr>
          <p:nvPr/>
        </p:nvCxnSpPr>
        <p:spPr>
          <a:xfrm flipV="1">
            <a:off x="4890782" y="5731399"/>
            <a:ext cx="419449" cy="392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9873C251-13FD-4FB5-8F9A-9AAC6C309B3B}"/>
              </a:ext>
            </a:extLst>
          </p:cNvPr>
          <p:cNvSpPr txBox="1"/>
          <p:nvPr/>
        </p:nvSpPr>
        <p:spPr>
          <a:xfrm flipH="1">
            <a:off x="1974166" y="6123963"/>
            <a:ext cx="6104432" cy="646331"/>
          </a:xfrm>
          <a:prstGeom prst="rect">
            <a:avLst/>
          </a:prstGeom>
          <a:noFill/>
        </p:spPr>
        <p:txBody>
          <a:bodyPr wrap="square" rtlCol="0">
            <a:spAutoFit/>
          </a:bodyPr>
          <a:lstStyle/>
          <a:p>
            <a:r>
              <a:rPr lang="fr-FR"/>
              <a:t>Dépendance fonctionnelle Modèle → Marque (le modèle détermine la marque)</a:t>
            </a:r>
          </a:p>
        </p:txBody>
      </p:sp>
    </p:spTree>
    <p:extLst>
      <p:ext uri="{BB962C8B-B14F-4D97-AF65-F5344CB8AC3E}">
        <p14:creationId xmlns:p14="http://schemas.microsoft.com/office/powerpoint/2010/main" val="45605930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normAutofit/>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3" y="2413000"/>
            <a:ext cx="7199220" cy="3632200"/>
          </a:xfrm>
        </p:spPr>
        <p:txBody>
          <a:bodyPr>
            <a:normAutofit/>
          </a:bodyPr>
          <a:lstStyle/>
          <a:p>
            <a:r>
              <a:rPr lang="fr-FR" b="1"/>
              <a:t>1NF – Première forme normale </a:t>
            </a:r>
            <a:r>
              <a:rPr lang="fr-FR"/>
              <a:t>: à chaque intersection de ligne et de colonne dans une table, il existe une valeur unique et jamais une liste de valeurs</a:t>
            </a:r>
          </a:p>
          <a:p>
            <a:r>
              <a:rPr lang="fr-FR"/>
              <a:t>Remarque : certains attributs peuvent sembler posséder plusieurs éléments mais sont pourtant </a:t>
            </a:r>
            <a:r>
              <a:rPr lang="fr-FR" i="1"/>
              <a:t>sémantiquement atomiques</a:t>
            </a:r>
            <a:r>
              <a:rPr lang="fr-FR"/>
              <a:t> (ces éléments composent un seul et même attribut : e.g. {jour, mois, année} pour la date)</a:t>
            </a:r>
          </a:p>
        </p:txBody>
      </p:sp>
      <p:sp>
        <p:nvSpPr>
          <p:cNvPr id="6" name="Espace réservé du numéro de diapositive 5">
            <a:extLst>
              <a:ext uri="{FF2B5EF4-FFF2-40B4-BE49-F238E27FC236}">
                <a16:creationId xmlns:a16="http://schemas.microsoft.com/office/drawing/2014/main" id="{ECC0982D-0273-4AF8-B827-09BB75711BE9}"/>
              </a:ext>
            </a:extLst>
          </p:cNvPr>
          <p:cNvSpPr>
            <a:spLocks noGrp="1"/>
          </p:cNvSpPr>
          <p:nvPr>
            <p:ph type="sldNum" sz="quarter" idx="12"/>
          </p:nvPr>
        </p:nvSpPr>
        <p:spPr/>
        <p:txBody>
          <a:bodyPr/>
          <a:lstStyle/>
          <a:p>
            <a:fld id="{27C6CCC6-2BE5-4E42-96A4-D1E8E81A3D8E}" type="slidenum">
              <a:rPr lang="de-DE" smtClean="0"/>
              <a:t>177</a:t>
            </a:fld>
            <a:endParaRPr lang="de-DE"/>
          </a:p>
        </p:txBody>
      </p:sp>
      <p:pic>
        <p:nvPicPr>
          <p:cNvPr id="7" name="Graphic 6">
            <a:extLst>
              <a:ext uri="{FF2B5EF4-FFF2-40B4-BE49-F238E27FC236}">
                <a16:creationId xmlns:a16="http://schemas.microsoft.com/office/drawing/2014/main" id="{21294564-62D3-4FB2-BA8B-EAAF9F68D8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66138" y="2814638"/>
            <a:ext cx="2913062" cy="2913062"/>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258358350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normAutofit/>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413000"/>
            <a:ext cx="10563285" cy="3632200"/>
          </a:xfrm>
        </p:spPr>
        <p:txBody>
          <a:bodyPr anchor="t">
            <a:normAutofit/>
          </a:bodyPr>
          <a:lstStyle/>
          <a:p>
            <a:r>
              <a:rPr lang="fr-FR"/>
              <a:t>Exemple :</a:t>
            </a:r>
          </a:p>
        </p:txBody>
      </p:sp>
      <p:sp>
        <p:nvSpPr>
          <p:cNvPr id="6" name="Espace réservé du numéro de diapositive 5">
            <a:extLst>
              <a:ext uri="{FF2B5EF4-FFF2-40B4-BE49-F238E27FC236}">
                <a16:creationId xmlns:a16="http://schemas.microsoft.com/office/drawing/2014/main" id="{ECC0982D-0273-4AF8-B827-09BB75711BE9}"/>
              </a:ext>
            </a:extLst>
          </p:cNvPr>
          <p:cNvSpPr>
            <a:spLocks noGrp="1"/>
          </p:cNvSpPr>
          <p:nvPr>
            <p:ph type="sldNum" sz="quarter" idx="12"/>
          </p:nvPr>
        </p:nvSpPr>
        <p:spPr/>
        <p:txBody>
          <a:bodyPr/>
          <a:lstStyle/>
          <a:p>
            <a:fld id="{27C6CCC6-2BE5-4E42-96A4-D1E8E81A3D8E}" type="slidenum">
              <a:rPr lang="de-DE" smtClean="0"/>
              <a:t>178</a:t>
            </a:fld>
            <a:endParaRPr lang="de-DE"/>
          </a:p>
        </p:txBody>
      </p:sp>
      <p:graphicFrame>
        <p:nvGraphicFramePr>
          <p:cNvPr id="8" name="Tableau 7">
            <a:extLst>
              <a:ext uri="{FF2B5EF4-FFF2-40B4-BE49-F238E27FC236}">
                <a16:creationId xmlns:a16="http://schemas.microsoft.com/office/drawing/2014/main" id="{5AF26395-0583-4349-B0E2-48C92A858216}"/>
              </a:ext>
            </a:extLst>
          </p:cNvPr>
          <p:cNvGraphicFramePr>
            <a:graphicFrameLocks noGrp="1"/>
          </p:cNvGraphicFramePr>
          <p:nvPr>
            <p:extLst>
              <p:ext uri="{D42A27DB-BD31-4B8C-83A1-F6EECF244321}">
                <p14:modId xmlns:p14="http://schemas.microsoft.com/office/powerpoint/2010/main" val="1064743221"/>
              </p:ext>
            </p:extLst>
          </p:nvPr>
        </p:nvGraphicFramePr>
        <p:xfrm>
          <a:off x="626402" y="3680460"/>
          <a:ext cx="4971093" cy="1097280"/>
        </p:xfrm>
        <a:graphic>
          <a:graphicData uri="http://schemas.openxmlformats.org/drawingml/2006/table">
            <a:tbl>
              <a:tblPr firstRow="1" bandRow="1">
                <a:tableStyleId>{93296810-A885-4BE3-A3E7-6D5BEEA58F35}</a:tableStyleId>
              </a:tblPr>
              <a:tblGrid>
                <a:gridCol w="670308">
                  <a:extLst>
                    <a:ext uri="{9D8B030D-6E8A-4147-A177-3AD203B41FA5}">
                      <a16:colId xmlns:a16="http://schemas.microsoft.com/office/drawing/2014/main" val="390215274"/>
                    </a:ext>
                  </a:extLst>
                </a:gridCol>
                <a:gridCol w="1521151">
                  <a:extLst>
                    <a:ext uri="{9D8B030D-6E8A-4147-A177-3AD203B41FA5}">
                      <a16:colId xmlns:a16="http://schemas.microsoft.com/office/drawing/2014/main" val="4094920416"/>
                    </a:ext>
                  </a:extLst>
                </a:gridCol>
                <a:gridCol w="2779634">
                  <a:extLst>
                    <a:ext uri="{9D8B030D-6E8A-4147-A177-3AD203B41FA5}">
                      <a16:colId xmlns:a16="http://schemas.microsoft.com/office/drawing/2014/main" val="4194652004"/>
                    </a:ext>
                  </a:extLst>
                </a:gridCol>
              </a:tblGrid>
              <a:tr h="328469">
                <a:tc>
                  <a:txBody>
                    <a:bodyPr/>
                    <a:lstStyle/>
                    <a:p>
                      <a:r>
                        <a:rPr lang="fr-FR" u="sng"/>
                        <a:t>ID</a:t>
                      </a:r>
                    </a:p>
                  </a:txBody>
                  <a:tcPr/>
                </a:tc>
                <a:tc>
                  <a:txBody>
                    <a:bodyPr/>
                    <a:lstStyle/>
                    <a:p>
                      <a:r>
                        <a:rPr lang="fr-FR"/>
                        <a:t>Marque</a:t>
                      </a:r>
                    </a:p>
                  </a:txBody>
                  <a:tcPr/>
                </a:tc>
                <a:tc>
                  <a:txBody>
                    <a:bodyPr/>
                    <a:lstStyle/>
                    <a:p>
                      <a:r>
                        <a:rPr lang="fr-FR"/>
                        <a:t>Modèle</a:t>
                      </a:r>
                    </a:p>
                  </a:txBody>
                  <a:tcPr/>
                </a:tc>
                <a:extLst>
                  <a:ext uri="{0D108BD9-81ED-4DB2-BD59-A6C34878D82A}">
                    <a16:rowId xmlns:a16="http://schemas.microsoft.com/office/drawing/2014/main" val="2910648804"/>
                  </a:ext>
                </a:extLst>
              </a:tr>
              <a:tr h="302184">
                <a:tc>
                  <a:txBody>
                    <a:bodyPr/>
                    <a:lstStyle/>
                    <a:p>
                      <a:r>
                        <a:rPr lang="fr-FR"/>
                        <a:t>1</a:t>
                      </a:r>
                    </a:p>
                  </a:txBody>
                  <a:tcPr/>
                </a:tc>
                <a:tc>
                  <a:txBody>
                    <a:bodyPr/>
                    <a:lstStyle/>
                    <a:p>
                      <a:r>
                        <a:rPr lang="fr-FR"/>
                        <a:t>Peugeot</a:t>
                      </a:r>
                    </a:p>
                  </a:txBody>
                  <a:tcPr/>
                </a:tc>
                <a:tc>
                  <a:txBody>
                    <a:bodyPr/>
                    <a:lstStyle/>
                    <a:p>
                      <a:r>
                        <a:rPr lang="fr-FR"/>
                        <a:t>208, 308, 508, 2008</a:t>
                      </a:r>
                    </a:p>
                  </a:txBody>
                  <a:tcPr/>
                </a:tc>
                <a:extLst>
                  <a:ext uri="{0D108BD9-81ED-4DB2-BD59-A6C34878D82A}">
                    <a16:rowId xmlns:a16="http://schemas.microsoft.com/office/drawing/2014/main" val="2545457265"/>
                  </a:ext>
                </a:extLst>
              </a:tr>
              <a:tr h="302184">
                <a:tc>
                  <a:txBody>
                    <a:bodyPr/>
                    <a:lstStyle/>
                    <a:p>
                      <a:r>
                        <a:rPr lang="fr-FR"/>
                        <a:t>2</a:t>
                      </a:r>
                    </a:p>
                  </a:txBody>
                  <a:tcPr/>
                </a:tc>
                <a:tc>
                  <a:txBody>
                    <a:bodyPr/>
                    <a:lstStyle/>
                    <a:p>
                      <a:r>
                        <a:rPr lang="fr-FR"/>
                        <a:t>Renault</a:t>
                      </a:r>
                    </a:p>
                  </a:txBody>
                  <a:tcPr/>
                </a:tc>
                <a:tc>
                  <a:txBody>
                    <a:bodyPr/>
                    <a:lstStyle/>
                    <a:p>
                      <a:r>
                        <a:rPr lang="fr-FR"/>
                        <a:t>Clio, Mégane, Twingo</a:t>
                      </a:r>
                    </a:p>
                  </a:txBody>
                  <a:tcPr/>
                </a:tc>
                <a:extLst>
                  <a:ext uri="{0D108BD9-81ED-4DB2-BD59-A6C34878D82A}">
                    <a16:rowId xmlns:a16="http://schemas.microsoft.com/office/drawing/2014/main" val="1940258236"/>
                  </a:ext>
                </a:extLst>
              </a:tr>
            </a:tbl>
          </a:graphicData>
        </a:graphic>
      </p:graphicFrame>
      <p:graphicFrame>
        <p:nvGraphicFramePr>
          <p:cNvPr id="9" name="Tableau 8">
            <a:extLst>
              <a:ext uri="{FF2B5EF4-FFF2-40B4-BE49-F238E27FC236}">
                <a16:creationId xmlns:a16="http://schemas.microsoft.com/office/drawing/2014/main" id="{AF283DDA-F6E8-4002-A0DD-F642A243273E}"/>
              </a:ext>
            </a:extLst>
          </p:cNvPr>
          <p:cNvGraphicFramePr>
            <a:graphicFrameLocks noGrp="1"/>
          </p:cNvGraphicFramePr>
          <p:nvPr>
            <p:extLst>
              <p:ext uri="{D42A27DB-BD31-4B8C-83A1-F6EECF244321}">
                <p14:modId xmlns:p14="http://schemas.microsoft.com/office/powerpoint/2010/main" val="434659283"/>
              </p:ext>
            </p:extLst>
          </p:nvPr>
        </p:nvGraphicFramePr>
        <p:xfrm>
          <a:off x="6594507" y="2948940"/>
          <a:ext cx="4030230" cy="2560320"/>
        </p:xfrm>
        <a:graphic>
          <a:graphicData uri="http://schemas.openxmlformats.org/drawingml/2006/table">
            <a:tbl>
              <a:tblPr firstRow="1" bandRow="1">
                <a:tableStyleId>{5C22544A-7EE6-4342-B048-85BDC9FD1C3A}</a:tableStyleId>
              </a:tblPr>
              <a:tblGrid>
                <a:gridCol w="479303">
                  <a:extLst>
                    <a:ext uri="{9D8B030D-6E8A-4147-A177-3AD203B41FA5}">
                      <a16:colId xmlns:a16="http://schemas.microsoft.com/office/drawing/2014/main" val="390215274"/>
                    </a:ext>
                  </a:extLst>
                </a:gridCol>
                <a:gridCol w="1867405">
                  <a:extLst>
                    <a:ext uri="{9D8B030D-6E8A-4147-A177-3AD203B41FA5}">
                      <a16:colId xmlns:a16="http://schemas.microsoft.com/office/drawing/2014/main" val="4094920416"/>
                    </a:ext>
                  </a:extLst>
                </a:gridCol>
                <a:gridCol w="1683522">
                  <a:extLst>
                    <a:ext uri="{9D8B030D-6E8A-4147-A177-3AD203B41FA5}">
                      <a16:colId xmlns:a16="http://schemas.microsoft.com/office/drawing/2014/main" val="4194652004"/>
                    </a:ext>
                  </a:extLst>
                </a:gridCol>
              </a:tblGrid>
              <a:tr h="328469">
                <a:tc>
                  <a:txBody>
                    <a:bodyPr/>
                    <a:lstStyle/>
                    <a:p>
                      <a:r>
                        <a:rPr lang="fr-FR" u="sng"/>
                        <a:t>ID</a:t>
                      </a:r>
                    </a:p>
                  </a:txBody>
                  <a:tcPr/>
                </a:tc>
                <a:tc>
                  <a:txBody>
                    <a:bodyPr/>
                    <a:lstStyle/>
                    <a:p>
                      <a:r>
                        <a:rPr lang="fr-FR"/>
                        <a:t>Marque</a:t>
                      </a:r>
                    </a:p>
                  </a:txBody>
                  <a:tcPr/>
                </a:tc>
                <a:tc>
                  <a:txBody>
                    <a:bodyPr/>
                    <a:lstStyle/>
                    <a:p>
                      <a:r>
                        <a:rPr lang="fr-FR"/>
                        <a:t>Modèle</a:t>
                      </a:r>
                    </a:p>
                  </a:txBody>
                  <a:tcPr/>
                </a:tc>
                <a:extLst>
                  <a:ext uri="{0D108BD9-81ED-4DB2-BD59-A6C34878D82A}">
                    <a16:rowId xmlns:a16="http://schemas.microsoft.com/office/drawing/2014/main" val="2910648804"/>
                  </a:ext>
                </a:extLst>
              </a:tr>
              <a:tr h="302184">
                <a:tc>
                  <a:txBody>
                    <a:bodyPr/>
                    <a:lstStyle/>
                    <a:p>
                      <a:r>
                        <a:rPr lang="fr-FR"/>
                        <a:t>1</a:t>
                      </a:r>
                    </a:p>
                  </a:txBody>
                  <a:tcPr/>
                </a:tc>
                <a:tc>
                  <a:txBody>
                    <a:bodyPr/>
                    <a:lstStyle/>
                    <a:p>
                      <a:r>
                        <a:rPr lang="fr-FR"/>
                        <a:t>Peugeot</a:t>
                      </a:r>
                    </a:p>
                  </a:txBody>
                  <a:tcPr/>
                </a:tc>
                <a:tc>
                  <a:txBody>
                    <a:bodyPr/>
                    <a:lstStyle/>
                    <a:p>
                      <a:r>
                        <a:rPr lang="fr-FR"/>
                        <a:t>208</a:t>
                      </a:r>
                    </a:p>
                  </a:txBody>
                  <a:tcPr/>
                </a:tc>
                <a:extLst>
                  <a:ext uri="{0D108BD9-81ED-4DB2-BD59-A6C34878D82A}">
                    <a16:rowId xmlns:a16="http://schemas.microsoft.com/office/drawing/2014/main" val="2545457265"/>
                  </a:ext>
                </a:extLst>
              </a:tr>
              <a:tr h="302184">
                <a:tc>
                  <a:txBody>
                    <a:bodyPr/>
                    <a:lstStyle/>
                    <a:p>
                      <a:r>
                        <a:rPr lang="fr-FR"/>
                        <a:t>2</a:t>
                      </a:r>
                    </a:p>
                  </a:txBody>
                  <a:tcPr/>
                </a:tc>
                <a:tc>
                  <a:txBody>
                    <a:bodyPr/>
                    <a:lstStyle/>
                    <a:p>
                      <a:r>
                        <a:rPr lang="fr-FR"/>
                        <a:t>Peugeot</a:t>
                      </a:r>
                    </a:p>
                  </a:txBody>
                  <a:tcPr/>
                </a:tc>
                <a:tc>
                  <a:txBody>
                    <a:bodyPr/>
                    <a:lstStyle/>
                    <a:p>
                      <a:r>
                        <a:rPr lang="fr-FR"/>
                        <a:t>308</a:t>
                      </a:r>
                    </a:p>
                  </a:txBody>
                  <a:tcPr/>
                </a:tc>
                <a:extLst>
                  <a:ext uri="{0D108BD9-81ED-4DB2-BD59-A6C34878D82A}">
                    <a16:rowId xmlns:a16="http://schemas.microsoft.com/office/drawing/2014/main" val="1940258236"/>
                  </a:ext>
                </a:extLst>
              </a:tr>
              <a:tr h="302184">
                <a:tc>
                  <a:txBody>
                    <a:bodyPr/>
                    <a:lstStyle/>
                    <a:p>
                      <a:r>
                        <a:rPr lang="fr-FR"/>
                        <a:t>3</a:t>
                      </a:r>
                    </a:p>
                  </a:txBody>
                  <a:tcPr/>
                </a:tc>
                <a:tc>
                  <a:txBody>
                    <a:bodyPr/>
                    <a:lstStyle/>
                    <a:p>
                      <a:r>
                        <a:rPr lang="fr-FR"/>
                        <a:t>Peugeot</a:t>
                      </a:r>
                    </a:p>
                  </a:txBody>
                  <a:tcPr/>
                </a:tc>
                <a:tc>
                  <a:txBody>
                    <a:bodyPr/>
                    <a:lstStyle/>
                    <a:p>
                      <a:r>
                        <a:rPr lang="fr-FR"/>
                        <a:t>508</a:t>
                      </a:r>
                    </a:p>
                  </a:txBody>
                  <a:tcPr/>
                </a:tc>
                <a:extLst>
                  <a:ext uri="{0D108BD9-81ED-4DB2-BD59-A6C34878D82A}">
                    <a16:rowId xmlns:a16="http://schemas.microsoft.com/office/drawing/2014/main" val="372586814"/>
                  </a:ext>
                </a:extLst>
              </a:tr>
              <a:tr h="302184">
                <a:tc>
                  <a:txBody>
                    <a:bodyPr/>
                    <a:lstStyle/>
                    <a:p>
                      <a:r>
                        <a:rPr lang="fr-FR"/>
                        <a:t>4</a:t>
                      </a:r>
                    </a:p>
                  </a:txBody>
                  <a:tcPr/>
                </a:tc>
                <a:tc>
                  <a:txBody>
                    <a:bodyPr/>
                    <a:lstStyle/>
                    <a:p>
                      <a:r>
                        <a:rPr lang="fr-FR"/>
                        <a:t>Peugeot</a:t>
                      </a:r>
                    </a:p>
                  </a:txBody>
                  <a:tcPr/>
                </a:tc>
                <a:tc>
                  <a:txBody>
                    <a:bodyPr/>
                    <a:lstStyle/>
                    <a:p>
                      <a:r>
                        <a:rPr lang="fr-FR"/>
                        <a:t>2008</a:t>
                      </a:r>
                    </a:p>
                  </a:txBody>
                  <a:tcPr/>
                </a:tc>
                <a:extLst>
                  <a:ext uri="{0D108BD9-81ED-4DB2-BD59-A6C34878D82A}">
                    <a16:rowId xmlns:a16="http://schemas.microsoft.com/office/drawing/2014/main" val="3679669941"/>
                  </a:ext>
                </a:extLst>
              </a:tr>
              <a:tr h="302184">
                <a:tc>
                  <a:txBody>
                    <a:bodyPr/>
                    <a:lstStyle/>
                    <a:p>
                      <a:r>
                        <a:rPr lang="fr-FR"/>
                        <a:t>5</a:t>
                      </a:r>
                    </a:p>
                  </a:txBody>
                  <a:tcPr/>
                </a:tc>
                <a:tc>
                  <a:txBody>
                    <a:bodyPr/>
                    <a:lstStyle/>
                    <a:p>
                      <a:r>
                        <a:rPr lang="fr-FR"/>
                        <a:t>Renault</a:t>
                      </a:r>
                    </a:p>
                  </a:txBody>
                  <a:tcPr/>
                </a:tc>
                <a:tc>
                  <a:txBody>
                    <a:bodyPr/>
                    <a:lstStyle/>
                    <a:p>
                      <a:r>
                        <a:rPr lang="fr-FR"/>
                        <a:t>Clio</a:t>
                      </a:r>
                    </a:p>
                  </a:txBody>
                  <a:tcPr/>
                </a:tc>
                <a:extLst>
                  <a:ext uri="{0D108BD9-81ED-4DB2-BD59-A6C34878D82A}">
                    <a16:rowId xmlns:a16="http://schemas.microsoft.com/office/drawing/2014/main" val="2910428464"/>
                  </a:ext>
                </a:extLst>
              </a:tr>
              <a:tr h="302184">
                <a:tc>
                  <a:txBody>
                    <a:bodyPr/>
                    <a:lstStyle/>
                    <a:p>
                      <a:r>
                        <a:rPr lang="fr-FR"/>
                        <a:t>6</a:t>
                      </a:r>
                    </a:p>
                  </a:txBody>
                  <a:tcPr/>
                </a:tc>
                <a:tc>
                  <a:txBody>
                    <a:bodyPr/>
                    <a:lstStyle/>
                    <a:p>
                      <a:r>
                        <a:rPr lang="fr-FR"/>
                        <a:t>Renault</a:t>
                      </a:r>
                    </a:p>
                  </a:txBody>
                  <a:tcPr/>
                </a:tc>
                <a:tc>
                  <a:txBody>
                    <a:bodyPr/>
                    <a:lstStyle/>
                    <a:p>
                      <a:r>
                        <a:rPr lang="fr-FR"/>
                        <a:t>Mégane</a:t>
                      </a:r>
                    </a:p>
                  </a:txBody>
                  <a:tcPr/>
                </a:tc>
                <a:extLst>
                  <a:ext uri="{0D108BD9-81ED-4DB2-BD59-A6C34878D82A}">
                    <a16:rowId xmlns:a16="http://schemas.microsoft.com/office/drawing/2014/main" val="2063162518"/>
                  </a:ext>
                </a:extLst>
              </a:tr>
            </a:tbl>
          </a:graphicData>
        </a:graphic>
      </p:graphicFrame>
      <p:sp>
        <p:nvSpPr>
          <p:cNvPr id="4" name="Signe de multiplication 3">
            <a:extLst>
              <a:ext uri="{FF2B5EF4-FFF2-40B4-BE49-F238E27FC236}">
                <a16:creationId xmlns:a16="http://schemas.microsoft.com/office/drawing/2014/main" id="{6EAC9A7E-DC13-4E8F-8B41-53CE037CB180}"/>
              </a:ext>
            </a:extLst>
          </p:cNvPr>
          <p:cNvSpPr/>
          <p:nvPr/>
        </p:nvSpPr>
        <p:spPr>
          <a:xfrm>
            <a:off x="1501066" y="2666288"/>
            <a:ext cx="3221764" cy="3125624"/>
          </a:xfrm>
          <a:prstGeom prst="mathMultiply">
            <a:avLst/>
          </a:prstGeom>
          <a:solidFill>
            <a:schemeClr val="accent5">
              <a:lumMod val="50000"/>
              <a:alpha val="47843"/>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992713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normAutofit/>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413000"/>
            <a:ext cx="10563285" cy="3632200"/>
          </a:xfrm>
        </p:spPr>
        <p:txBody>
          <a:bodyPr anchor="t">
            <a:normAutofit/>
          </a:bodyPr>
          <a:lstStyle/>
          <a:p>
            <a:r>
              <a:rPr lang="fr-FR"/>
              <a:t>Le non-respect de la première forme normale rend difficile la récupération des données</a:t>
            </a:r>
          </a:p>
          <a:p>
            <a:r>
              <a:rPr lang="fr-FR"/>
              <a:t>Cas extrême de non-respect de 1NF :</a:t>
            </a:r>
          </a:p>
          <a:p>
            <a:endParaRPr lang="fr-FR"/>
          </a:p>
          <a:p>
            <a:endParaRPr lang="fr-FR"/>
          </a:p>
          <a:p>
            <a:endParaRPr lang="fr-FR"/>
          </a:p>
          <a:p>
            <a:endParaRPr lang="fr-FR"/>
          </a:p>
          <a:p>
            <a:r>
              <a:rPr lang="fr-FR"/>
              <a:t>Les données sont toutes mises dans un même champ, impossible d’écrire une requête simple pour récupérer, par exemple, les étudiants nés après 2000</a:t>
            </a:r>
          </a:p>
        </p:txBody>
      </p:sp>
      <p:sp>
        <p:nvSpPr>
          <p:cNvPr id="6" name="Espace réservé du numéro de diapositive 5">
            <a:extLst>
              <a:ext uri="{FF2B5EF4-FFF2-40B4-BE49-F238E27FC236}">
                <a16:creationId xmlns:a16="http://schemas.microsoft.com/office/drawing/2014/main" id="{ECC0982D-0273-4AF8-B827-09BB75711BE9}"/>
              </a:ext>
            </a:extLst>
          </p:cNvPr>
          <p:cNvSpPr>
            <a:spLocks noGrp="1"/>
          </p:cNvSpPr>
          <p:nvPr>
            <p:ph type="sldNum" sz="quarter" idx="12"/>
          </p:nvPr>
        </p:nvSpPr>
        <p:spPr/>
        <p:txBody>
          <a:bodyPr/>
          <a:lstStyle/>
          <a:p>
            <a:fld id="{27C6CCC6-2BE5-4E42-96A4-D1E8E81A3D8E}" type="slidenum">
              <a:rPr lang="de-DE" smtClean="0"/>
              <a:t>179</a:t>
            </a:fld>
            <a:endParaRPr lang="de-DE"/>
          </a:p>
        </p:txBody>
      </p:sp>
      <p:graphicFrame>
        <p:nvGraphicFramePr>
          <p:cNvPr id="10" name="Tableau 9">
            <a:extLst>
              <a:ext uri="{FF2B5EF4-FFF2-40B4-BE49-F238E27FC236}">
                <a16:creationId xmlns:a16="http://schemas.microsoft.com/office/drawing/2014/main" id="{3512ADB1-CFD9-4D8F-82F1-76EC0F171E2A}"/>
              </a:ext>
            </a:extLst>
          </p:cNvPr>
          <p:cNvGraphicFramePr>
            <a:graphicFrameLocks noGrp="1"/>
          </p:cNvGraphicFramePr>
          <p:nvPr>
            <p:extLst>
              <p:ext uri="{D42A27DB-BD31-4B8C-83A1-F6EECF244321}">
                <p14:modId xmlns:p14="http://schemas.microsoft.com/office/powerpoint/2010/main" val="3288691573"/>
              </p:ext>
            </p:extLst>
          </p:nvPr>
        </p:nvGraphicFramePr>
        <p:xfrm>
          <a:off x="2909697" y="3429000"/>
          <a:ext cx="5200262" cy="1097280"/>
        </p:xfrm>
        <a:graphic>
          <a:graphicData uri="http://schemas.openxmlformats.org/drawingml/2006/table">
            <a:tbl>
              <a:tblPr firstRow="1" bandRow="1">
                <a:tableStyleId>{93296810-A885-4BE3-A3E7-6D5BEEA58F35}</a:tableStyleId>
              </a:tblPr>
              <a:tblGrid>
                <a:gridCol w="576988">
                  <a:extLst>
                    <a:ext uri="{9D8B030D-6E8A-4147-A177-3AD203B41FA5}">
                      <a16:colId xmlns:a16="http://schemas.microsoft.com/office/drawing/2014/main" val="390215274"/>
                    </a:ext>
                  </a:extLst>
                </a:gridCol>
                <a:gridCol w="4623274">
                  <a:extLst>
                    <a:ext uri="{9D8B030D-6E8A-4147-A177-3AD203B41FA5}">
                      <a16:colId xmlns:a16="http://schemas.microsoft.com/office/drawing/2014/main" val="4094920416"/>
                    </a:ext>
                  </a:extLst>
                </a:gridCol>
              </a:tblGrid>
              <a:tr h="328469">
                <a:tc>
                  <a:txBody>
                    <a:bodyPr/>
                    <a:lstStyle/>
                    <a:p>
                      <a:r>
                        <a:rPr lang="fr-FR" u="sng"/>
                        <a:t>ID</a:t>
                      </a:r>
                    </a:p>
                  </a:txBody>
                  <a:tcPr/>
                </a:tc>
                <a:tc>
                  <a:txBody>
                    <a:bodyPr/>
                    <a:lstStyle/>
                    <a:p>
                      <a:r>
                        <a:rPr lang="fr-FR"/>
                        <a:t>Etudiant</a:t>
                      </a:r>
                    </a:p>
                  </a:txBody>
                  <a:tcPr/>
                </a:tc>
                <a:extLst>
                  <a:ext uri="{0D108BD9-81ED-4DB2-BD59-A6C34878D82A}">
                    <a16:rowId xmlns:a16="http://schemas.microsoft.com/office/drawing/2014/main" val="2910648804"/>
                  </a:ext>
                </a:extLst>
              </a:tr>
              <a:tr h="302184">
                <a:tc>
                  <a:txBody>
                    <a:bodyPr/>
                    <a:lstStyle/>
                    <a:p>
                      <a:r>
                        <a:rPr lang="fr-FR"/>
                        <a:t>1</a:t>
                      </a:r>
                    </a:p>
                  </a:txBody>
                  <a:tcPr/>
                </a:tc>
                <a:tc>
                  <a:txBody>
                    <a:bodyPr/>
                    <a:lstStyle/>
                    <a:p>
                      <a:r>
                        <a:rPr lang="fr-FR"/>
                        <a:t>Jean Martin né le 01/05/99</a:t>
                      </a:r>
                    </a:p>
                  </a:txBody>
                  <a:tcPr/>
                </a:tc>
                <a:extLst>
                  <a:ext uri="{0D108BD9-81ED-4DB2-BD59-A6C34878D82A}">
                    <a16:rowId xmlns:a16="http://schemas.microsoft.com/office/drawing/2014/main" val="2545457265"/>
                  </a:ext>
                </a:extLst>
              </a:tr>
              <a:tr h="302184">
                <a:tc>
                  <a:txBody>
                    <a:bodyPr/>
                    <a:lstStyle/>
                    <a:p>
                      <a:r>
                        <a:rPr lang="fr-FR"/>
                        <a:t>2</a:t>
                      </a:r>
                    </a:p>
                  </a:txBody>
                  <a:tcPr/>
                </a:tc>
                <a:tc>
                  <a:txBody>
                    <a:bodyPr/>
                    <a:lstStyle/>
                    <a:p>
                      <a:r>
                        <a:rPr lang="fr-FR"/>
                        <a:t>Lucas Dupont né le 03/01/00</a:t>
                      </a:r>
                    </a:p>
                  </a:txBody>
                  <a:tcPr/>
                </a:tc>
                <a:extLst>
                  <a:ext uri="{0D108BD9-81ED-4DB2-BD59-A6C34878D82A}">
                    <a16:rowId xmlns:a16="http://schemas.microsoft.com/office/drawing/2014/main" val="1940258236"/>
                  </a:ext>
                </a:extLst>
              </a:tr>
            </a:tbl>
          </a:graphicData>
        </a:graphic>
      </p:graphicFrame>
    </p:spTree>
    <p:extLst>
      <p:ext uri="{BB962C8B-B14F-4D97-AF65-F5344CB8AC3E}">
        <p14:creationId xmlns:p14="http://schemas.microsoft.com/office/powerpoint/2010/main" val="76179039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b="1"/>
              <a:t>2NF – Deuxième forme normale </a:t>
            </a:r>
            <a:r>
              <a:rPr lang="fr-FR"/>
              <a:t>: chaque colonne non clé est entièrement dépendante de toute la clé (ne concerne que les tables ayant une clé composée de plusieurs colonnes)</a:t>
            </a:r>
          </a:p>
          <a:p>
            <a:r>
              <a:rPr lang="fr-FR" b="1"/>
              <a:t>Pour être en 2NF il faut être en 1NF</a:t>
            </a:r>
          </a:p>
          <a:p>
            <a:r>
              <a:rPr lang="fr-FR"/>
              <a:t>Une table ne respecte pas la 2NF s’il existe une colonne non clé qui ne dépend pas de toute la clé</a:t>
            </a:r>
          </a:p>
          <a:p>
            <a:r>
              <a:rPr lang="fr-FR"/>
              <a:t>Rappel : une colonne A dépend d’une autre colonne B si B détermine A (un doublon dans la valeur de B entraîne un doublon dans la valeur de A)</a:t>
            </a:r>
          </a:p>
        </p:txBody>
      </p:sp>
      <p:sp>
        <p:nvSpPr>
          <p:cNvPr id="6" name="Espace réservé du numéro de diapositive 5">
            <a:extLst>
              <a:ext uri="{FF2B5EF4-FFF2-40B4-BE49-F238E27FC236}">
                <a16:creationId xmlns:a16="http://schemas.microsoft.com/office/drawing/2014/main" id="{60FFB08B-4026-4507-9B9B-29645F2F26D1}"/>
              </a:ext>
            </a:extLst>
          </p:cNvPr>
          <p:cNvSpPr>
            <a:spLocks noGrp="1"/>
          </p:cNvSpPr>
          <p:nvPr>
            <p:ph type="sldNum" sz="quarter" idx="12"/>
          </p:nvPr>
        </p:nvSpPr>
        <p:spPr/>
        <p:txBody>
          <a:bodyPr/>
          <a:lstStyle/>
          <a:p>
            <a:fld id="{27C6CCC6-2BE5-4E42-96A4-D1E8E81A3D8E}" type="slidenum">
              <a:rPr lang="de-DE" smtClean="0"/>
              <a:t>180</a:t>
            </a:fld>
            <a:endParaRPr lang="de-DE"/>
          </a:p>
        </p:txBody>
      </p:sp>
    </p:spTree>
    <p:extLst>
      <p:ext uri="{BB962C8B-B14F-4D97-AF65-F5344CB8AC3E}">
        <p14:creationId xmlns:p14="http://schemas.microsoft.com/office/powerpoint/2010/main" val="492553784"/>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normAutofit/>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413000"/>
            <a:ext cx="10563285" cy="3632200"/>
          </a:xfrm>
        </p:spPr>
        <p:txBody>
          <a:bodyPr anchor="t">
            <a:normAutofit/>
          </a:bodyPr>
          <a:lstStyle/>
          <a:p>
            <a:r>
              <a:rPr lang="fr-FR"/>
              <a:t>Exemple :</a:t>
            </a:r>
          </a:p>
          <a:p>
            <a:endParaRPr lang="fr-FR"/>
          </a:p>
          <a:p>
            <a:endParaRPr lang="fr-FR"/>
          </a:p>
          <a:p>
            <a:endParaRPr lang="fr-FR"/>
          </a:p>
          <a:p>
            <a:endParaRPr lang="fr-FR"/>
          </a:p>
          <a:p>
            <a:endParaRPr lang="fr-FR"/>
          </a:p>
          <a:p>
            <a:endParaRPr lang="fr-FR"/>
          </a:p>
          <a:p>
            <a:endParaRPr lang="fr-FR"/>
          </a:p>
          <a:p>
            <a:r>
              <a:rPr lang="fr-FR"/>
              <a:t>Note dépend de (Etudiant, UV) mais date de naissance ne dépend que de (Etudiant)</a:t>
            </a:r>
          </a:p>
        </p:txBody>
      </p:sp>
      <p:sp>
        <p:nvSpPr>
          <p:cNvPr id="6" name="Espace réservé du numéro de diapositive 5">
            <a:extLst>
              <a:ext uri="{FF2B5EF4-FFF2-40B4-BE49-F238E27FC236}">
                <a16:creationId xmlns:a16="http://schemas.microsoft.com/office/drawing/2014/main" id="{ECC0982D-0273-4AF8-B827-09BB75711BE9}"/>
              </a:ext>
            </a:extLst>
          </p:cNvPr>
          <p:cNvSpPr>
            <a:spLocks noGrp="1"/>
          </p:cNvSpPr>
          <p:nvPr>
            <p:ph type="sldNum" sz="quarter" idx="12"/>
          </p:nvPr>
        </p:nvSpPr>
        <p:spPr/>
        <p:txBody>
          <a:bodyPr/>
          <a:lstStyle/>
          <a:p>
            <a:fld id="{27C6CCC6-2BE5-4E42-96A4-D1E8E81A3D8E}" type="slidenum">
              <a:rPr lang="de-DE" smtClean="0"/>
              <a:t>181</a:t>
            </a:fld>
            <a:endParaRPr lang="de-DE"/>
          </a:p>
        </p:txBody>
      </p:sp>
      <p:graphicFrame>
        <p:nvGraphicFramePr>
          <p:cNvPr id="8" name="Tableau 7">
            <a:extLst>
              <a:ext uri="{FF2B5EF4-FFF2-40B4-BE49-F238E27FC236}">
                <a16:creationId xmlns:a16="http://schemas.microsoft.com/office/drawing/2014/main" id="{5AF26395-0583-4349-B0E2-48C92A858216}"/>
              </a:ext>
            </a:extLst>
          </p:cNvPr>
          <p:cNvGraphicFramePr>
            <a:graphicFrameLocks noGrp="1"/>
          </p:cNvGraphicFramePr>
          <p:nvPr>
            <p:extLst>
              <p:ext uri="{D42A27DB-BD31-4B8C-83A1-F6EECF244321}">
                <p14:modId xmlns:p14="http://schemas.microsoft.com/office/powerpoint/2010/main" val="4085878516"/>
              </p:ext>
            </p:extLst>
          </p:nvPr>
        </p:nvGraphicFramePr>
        <p:xfrm>
          <a:off x="772871" y="3497580"/>
          <a:ext cx="4971093" cy="1463040"/>
        </p:xfrm>
        <a:graphic>
          <a:graphicData uri="http://schemas.openxmlformats.org/drawingml/2006/table">
            <a:tbl>
              <a:tblPr firstRow="1" bandRow="1">
                <a:tableStyleId>{93296810-A885-4BE3-A3E7-6D5BEEA58F35}</a:tableStyleId>
              </a:tblPr>
              <a:tblGrid>
                <a:gridCol w="1128827">
                  <a:extLst>
                    <a:ext uri="{9D8B030D-6E8A-4147-A177-3AD203B41FA5}">
                      <a16:colId xmlns:a16="http://schemas.microsoft.com/office/drawing/2014/main" val="390215274"/>
                    </a:ext>
                  </a:extLst>
                </a:gridCol>
                <a:gridCol w="704193">
                  <a:extLst>
                    <a:ext uri="{9D8B030D-6E8A-4147-A177-3AD203B41FA5}">
                      <a16:colId xmlns:a16="http://schemas.microsoft.com/office/drawing/2014/main" val="4094920416"/>
                    </a:ext>
                  </a:extLst>
                </a:gridCol>
                <a:gridCol w="809296">
                  <a:extLst>
                    <a:ext uri="{9D8B030D-6E8A-4147-A177-3AD203B41FA5}">
                      <a16:colId xmlns:a16="http://schemas.microsoft.com/office/drawing/2014/main" val="4194652004"/>
                    </a:ext>
                  </a:extLst>
                </a:gridCol>
                <a:gridCol w="2328777">
                  <a:extLst>
                    <a:ext uri="{9D8B030D-6E8A-4147-A177-3AD203B41FA5}">
                      <a16:colId xmlns:a16="http://schemas.microsoft.com/office/drawing/2014/main" val="2806316477"/>
                    </a:ext>
                  </a:extLst>
                </a:gridCol>
              </a:tblGrid>
              <a:tr h="328469">
                <a:tc>
                  <a:txBody>
                    <a:bodyPr/>
                    <a:lstStyle/>
                    <a:p>
                      <a:r>
                        <a:rPr lang="fr-FR" u="sng"/>
                        <a:t>Etudiant</a:t>
                      </a:r>
                    </a:p>
                  </a:txBody>
                  <a:tcPr/>
                </a:tc>
                <a:tc>
                  <a:txBody>
                    <a:bodyPr/>
                    <a:lstStyle/>
                    <a:p>
                      <a:r>
                        <a:rPr lang="fr-FR" u="sng"/>
                        <a:t>UV</a:t>
                      </a:r>
                    </a:p>
                  </a:txBody>
                  <a:tcPr/>
                </a:tc>
                <a:tc>
                  <a:txBody>
                    <a:bodyPr/>
                    <a:lstStyle/>
                    <a:p>
                      <a:r>
                        <a:rPr lang="fr-FR"/>
                        <a:t>Note</a:t>
                      </a:r>
                    </a:p>
                  </a:txBody>
                  <a:tcPr/>
                </a:tc>
                <a:tc>
                  <a:txBody>
                    <a:bodyPr/>
                    <a:lstStyle/>
                    <a:p>
                      <a:r>
                        <a:rPr lang="fr-FR"/>
                        <a:t>Date de naissance</a:t>
                      </a:r>
                    </a:p>
                  </a:txBody>
                  <a:tcPr/>
                </a:tc>
                <a:extLst>
                  <a:ext uri="{0D108BD9-81ED-4DB2-BD59-A6C34878D82A}">
                    <a16:rowId xmlns:a16="http://schemas.microsoft.com/office/drawing/2014/main" val="2910648804"/>
                  </a:ext>
                </a:extLst>
              </a:tr>
              <a:tr h="302184">
                <a:tc>
                  <a:txBody>
                    <a:bodyPr/>
                    <a:lstStyle/>
                    <a:p>
                      <a:r>
                        <a:rPr lang="fr-FR"/>
                        <a:t>MARTIN</a:t>
                      </a:r>
                    </a:p>
                  </a:txBody>
                  <a:tcPr/>
                </a:tc>
                <a:tc>
                  <a:txBody>
                    <a:bodyPr/>
                    <a:lstStyle/>
                    <a:p>
                      <a:r>
                        <a:rPr lang="fr-FR"/>
                        <a:t>IFD1</a:t>
                      </a:r>
                    </a:p>
                  </a:txBody>
                  <a:tcPr/>
                </a:tc>
                <a:tc>
                  <a:txBody>
                    <a:bodyPr/>
                    <a:lstStyle/>
                    <a:p>
                      <a:r>
                        <a:rPr lang="fr-FR"/>
                        <a:t>12</a:t>
                      </a:r>
                    </a:p>
                  </a:txBody>
                  <a:tcPr/>
                </a:tc>
                <a:tc>
                  <a:txBody>
                    <a:bodyPr/>
                    <a:lstStyle/>
                    <a:p>
                      <a:r>
                        <a:rPr lang="fr-FR"/>
                        <a:t>01/01/99</a:t>
                      </a:r>
                    </a:p>
                  </a:txBody>
                  <a:tcPr/>
                </a:tc>
                <a:extLst>
                  <a:ext uri="{0D108BD9-81ED-4DB2-BD59-A6C34878D82A}">
                    <a16:rowId xmlns:a16="http://schemas.microsoft.com/office/drawing/2014/main" val="2545457265"/>
                  </a:ext>
                </a:extLst>
              </a:tr>
              <a:tr h="302184">
                <a:tc>
                  <a:txBody>
                    <a:bodyPr/>
                    <a:lstStyle/>
                    <a:p>
                      <a:r>
                        <a:rPr lang="fr-FR"/>
                        <a:t>MARTIN</a:t>
                      </a:r>
                    </a:p>
                  </a:txBody>
                  <a:tcPr/>
                </a:tc>
                <a:tc>
                  <a:txBody>
                    <a:bodyPr/>
                    <a:lstStyle/>
                    <a:p>
                      <a:r>
                        <a:rPr lang="fr-FR"/>
                        <a:t>IFD2</a:t>
                      </a:r>
                    </a:p>
                  </a:txBody>
                  <a:tcPr/>
                </a:tc>
                <a:tc>
                  <a:txBody>
                    <a:bodyPr/>
                    <a:lstStyle/>
                    <a:p>
                      <a:r>
                        <a:rPr lang="fr-FR"/>
                        <a:t>13</a:t>
                      </a:r>
                    </a:p>
                  </a:txBody>
                  <a:tcPr/>
                </a:tc>
                <a:tc>
                  <a:txBody>
                    <a:bodyPr/>
                    <a:lstStyle/>
                    <a:p>
                      <a:r>
                        <a:rPr lang="fr-FR"/>
                        <a:t>01/01/99</a:t>
                      </a:r>
                    </a:p>
                  </a:txBody>
                  <a:tcPr/>
                </a:tc>
                <a:extLst>
                  <a:ext uri="{0D108BD9-81ED-4DB2-BD59-A6C34878D82A}">
                    <a16:rowId xmlns:a16="http://schemas.microsoft.com/office/drawing/2014/main" val="1940258236"/>
                  </a:ext>
                </a:extLst>
              </a:tr>
              <a:tr h="302184">
                <a:tc>
                  <a:txBody>
                    <a:bodyPr/>
                    <a:lstStyle/>
                    <a:p>
                      <a:r>
                        <a:rPr lang="fr-FR"/>
                        <a:t>PAUL</a:t>
                      </a:r>
                    </a:p>
                  </a:txBody>
                  <a:tcPr/>
                </a:tc>
                <a:tc>
                  <a:txBody>
                    <a:bodyPr/>
                    <a:lstStyle/>
                    <a:p>
                      <a:r>
                        <a:rPr lang="fr-FR"/>
                        <a:t>IDF1</a:t>
                      </a:r>
                    </a:p>
                  </a:txBody>
                  <a:tcPr/>
                </a:tc>
                <a:tc>
                  <a:txBody>
                    <a:bodyPr/>
                    <a:lstStyle/>
                    <a:p>
                      <a:r>
                        <a:rPr lang="fr-FR"/>
                        <a:t>10</a:t>
                      </a:r>
                    </a:p>
                  </a:txBody>
                  <a:tcPr/>
                </a:tc>
                <a:tc>
                  <a:txBody>
                    <a:bodyPr/>
                    <a:lstStyle/>
                    <a:p>
                      <a:r>
                        <a:rPr lang="fr-FR"/>
                        <a:t>10/02/99</a:t>
                      </a:r>
                    </a:p>
                  </a:txBody>
                  <a:tcPr/>
                </a:tc>
                <a:extLst>
                  <a:ext uri="{0D108BD9-81ED-4DB2-BD59-A6C34878D82A}">
                    <a16:rowId xmlns:a16="http://schemas.microsoft.com/office/drawing/2014/main" val="1656031390"/>
                  </a:ext>
                </a:extLst>
              </a:tr>
            </a:tbl>
          </a:graphicData>
        </a:graphic>
      </p:graphicFrame>
      <p:graphicFrame>
        <p:nvGraphicFramePr>
          <p:cNvPr id="9" name="Tableau 8">
            <a:extLst>
              <a:ext uri="{FF2B5EF4-FFF2-40B4-BE49-F238E27FC236}">
                <a16:creationId xmlns:a16="http://schemas.microsoft.com/office/drawing/2014/main" id="{AF283DDA-F6E8-4002-A0DD-F642A243273E}"/>
              </a:ext>
            </a:extLst>
          </p:cNvPr>
          <p:cNvGraphicFramePr>
            <a:graphicFrameLocks noGrp="1"/>
          </p:cNvGraphicFramePr>
          <p:nvPr>
            <p:extLst>
              <p:ext uri="{D42A27DB-BD31-4B8C-83A1-F6EECF244321}">
                <p14:modId xmlns:p14="http://schemas.microsoft.com/office/powerpoint/2010/main" val="1483862258"/>
              </p:ext>
            </p:extLst>
          </p:nvPr>
        </p:nvGraphicFramePr>
        <p:xfrm>
          <a:off x="7955515" y="4091561"/>
          <a:ext cx="2849030" cy="1463040"/>
        </p:xfrm>
        <a:graphic>
          <a:graphicData uri="http://schemas.openxmlformats.org/drawingml/2006/table">
            <a:tbl>
              <a:tblPr firstRow="1" bandRow="1">
                <a:tableStyleId>{5C22544A-7EE6-4342-B048-85BDC9FD1C3A}</a:tableStyleId>
              </a:tblPr>
              <a:tblGrid>
                <a:gridCol w="1120896">
                  <a:extLst>
                    <a:ext uri="{9D8B030D-6E8A-4147-A177-3AD203B41FA5}">
                      <a16:colId xmlns:a16="http://schemas.microsoft.com/office/drawing/2014/main" val="390215274"/>
                    </a:ext>
                  </a:extLst>
                </a:gridCol>
                <a:gridCol w="740629">
                  <a:extLst>
                    <a:ext uri="{9D8B030D-6E8A-4147-A177-3AD203B41FA5}">
                      <a16:colId xmlns:a16="http://schemas.microsoft.com/office/drawing/2014/main" val="4094920416"/>
                    </a:ext>
                  </a:extLst>
                </a:gridCol>
                <a:gridCol w="987505">
                  <a:extLst>
                    <a:ext uri="{9D8B030D-6E8A-4147-A177-3AD203B41FA5}">
                      <a16:colId xmlns:a16="http://schemas.microsoft.com/office/drawing/2014/main" val="4194652004"/>
                    </a:ext>
                  </a:extLst>
                </a:gridCol>
              </a:tblGrid>
              <a:tr h="328469">
                <a:tc>
                  <a:txBody>
                    <a:bodyPr/>
                    <a:lstStyle/>
                    <a:p>
                      <a:r>
                        <a:rPr lang="fr-FR" u="sng"/>
                        <a:t>Etudiant</a:t>
                      </a:r>
                    </a:p>
                  </a:txBody>
                  <a:tcPr/>
                </a:tc>
                <a:tc>
                  <a:txBody>
                    <a:bodyPr/>
                    <a:lstStyle/>
                    <a:p>
                      <a:r>
                        <a:rPr lang="fr-FR" u="sng"/>
                        <a:t>UV</a:t>
                      </a:r>
                    </a:p>
                  </a:txBody>
                  <a:tcPr/>
                </a:tc>
                <a:tc>
                  <a:txBody>
                    <a:bodyPr/>
                    <a:lstStyle/>
                    <a:p>
                      <a:r>
                        <a:rPr lang="fr-FR"/>
                        <a:t>Note</a:t>
                      </a:r>
                    </a:p>
                  </a:txBody>
                  <a:tcPr/>
                </a:tc>
                <a:extLst>
                  <a:ext uri="{0D108BD9-81ED-4DB2-BD59-A6C34878D82A}">
                    <a16:rowId xmlns:a16="http://schemas.microsoft.com/office/drawing/2014/main" val="2910648804"/>
                  </a:ext>
                </a:extLst>
              </a:tr>
              <a:tr h="302184">
                <a:tc>
                  <a:txBody>
                    <a:bodyPr/>
                    <a:lstStyle/>
                    <a:p>
                      <a:r>
                        <a:rPr lang="fr-FR"/>
                        <a:t>MARTIN</a:t>
                      </a:r>
                    </a:p>
                  </a:txBody>
                  <a:tcPr/>
                </a:tc>
                <a:tc>
                  <a:txBody>
                    <a:bodyPr/>
                    <a:lstStyle/>
                    <a:p>
                      <a:r>
                        <a:rPr lang="fr-FR"/>
                        <a:t>IFD1</a:t>
                      </a:r>
                    </a:p>
                  </a:txBody>
                  <a:tcPr/>
                </a:tc>
                <a:tc>
                  <a:txBody>
                    <a:bodyPr/>
                    <a:lstStyle/>
                    <a:p>
                      <a:r>
                        <a:rPr lang="fr-FR"/>
                        <a:t>12</a:t>
                      </a:r>
                    </a:p>
                  </a:txBody>
                  <a:tcPr/>
                </a:tc>
                <a:extLst>
                  <a:ext uri="{0D108BD9-81ED-4DB2-BD59-A6C34878D82A}">
                    <a16:rowId xmlns:a16="http://schemas.microsoft.com/office/drawing/2014/main" val="2545457265"/>
                  </a:ext>
                </a:extLst>
              </a:tr>
              <a:tr h="323467">
                <a:tc>
                  <a:txBody>
                    <a:bodyPr/>
                    <a:lstStyle/>
                    <a:p>
                      <a:r>
                        <a:rPr lang="fr-FR"/>
                        <a:t>MARTIN</a:t>
                      </a:r>
                    </a:p>
                  </a:txBody>
                  <a:tcPr/>
                </a:tc>
                <a:tc>
                  <a:txBody>
                    <a:bodyPr/>
                    <a:lstStyle/>
                    <a:p>
                      <a:r>
                        <a:rPr lang="fr-FR"/>
                        <a:t>IFD2</a:t>
                      </a:r>
                    </a:p>
                  </a:txBody>
                  <a:tcPr/>
                </a:tc>
                <a:tc>
                  <a:txBody>
                    <a:bodyPr/>
                    <a:lstStyle/>
                    <a:p>
                      <a:r>
                        <a:rPr lang="fr-FR"/>
                        <a:t>13</a:t>
                      </a:r>
                    </a:p>
                  </a:txBody>
                  <a:tcPr/>
                </a:tc>
                <a:extLst>
                  <a:ext uri="{0D108BD9-81ED-4DB2-BD59-A6C34878D82A}">
                    <a16:rowId xmlns:a16="http://schemas.microsoft.com/office/drawing/2014/main" val="1940258236"/>
                  </a:ext>
                </a:extLst>
              </a:tr>
              <a:tr h="302184">
                <a:tc>
                  <a:txBody>
                    <a:bodyPr/>
                    <a:lstStyle/>
                    <a:p>
                      <a:r>
                        <a:rPr lang="fr-FR"/>
                        <a:t>PAUL</a:t>
                      </a:r>
                    </a:p>
                  </a:txBody>
                  <a:tcPr/>
                </a:tc>
                <a:tc>
                  <a:txBody>
                    <a:bodyPr/>
                    <a:lstStyle/>
                    <a:p>
                      <a:r>
                        <a:rPr lang="fr-FR"/>
                        <a:t>IDF1</a:t>
                      </a:r>
                    </a:p>
                  </a:txBody>
                  <a:tcPr/>
                </a:tc>
                <a:tc>
                  <a:txBody>
                    <a:bodyPr/>
                    <a:lstStyle/>
                    <a:p>
                      <a:r>
                        <a:rPr lang="fr-FR"/>
                        <a:t>10</a:t>
                      </a:r>
                    </a:p>
                  </a:txBody>
                  <a:tcPr/>
                </a:tc>
                <a:extLst>
                  <a:ext uri="{0D108BD9-81ED-4DB2-BD59-A6C34878D82A}">
                    <a16:rowId xmlns:a16="http://schemas.microsoft.com/office/drawing/2014/main" val="372586814"/>
                  </a:ext>
                </a:extLst>
              </a:tr>
            </a:tbl>
          </a:graphicData>
        </a:graphic>
      </p:graphicFrame>
      <p:sp>
        <p:nvSpPr>
          <p:cNvPr id="4" name="Signe de multiplication 3">
            <a:extLst>
              <a:ext uri="{FF2B5EF4-FFF2-40B4-BE49-F238E27FC236}">
                <a16:creationId xmlns:a16="http://schemas.microsoft.com/office/drawing/2014/main" id="{6EAC9A7E-DC13-4E8F-8B41-53CE037CB180}"/>
              </a:ext>
            </a:extLst>
          </p:cNvPr>
          <p:cNvSpPr/>
          <p:nvPr/>
        </p:nvSpPr>
        <p:spPr>
          <a:xfrm>
            <a:off x="1647536" y="2666288"/>
            <a:ext cx="3221764" cy="3125624"/>
          </a:xfrm>
          <a:prstGeom prst="mathMultiply">
            <a:avLst/>
          </a:prstGeom>
          <a:solidFill>
            <a:schemeClr val="accent5">
              <a:lumMod val="50000"/>
              <a:alpha val="47843"/>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0" name="Tableau 9">
            <a:extLst>
              <a:ext uri="{FF2B5EF4-FFF2-40B4-BE49-F238E27FC236}">
                <a16:creationId xmlns:a16="http://schemas.microsoft.com/office/drawing/2014/main" id="{4C11DE3B-5330-4108-B0BB-417772C987A0}"/>
              </a:ext>
            </a:extLst>
          </p:cNvPr>
          <p:cNvGraphicFramePr>
            <a:graphicFrameLocks noGrp="1"/>
          </p:cNvGraphicFramePr>
          <p:nvPr>
            <p:extLst>
              <p:ext uri="{D42A27DB-BD31-4B8C-83A1-F6EECF244321}">
                <p14:modId xmlns:p14="http://schemas.microsoft.com/office/powerpoint/2010/main" val="2095771876"/>
              </p:ext>
            </p:extLst>
          </p:nvPr>
        </p:nvGraphicFramePr>
        <p:xfrm>
          <a:off x="7829301" y="2444921"/>
          <a:ext cx="3101458" cy="1371600"/>
        </p:xfrm>
        <a:graphic>
          <a:graphicData uri="http://schemas.openxmlformats.org/drawingml/2006/table">
            <a:tbl>
              <a:tblPr firstRow="1" bandRow="1">
                <a:tableStyleId>{5C22544A-7EE6-4342-B048-85BDC9FD1C3A}</a:tableStyleId>
              </a:tblPr>
              <a:tblGrid>
                <a:gridCol w="1188575">
                  <a:extLst>
                    <a:ext uri="{9D8B030D-6E8A-4147-A177-3AD203B41FA5}">
                      <a16:colId xmlns:a16="http://schemas.microsoft.com/office/drawing/2014/main" val="390215274"/>
                    </a:ext>
                  </a:extLst>
                </a:gridCol>
                <a:gridCol w="1912883">
                  <a:extLst>
                    <a:ext uri="{9D8B030D-6E8A-4147-A177-3AD203B41FA5}">
                      <a16:colId xmlns:a16="http://schemas.microsoft.com/office/drawing/2014/main" val="4194652004"/>
                    </a:ext>
                  </a:extLst>
                </a:gridCol>
              </a:tblGrid>
              <a:tr h="328469">
                <a:tc>
                  <a:txBody>
                    <a:bodyPr/>
                    <a:lstStyle/>
                    <a:p>
                      <a:r>
                        <a:rPr lang="fr-FR" u="sng"/>
                        <a:t>Etudiant</a:t>
                      </a:r>
                    </a:p>
                  </a:txBody>
                  <a:tcPr/>
                </a:tc>
                <a:tc>
                  <a:txBody>
                    <a:bodyPr/>
                    <a:lstStyle/>
                    <a:p>
                      <a:r>
                        <a:rPr lang="fr-FR"/>
                        <a:t>Date de naissance</a:t>
                      </a:r>
                    </a:p>
                  </a:txBody>
                  <a:tcPr/>
                </a:tc>
                <a:extLst>
                  <a:ext uri="{0D108BD9-81ED-4DB2-BD59-A6C34878D82A}">
                    <a16:rowId xmlns:a16="http://schemas.microsoft.com/office/drawing/2014/main" val="2910648804"/>
                  </a:ext>
                </a:extLst>
              </a:tr>
              <a:tr h="302184">
                <a:tc>
                  <a:txBody>
                    <a:bodyPr/>
                    <a:lstStyle/>
                    <a:p>
                      <a:r>
                        <a:rPr lang="fr-FR"/>
                        <a:t>MARTIN</a:t>
                      </a:r>
                    </a:p>
                  </a:txBody>
                  <a:tcPr/>
                </a:tc>
                <a:tc>
                  <a:txBody>
                    <a:bodyPr/>
                    <a:lstStyle/>
                    <a:p>
                      <a:r>
                        <a:rPr lang="fr-FR"/>
                        <a:t>01/01/99</a:t>
                      </a:r>
                    </a:p>
                  </a:txBody>
                  <a:tcPr/>
                </a:tc>
                <a:extLst>
                  <a:ext uri="{0D108BD9-81ED-4DB2-BD59-A6C34878D82A}">
                    <a16:rowId xmlns:a16="http://schemas.microsoft.com/office/drawing/2014/main" val="2545457265"/>
                  </a:ext>
                </a:extLst>
              </a:tr>
              <a:tr h="323467">
                <a:tc>
                  <a:txBody>
                    <a:bodyPr/>
                    <a:lstStyle/>
                    <a:p>
                      <a:r>
                        <a:rPr lang="fr-FR"/>
                        <a:t>PAUL</a:t>
                      </a:r>
                    </a:p>
                  </a:txBody>
                  <a:tcPr/>
                </a:tc>
                <a:tc>
                  <a:txBody>
                    <a:bodyPr/>
                    <a:lstStyle/>
                    <a:p>
                      <a:r>
                        <a:rPr lang="fr-FR"/>
                        <a:t>10/02/99</a:t>
                      </a:r>
                    </a:p>
                  </a:txBody>
                  <a:tcPr/>
                </a:tc>
                <a:extLst>
                  <a:ext uri="{0D108BD9-81ED-4DB2-BD59-A6C34878D82A}">
                    <a16:rowId xmlns:a16="http://schemas.microsoft.com/office/drawing/2014/main" val="1940258236"/>
                  </a:ext>
                </a:extLst>
              </a:tr>
            </a:tbl>
          </a:graphicData>
        </a:graphic>
      </p:graphicFrame>
    </p:spTree>
    <p:extLst>
      <p:ext uri="{BB962C8B-B14F-4D97-AF65-F5344CB8AC3E}">
        <p14:creationId xmlns:p14="http://schemas.microsoft.com/office/powerpoint/2010/main" val="2069786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normAutofit/>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413000"/>
            <a:ext cx="10563285" cy="3632200"/>
          </a:xfrm>
        </p:spPr>
        <p:txBody>
          <a:bodyPr anchor="t">
            <a:normAutofit/>
          </a:bodyPr>
          <a:lstStyle/>
          <a:p>
            <a:r>
              <a:rPr lang="fr-FR"/>
              <a:t>Le non-respect de 2NF provoque de la redondance et rend plus difficile la modification des données</a:t>
            </a:r>
          </a:p>
        </p:txBody>
      </p:sp>
      <p:sp>
        <p:nvSpPr>
          <p:cNvPr id="6" name="Espace réservé du numéro de diapositive 5">
            <a:extLst>
              <a:ext uri="{FF2B5EF4-FFF2-40B4-BE49-F238E27FC236}">
                <a16:creationId xmlns:a16="http://schemas.microsoft.com/office/drawing/2014/main" id="{ECC0982D-0273-4AF8-B827-09BB75711BE9}"/>
              </a:ext>
            </a:extLst>
          </p:cNvPr>
          <p:cNvSpPr>
            <a:spLocks noGrp="1"/>
          </p:cNvSpPr>
          <p:nvPr>
            <p:ph type="sldNum" sz="quarter" idx="12"/>
          </p:nvPr>
        </p:nvSpPr>
        <p:spPr/>
        <p:txBody>
          <a:bodyPr/>
          <a:lstStyle/>
          <a:p>
            <a:fld id="{27C6CCC6-2BE5-4E42-96A4-D1E8E81A3D8E}" type="slidenum">
              <a:rPr lang="de-DE" smtClean="0"/>
              <a:t>182</a:t>
            </a:fld>
            <a:endParaRPr lang="de-DE"/>
          </a:p>
        </p:txBody>
      </p:sp>
      <p:graphicFrame>
        <p:nvGraphicFramePr>
          <p:cNvPr id="11" name="Tableau 10">
            <a:extLst>
              <a:ext uri="{FF2B5EF4-FFF2-40B4-BE49-F238E27FC236}">
                <a16:creationId xmlns:a16="http://schemas.microsoft.com/office/drawing/2014/main" id="{92D6F1D3-DF84-4A05-9CEA-D5F69060F849}"/>
              </a:ext>
            </a:extLst>
          </p:cNvPr>
          <p:cNvGraphicFramePr>
            <a:graphicFrameLocks noGrp="1"/>
          </p:cNvGraphicFramePr>
          <p:nvPr>
            <p:extLst>
              <p:ext uri="{D42A27DB-BD31-4B8C-83A1-F6EECF244321}">
                <p14:modId xmlns:p14="http://schemas.microsoft.com/office/powerpoint/2010/main" val="2680250445"/>
              </p:ext>
            </p:extLst>
          </p:nvPr>
        </p:nvGraphicFramePr>
        <p:xfrm>
          <a:off x="3610452" y="3497580"/>
          <a:ext cx="4971093" cy="1463040"/>
        </p:xfrm>
        <a:graphic>
          <a:graphicData uri="http://schemas.openxmlformats.org/drawingml/2006/table">
            <a:tbl>
              <a:tblPr firstRow="1" bandRow="1">
                <a:tableStyleId>{93296810-A885-4BE3-A3E7-6D5BEEA58F35}</a:tableStyleId>
              </a:tblPr>
              <a:tblGrid>
                <a:gridCol w="1128827">
                  <a:extLst>
                    <a:ext uri="{9D8B030D-6E8A-4147-A177-3AD203B41FA5}">
                      <a16:colId xmlns:a16="http://schemas.microsoft.com/office/drawing/2014/main" val="390215274"/>
                    </a:ext>
                  </a:extLst>
                </a:gridCol>
                <a:gridCol w="704193">
                  <a:extLst>
                    <a:ext uri="{9D8B030D-6E8A-4147-A177-3AD203B41FA5}">
                      <a16:colId xmlns:a16="http://schemas.microsoft.com/office/drawing/2014/main" val="4094920416"/>
                    </a:ext>
                  </a:extLst>
                </a:gridCol>
                <a:gridCol w="809296">
                  <a:extLst>
                    <a:ext uri="{9D8B030D-6E8A-4147-A177-3AD203B41FA5}">
                      <a16:colId xmlns:a16="http://schemas.microsoft.com/office/drawing/2014/main" val="4194652004"/>
                    </a:ext>
                  </a:extLst>
                </a:gridCol>
                <a:gridCol w="2328777">
                  <a:extLst>
                    <a:ext uri="{9D8B030D-6E8A-4147-A177-3AD203B41FA5}">
                      <a16:colId xmlns:a16="http://schemas.microsoft.com/office/drawing/2014/main" val="2806316477"/>
                    </a:ext>
                  </a:extLst>
                </a:gridCol>
              </a:tblGrid>
              <a:tr h="328469">
                <a:tc>
                  <a:txBody>
                    <a:bodyPr/>
                    <a:lstStyle/>
                    <a:p>
                      <a:r>
                        <a:rPr lang="fr-FR" u="sng"/>
                        <a:t>Etudiant</a:t>
                      </a:r>
                    </a:p>
                  </a:txBody>
                  <a:tcPr/>
                </a:tc>
                <a:tc>
                  <a:txBody>
                    <a:bodyPr/>
                    <a:lstStyle/>
                    <a:p>
                      <a:r>
                        <a:rPr lang="fr-FR" u="sng"/>
                        <a:t>UV</a:t>
                      </a:r>
                    </a:p>
                  </a:txBody>
                  <a:tcPr/>
                </a:tc>
                <a:tc>
                  <a:txBody>
                    <a:bodyPr/>
                    <a:lstStyle/>
                    <a:p>
                      <a:r>
                        <a:rPr lang="fr-FR"/>
                        <a:t>Note</a:t>
                      </a:r>
                    </a:p>
                  </a:txBody>
                  <a:tcPr/>
                </a:tc>
                <a:tc>
                  <a:txBody>
                    <a:bodyPr/>
                    <a:lstStyle/>
                    <a:p>
                      <a:r>
                        <a:rPr lang="fr-FR"/>
                        <a:t>Date de naissance</a:t>
                      </a:r>
                    </a:p>
                  </a:txBody>
                  <a:tcPr/>
                </a:tc>
                <a:extLst>
                  <a:ext uri="{0D108BD9-81ED-4DB2-BD59-A6C34878D82A}">
                    <a16:rowId xmlns:a16="http://schemas.microsoft.com/office/drawing/2014/main" val="2910648804"/>
                  </a:ext>
                </a:extLst>
              </a:tr>
              <a:tr h="302184">
                <a:tc>
                  <a:txBody>
                    <a:bodyPr/>
                    <a:lstStyle/>
                    <a:p>
                      <a:r>
                        <a:rPr lang="fr-FR"/>
                        <a:t>MARTIN</a:t>
                      </a:r>
                    </a:p>
                  </a:txBody>
                  <a:tcPr/>
                </a:tc>
                <a:tc>
                  <a:txBody>
                    <a:bodyPr/>
                    <a:lstStyle/>
                    <a:p>
                      <a:r>
                        <a:rPr lang="fr-FR"/>
                        <a:t>IFD1</a:t>
                      </a:r>
                    </a:p>
                  </a:txBody>
                  <a:tcPr/>
                </a:tc>
                <a:tc>
                  <a:txBody>
                    <a:bodyPr/>
                    <a:lstStyle/>
                    <a:p>
                      <a:r>
                        <a:rPr lang="fr-FR"/>
                        <a:t>12</a:t>
                      </a:r>
                    </a:p>
                  </a:txBody>
                  <a:tcPr/>
                </a:tc>
                <a:tc>
                  <a:txBody>
                    <a:bodyPr/>
                    <a:lstStyle/>
                    <a:p>
                      <a:r>
                        <a:rPr lang="fr-FR"/>
                        <a:t>01/01/99</a:t>
                      </a:r>
                    </a:p>
                  </a:txBody>
                  <a:tcPr/>
                </a:tc>
                <a:extLst>
                  <a:ext uri="{0D108BD9-81ED-4DB2-BD59-A6C34878D82A}">
                    <a16:rowId xmlns:a16="http://schemas.microsoft.com/office/drawing/2014/main" val="2545457265"/>
                  </a:ext>
                </a:extLst>
              </a:tr>
              <a:tr h="302184">
                <a:tc>
                  <a:txBody>
                    <a:bodyPr/>
                    <a:lstStyle/>
                    <a:p>
                      <a:r>
                        <a:rPr lang="fr-FR"/>
                        <a:t>MARTIN</a:t>
                      </a:r>
                    </a:p>
                  </a:txBody>
                  <a:tcPr/>
                </a:tc>
                <a:tc>
                  <a:txBody>
                    <a:bodyPr/>
                    <a:lstStyle/>
                    <a:p>
                      <a:r>
                        <a:rPr lang="fr-FR"/>
                        <a:t>IFD2</a:t>
                      </a:r>
                    </a:p>
                  </a:txBody>
                  <a:tcPr/>
                </a:tc>
                <a:tc>
                  <a:txBody>
                    <a:bodyPr/>
                    <a:lstStyle/>
                    <a:p>
                      <a:r>
                        <a:rPr lang="fr-FR"/>
                        <a:t>13</a:t>
                      </a:r>
                    </a:p>
                  </a:txBody>
                  <a:tcPr/>
                </a:tc>
                <a:tc>
                  <a:txBody>
                    <a:bodyPr/>
                    <a:lstStyle/>
                    <a:p>
                      <a:r>
                        <a:rPr lang="fr-FR"/>
                        <a:t>01/01/99</a:t>
                      </a:r>
                    </a:p>
                  </a:txBody>
                  <a:tcPr/>
                </a:tc>
                <a:extLst>
                  <a:ext uri="{0D108BD9-81ED-4DB2-BD59-A6C34878D82A}">
                    <a16:rowId xmlns:a16="http://schemas.microsoft.com/office/drawing/2014/main" val="1940258236"/>
                  </a:ext>
                </a:extLst>
              </a:tr>
              <a:tr h="302184">
                <a:tc>
                  <a:txBody>
                    <a:bodyPr/>
                    <a:lstStyle/>
                    <a:p>
                      <a:r>
                        <a:rPr lang="fr-FR"/>
                        <a:t>PAUL</a:t>
                      </a:r>
                    </a:p>
                  </a:txBody>
                  <a:tcPr/>
                </a:tc>
                <a:tc>
                  <a:txBody>
                    <a:bodyPr/>
                    <a:lstStyle/>
                    <a:p>
                      <a:r>
                        <a:rPr lang="fr-FR"/>
                        <a:t>IDF1</a:t>
                      </a:r>
                    </a:p>
                  </a:txBody>
                  <a:tcPr/>
                </a:tc>
                <a:tc>
                  <a:txBody>
                    <a:bodyPr/>
                    <a:lstStyle/>
                    <a:p>
                      <a:r>
                        <a:rPr lang="fr-FR"/>
                        <a:t>10</a:t>
                      </a:r>
                    </a:p>
                  </a:txBody>
                  <a:tcPr/>
                </a:tc>
                <a:tc>
                  <a:txBody>
                    <a:bodyPr/>
                    <a:lstStyle/>
                    <a:p>
                      <a:r>
                        <a:rPr lang="fr-FR"/>
                        <a:t>10/02/99</a:t>
                      </a:r>
                    </a:p>
                  </a:txBody>
                  <a:tcPr/>
                </a:tc>
                <a:extLst>
                  <a:ext uri="{0D108BD9-81ED-4DB2-BD59-A6C34878D82A}">
                    <a16:rowId xmlns:a16="http://schemas.microsoft.com/office/drawing/2014/main" val="1656031390"/>
                  </a:ext>
                </a:extLst>
              </a:tr>
            </a:tbl>
          </a:graphicData>
        </a:graphic>
      </p:graphicFrame>
    </p:spTree>
    <p:extLst>
      <p:ext uri="{BB962C8B-B14F-4D97-AF65-F5344CB8AC3E}">
        <p14:creationId xmlns:p14="http://schemas.microsoft.com/office/powerpoint/2010/main" val="297559643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b="1"/>
              <a:t>3NF – Troisième forme normale </a:t>
            </a:r>
            <a:r>
              <a:rPr lang="fr-FR"/>
              <a:t>: chaque colonne non clé doit dépendre de la clé et uniquement de la clé, les colonnes non clé doivent être indépendantes</a:t>
            </a:r>
          </a:p>
          <a:p>
            <a:r>
              <a:rPr lang="fr-FR" b="1"/>
              <a:t>Pour être en 3NF, il faut être en 2NF</a:t>
            </a:r>
          </a:p>
          <a:p>
            <a:r>
              <a:rPr lang="fr-FR"/>
              <a:t>Une table n’est pas en 3NF s’il existe un attribut dont on peut déduire la valeur à partir d’un autre attribut non-clé</a:t>
            </a:r>
          </a:p>
        </p:txBody>
      </p:sp>
      <p:sp>
        <p:nvSpPr>
          <p:cNvPr id="6" name="Espace réservé du numéro de diapositive 5">
            <a:extLst>
              <a:ext uri="{FF2B5EF4-FFF2-40B4-BE49-F238E27FC236}">
                <a16:creationId xmlns:a16="http://schemas.microsoft.com/office/drawing/2014/main" id="{79E6264A-1008-4AF4-9EBC-0B6B35AB5A88}"/>
              </a:ext>
            </a:extLst>
          </p:cNvPr>
          <p:cNvSpPr>
            <a:spLocks noGrp="1"/>
          </p:cNvSpPr>
          <p:nvPr>
            <p:ph type="sldNum" sz="quarter" idx="12"/>
          </p:nvPr>
        </p:nvSpPr>
        <p:spPr/>
        <p:txBody>
          <a:bodyPr/>
          <a:lstStyle/>
          <a:p>
            <a:fld id="{27C6CCC6-2BE5-4E42-96A4-D1E8E81A3D8E}" type="slidenum">
              <a:rPr lang="de-DE" smtClean="0"/>
              <a:t>183</a:t>
            </a:fld>
            <a:endParaRPr lang="de-DE"/>
          </a:p>
        </p:txBody>
      </p:sp>
    </p:spTree>
    <p:extLst>
      <p:ext uri="{BB962C8B-B14F-4D97-AF65-F5344CB8AC3E}">
        <p14:creationId xmlns:p14="http://schemas.microsoft.com/office/powerpoint/2010/main" val="123404681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5"/>
            <a:ext cx="10554574" cy="4283618"/>
          </a:xfrm>
        </p:spPr>
        <p:txBody>
          <a:bodyPr anchor="t">
            <a:normAutofit/>
          </a:bodyPr>
          <a:lstStyle/>
          <a:p>
            <a:r>
              <a:rPr lang="fr-FR"/>
              <a:t>Exemple :</a:t>
            </a:r>
          </a:p>
          <a:p>
            <a:endParaRPr lang="fr-FR"/>
          </a:p>
          <a:p>
            <a:endParaRPr lang="fr-FR"/>
          </a:p>
          <a:p>
            <a:endParaRPr lang="fr-FR"/>
          </a:p>
          <a:p>
            <a:endParaRPr lang="fr-FR"/>
          </a:p>
          <a:p>
            <a:endParaRPr lang="fr-FR"/>
          </a:p>
          <a:p>
            <a:endParaRPr lang="fr-FR"/>
          </a:p>
          <a:p>
            <a:r>
              <a:rPr lang="fr-FR" i="1"/>
              <a:t>total</a:t>
            </a:r>
            <a:r>
              <a:rPr lang="fr-FR"/>
              <a:t> dépend de </a:t>
            </a:r>
            <a:r>
              <a:rPr lang="fr-FR" i="1" err="1"/>
              <a:t>quantite</a:t>
            </a:r>
            <a:r>
              <a:rPr lang="fr-FR"/>
              <a:t> et </a:t>
            </a:r>
            <a:r>
              <a:rPr lang="fr-FR" i="1" err="1"/>
              <a:t>prix_unitaire</a:t>
            </a:r>
            <a:r>
              <a:rPr lang="fr-FR"/>
              <a:t> (attributs non clé)</a:t>
            </a:r>
          </a:p>
          <a:p>
            <a:r>
              <a:rPr lang="fr-FR"/>
              <a:t>La meilleure solution consiste à supprimer le champ total</a:t>
            </a:r>
          </a:p>
          <a:p>
            <a:r>
              <a:rPr lang="fr-FR"/>
              <a:t>Remarque : si on modifie la clé pour que total dépende de la clé, on risque de ne plus être en 2NF, c’est donc à éviter</a:t>
            </a:r>
          </a:p>
          <a:p>
            <a:endParaRPr lang="fr-FR"/>
          </a:p>
        </p:txBody>
      </p:sp>
      <p:sp>
        <p:nvSpPr>
          <p:cNvPr id="6" name="Espace réservé du numéro de diapositive 5">
            <a:extLst>
              <a:ext uri="{FF2B5EF4-FFF2-40B4-BE49-F238E27FC236}">
                <a16:creationId xmlns:a16="http://schemas.microsoft.com/office/drawing/2014/main" id="{79E6264A-1008-4AF4-9EBC-0B6B35AB5A88}"/>
              </a:ext>
            </a:extLst>
          </p:cNvPr>
          <p:cNvSpPr>
            <a:spLocks noGrp="1"/>
          </p:cNvSpPr>
          <p:nvPr>
            <p:ph type="sldNum" sz="quarter" idx="12"/>
          </p:nvPr>
        </p:nvSpPr>
        <p:spPr/>
        <p:txBody>
          <a:bodyPr/>
          <a:lstStyle/>
          <a:p>
            <a:fld id="{27C6CCC6-2BE5-4E42-96A4-D1E8E81A3D8E}" type="slidenum">
              <a:rPr lang="de-DE" smtClean="0"/>
              <a:t>184</a:t>
            </a:fld>
            <a:endParaRPr lang="de-DE"/>
          </a:p>
        </p:txBody>
      </p:sp>
      <p:graphicFrame>
        <p:nvGraphicFramePr>
          <p:cNvPr id="4" name="Tableau 3">
            <a:extLst>
              <a:ext uri="{FF2B5EF4-FFF2-40B4-BE49-F238E27FC236}">
                <a16:creationId xmlns:a16="http://schemas.microsoft.com/office/drawing/2014/main" id="{74ACFDCC-2334-473B-9A06-8F9BA2A919B9}"/>
              </a:ext>
            </a:extLst>
          </p:cNvPr>
          <p:cNvGraphicFramePr>
            <a:graphicFrameLocks noGrp="1"/>
          </p:cNvGraphicFramePr>
          <p:nvPr>
            <p:extLst>
              <p:ext uri="{D42A27DB-BD31-4B8C-83A1-F6EECF244321}">
                <p14:modId xmlns:p14="http://schemas.microsoft.com/office/powerpoint/2010/main" val="3511319422"/>
              </p:ext>
            </p:extLst>
          </p:nvPr>
        </p:nvGraphicFramePr>
        <p:xfrm>
          <a:off x="113910" y="2752363"/>
          <a:ext cx="6307911" cy="1828800"/>
        </p:xfrm>
        <a:graphic>
          <a:graphicData uri="http://schemas.openxmlformats.org/drawingml/2006/table">
            <a:tbl>
              <a:tblPr firstRow="1" bandRow="1">
                <a:tableStyleId>{93296810-A885-4BE3-A3E7-6D5BEEA58F35}</a:tableStyleId>
              </a:tblPr>
              <a:tblGrid>
                <a:gridCol w="1441621">
                  <a:extLst>
                    <a:ext uri="{9D8B030D-6E8A-4147-A177-3AD203B41FA5}">
                      <a16:colId xmlns:a16="http://schemas.microsoft.com/office/drawing/2014/main" val="843107718"/>
                    </a:ext>
                  </a:extLst>
                </a:gridCol>
                <a:gridCol w="1313793">
                  <a:extLst>
                    <a:ext uri="{9D8B030D-6E8A-4147-A177-3AD203B41FA5}">
                      <a16:colId xmlns:a16="http://schemas.microsoft.com/office/drawing/2014/main" val="605735615"/>
                    </a:ext>
                  </a:extLst>
                </a:gridCol>
                <a:gridCol w="1124607">
                  <a:extLst>
                    <a:ext uri="{9D8B030D-6E8A-4147-A177-3AD203B41FA5}">
                      <a16:colId xmlns:a16="http://schemas.microsoft.com/office/drawing/2014/main" val="3960856478"/>
                    </a:ext>
                  </a:extLst>
                </a:gridCol>
                <a:gridCol w="1566041">
                  <a:extLst>
                    <a:ext uri="{9D8B030D-6E8A-4147-A177-3AD203B41FA5}">
                      <a16:colId xmlns:a16="http://schemas.microsoft.com/office/drawing/2014/main" val="257874850"/>
                    </a:ext>
                  </a:extLst>
                </a:gridCol>
                <a:gridCol w="861849">
                  <a:extLst>
                    <a:ext uri="{9D8B030D-6E8A-4147-A177-3AD203B41FA5}">
                      <a16:colId xmlns:a16="http://schemas.microsoft.com/office/drawing/2014/main" val="4232679930"/>
                    </a:ext>
                  </a:extLst>
                </a:gridCol>
              </a:tblGrid>
              <a:tr h="0">
                <a:tc>
                  <a:txBody>
                    <a:bodyPr/>
                    <a:lstStyle/>
                    <a:p>
                      <a:r>
                        <a:rPr lang="fr-FR" u="sng" err="1"/>
                        <a:t>facture_id</a:t>
                      </a:r>
                      <a:endParaRPr lang="fr-FR" u="sng"/>
                    </a:p>
                  </a:txBody>
                  <a:tcPr anchor="ctr"/>
                </a:tc>
                <a:tc>
                  <a:txBody>
                    <a:bodyPr/>
                    <a:lstStyle/>
                    <a:p>
                      <a:r>
                        <a:rPr lang="fr-FR" u="sng" err="1"/>
                        <a:t>article_id</a:t>
                      </a:r>
                      <a:endParaRPr lang="fr-FR" u="sng"/>
                    </a:p>
                  </a:txBody>
                  <a:tcPr anchor="ctr"/>
                </a:tc>
                <a:tc>
                  <a:txBody>
                    <a:bodyPr/>
                    <a:lstStyle/>
                    <a:p>
                      <a:r>
                        <a:rPr lang="fr-FR" err="1"/>
                        <a:t>quantite</a:t>
                      </a:r>
                      <a:endParaRPr lang="fr-FR"/>
                    </a:p>
                  </a:txBody>
                  <a:tcPr anchor="ctr"/>
                </a:tc>
                <a:tc>
                  <a:txBody>
                    <a:bodyPr/>
                    <a:lstStyle/>
                    <a:p>
                      <a:r>
                        <a:rPr lang="fr-FR" err="1"/>
                        <a:t>prix_unitaire</a:t>
                      </a:r>
                      <a:endParaRPr lang="fr-FR"/>
                    </a:p>
                  </a:txBody>
                  <a:tcPr anchor="ctr"/>
                </a:tc>
                <a:tc>
                  <a:txBody>
                    <a:bodyPr/>
                    <a:lstStyle/>
                    <a:p>
                      <a:r>
                        <a:rPr lang="fr-FR"/>
                        <a:t>total</a:t>
                      </a:r>
                    </a:p>
                  </a:txBody>
                  <a:tcPr anchor="ctr"/>
                </a:tc>
                <a:extLst>
                  <a:ext uri="{0D108BD9-81ED-4DB2-BD59-A6C34878D82A}">
                    <a16:rowId xmlns:a16="http://schemas.microsoft.com/office/drawing/2014/main" val="357497917"/>
                  </a:ext>
                </a:extLst>
              </a:tr>
              <a:tr h="0">
                <a:tc>
                  <a:txBody>
                    <a:bodyPr/>
                    <a:lstStyle/>
                    <a:p>
                      <a:r>
                        <a:rPr lang="fr-FR"/>
                        <a:t>1</a:t>
                      </a:r>
                    </a:p>
                  </a:txBody>
                  <a:tcPr anchor="ctr"/>
                </a:tc>
                <a:tc>
                  <a:txBody>
                    <a:bodyPr/>
                    <a:lstStyle/>
                    <a:p>
                      <a:r>
                        <a:rPr lang="fr-FR"/>
                        <a:t>1</a:t>
                      </a:r>
                    </a:p>
                  </a:txBody>
                  <a:tcPr anchor="ctr"/>
                </a:tc>
                <a:tc>
                  <a:txBody>
                    <a:bodyPr/>
                    <a:lstStyle/>
                    <a:p>
                      <a:r>
                        <a:rPr lang="fr-FR"/>
                        <a:t>3</a:t>
                      </a:r>
                    </a:p>
                  </a:txBody>
                  <a:tcPr anchor="ctr"/>
                </a:tc>
                <a:tc>
                  <a:txBody>
                    <a:bodyPr/>
                    <a:lstStyle/>
                    <a:p>
                      <a:r>
                        <a:rPr lang="fr-FR"/>
                        <a:t>10.5</a:t>
                      </a:r>
                    </a:p>
                  </a:txBody>
                  <a:tcPr anchor="ctr"/>
                </a:tc>
                <a:tc>
                  <a:txBody>
                    <a:bodyPr/>
                    <a:lstStyle/>
                    <a:p>
                      <a:r>
                        <a:rPr lang="fr-FR"/>
                        <a:t>31.5</a:t>
                      </a:r>
                    </a:p>
                  </a:txBody>
                  <a:tcPr anchor="ctr"/>
                </a:tc>
                <a:extLst>
                  <a:ext uri="{0D108BD9-81ED-4DB2-BD59-A6C34878D82A}">
                    <a16:rowId xmlns:a16="http://schemas.microsoft.com/office/drawing/2014/main" val="3274482462"/>
                  </a:ext>
                </a:extLst>
              </a:tr>
              <a:tr h="0">
                <a:tc>
                  <a:txBody>
                    <a:bodyPr/>
                    <a:lstStyle/>
                    <a:p>
                      <a:r>
                        <a:rPr lang="fr-FR"/>
                        <a:t>1</a:t>
                      </a:r>
                    </a:p>
                  </a:txBody>
                  <a:tcPr anchor="ctr"/>
                </a:tc>
                <a:tc>
                  <a:txBody>
                    <a:bodyPr/>
                    <a:lstStyle/>
                    <a:p>
                      <a:r>
                        <a:rPr lang="fr-FR"/>
                        <a:t>13</a:t>
                      </a:r>
                    </a:p>
                  </a:txBody>
                  <a:tcPr anchor="ctr"/>
                </a:tc>
                <a:tc>
                  <a:txBody>
                    <a:bodyPr/>
                    <a:lstStyle/>
                    <a:p>
                      <a:r>
                        <a:rPr lang="fr-FR"/>
                        <a:t>10</a:t>
                      </a:r>
                    </a:p>
                  </a:txBody>
                  <a:tcPr anchor="ctr"/>
                </a:tc>
                <a:tc>
                  <a:txBody>
                    <a:bodyPr/>
                    <a:lstStyle/>
                    <a:p>
                      <a:r>
                        <a:rPr lang="fr-FR"/>
                        <a:t>9.15</a:t>
                      </a:r>
                    </a:p>
                  </a:txBody>
                  <a:tcPr anchor="ctr"/>
                </a:tc>
                <a:tc>
                  <a:txBody>
                    <a:bodyPr/>
                    <a:lstStyle/>
                    <a:p>
                      <a:r>
                        <a:rPr lang="fr-FR"/>
                        <a:t>91.50</a:t>
                      </a:r>
                    </a:p>
                  </a:txBody>
                  <a:tcPr anchor="ctr"/>
                </a:tc>
                <a:extLst>
                  <a:ext uri="{0D108BD9-81ED-4DB2-BD59-A6C34878D82A}">
                    <a16:rowId xmlns:a16="http://schemas.microsoft.com/office/drawing/2014/main" val="3832595221"/>
                  </a:ext>
                </a:extLst>
              </a:tr>
              <a:tr h="0">
                <a:tc>
                  <a:txBody>
                    <a:bodyPr/>
                    <a:lstStyle/>
                    <a:p>
                      <a:r>
                        <a:rPr lang="fr-FR"/>
                        <a:t>1</a:t>
                      </a:r>
                    </a:p>
                  </a:txBody>
                  <a:tcPr anchor="ctr"/>
                </a:tc>
                <a:tc>
                  <a:txBody>
                    <a:bodyPr/>
                    <a:lstStyle/>
                    <a:p>
                      <a:r>
                        <a:rPr lang="fr-FR"/>
                        <a:t>42</a:t>
                      </a:r>
                    </a:p>
                  </a:txBody>
                  <a:tcPr anchor="ctr"/>
                </a:tc>
                <a:tc>
                  <a:txBody>
                    <a:bodyPr/>
                    <a:lstStyle/>
                    <a:p>
                      <a:r>
                        <a:rPr lang="fr-FR"/>
                        <a:t>8</a:t>
                      </a:r>
                    </a:p>
                  </a:txBody>
                  <a:tcPr anchor="ctr"/>
                </a:tc>
                <a:tc>
                  <a:txBody>
                    <a:bodyPr/>
                    <a:lstStyle/>
                    <a:p>
                      <a:r>
                        <a:rPr lang="fr-FR"/>
                        <a:t>4</a:t>
                      </a:r>
                    </a:p>
                  </a:txBody>
                  <a:tcPr anchor="ctr"/>
                </a:tc>
                <a:tc>
                  <a:txBody>
                    <a:bodyPr/>
                    <a:lstStyle/>
                    <a:p>
                      <a:r>
                        <a:rPr lang="fr-FR"/>
                        <a:t>32.0</a:t>
                      </a:r>
                    </a:p>
                  </a:txBody>
                  <a:tcPr anchor="ctr"/>
                </a:tc>
                <a:extLst>
                  <a:ext uri="{0D108BD9-81ED-4DB2-BD59-A6C34878D82A}">
                    <a16:rowId xmlns:a16="http://schemas.microsoft.com/office/drawing/2014/main" val="472030638"/>
                  </a:ext>
                </a:extLst>
              </a:tr>
              <a:tr h="0">
                <a:tc>
                  <a:txBody>
                    <a:bodyPr/>
                    <a:lstStyle/>
                    <a:p>
                      <a:r>
                        <a:rPr lang="fr-FR"/>
                        <a:t>2</a:t>
                      </a:r>
                    </a:p>
                  </a:txBody>
                  <a:tcPr anchor="ctr"/>
                </a:tc>
                <a:tc>
                  <a:txBody>
                    <a:bodyPr/>
                    <a:lstStyle/>
                    <a:p>
                      <a:r>
                        <a:rPr lang="fr-FR"/>
                        <a:t>3</a:t>
                      </a:r>
                    </a:p>
                  </a:txBody>
                  <a:tcPr anchor="ctr"/>
                </a:tc>
                <a:tc>
                  <a:txBody>
                    <a:bodyPr/>
                    <a:lstStyle/>
                    <a:p>
                      <a:r>
                        <a:rPr lang="fr-FR"/>
                        <a:t>1</a:t>
                      </a:r>
                    </a:p>
                  </a:txBody>
                  <a:tcPr anchor="ctr"/>
                </a:tc>
                <a:tc>
                  <a:txBody>
                    <a:bodyPr/>
                    <a:lstStyle/>
                    <a:p>
                      <a:r>
                        <a:rPr lang="fr-FR"/>
                        <a:t>19.99</a:t>
                      </a:r>
                    </a:p>
                  </a:txBody>
                  <a:tcPr anchor="ctr"/>
                </a:tc>
                <a:tc>
                  <a:txBody>
                    <a:bodyPr/>
                    <a:lstStyle/>
                    <a:p>
                      <a:r>
                        <a:rPr lang="fr-FR"/>
                        <a:t>19.99</a:t>
                      </a:r>
                    </a:p>
                  </a:txBody>
                  <a:tcPr anchor="ctr"/>
                </a:tc>
                <a:extLst>
                  <a:ext uri="{0D108BD9-81ED-4DB2-BD59-A6C34878D82A}">
                    <a16:rowId xmlns:a16="http://schemas.microsoft.com/office/drawing/2014/main" val="1237998933"/>
                  </a:ext>
                </a:extLst>
              </a:tr>
            </a:tbl>
          </a:graphicData>
        </a:graphic>
      </p:graphicFrame>
      <p:graphicFrame>
        <p:nvGraphicFramePr>
          <p:cNvPr id="5" name="Tableau 4">
            <a:extLst>
              <a:ext uri="{FF2B5EF4-FFF2-40B4-BE49-F238E27FC236}">
                <a16:creationId xmlns:a16="http://schemas.microsoft.com/office/drawing/2014/main" id="{A791CD67-F63B-4053-89A9-74AA3032BBDD}"/>
              </a:ext>
            </a:extLst>
          </p:cNvPr>
          <p:cNvGraphicFramePr>
            <a:graphicFrameLocks noGrp="1"/>
          </p:cNvGraphicFramePr>
          <p:nvPr>
            <p:extLst>
              <p:ext uri="{D42A27DB-BD31-4B8C-83A1-F6EECF244321}">
                <p14:modId xmlns:p14="http://schemas.microsoft.com/office/powerpoint/2010/main" val="2057958720"/>
              </p:ext>
            </p:extLst>
          </p:nvPr>
        </p:nvGraphicFramePr>
        <p:xfrm>
          <a:off x="6892378" y="2752363"/>
          <a:ext cx="5194697" cy="1828800"/>
        </p:xfrm>
        <a:graphic>
          <a:graphicData uri="http://schemas.openxmlformats.org/drawingml/2006/table">
            <a:tbl>
              <a:tblPr firstRow="1" bandRow="1">
                <a:tableStyleId>{5C22544A-7EE6-4342-B048-85BDC9FD1C3A}</a:tableStyleId>
              </a:tblPr>
              <a:tblGrid>
                <a:gridCol w="1295357">
                  <a:extLst>
                    <a:ext uri="{9D8B030D-6E8A-4147-A177-3AD203B41FA5}">
                      <a16:colId xmlns:a16="http://schemas.microsoft.com/office/drawing/2014/main" val="1815748032"/>
                    </a:ext>
                  </a:extLst>
                </a:gridCol>
                <a:gridCol w="1219200">
                  <a:extLst>
                    <a:ext uri="{9D8B030D-6E8A-4147-A177-3AD203B41FA5}">
                      <a16:colId xmlns:a16="http://schemas.microsoft.com/office/drawing/2014/main" val="664346919"/>
                    </a:ext>
                  </a:extLst>
                </a:gridCol>
                <a:gridCol w="1135117">
                  <a:extLst>
                    <a:ext uri="{9D8B030D-6E8A-4147-A177-3AD203B41FA5}">
                      <a16:colId xmlns:a16="http://schemas.microsoft.com/office/drawing/2014/main" val="1435088564"/>
                    </a:ext>
                  </a:extLst>
                </a:gridCol>
                <a:gridCol w="1545023">
                  <a:extLst>
                    <a:ext uri="{9D8B030D-6E8A-4147-A177-3AD203B41FA5}">
                      <a16:colId xmlns:a16="http://schemas.microsoft.com/office/drawing/2014/main" val="3814881936"/>
                    </a:ext>
                  </a:extLst>
                </a:gridCol>
              </a:tblGrid>
              <a:tr h="0">
                <a:tc>
                  <a:txBody>
                    <a:bodyPr/>
                    <a:lstStyle/>
                    <a:p>
                      <a:r>
                        <a:rPr lang="fr-FR" u="sng" err="1"/>
                        <a:t>facture_id</a:t>
                      </a:r>
                      <a:endParaRPr lang="fr-FR" u="sng"/>
                    </a:p>
                  </a:txBody>
                  <a:tcPr anchor="ctr"/>
                </a:tc>
                <a:tc>
                  <a:txBody>
                    <a:bodyPr/>
                    <a:lstStyle/>
                    <a:p>
                      <a:r>
                        <a:rPr lang="fr-FR" u="sng" err="1"/>
                        <a:t>article_id</a:t>
                      </a:r>
                      <a:endParaRPr lang="fr-FR" u="sng"/>
                    </a:p>
                  </a:txBody>
                  <a:tcPr anchor="ctr"/>
                </a:tc>
                <a:tc>
                  <a:txBody>
                    <a:bodyPr/>
                    <a:lstStyle/>
                    <a:p>
                      <a:r>
                        <a:rPr lang="fr-FR" err="1"/>
                        <a:t>quantite</a:t>
                      </a:r>
                      <a:endParaRPr lang="fr-FR"/>
                    </a:p>
                  </a:txBody>
                  <a:tcPr anchor="ctr"/>
                </a:tc>
                <a:tc>
                  <a:txBody>
                    <a:bodyPr/>
                    <a:lstStyle/>
                    <a:p>
                      <a:r>
                        <a:rPr lang="fr-FR" err="1"/>
                        <a:t>prix_unitaire</a:t>
                      </a:r>
                      <a:endParaRPr lang="fr-FR"/>
                    </a:p>
                  </a:txBody>
                  <a:tcPr anchor="ctr"/>
                </a:tc>
                <a:extLst>
                  <a:ext uri="{0D108BD9-81ED-4DB2-BD59-A6C34878D82A}">
                    <a16:rowId xmlns:a16="http://schemas.microsoft.com/office/drawing/2014/main" val="2122324598"/>
                  </a:ext>
                </a:extLst>
              </a:tr>
              <a:tr h="0">
                <a:tc>
                  <a:txBody>
                    <a:bodyPr/>
                    <a:lstStyle/>
                    <a:p>
                      <a:r>
                        <a:rPr lang="fr-FR"/>
                        <a:t>1</a:t>
                      </a:r>
                    </a:p>
                  </a:txBody>
                  <a:tcPr anchor="ctr"/>
                </a:tc>
                <a:tc>
                  <a:txBody>
                    <a:bodyPr/>
                    <a:lstStyle/>
                    <a:p>
                      <a:r>
                        <a:rPr lang="fr-FR"/>
                        <a:t>1</a:t>
                      </a:r>
                    </a:p>
                  </a:txBody>
                  <a:tcPr anchor="ctr"/>
                </a:tc>
                <a:tc>
                  <a:txBody>
                    <a:bodyPr/>
                    <a:lstStyle/>
                    <a:p>
                      <a:r>
                        <a:rPr lang="fr-FR"/>
                        <a:t>3</a:t>
                      </a:r>
                    </a:p>
                  </a:txBody>
                  <a:tcPr anchor="ctr"/>
                </a:tc>
                <a:tc>
                  <a:txBody>
                    <a:bodyPr/>
                    <a:lstStyle/>
                    <a:p>
                      <a:r>
                        <a:rPr lang="fr-FR"/>
                        <a:t>10.5</a:t>
                      </a:r>
                    </a:p>
                  </a:txBody>
                  <a:tcPr anchor="ctr"/>
                </a:tc>
                <a:extLst>
                  <a:ext uri="{0D108BD9-81ED-4DB2-BD59-A6C34878D82A}">
                    <a16:rowId xmlns:a16="http://schemas.microsoft.com/office/drawing/2014/main" val="1296466393"/>
                  </a:ext>
                </a:extLst>
              </a:tr>
              <a:tr h="0">
                <a:tc>
                  <a:txBody>
                    <a:bodyPr/>
                    <a:lstStyle/>
                    <a:p>
                      <a:r>
                        <a:rPr lang="fr-FR"/>
                        <a:t>1</a:t>
                      </a:r>
                    </a:p>
                  </a:txBody>
                  <a:tcPr anchor="ctr"/>
                </a:tc>
                <a:tc>
                  <a:txBody>
                    <a:bodyPr/>
                    <a:lstStyle/>
                    <a:p>
                      <a:r>
                        <a:rPr lang="fr-FR"/>
                        <a:t>13</a:t>
                      </a:r>
                    </a:p>
                  </a:txBody>
                  <a:tcPr anchor="ctr"/>
                </a:tc>
                <a:tc>
                  <a:txBody>
                    <a:bodyPr/>
                    <a:lstStyle/>
                    <a:p>
                      <a:r>
                        <a:rPr lang="fr-FR"/>
                        <a:t>10</a:t>
                      </a:r>
                    </a:p>
                  </a:txBody>
                  <a:tcPr anchor="ctr"/>
                </a:tc>
                <a:tc>
                  <a:txBody>
                    <a:bodyPr/>
                    <a:lstStyle/>
                    <a:p>
                      <a:r>
                        <a:rPr lang="fr-FR"/>
                        <a:t>9.15</a:t>
                      </a:r>
                    </a:p>
                  </a:txBody>
                  <a:tcPr anchor="ctr"/>
                </a:tc>
                <a:extLst>
                  <a:ext uri="{0D108BD9-81ED-4DB2-BD59-A6C34878D82A}">
                    <a16:rowId xmlns:a16="http://schemas.microsoft.com/office/drawing/2014/main" val="347942619"/>
                  </a:ext>
                </a:extLst>
              </a:tr>
              <a:tr h="0">
                <a:tc>
                  <a:txBody>
                    <a:bodyPr/>
                    <a:lstStyle/>
                    <a:p>
                      <a:r>
                        <a:rPr lang="fr-FR"/>
                        <a:t>1</a:t>
                      </a:r>
                    </a:p>
                  </a:txBody>
                  <a:tcPr anchor="ctr"/>
                </a:tc>
                <a:tc>
                  <a:txBody>
                    <a:bodyPr/>
                    <a:lstStyle/>
                    <a:p>
                      <a:r>
                        <a:rPr lang="fr-FR"/>
                        <a:t>42</a:t>
                      </a:r>
                    </a:p>
                  </a:txBody>
                  <a:tcPr anchor="ctr"/>
                </a:tc>
                <a:tc>
                  <a:txBody>
                    <a:bodyPr/>
                    <a:lstStyle/>
                    <a:p>
                      <a:r>
                        <a:rPr lang="fr-FR"/>
                        <a:t>8</a:t>
                      </a:r>
                    </a:p>
                  </a:txBody>
                  <a:tcPr anchor="ctr"/>
                </a:tc>
                <a:tc>
                  <a:txBody>
                    <a:bodyPr/>
                    <a:lstStyle/>
                    <a:p>
                      <a:r>
                        <a:rPr lang="fr-FR"/>
                        <a:t>4</a:t>
                      </a:r>
                    </a:p>
                  </a:txBody>
                  <a:tcPr anchor="ctr"/>
                </a:tc>
                <a:extLst>
                  <a:ext uri="{0D108BD9-81ED-4DB2-BD59-A6C34878D82A}">
                    <a16:rowId xmlns:a16="http://schemas.microsoft.com/office/drawing/2014/main" val="3659768377"/>
                  </a:ext>
                </a:extLst>
              </a:tr>
              <a:tr h="0">
                <a:tc>
                  <a:txBody>
                    <a:bodyPr/>
                    <a:lstStyle/>
                    <a:p>
                      <a:r>
                        <a:rPr lang="fr-FR"/>
                        <a:t>2</a:t>
                      </a:r>
                    </a:p>
                  </a:txBody>
                  <a:tcPr anchor="ctr"/>
                </a:tc>
                <a:tc>
                  <a:txBody>
                    <a:bodyPr/>
                    <a:lstStyle/>
                    <a:p>
                      <a:r>
                        <a:rPr lang="fr-FR"/>
                        <a:t>3</a:t>
                      </a:r>
                    </a:p>
                  </a:txBody>
                  <a:tcPr anchor="ctr"/>
                </a:tc>
                <a:tc>
                  <a:txBody>
                    <a:bodyPr/>
                    <a:lstStyle/>
                    <a:p>
                      <a:r>
                        <a:rPr lang="fr-FR"/>
                        <a:t>1</a:t>
                      </a:r>
                    </a:p>
                  </a:txBody>
                  <a:tcPr anchor="ctr"/>
                </a:tc>
                <a:tc>
                  <a:txBody>
                    <a:bodyPr/>
                    <a:lstStyle/>
                    <a:p>
                      <a:r>
                        <a:rPr lang="fr-FR"/>
                        <a:t>19.99</a:t>
                      </a:r>
                    </a:p>
                  </a:txBody>
                  <a:tcPr anchor="ctr"/>
                </a:tc>
                <a:extLst>
                  <a:ext uri="{0D108BD9-81ED-4DB2-BD59-A6C34878D82A}">
                    <a16:rowId xmlns:a16="http://schemas.microsoft.com/office/drawing/2014/main" val="2322213814"/>
                  </a:ext>
                </a:extLst>
              </a:tr>
            </a:tbl>
          </a:graphicData>
        </a:graphic>
      </p:graphicFrame>
    </p:spTree>
    <p:extLst>
      <p:ext uri="{BB962C8B-B14F-4D97-AF65-F5344CB8AC3E}">
        <p14:creationId xmlns:p14="http://schemas.microsoft.com/office/powerpoint/2010/main" val="24015179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56E0BF-7FC0-4977-80A3-FFC87CF73A4A}"/>
              </a:ext>
            </a:extLst>
          </p:cNvPr>
          <p:cNvSpPr>
            <a:spLocks noGrp="1"/>
          </p:cNvSpPr>
          <p:nvPr>
            <p:ph type="title"/>
          </p:nvPr>
        </p:nvSpPr>
        <p:spPr/>
        <p:txBody>
          <a:bodyPr/>
          <a:lstStyle/>
          <a:p>
            <a:r>
              <a:rPr lang="fr-FR"/>
              <a:t>Règles de conception</a:t>
            </a:r>
          </a:p>
        </p:txBody>
      </p:sp>
      <p:sp>
        <p:nvSpPr>
          <p:cNvPr id="3" name="Espace réservé du contenu 2">
            <a:extLst>
              <a:ext uri="{FF2B5EF4-FFF2-40B4-BE49-F238E27FC236}">
                <a16:creationId xmlns:a16="http://schemas.microsoft.com/office/drawing/2014/main" id="{D36850E3-AF2A-4FF6-8A40-C1F17638A7C2}"/>
              </a:ext>
            </a:extLst>
          </p:cNvPr>
          <p:cNvSpPr>
            <a:spLocks noGrp="1"/>
          </p:cNvSpPr>
          <p:nvPr>
            <p:ph idx="1"/>
          </p:nvPr>
        </p:nvSpPr>
        <p:spPr/>
        <p:txBody>
          <a:bodyPr/>
          <a:lstStyle/>
          <a:p>
            <a:r>
              <a:rPr lang="fr-FR" dirty="0"/>
              <a:t>1NF, 2NF et 3NF sont les formes normales les plus importantes</a:t>
            </a:r>
          </a:p>
          <a:p>
            <a:r>
              <a:rPr lang="fr-FR" dirty="0"/>
              <a:t>On considère </a:t>
            </a:r>
            <a:r>
              <a:rPr lang="fr-FR" b="1" dirty="0"/>
              <a:t>qu’une base est normalisée si elle est au moins en 3NF </a:t>
            </a:r>
            <a:r>
              <a:rPr lang="fr-FR" dirty="0"/>
              <a:t>(mais il existe d’autres formes normales que nous allons voir juste après)</a:t>
            </a:r>
          </a:p>
          <a:p>
            <a:r>
              <a:rPr lang="fr-FR" dirty="0"/>
              <a:t>Remarque : les formes normales sont « plus une sorte de guide général qu’un véritable règlement » ; il est parfois utile de </a:t>
            </a:r>
            <a:r>
              <a:rPr lang="fr-FR" i="1" dirty="0"/>
              <a:t>dénormaliser</a:t>
            </a:r>
            <a:r>
              <a:rPr lang="fr-FR" dirty="0"/>
              <a:t> une base mais il faut une bonne raison (souvent pour des raisons de performance)</a:t>
            </a:r>
          </a:p>
        </p:txBody>
      </p:sp>
      <p:sp>
        <p:nvSpPr>
          <p:cNvPr id="4" name="Espace réservé du numéro de diapositive 3">
            <a:extLst>
              <a:ext uri="{FF2B5EF4-FFF2-40B4-BE49-F238E27FC236}">
                <a16:creationId xmlns:a16="http://schemas.microsoft.com/office/drawing/2014/main" id="{AD216080-DCA9-4037-B6BF-E054DBF186E3}"/>
              </a:ext>
            </a:extLst>
          </p:cNvPr>
          <p:cNvSpPr>
            <a:spLocks noGrp="1"/>
          </p:cNvSpPr>
          <p:nvPr>
            <p:ph type="sldNum" sz="quarter" idx="12"/>
          </p:nvPr>
        </p:nvSpPr>
        <p:spPr/>
        <p:txBody>
          <a:bodyPr/>
          <a:lstStyle/>
          <a:p>
            <a:fld id="{27C6CCC6-2BE5-4E42-96A4-D1E8E81A3D8E}" type="slidenum">
              <a:rPr lang="de-DE" smtClean="0"/>
              <a:t>185</a:t>
            </a:fld>
            <a:endParaRPr lang="de-DE"/>
          </a:p>
        </p:txBody>
      </p:sp>
    </p:spTree>
    <p:extLst>
      <p:ext uri="{BB962C8B-B14F-4D97-AF65-F5344CB8AC3E}">
        <p14:creationId xmlns:p14="http://schemas.microsoft.com/office/powerpoint/2010/main" val="4151706429"/>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dirty="0"/>
              <a:t>BCNF – Forme normale de Boyce-Codd : pas de dépendance fonctionnelle entre un attribut non clé vers une partie de la clé</a:t>
            </a:r>
          </a:p>
          <a:p>
            <a:r>
              <a:rPr lang="fr-FR" dirty="0"/>
              <a:t>La BCNF est une forme légèrement plus forte de la 3NF</a:t>
            </a:r>
          </a:p>
        </p:txBody>
      </p:sp>
      <p:sp>
        <p:nvSpPr>
          <p:cNvPr id="6" name="Espace réservé du numéro de diapositive 5">
            <a:extLst>
              <a:ext uri="{FF2B5EF4-FFF2-40B4-BE49-F238E27FC236}">
                <a16:creationId xmlns:a16="http://schemas.microsoft.com/office/drawing/2014/main" id="{18F21CF7-F86B-41BC-A228-DF90AD9E5AD2}"/>
              </a:ext>
            </a:extLst>
          </p:cNvPr>
          <p:cNvSpPr>
            <a:spLocks noGrp="1"/>
          </p:cNvSpPr>
          <p:nvPr>
            <p:ph type="sldNum" sz="quarter" idx="12"/>
          </p:nvPr>
        </p:nvSpPr>
        <p:spPr/>
        <p:txBody>
          <a:bodyPr/>
          <a:lstStyle/>
          <a:p>
            <a:fld id="{27C6CCC6-2BE5-4E42-96A4-D1E8E81A3D8E}" type="slidenum">
              <a:rPr lang="de-DE" smtClean="0"/>
              <a:t>186</a:t>
            </a:fld>
            <a:endParaRPr lang="de-DE"/>
          </a:p>
        </p:txBody>
      </p:sp>
    </p:spTree>
    <p:extLst>
      <p:ext uri="{BB962C8B-B14F-4D97-AF65-F5344CB8AC3E}">
        <p14:creationId xmlns:p14="http://schemas.microsoft.com/office/powerpoint/2010/main" val="396854106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Règles de conception</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dirty="0"/>
              <a:t>4NF – Quatrième forme normale «  Chaque dépendance non triviale et multi-valeur a une superclé »</a:t>
            </a:r>
          </a:p>
          <a:p>
            <a:r>
              <a:rPr lang="fr-FR" dirty="0"/>
              <a:t>5NF – Cinquième forme normale «  Un composant de chaque dépendance explicite de jointure est une superclé »</a:t>
            </a:r>
          </a:p>
          <a:p>
            <a:r>
              <a:rPr lang="fr-FR" dirty="0"/>
              <a:t>DKNF - Forme normale de domaine clé «  Chaque contrainte est une conséquence des contraintes du domaine et des contraintes clés »</a:t>
            </a:r>
          </a:p>
        </p:txBody>
      </p:sp>
      <p:sp>
        <p:nvSpPr>
          <p:cNvPr id="6" name="Espace réservé du numéro de diapositive 5">
            <a:extLst>
              <a:ext uri="{FF2B5EF4-FFF2-40B4-BE49-F238E27FC236}">
                <a16:creationId xmlns:a16="http://schemas.microsoft.com/office/drawing/2014/main" id="{8715ABC3-02AA-462C-A36A-4803735BEDAC}"/>
              </a:ext>
            </a:extLst>
          </p:cNvPr>
          <p:cNvSpPr>
            <a:spLocks noGrp="1"/>
          </p:cNvSpPr>
          <p:nvPr>
            <p:ph type="sldNum" sz="quarter" idx="12"/>
          </p:nvPr>
        </p:nvSpPr>
        <p:spPr/>
        <p:txBody>
          <a:bodyPr/>
          <a:lstStyle/>
          <a:p>
            <a:fld id="{27C6CCC6-2BE5-4E42-96A4-D1E8E81A3D8E}" type="slidenum">
              <a:rPr lang="de-DE" smtClean="0"/>
              <a:t>187</a:t>
            </a:fld>
            <a:endParaRPr lang="de-DE"/>
          </a:p>
        </p:txBody>
      </p:sp>
    </p:spTree>
    <p:extLst>
      <p:ext uri="{BB962C8B-B14F-4D97-AF65-F5344CB8AC3E}">
        <p14:creationId xmlns:p14="http://schemas.microsoft.com/office/powerpoint/2010/main" val="202489616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Règles de conception</a:t>
            </a:r>
          </a:p>
        </p:txBody>
      </p:sp>
      <p:graphicFrame>
        <p:nvGraphicFramePr>
          <p:cNvPr id="4" name="Espace réservé du contenu 3">
            <a:extLst>
              <a:ext uri="{FF2B5EF4-FFF2-40B4-BE49-F238E27FC236}">
                <a16:creationId xmlns:a16="http://schemas.microsoft.com/office/drawing/2014/main" id="{9A10ADD4-D33A-4205-A450-1DED12B20DC1}"/>
              </a:ext>
            </a:extLst>
          </p:cNvPr>
          <p:cNvGraphicFramePr>
            <a:graphicFrameLocks noGrp="1"/>
          </p:cNvGraphicFramePr>
          <p:nvPr>
            <p:ph idx="1"/>
            <p:extLst>
              <p:ext uri="{D42A27DB-BD31-4B8C-83A1-F6EECF244321}">
                <p14:modId xmlns:p14="http://schemas.microsoft.com/office/powerpoint/2010/main" val="14399714"/>
              </p:ext>
            </p:extLst>
          </p:nvPr>
        </p:nvGraphicFramePr>
        <p:xfrm>
          <a:off x="1313355" y="1327150"/>
          <a:ext cx="8761414" cy="5151120"/>
        </p:xfrm>
        <a:graphic>
          <a:graphicData uri="http://schemas.openxmlformats.org/drawingml/2006/table">
            <a:tbl>
              <a:tblPr firstRow="1" bandRow="1">
                <a:tableStyleId>{5C22544A-7EE6-4342-B048-85BDC9FD1C3A}</a:tableStyleId>
              </a:tblPr>
              <a:tblGrid>
                <a:gridCol w="3432511">
                  <a:extLst>
                    <a:ext uri="{9D8B030D-6E8A-4147-A177-3AD203B41FA5}">
                      <a16:colId xmlns:a16="http://schemas.microsoft.com/office/drawing/2014/main" val="1029336042"/>
                    </a:ext>
                  </a:extLst>
                </a:gridCol>
                <a:gridCol w="467145">
                  <a:extLst>
                    <a:ext uri="{9D8B030D-6E8A-4147-A177-3AD203B41FA5}">
                      <a16:colId xmlns:a16="http://schemas.microsoft.com/office/drawing/2014/main" val="3155670553"/>
                    </a:ext>
                  </a:extLst>
                </a:gridCol>
                <a:gridCol w="483829">
                  <a:extLst>
                    <a:ext uri="{9D8B030D-6E8A-4147-A177-3AD203B41FA5}">
                      <a16:colId xmlns:a16="http://schemas.microsoft.com/office/drawing/2014/main" val="957524807"/>
                    </a:ext>
                  </a:extLst>
                </a:gridCol>
                <a:gridCol w="483830">
                  <a:extLst>
                    <a:ext uri="{9D8B030D-6E8A-4147-A177-3AD203B41FA5}">
                      <a16:colId xmlns:a16="http://schemas.microsoft.com/office/drawing/2014/main" val="3829831170"/>
                    </a:ext>
                  </a:extLst>
                </a:gridCol>
                <a:gridCol w="500513">
                  <a:extLst>
                    <a:ext uri="{9D8B030D-6E8A-4147-A177-3AD203B41FA5}">
                      <a16:colId xmlns:a16="http://schemas.microsoft.com/office/drawing/2014/main" val="99569371"/>
                    </a:ext>
                  </a:extLst>
                </a:gridCol>
                <a:gridCol w="458803">
                  <a:extLst>
                    <a:ext uri="{9D8B030D-6E8A-4147-A177-3AD203B41FA5}">
                      <a16:colId xmlns:a16="http://schemas.microsoft.com/office/drawing/2014/main" val="2606847024"/>
                    </a:ext>
                  </a:extLst>
                </a:gridCol>
                <a:gridCol w="525539">
                  <a:extLst>
                    <a:ext uri="{9D8B030D-6E8A-4147-A177-3AD203B41FA5}">
                      <a16:colId xmlns:a16="http://schemas.microsoft.com/office/drawing/2014/main" val="3726971889"/>
                    </a:ext>
                  </a:extLst>
                </a:gridCol>
                <a:gridCol w="525540">
                  <a:extLst>
                    <a:ext uri="{9D8B030D-6E8A-4147-A177-3AD203B41FA5}">
                      <a16:colId xmlns:a16="http://schemas.microsoft.com/office/drawing/2014/main" val="2800299232"/>
                    </a:ext>
                  </a:extLst>
                </a:gridCol>
                <a:gridCol w="517197">
                  <a:extLst>
                    <a:ext uri="{9D8B030D-6E8A-4147-A177-3AD203B41FA5}">
                      <a16:colId xmlns:a16="http://schemas.microsoft.com/office/drawing/2014/main" val="368863472"/>
                    </a:ext>
                  </a:extLst>
                </a:gridCol>
                <a:gridCol w="442121">
                  <a:extLst>
                    <a:ext uri="{9D8B030D-6E8A-4147-A177-3AD203B41FA5}">
                      <a16:colId xmlns:a16="http://schemas.microsoft.com/office/drawing/2014/main" val="2787345926"/>
                    </a:ext>
                  </a:extLst>
                </a:gridCol>
                <a:gridCol w="517197">
                  <a:extLst>
                    <a:ext uri="{9D8B030D-6E8A-4147-A177-3AD203B41FA5}">
                      <a16:colId xmlns:a16="http://schemas.microsoft.com/office/drawing/2014/main" val="703835989"/>
                    </a:ext>
                  </a:extLst>
                </a:gridCol>
                <a:gridCol w="407189">
                  <a:extLst>
                    <a:ext uri="{9D8B030D-6E8A-4147-A177-3AD203B41FA5}">
                      <a16:colId xmlns:a16="http://schemas.microsoft.com/office/drawing/2014/main" val="1204584260"/>
                    </a:ext>
                  </a:extLst>
                </a:gridCol>
              </a:tblGrid>
              <a:tr h="237393">
                <a:tc>
                  <a:txBody>
                    <a:bodyPr/>
                    <a:lstStyle/>
                    <a:p>
                      <a:endParaRPr lang="fr-FR" sz="1200"/>
                    </a:p>
                  </a:txBody>
                  <a:tcPr marL="75911" marR="75911"/>
                </a:tc>
                <a:tc>
                  <a:txBody>
                    <a:bodyPr/>
                    <a:lstStyle/>
                    <a:p>
                      <a:r>
                        <a:rPr lang="fr-FR" sz="1200"/>
                        <a:t>UNF</a:t>
                      </a:r>
                    </a:p>
                  </a:txBody>
                  <a:tcPr marL="75911" marR="75911"/>
                </a:tc>
                <a:tc>
                  <a:txBody>
                    <a:bodyPr/>
                    <a:lstStyle/>
                    <a:p>
                      <a:r>
                        <a:rPr lang="fr-FR" sz="1200"/>
                        <a:t>1NF</a:t>
                      </a:r>
                    </a:p>
                  </a:txBody>
                  <a:tcPr marL="75911" marR="75911"/>
                </a:tc>
                <a:tc>
                  <a:txBody>
                    <a:bodyPr/>
                    <a:lstStyle/>
                    <a:p>
                      <a:r>
                        <a:rPr lang="fr-FR" sz="1200"/>
                        <a:t>2NF</a:t>
                      </a:r>
                    </a:p>
                  </a:txBody>
                  <a:tcPr marL="75911" marR="75911"/>
                </a:tc>
                <a:tc>
                  <a:txBody>
                    <a:bodyPr/>
                    <a:lstStyle/>
                    <a:p>
                      <a:r>
                        <a:rPr lang="fr-FR" sz="1200"/>
                        <a:t>3NF</a:t>
                      </a:r>
                    </a:p>
                  </a:txBody>
                  <a:tcPr marL="75911" marR="75911"/>
                </a:tc>
                <a:tc>
                  <a:txBody>
                    <a:bodyPr/>
                    <a:lstStyle/>
                    <a:p>
                      <a:r>
                        <a:rPr lang="fr-FR" sz="1200"/>
                        <a:t>EKNF</a:t>
                      </a:r>
                    </a:p>
                  </a:txBody>
                  <a:tcPr marL="75911" marR="75911"/>
                </a:tc>
                <a:tc>
                  <a:txBody>
                    <a:bodyPr/>
                    <a:lstStyle/>
                    <a:p>
                      <a:r>
                        <a:rPr lang="fr-FR" sz="1200"/>
                        <a:t>BCNF</a:t>
                      </a:r>
                    </a:p>
                  </a:txBody>
                  <a:tcPr marL="75911" marR="75911"/>
                </a:tc>
                <a:tc>
                  <a:txBody>
                    <a:bodyPr/>
                    <a:lstStyle/>
                    <a:p>
                      <a:r>
                        <a:rPr lang="fr-FR" sz="1200"/>
                        <a:t>4NF</a:t>
                      </a:r>
                    </a:p>
                  </a:txBody>
                  <a:tcPr marL="75911" marR="75911"/>
                </a:tc>
                <a:tc>
                  <a:txBody>
                    <a:bodyPr/>
                    <a:lstStyle/>
                    <a:p>
                      <a:r>
                        <a:rPr lang="fr-FR" sz="1200"/>
                        <a:t>ETNF</a:t>
                      </a:r>
                    </a:p>
                  </a:txBody>
                  <a:tcPr marL="75911" marR="75911"/>
                </a:tc>
                <a:tc>
                  <a:txBody>
                    <a:bodyPr/>
                    <a:lstStyle/>
                    <a:p>
                      <a:r>
                        <a:rPr lang="fr-FR" sz="1200"/>
                        <a:t>5NF</a:t>
                      </a:r>
                    </a:p>
                  </a:txBody>
                  <a:tcPr marL="75911" marR="75911"/>
                </a:tc>
                <a:tc>
                  <a:txBody>
                    <a:bodyPr/>
                    <a:lstStyle/>
                    <a:p>
                      <a:r>
                        <a:rPr lang="fr-FR" sz="1200"/>
                        <a:t>DKNF</a:t>
                      </a:r>
                    </a:p>
                  </a:txBody>
                  <a:tcPr marL="75911" marR="75911"/>
                </a:tc>
                <a:tc>
                  <a:txBody>
                    <a:bodyPr/>
                    <a:lstStyle/>
                    <a:p>
                      <a:r>
                        <a:rPr lang="fr-FR" sz="1200"/>
                        <a:t>6NF</a:t>
                      </a:r>
                    </a:p>
                  </a:txBody>
                  <a:tcPr marL="75911" marR="75911"/>
                </a:tc>
                <a:extLst>
                  <a:ext uri="{0D108BD9-81ED-4DB2-BD59-A6C34878D82A}">
                    <a16:rowId xmlns:a16="http://schemas.microsoft.com/office/drawing/2014/main" val="4059101414"/>
                  </a:ext>
                </a:extLst>
              </a:tr>
              <a:tr h="237393">
                <a:tc>
                  <a:txBody>
                    <a:bodyPr/>
                    <a:lstStyle/>
                    <a:p>
                      <a:r>
                        <a:rPr lang="fr-FR" sz="1000"/>
                        <a:t>Clé primaire (pas de doublons)</a:t>
                      </a:r>
                    </a:p>
                  </a:txBody>
                  <a:tcPr marL="75911" marR="75911"/>
                </a:tc>
                <a:tc>
                  <a:txBody>
                    <a:bodyPr/>
                    <a:lstStyle/>
                    <a:p>
                      <a:endParaRPr lang="fr-FR" sz="1200"/>
                    </a:p>
                  </a:txBody>
                  <a:tcPr marL="75911" marR="75911">
                    <a:solidFill>
                      <a:schemeClr val="accent4">
                        <a:lumMod val="40000"/>
                        <a:lumOff val="6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extLst>
                  <a:ext uri="{0D108BD9-81ED-4DB2-BD59-A6C34878D82A}">
                    <a16:rowId xmlns:a16="http://schemas.microsoft.com/office/drawing/2014/main" val="1880471010"/>
                  </a:ext>
                </a:extLst>
              </a:tr>
              <a:tr h="237393">
                <a:tc>
                  <a:txBody>
                    <a:bodyPr/>
                    <a:lstStyle/>
                    <a:p>
                      <a:r>
                        <a:rPr lang="fr-FR" sz="1000"/>
                        <a:t>Pas de répétitions de groupes</a:t>
                      </a:r>
                    </a:p>
                  </a:txBody>
                  <a:tcPr marL="75911" marR="75911"/>
                </a:tc>
                <a:tc>
                  <a:txBody>
                    <a:bodyPr/>
                    <a:lstStyle/>
                    <a:p>
                      <a:endParaRPr lang="fr-FR" sz="1200"/>
                    </a:p>
                  </a:txBody>
                  <a:tcPr marL="75911" marR="75911">
                    <a:solidFill>
                      <a:schemeClr val="accent4">
                        <a:lumMod val="40000"/>
                        <a:lumOff val="6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37956" marR="37956">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extLst>
                  <a:ext uri="{0D108BD9-81ED-4DB2-BD59-A6C34878D82A}">
                    <a16:rowId xmlns:a16="http://schemas.microsoft.com/office/drawing/2014/main" val="359987978"/>
                  </a:ext>
                </a:extLst>
              </a:tr>
              <a:tr h="237393">
                <a:tc>
                  <a:txBody>
                    <a:bodyPr/>
                    <a:lstStyle/>
                    <a:p>
                      <a:r>
                        <a:rPr lang="fr-FR" sz="1000"/>
                        <a:t>Colonnes atomiques (les cellules ont une seule valeur)</a:t>
                      </a:r>
                    </a:p>
                  </a:txBody>
                  <a:tcPr marL="75911" marR="75911"/>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extLst>
                  <a:ext uri="{0D108BD9-81ED-4DB2-BD59-A6C34878D82A}">
                    <a16:rowId xmlns:a16="http://schemas.microsoft.com/office/drawing/2014/main" val="2798690944"/>
                  </a:ext>
                </a:extLst>
              </a:tr>
              <a:tr h="237393">
                <a:tc>
                  <a:txBody>
                    <a:bodyPr/>
                    <a:lstStyle/>
                    <a:p>
                      <a:r>
                        <a:rPr lang="fr-FR" sz="1000"/>
                        <a:t>Pas de dépendances partielles (les valeurs dépendent de l'ensemble de chaque clé candidate)</a:t>
                      </a:r>
                    </a:p>
                  </a:txBody>
                  <a:tcPr marL="75911" marR="75911"/>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extLst>
                  <a:ext uri="{0D108BD9-81ED-4DB2-BD59-A6C34878D82A}">
                    <a16:rowId xmlns:a16="http://schemas.microsoft.com/office/drawing/2014/main" val="841070473"/>
                  </a:ext>
                </a:extLst>
              </a:tr>
              <a:tr h="237393">
                <a:tc>
                  <a:txBody>
                    <a:bodyPr/>
                    <a:lstStyle/>
                    <a:p>
                      <a:r>
                        <a:rPr lang="fr-FR" sz="1000"/>
                        <a:t>Pas de dépendances transitives (les valeurs dépendent uniquement des clés candidates)</a:t>
                      </a:r>
                    </a:p>
                  </a:txBody>
                  <a:tcPr marL="75911" marR="75911"/>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extLst>
                  <a:ext uri="{0D108BD9-81ED-4DB2-BD59-A6C34878D82A}">
                    <a16:rowId xmlns:a16="http://schemas.microsoft.com/office/drawing/2014/main" val="3820758205"/>
                  </a:ext>
                </a:extLst>
              </a:tr>
              <a:tr h="395655">
                <a:tc>
                  <a:txBody>
                    <a:bodyPr/>
                    <a:lstStyle/>
                    <a:p>
                      <a:r>
                        <a:rPr lang="fr-FR" sz="1000"/>
                        <a:t>Toute dépendance fonctionnelle non triviale implique soit une superclé, soit la sous-clé d'une clé élémentaire</a:t>
                      </a:r>
                    </a:p>
                  </a:txBody>
                  <a:tcPr marL="75911" marR="75911"/>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extLst>
                  <a:ext uri="{0D108BD9-81ED-4DB2-BD59-A6C34878D82A}">
                    <a16:rowId xmlns:a16="http://schemas.microsoft.com/office/drawing/2014/main" val="2081164880"/>
                  </a:ext>
                </a:extLst>
              </a:tr>
              <a:tr h="395655">
                <a:tc>
                  <a:txBody>
                    <a:bodyPr/>
                    <a:lstStyle/>
                    <a:p>
                      <a:r>
                        <a:rPr lang="fr-FR" sz="1000"/>
                        <a:t>Pas de redondance issue d’une dépendance fonctionnelle</a:t>
                      </a:r>
                    </a:p>
                  </a:txBody>
                  <a:tcPr marL="75911" marR="75911"/>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extLst>
                  <a:ext uri="{0D108BD9-81ED-4DB2-BD59-A6C34878D82A}">
                    <a16:rowId xmlns:a16="http://schemas.microsoft.com/office/drawing/2014/main" val="2650420766"/>
                  </a:ext>
                </a:extLst>
              </a:tr>
              <a:tr h="395655">
                <a:tc>
                  <a:txBody>
                    <a:bodyPr/>
                    <a:lstStyle/>
                    <a:p>
                      <a:r>
                        <a:rPr lang="fr-FR" sz="1000" dirty="0"/>
                        <a:t>Chaque dépendance non triviale et multi-valeur a une superclé</a:t>
                      </a:r>
                    </a:p>
                  </a:txBody>
                  <a:tcPr marL="75911" marR="75911"/>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extLst>
                  <a:ext uri="{0D108BD9-81ED-4DB2-BD59-A6C34878D82A}">
                    <a16:rowId xmlns:a16="http://schemas.microsoft.com/office/drawing/2014/main" val="1491353097"/>
                  </a:ext>
                </a:extLst>
              </a:tr>
              <a:tr h="395655">
                <a:tc>
                  <a:txBody>
                    <a:bodyPr/>
                    <a:lstStyle/>
                    <a:p>
                      <a:r>
                        <a:rPr lang="fr-FR" sz="1000" dirty="0"/>
                        <a:t>Un composant de chaque dépendance explicite de jointure est une superclé</a:t>
                      </a:r>
                    </a:p>
                  </a:txBody>
                  <a:tcPr marL="75911" marR="75911"/>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extLst>
                  <a:ext uri="{0D108BD9-81ED-4DB2-BD59-A6C34878D82A}">
                    <a16:rowId xmlns:a16="http://schemas.microsoft.com/office/drawing/2014/main" val="1604842025"/>
                  </a:ext>
                </a:extLst>
              </a:tr>
              <a:tr h="395655">
                <a:tc>
                  <a:txBody>
                    <a:bodyPr/>
                    <a:lstStyle/>
                    <a:p>
                      <a:r>
                        <a:rPr lang="fr-FR" sz="1000"/>
                        <a:t>Chaque dépendance non triviale de jointure est impliquée par une clé de candidat</a:t>
                      </a:r>
                    </a:p>
                  </a:txBody>
                  <a:tcPr marL="75911" marR="75911"/>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extLst>
                  <a:ext uri="{0D108BD9-81ED-4DB2-BD59-A6C34878D82A}">
                    <a16:rowId xmlns:a16="http://schemas.microsoft.com/office/drawing/2014/main" val="1360123822"/>
                  </a:ext>
                </a:extLst>
              </a:tr>
              <a:tr h="395655">
                <a:tc>
                  <a:txBody>
                    <a:bodyPr/>
                    <a:lstStyle/>
                    <a:p>
                      <a:r>
                        <a:rPr lang="fr-FR" sz="1000" dirty="0"/>
                        <a:t>Chaque contrainte est une conséquence des contraintes du domaine et des contraintes clés</a:t>
                      </a:r>
                    </a:p>
                  </a:txBody>
                  <a:tcPr marL="75911" marR="75911"/>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dirty="0"/>
                    </a:p>
                  </a:txBody>
                  <a:tcPr marL="75911" marR="75911">
                    <a:solidFill>
                      <a:schemeClr val="accent3">
                        <a:lumMod val="60000"/>
                        <a:lumOff val="40000"/>
                      </a:schemeClr>
                    </a:solidFill>
                  </a:tcPr>
                </a:tc>
                <a:tc>
                  <a:txBody>
                    <a:bodyPr/>
                    <a:lstStyle/>
                    <a:p>
                      <a:endParaRPr lang="fr-FR" sz="1200"/>
                    </a:p>
                  </a:txBody>
                  <a:tcPr marL="75911" marR="75911">
                    <a:solidFill>
                      <a:schemeClr val="accent3">
                        <a:lumMod val="60000"/>
                        <a:lumOff val="40000"/>
                      </a:schemeClr>
                    </a:solidFill>
                  </a:tcPr>
                </a:tc>
                <a:extLst>
                  <a:ext uri="{0D108BD9-81ED-4DB2-BD59-A6C34878D82A}">
                    <a16:rowId xmlns:a16="http://schemas.microsoft.com/office/drawing/2014/main" val="1223789499"/>
                  </a:ext>
                </a:extLst>
              </a:tr>
              <a:tr h="237393">
                <a:tc>
                  <a:txBody>
                    <a:bodyPr/>
                    <a:lstStyle/>
                    <a:p>
                      <a:r>
                        <a:rPr lang="fr-FR" sz="1000"/>
                        <a:t>Chaque dépendance de jointure est triviale</a:t>
                      </a:r>
                    </a:p>
                  </a:txBody>
                  <a:tcPr marL="75911" marR="75911"/>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a:p>
                  </a:txBody>
                  <a:tcPr marL="75911" marR="75911">
                    <a:solidFill>
                      <a:schemeClr val="accent6">
                        <a:lumMod val="60000"/>
                        <a:lumOff val="40000"/>
                      </a:schemeClr>
                    </a:solidFill>
                  </a:tcPr>
                </a:tc>
                <a:tc>
                  <a:txBody>
                    <a:bodyPr/>
                    <a:lstStyle/>
                    <a:p>
                      <a:endParaRPr lang="fr-FR" sz="1200" dirty="0"/>
                    </a:p>
                  </a:txBody>
                  <a:tcPr marL="75911" marR="75911">
                    <a:solidFill>
                      <a:schemeClr val="accent3">
                        <a:lumMod val="60000"/>
                        <a:lumOff val="40000"/>
                      </a:schemeClr>
                    </a:solidFill>
                  </a:tcPr>
                </a:tc>
                <a:extLst>
                  <a:ext uri="{0D108BD9-81ED-4DB2-BD59-A6C34878D82A}">
                    <a16:rowId xmlns:a16="http://schemas.microsoft.com/office/drawing/2014/main" val="407430355"/>
                  </a:ext>
                </a:extLst>
              </a:tr>
            </a:tbl>
          </a:graphicData>
        </a:graphic>
      </p:graphicFrame>
    </p:spTree>
    <p:extLst>
      <p:ext uri="{BB962C8B-B14F-4D97-AF65-F5344CB8AC3E}">
        <p14:creationId xmlns:p14="http://schemas.microsoft.com/office/powerpoint/2010/main" val="45363768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ECE52D-1033-4501-8F9F-1229EE87F3F6}"/>
              </a:ext>
            </a:extLst>
          </p:cNvPr>
          <p:cNvSpPr>
            <a:spLocks noGrp="1"/>
          </p:cNvSpPr>
          <p:nvPr>
            <p:ph type="title"/>
          </p:nvPr>
        </p:nvSpPr>
        <p:spPr/>
        <p:txBody>
          <a:bodyPr/>
          <a:lstStyle/>
          <a:p>
            <a:r>
              <a:rPr lang="fr-FR"/>
              <a:t>Normalisation d’une base existante</a:t>
            </a:r>
          </a:p>
        </p:txBody>
      </p:sp>
      <p:sp>
        <p:nvSpPr>
          <p:cNvPr id="3" name="Espace réservé du contenu 2">
            <a:extLst>
              <a:ext uri="{FF2B5EF4-FFF2-40B4-BE49-F238E27FC236}">
                <a16:creationId xmlns:a16="http://schemas.microsoft.com/office/drawing/2014/main" id="{D455CABB-CC79-4153-83BD-8C4EF0BDF458}"/>
              </a:ext>
            </a:extLst>
          </p:cNvPr>
          <p:cNvSpPr>
            <a:spLocks noGrp="1"/>
          </p:cNvSpPr>
          <p:nvPr>
            <p:ph idx="1"/>
          </p:nvPr>
        </p:nvSpPr>
        <p:spPr/>
        <p:txBody>
          <a:bodyPr/>
          <a:lstStyle/>
          <a:p>
            <a:r>
              <a:rPr lang="fr-FR"/>
              <a:t>La normalisation d’une base de données non-normalisée se fait étape par étape</a:t>
            </a:r>
          </a:p>
          <a:p>
            <a:r>
              <a:rPr lang="fr-FR"/>
              <a:t>On applique la première forme normale avant d’appliquer la suivante, et ainsi de suite</a:t>
            </a:r>
          </a:p>
          <a:p>
            <a:r>
              <a:rPr lang="fr-FR"/>
              <a:t>De façon informelle, on considère une base « normalisée » si la 3</a:t>
            </a:r>
            <a:r>
              <a:rPr lang="fr-FR" baseline="30000"/>
              <a:t>ème</a:t>
            </a:r>
            <a:r>
              <a:rPr lang="fr-FR"/>
              <a:t> forme normale est respectée</a:t>
            </a:r>
          </a:p>
        </p:txBody>
      </p:sp>
      <p:sp>
        <p:nvSpPr>
          <p:cNvPr id="6" name="Espace réservé du numéro de diapositive 5">
            <a:extLst>
              <a:ext uri="{FF2B5EF4-FFF2-40B4-BE49-F238E27FC236}">
                <a16:creationId xmlns:a16="http://schemas.microsoft.com/office/drawing/2014/main" id="{7ECCD989-067B-4EFD-AEF2-E33837723655}"/>
              </a:ext>
            </a:extLst>
          </p:cNvPr>
          <p:cNvSpPr>
            <a:spLocks noGrp="1"/>
          </p:cNvSpPr>
          <p:nvPr>
            <p:ph type="sldNum" sz="quarter" idx="12"/>
          </p:nvPr>
        </p:nvSpPr>
        <p:spPr/>
        <p:txBody>
          <a:bodyPr/>
          <a:lstStyle/>
          <a:p>
            <a:fld id="{27C6CCC6-2BE5-4E42-96A4-D1E8E81A3D8E}" type="slidenum">
              <a:rPr lang="de-DE" smtClean="0"/>
              <a:t>189</a:t>
            </a:fld>
            <a:endParaRPr lang="de-DE"/>
          </a:p>
        </p:txBody>
      </p:sp>
    </p:spTree>
    <p:extLst>
      <p:ext uri="{BB962C8B-B14F-4D97-AF65-F5344CB8AC3E}">
        <p14:creationId xmlns:p14="http://schemas.microsoft.com/office/powerpoint/2010/main" val="3881247182"/>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ECE52D-1033-4501-8F9F-1229EE87F3F6}"/>
              </a:ext>
            </a:extLst>
          </p:cNvPr>
          <p:cNvSpPr>
            <a:spLocks noGrp="1"/>
          </p:cNvSpPr>
          <p:nvPr>
            <p:ph type="title"/>
          </p:nvPr>
        </p:nvSpPr>
        <p:spPr/>
        <p:txBody>
          <a:bodyPr/>
          <a:lstStyle/>
          <a:p>
            <a:r>
              <a:rPr lang="fr-FR"/>
              <a:t>Exemple de normalisation</a:t>
            </a:r>
          </a:p>
        </p:txBody>
      </p:sp>
      <p:sp>
        <p:nvSpPr>
          <p:cNvPr id="3" name="Espace réservé du contenu 2">
            <a:extLst>
              <a:ext uri="{FF2B5EF4-FFF2-40B4-BE49-F238E27FC236}">
                <a16:creationId xmlns:a16="http://schemas.microsoft.com/office/drawing/2014/main" id="{D455CABB-CC79-4153-83BD-8C4EF0BDF458}"/>
              </a:ext>
            </a:extLst>
          </p:cNvPr>
          <p:cNvSpPr>
            <a:spLocks noGrp="1"/>
          </p:cNvSpPr>
          <p:nvPr>
            <p:ph idx="1"/>
          </p:nvPr>
        </p:nvSpPr>
        <p:spPr/>
        <p:txBody>
          <a:bodyPr anchor="t"/>
          <a:lstStyle/>
          <a:p>
            <a:r>
              <a:rPr lang="fr-FR"/>
              <a:t>Source : </a:t>
            </a:r>
            <a:r>
              <a:rPr lang="fr-FR">
                <a:hlinkClick r:id="rId2"/>
              </a:rPr>
              <a:t>https://en.wikipedia.org/wiki/Database_normalization</a:t>
            </a:r>
            <a:endParaRPr lang="fr-FR"/>
          </a:p>
          <a:p>
            <a:endParaRPr lang="fr-FR"/>
          </a:p>
        </p:txBody>
      </p:sp>
      <p:sp>
        <p:nvSpPr>
          <p:cNvPr id="7" name="Espace réservé du numéro de diapositive 6">
            <a:extLst>
              <a:ext uri="{FF2B5EF4-FFF2-40B4-BE49-F238E27FC236}">
                <a16:creationId xmlns:a16="http://schemas.microsoft.com/office/drawing/2014/main" id="{60E3D6A6-4BBE-4F88-A6B8-CFA4C4A85A8A}"/>
              </a:ext>
            </a:extLst>
          </p:cNvPr>
          <p:cNvSpPr>
            <a:spLocks noGrp="1"/>
          </p:cNvSpPr>
          <p:nvPr>
            <p:ph type="sldNum" sz="quarter" idx="12"/>
          </p:nvPr>
        </p:nvSpPr>
        <p:spPr/>
        <p:txBody>
          <a:bodyPr/>
          <a:lstStyle/>
          <a:p>
            <a:fld id="{27C6CCC6-2BE5-4E42-96A4-D1E8E81A3D8E}" type="slidenum">
              <a:rPr lang="de-DE" smtClean="0"/>
              <a:t>190</a:t>
            </a:fld>
            <a:endParaRPr lang="de-DE"/>
          </a:p>
        </p:txBody>
      </p:sp>
      <p:graphicFrame>
        <p:nvGraphicFramePr>
          <p:cNvPr id="4" name="Tableau 3">
            <a:extLst>
              <a:ext uri="{FF2B5EF4-FFF2-40B4-BE49-F238E27FC236}">
                <a16:creationId xmlns:a16="http://schemas.microsoft.com/office/drawing/2014/main" id="{A8CC1FF1-5135-44FF-8918-8377746C062E}"/>
              </a:ext>
            </a:extLst>
          </p:cNvPr>
          <p:cNvGraphicFramePr>
            <a:graphicFrameLocks noGrp="1"/>
          </p:cNvGraphicFramePr>
          <p:nvPr>
            <p:extLst>
              <p:ext uri="{D42A27DB-BD31-4B8C-83A1-F6EECF244321}">
                <p14:modId xmlns:p14="http://schemas.microsoft.com/office/powerpoint/2010/main" val="2253827334"/>
              </p:ext>
            </p:extLst>
          </p:nvPr>
        </p:nvGraphicFramePr>
        <p:xfrm>
          <a:off x="859826" y="3171571"/>
          <a:ext cx="10472345" cy="2301400"/>
        </p:xfrm>
        <a:graphic>
          <a:graphicData uri="http://schemas.openxmlformats.org/drawingml/2006/table">
            <a:tbl>
              <a:tblPr firstRow="1" bandRow="1">
                <a:tableStyleId>{B301B821-A1FF-4177-AEE7-76D212191A09}</a:tableStyleId>
              </a:tblPr>
              <a:tblGrid>
                <a:gridCol w="805565">
                  <a:extLst>
                    <a:ext uri="{9D8B030D-6E8A-4147-A177-3AD203B41FA5}">
                      <a16:colId xmlns:a16="http://schemas.microsoft.com/office/drawing/2014/main" val="1844529400"/>
                    </a:ext>
                  </a:extLst>
                </a:gridCol>
                <a:gridCol w="805565">
                  <a:extLst>
                    <a:ext uri="{9D8B030D-6E8A-4147-A177-3AD203B41FA5}">
                      <a16:colId xmlns:a16="http://schemas.microsoft.com/office/drawing/2014/main" val="2490012961"/>
                    </a:ext>
                  </a:extLst>
                </a:gridCol>
                <a:gridCol w="805565">
                  <a:extLst>
                    <a:ext uri="{9D8B030D-6E8A-4147-A177-3AD203B41FA5}">
                      <a16:colId xmlns:a16="http://schemas.microsoft.com/office/drawing/2014/main" val="3163703434"/>
                    </a:ext>
                  </a:extLst>
                </a:gridCol>
                <a:gridCol w="805565">
                  <a:extLst>
                    <a:ext uri="{9D8B030D-6E8A-4147-A177-3AD203B41FA5}">
                      <a16:colId xmlns:a16="http://schemas.microsoft.com/office/drawing/2014/main" val="2352272359"/>
                    </a:ext>
                  </a:extLst>
                </a:gridCol>
                <a:gridCol w="805565">
                  <a:extLst>
                    <a:ext uri="{9D8B030D-6E8A-4147-A177-3AD203B41FA5}">
                      <a16:colId xmlns:a16="http://schemas.microsoft.com/office/drawing/2014/main" val="814849479"/>
                    </a:ext>
                  </a:extLst>
                </a:gridCol>
                <a:gridCol w="805565">
                  <a:extLst>
                    <a:ext uri="{9D8B030D-6E8A-4147-A177-3AD203B41FA5}">
                      <a16:colId xmlns:a16="http://schemas.microsoft.com/office/drawing/2014/main" val="499035548"/>
                    </a:ext>
                  </a:extLst>
                </a:gridCol>
                <a:gridCol w="805565">
                  <a:extLst>
                    <a:ext uri="{9D8B030D-6E8A-4147-A177-3AD203B41FA5}">
                      <a16:colId xmlns:a16="http://schemas.microsoft.com/office/drawing/2014/main" val="3511823412"/>
                    </a:ext>
                  </a:extLst>
                </a:gridCol>
                <a:gridCol w="805565">
                  <a:extLst>
                    <a:ext uri="{9D8B030D-6E8A-4147-A177-3AD203B41FA5}">
                      <a16:colId xmlns:a16="http://schemas.microsoft.com/office/drawing/2014/main" val="1483402898"/>
                    </a:ext>
                  </a:extLst>
                </a:gridCol>
                <a:gridCol w="805565">
                  <a:extLst>
                    <a:ext uri="{9D8B030D-6E8A-4147-A177-3AD203B41FA5}">
                      <a16:colId xmlns:a16="http://schemas.microsoft.com/office/drawing/2014/main" val="1000424771"/>
                    </a:ext>
                  </a:extLst>
                </a:gridCol>
                <a:gridCol w="805565">
                  <a:extLst>
                    <a:ext uri="{9D8B030D-6E8A-4147-A177-3AD203B41FA5}">
                      <a16:colId xmlns:a16="http://schemas.microsoft.com/office/drawing/2014/main" val="76965338"/>
                    </a:ext>
                  </a:extLst>
                </a:gridCol>
                <a:gridCol w="805565">
                  <a:extLst>
                    <a:ext uri="{9D8B030D-6E8A-4147-A177-3AD203B41FA5}">
                      <a16:colId xmlns:a16="http://schemas.microsoft.com/office/drawing/2014/main" val="3780773456"/>
                    </a:ext>
                  </a:extLst>
                </a:gridCol>
                <a:gridCol w="805565">
                  <a:extLst>
                    <a:ext uri="{9D8B030D-6E8A-4147-A177-3AD203B41FA5}">
                      <a16:colId xmlns:a16="http://schemas.microsoft.com/office/drawing/2014/main" val="3017368306"/>
                    </a:ext>
                  </a:extLst>
                </a:gridCol>
                <a:gridCol w="805565">
                  <a:extLst>
                    <a:ext uri="{9D8B030D-6E8A-4147-A177-3AD203B41FA5}">
                      <a16:colId xmlns:a16="http://schemas.microsoft.com/office/drawing/2014/main" val="2766775176"/>
                    </a:ext>
                  </a:extLst>
                </a:gridCol>
              </a:tblGrid>
              <a:tr h="526363">
                <a:tc>
                  <a:txBody>
                    <a:bodyPr/>
                    <a:lstStyle/>
                    <a:p>
                      <a:r>
                        <a:rPr lang="fr-FR" sz="1400" u="sng" err="1"/>
                        <a:t>Title</a:t>
                      </a:r>
                      <a:r>
                        <a:rPr lang="fr-FR" sz="1400" u="sng"/>
                        <a:t> </a:t>
                      </a:r>
                    </a:p>
                  </a:txBody>
                  <a:tcPr marL="73501" marR="73501" marT="36751" marB="36751" anchor="ctr"/>
                </a:tc>
                <a:tc>
                  <a:txBody>
                    <a:bodyPr/>
                    <a:lstStyle/>
                    <a:p>
                      <a:r>
                        <a:rPr lang="fr-FR" sz="1400" u="sng"/>
                        <a:t>Author </a:t>
                      </a:r>
                    </a:p>
                  </a:txBody>
                  <a:tcPr marL="73501" marR="73501" marT="36751" marB="36751" anchor="ctr"/>
                </a:tc>
                <a:tc>
                  <a:txBody>
                    <a:bodyPr/>
                    <a:lstStyle/>
                    <a:p>
                      <a:r>
                        <a:rPr lang="fr-FR" sz="1400"/>
                        <a:t>Author </a:t>
                      </a:r>
                      <a:r>
                        <a:rPr lang="fr-FR" sz="1400" err="1"/>
                        <a:t>Nationality</a:t>
                      </a:r>
                      <a:r>
                        <a:rPr lang="fr-FR" sz="1400"/>
                        <a:t> </a:t>
                      </a:r>
                    </a:p>
                  </a:txBody>
                  <a:tcPr marL="73501" marR="73501" marT="36751" marB="36751" anchor="ctr"/>
                </a:tc>
                <a:tc>
                  <a:txBody>
                    <a:bodyPr/>
                    <a:lstStyle/>
                    <a:p>
                      <a:r>
                        <a:rPr lang="fr-FR" sz="1400"/>
                        <a:t>Format </a:t>
                      </a:r>
                    </a:p>
                  </a:txBody>
                  <a:tcPr marL="73501" marR="73501" marT="36751" marB="36751" anchor="ctr"/>
                </a:tc>
                <a:tc>
                  <a:txBody>
                    <a:bodyPr/>
                    <a:lstStyle/>
                    <a:p>
                      <a:r>
                        <a:rPr lang="fr-FR" sz="1400"/>
                        <a:t>Price </a:t>
                      </a:r>
                    </a:p>
                  </a:txBody>
                  <a:tcPr marL="73501" marR="73501" marT="36751" marB="36751" anchor="ctr"/>
                </a:tc>
                <a:tc>
                  <a:txBody>
                    <a:bodyPr/>
                    <a:lstStyle/>
                    <a:p>
                      <a:r>
                        <a:rPr lang="fr-FR" sz="1400"/>
                        <a:t>Subject </a:t>
                      </a:r>
                    </a:p>
                  </a:txBody>
                  <a:tcPr marL="73501" marR="73501" marT="36751" marB="36751" anchor="ctr"/>
                </a:tc>
                <a:tc>
                  <a:txBody>
                    <a:bodyPr/>
                    <a:lstStyle/>
                    <a:p>
                      <a:r>
                        <a:rPr lang="fr-FR" sz="1400"/>
                        <a:t>Pages </a:t>
                      </a:r>
                    </a:p>
                  </a:txBody>
                  <a:tcPr marL="73501" marR="73501" marT="36751" marB="36751" anchor="ctr"/>
                </a:tc>
                <a:tc>
                  <a:txBody>
                    <a:bodyPr/>
                    <a:lstStyle/>
                    <a:p>
                      <a:r>
                        <a:rPr lang="fr-FR" sz="1400"/>
                        <a:t>Thickness </a:t>
                      </a:r>
                    </a:p>
                  </a:txBody>
                  <a:tcPr marL="73501" marR="73501" marT="36751" marB="36751" anchor="ctr"/>
                </a:tc>
                <a:tc>
                  <a:txBody>
                    <a:bodyPr/>
                    <a:lstStyle/>
                    <a:p>
                      <a:r>
                        <a:rPr lang="fr-FR" sz="1400"/>
                        <a:t>Publisher </a:t>
                      </a:r>
                    </a:p>
                  </a:txBody>
                  <a:tcPr marL="73501" marR="73501" marT="36751" marB="36751" anchor="ctr"/>
                </a:tc>
                <a:tc>
                  <a:txBody>
                    <a:bodyPr/>
                    <a:lstStyle/>
                    <a:p>
                      <a:r>
                        <a:rPr lang="fr-FR" sz="1400"/>
                        <a:t>Publisher Country </a:t>
                      </a:r>
                    </a:p>
                  </a:txBody>
                  <a:tcPr marL="73501" marR="73501" marT="36751" marB="36751" anchor="ctr"/>
                </a:tc>
                <a:tc>
                  <a:txBody>
                    <a:bodyPr/>
                    <a:lstStyle/>
                    <a:p>
                      <a:r>
                        <a:rPr lang="fr-FR" sz="1400"/>
                        <a:t>Publication Type </a:t>
                      </a:r>
                    </a:p>
                  </a:txBody>
                  <a:tcPr marL="73501" marR="73501" marT="36751" marB="36751" anchor="ctr"/>
                </a:tc>
                <a:tc>
                  <a:txBody>
                    <a:bodyPr/>
                    <a:lstStyle/>
                    <a:p>
                      <a:r>
                        <a:rPr lang="fr-FR" sz="1400"/>
                        <a:t>Genre ID </a:t>
                      </a:r>
                    </a:p>
                  </a:txBody>
                  <a:tcPr marL="73501" marR="73501" marT="36751" marB="36751" anchor="ctr"/>
                </a:tc>
                <a:tc>
                  <a:txBody>
                    <a:bodyPr/>
                    <a:lstStyle/>
                    <a:p>
                      <a:r>
                        <a:rPr lang="fr-FR" sz="1400"/>
                        <a:t>Genre Name </a:t>
                      </a:r>
                    </a:p>
                  </a:txBody>
                  <a:tcPr marL="73501" marR="73501" marT="36751" marB="36751" anchor="ctr"/>
                </a:tc>
                <a:extLst>
                  <a:ext uri="{0D108BD9-81ED-4DB2-BD59-A6C34878D82A}">
                    <a16:rowId xmlns:a16="http://schemas.microsoft.com/office/drawing/2014/main" val="454131833"/>
                  </a:ext>
                </a:extLst>
              </a:tr>
              <a:tr h="1374458">
                <a:tc>
                  <a:txBody>
                    <a:bodyPr/>
                    <a:lstStyle/>
                    <a:p>
                      <a:r>
                        <a:rPr lang="en-US" sz="1400"/>
                        <a:t>Beginning Database</a:t>
                      </a:r>
                    </a:p>
                  </a:txBody>
                  <a:tcPr marL="73501" marR="73501" marT="36751" marB="36751" anchor="ctr"/>
                </a:tc>
                <a:tc>
                  <a:txBody>
                    <a:bodyPr/>
                    <a:lstStyle/>
                    <a:p>
                      <a:r>
                        <a:rPr lang="fr-FR" sz="1400"/>
                        <a:t>Chad Russell </a:t>
                      </a:r>
                    </a:p>
                  </a:txBody>
                  <a:tcPr marL="73501" marR="73501" marT="36751" marB="36751" anchor="ctr"/>
                </a:tc>
                <a:tc>
                  <a:txBody>
                    <a:bodyPr/>
                    <a:lstStyle/>
                    <a:p>
                      <a:r>
                        <a:rPr lang="fr-FR" sz="1400"/>
                        <a:t>American </a:t>
                      </a:r>
                    </a:p>
                  </a:txBody>
                  <a:tcPr marL="73501" marR="73501" marT="36751" marB="36751" anchor="ctr"/>
                </a:tc>
                <a:tc>
                  <a:txBody>
                    <a:bodyPr/>
                    <a:lstStyle/>
                    <a:p>
                      <a:r>
                        <a:rPr lang="fr-FR" sz="1400" err="1"/>
                        <a:t>Hardcover</a:t>
                      </a:r>
                      <a:r>
                        <a:rPr lang="fr-FR" sz="1400"/>
                        <a:t> </a:t>
                      </a:r>
                    </a:p>
                  </a:txBody>
                  <a:tcPr marL="73501" marR="73501" marT="36751" marB="36751" anchor="ctr"/>
                </a:tc>
                <a:tc>
                  <a:txBody>
                    <a:bodyPr/>
                    <a:lstStyle/>
                    <a:p>
                      <a:r>
                        <a:rPr lang="fr-FR" sz="1400"/>
                        <a:t>49.99 </a:t>
                      </a:r>
                    </a:p>
                  </a:txBody>
                  <a:tcPr marL="73501" marR="73501" marT="36751" marB="36751" anchor="ctr"/>
                </a:tc>
                <a:tc>
                  <a:txBody>
                    <a:bodyPr/>
                    <a:lstStyle/>
                    <a:p>
                      <a:r>
                        <a:rPr lang="fr-FR" sz="1400"/>
                        <a:t>MySQL, </a:t>
                      </a:r>
                      <a:r>
                        <a:rPr lang="fr-FR" sz="1400" err="1"/>
                        <a:t>Database</a:t>
                      </a:r>
                      <a:r>
                        <a:rPr lang="fr-FR" sz="1400"/>
                        <a:t>, </a:t>
                      </a:r>
                    </a:p>
                    <a:p>
                      <a:r>
                        <a:rPr lang="fr-FR" sz="1400"/>
                        <a:t>Design </a:t>
                      </a:r>
                    </a:p>
                  </a:txBody>
                  <a:tcPr marL="73501" marR="73501" marT="36751" marB="36751" anchor="ctr"/>
                </a:tc>
                <a:tc>
                  <a:txBody>
                    <a:bodyPr/>
                    <a:lstStyle/>
                    <a:p>
                      <a:r>
                        <a:rPr lang="fr-FR" sz="1400"/>
                        <a:t>520 </a:t>
                      </a:r>
                    </a:p>
                  </a:txBody>
                  <a:tcPr marL="73501" marR="73501" marT="36751" marB="36751" anchor="ctr"/>
                </a:tc>
                <a:tc>
                  <a:txBody>
                    <a:bodyPr/>
                    <a:lstStyle/>
                    <a:p>
                      <a:r>
                        <a:rPr lang="fr-FR" sz="1400"/>
                        <a:t>Thick </a:t>
                      </a:r>
                    </a:p>
                  </a:txBody>
                  <a:tcPr marL="73501" marR="73501" marT="36751" marB="36751" anchor="ctr"/>
                </a:tc>
                <a:tc>
                  <a:txBody>
                    <a:bodyPr/>
                    <a:lstStyle/>
                    <a:p>
                      <a:r>
                        <a:rPr lang="fr-FR" sz="1400" err="1"/>
                        <a:t>Apress</a:t>
                      </a:r>
                      <a:r>
                        <a:rPr lang="fr-FR" sz="1400"/>
                        <a:t> </a:t>
                      </a:r>
                    </a:p>
                  </a:txBody>
                  <a:tcPr marL="73501" marR="73501" marT="36751" marB="36751" anchor="ctr"/>
                </a:tc>
                <a:tc>
                  <a:txBody>
                    <a:bodyPr/>
                    <a:lstStyle/>
                    <a:p>
                      <a:r>
                        <a:rPr lang="fr-FR" sz="1400"/>
                        <a:t>USA </a:t>
                      </a:r>
                    </a:p>
                  </a:txBody>
                  <a:tcPr marL="73501" marR="73501" marT="36751" marB="36751" anchor="ctr"/>
                </a:tc>
                <a:tc>
                  <a:txBody>
                    <a:bodyPr/>
                    <a:lstStyle/>
                    <a:p>
                      <a:r>
                        <a:rPr lang="fr-FR" sz="1400"/>
                        <a:t>E-book </a:t>
                      </a:r>
                    </a:p>
                  </a:txBody>
                  <a:tcPr marL="73501" marR="73501" marT="36751" marB="36751" anchor="ctr"/>
                </a:tc>
                <a:tc>
                  <a:txBody>
                    <a:bodyPr/>
                    <a:lstStyle/>
                    <a:p>
                      <a:r>
                        <a:rPr lang="fr-FR" sz="1400"/>
                        <a:t>1 </a:t>
                      </a:r>
                    </a:p>
                  </a:txBody>
                  <a:tcPr marL="73501" marR="73501" marT="36751" marB="36751" anchor="ctr"/>
                </a:tc>
                <a:tc>
                  <a:txBody>
                    <a:bodyPr/>
                    <a:lstStyle/>
                    <a:p>
                      <a:r>
                        <a:rPr lang="fr-FR" sz="1400"/>
                        <a:t>Tutorial </a:t>
                      </a:r>
                    </a:p>
                  </a:txBody>
                  <a:tcPr marL="73501" marR="73501" marT="36751" marB="36751" anchor="ctr"/>
                </a:tc>
                <a:extLst>
                  <a:ext uri="{0D108BD9-81ED-4DB2-BD59-A6C34878D82A}">
                    <a16:rowId xmlns:a16="http://schemas.microsoft.com/office/drawing/2014/main" val="3700779043"/>
                  </a:ext>
                </a:extLst>
              </a:tr>
            </a:tbl>
          </a:graphicData>
        </a:graphic>
      </p:graphicFrame>
    </p:spTree>
    <p:extLst>
      <p:ext uri="{BB962C8B-B14F-4D97-AF65-F5344CB8AC3E}">
        <p14:creationId xmlns:p14="http://schemas.microsoft.com/office/powerpoint/2010/main" val="241776192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ECE52D-1033-4501-8F9F-1229EE87F3F6}"/>
              </a:ext>
            </a:extLst>
          </p:cNvPr>
          <p:cNvSpPr>
            <a:spLocks noGrp="1"/>
          </p:cNvSpPr>
          <p:nvPr>
            <p:ph type="title"/>
          </p:nvPr>
        </p:nvSpPr>
        <p:spPr/>
        <p:txBody>
          <a:bodyPr/>
          <a:lstStyle/>
          <a:p>
            <a:r>
              <a:rPr lang="fr-FR"/>
              <a:t>Exemple de normalisation</a:t>
            </a:r>
          </a:p>
        </p:txBody>
      </p:sp>
      <p:sp>
        <p:nvSpPr>
          <p:cNvPr id="3" name="Espace réservé du contenu 2">
            <a:extLst>
              <a:ext uri="{FF2B5EF4-FFF2-40B4-BE49-F238E27FC236}">
                <a16:creationId xmlns:a16="http://schemas.microsoft.com/office/drawing/2014/main" id="{D455CABB-CC79-4153-83BD-8C4EF0BDF458}"/>
              </a:ext>
            </a:extLst>
          </p:cNvPr>
          <p:cNvSpPr>
            <a:spLocks noGrp="1"/>
          </p:cNvSpPr>
          <p:nvPr>
            <p:ph idx="1"/>
          </p:nvPr>
        </p:nvSpPr>
        <p:spPr/>
        <p:txBody>
          <a:bodyPr anchor="t"/>
          <a:lstStyle/>
          <a:p>
            <a:r>
              <a:rPr lang="fr-FR"/>
              <a:t>Première forme normale :</a:t>
            </a:r>
          </a:p>
          <a:p>
            <a:endParaRPr lang="fr-FR"/>
          </a:p>
        </p:txBody>
      </p:sp>
      <p:sp>
        <p:nvSpPr>
          <p:cNvPr id="7" name="Espace réservé du numéro de diapositive 6">
            <a:extLst>
              <a:ext uri="{FF2B5EF4-FFF2-40B4-BE49-F238E27FC236}">
                <a16:creationId xmlns:a16="http://schemas.microsoft.com/office/drawing/2014/main" id="{95A80EB8-292E-4872-862D-D5ADE24A43AF}"/>
              </a:ext>
            </a:extLst>
          </p:cNvPr>
          <p:cNvSpPr>
            <a:spLocks noGrp="1"/>
          </p:cNvSpPr>
          <p:nvPr>
            <p:ph type="sldNum" sz="quarter" idx="12"/>
          </p:nvPr>
        </p:nvSpPr>
        <p:spPr/>
        <p:txBody>
          <a:bodyPr/>
          <a:lstStyle/>
          <a:p>
            <a:fld id="{27C6CCC6-2BE5-4E42-96A4-D1E8E81A3D8E}" type="slidenum">
              <a:rPr lang="de-DE" smtClean="0"/>
              <a:t>191</a:t>
            </a:fld>
            <a:endParaRPr lang="de-DE"/>
          </a:p>
        </p:txBody>
      </p:sp>
      <p:graphicFrame>
        <p:nvGraphicFramePr>
          <p:cNvPr id="4" name="Tableau 3">
            <a:extLst>
              <a:ext uri="{FF2B5EF4-FFF2-40B4-BE49-F238E27FC236}">
                <a16:creationId xmlns:a16="http://schemas.microsoft.com/office/drawing/2014/main" id="{A8CC1FF1-5135-44FF-8918-8377746C062E}"/>
              </a:ext>
            </a:extLst>
          </p:cNvPr>
          <p:cNvGraphicFramePr>
            <a:graphicFrameLocks noGrp="1"/>
          </p:cNvGraphicFramePr>
          <p:nvPr>
            <p:extLst>
              <p:ext uri="{D42A27DB-BD31-4B8C-83A1-F6EECF244321}">
                <p14:modId xmlns:p14="http://schemas.microsoft.com/office/powerpoint/2010/main" val="1008082891"/>
              </p:ext>
            </p:extLst>
          </p:nvPr>
        </p:nvGraphicFramePr>
        <p:xfrm>
          <a:off x="859826" y="3161522"/>
          <a:ext cx="10472345" cy="2301400"/>
        </p:xfrm>
        <a:graphic>
          <a:graphicData uri="http://schemas.openxmlformats.org/drawingml/2006/table">
            <a:tbl>
              <a:tblPr firstRow="1" bandRow="1">
                <a:tableStyleId>{5C22544A-7EE6-4342-B048-85BDC9FD1C3A}</a:tableStyleId>
              </a:tblPr>
              <a:tblGrid>
                <a:gridCol w="805565">
                  <a:extLst>
                    <a:ext uri="{9D8B030D-6E8A-4147-A177-3AD203B41FA5}">
                      <a16:colId xmlns:a16="http://schemas.microsoft.com/office/drawing/2014/main" val="1844529400"/>
                    </a:ext>
                  </a:extLst>
                </a:gridCol>
                <a:gridCol w="805565">
                  <a:extLst>
                    <a:ext uri="{9D8B030D-6E8A-4147-A177-3AD203B41FA5}">
                      <a16:colId xmlns:a16="http://schemas.microsoft.com/office/drawing/2014/main" val="2490012961"/>
                    </a:ext>
                  </a:extLst>
                </a:gridCol>
                <a:gridCol w="805565">
                  <a:extLst>
                    <a:ext uri="{9D8B030D-6E8A-4147-A177-3AD203B41FA5}">
                      <a16:colId xmlns:a16="http://schemas.microsoft.com/office/drawing/2014/main" val="3163703434"/>
                    </a:ext>
                  </a:extLst>
                </a:gridCol>
                <a:gridCol w="805565">
                  <a:extLst>
                    <a:ext uri="{9D8B030D-6E8A-4147-A177-3AD203B41FA5}">
                      <a16:colId xmlns:a16="http://schemas.microsoft.com/office/drawing/2014/main" val="2352272359"/>
                    </a:ext>
                  </a:extLst>
                </a:gridCol>
                <a:gridCol w="805565">
                  <a:extLst>
                    <a:ext uri="{9D8B030D-6E8A-4147-A177-3AD203B41FA5}">
                      <a16:colId xmlns:a16="http://schemas.microsoft.com/office/drawing/2014/main" val="814849479"/>
                    </a:ext>
                  </a:extLst>
                </a:gridCol>
                <a:gridCol w="805565">
                  <a:extLst>
                    <a:ext uri="{9D8B030D-6E8A-4147-A177-3AD203B41FA5}">
                      <a16:colId xmlns:a16="http://schemas.microsoft.com/office/drawing/2014/main" val="499035548"/>
                    </a:ext>
                  </a:extLst>
                </a:gridCol>
                <a:gridCol w="805565">
                  <a:extLst>
                    <a:ext uri="{9D8B030D-6E8A-4147-A177-3AD203B41FA5}">
                      <a16:colId xmlns:a16="http://schemas.microsoft.com/office/drawing/2014/main" val="3511823412"/>
                    </a:ext>
                  </a:extLst>
                </a:gridCol>
                <a:gridCol w="805565">
                  <a:extLst>
                    <a:ext uri="{9D8B030D-6E8A-4147-A177-3AD203B41FA5}">
                      <a16:colId xmlns:a16="http://schemas.microsoft.com/office/drawing/2014/main" val="1483402898"/>
                    </a:ext>
                  </a:extLst>
                </a:gridCol>
                <a:gridCol w="805565">
                  <a:extLst>
                    <a:ext uri="{9D8B030D-6E8A-4147-A177-3AD203B41FA5}">
                      <a16:colId xmlns:a16="http://schemas.microsoft.com/office/drawing/2014/main" val="1000424771"/>
                    </a:ext>
                  </a:extLst>
                </a:gridCol>
                <a:gridCol w="805565">
                  <a:extLst>
                    <a:ext uri="{9D8B030D-6E8A-4147-A177-3AD203B41FA5}">
                      <a16:colId xmlns:a16="http://schemas.microsoft.com/office/drawing/2014/main" val="76965338"/>
                    </a:ext>
                  </a:extLst>
                </a:gridCol>
                <a:gridCol w="805565">
                  <a:extLst>
                    <a:ext uri="{9D8B030D-6E8A-4147-A177-3AD203B41FA5}">
                      <a16:colId xmlns:a16="http://schemas.microsoft.com/office/drawing/2014/main" val="3780773456"/>
                    </a:ext>
                  </a:extLst>
                </a:gridCol>
                <a:gridCol w="805565">
                  <a:extLst>
                    <a:ext uri="{9D8B030D-6E8A-4147-A177-3AD203B41FA5}">
                      <a16:colId xmlns:a16="http://schemas.microsoft.com/office/drawing/2014/main" val="3017368306"/>
                    </a:ext>
                  </a:extLst>
                </a:gridCol>
                <a:gridCol w="805565">
                  <a:extLst>
                    <a:ext uri="{9D8B030D-6E8A-4147-A177-3AD203B41FA5}">
                      <a16:colId xmlns:a16="http://schemas.microsoft.com/office/drawing/2014/main" val="2766775176"/>
                    </a:ext>
                  </a:extLst>
                </a:gridCol>
              </a:tblGrid>
              <a:tr h="526363">
                <a:tc>
                  <a:txBody>
                    <a:bodyPr/>
                    <a:lstStyle/>
                    <a:p>
                      <a:r>
                        <a:rPr lang="fr-FR" sz="1400" u="sng" err="1"/>
                        <a:t>Title</a:t>
                      </a:r>
                      <a:r>
                        <a:rPr lang="fr-FR" sz="1400" u="sng"/>
                        <a:t> </a:t>
                      </a:r>
                    </a:p>
                  </a:txBody>
                  <a:tcPr marL="73501" marR="73501" marT="36751" marB="36751" anchor="ctr"/>
                </a:tc>
                <a:tc>
                  <a:txBody>
                    <a:bodyPr/>
                    <a:lstStyle/>
                    <a:p>
                      <a:r>
                        <a:rPr lang="fr-FR" sz="1400" u="none"/>
                        <a:t>Author </a:t>
                      </a:r>
                    </a:p>
                  </a:txBody>
                  <a:tcPr marL="73501" marR="73501" marT="36751" marB="36751" anchor="ctr"/>
                </a:tc>
                <a:tc>
                  <a:txBody>
                    <a:bodyPr/>
                    <a:lstStyle/>
                    <a:p>
                      <a:r>
                        <a:rPr lang="fr-FR" sz="1400"/>
                        <a:t>Author </a:t>
                      </a:r>
                      <a:r>
                        <a:rPr lang="fr-FR" sz="1400" err="1"/>
                        <a:t>Nationality</a:t>
                      </a:r>
                      <a:r>
                        <a:rPr lang="fr-FR" sz="1400"/>
                        <a:t> </a:t>
                      </a:r>
                    </a:p>
                  </a:txBody>
                  <a:tcPr marL="73501" marR="73501" marT="36751" marB="36751" anchor="ctr"/>
                </a:tc>
                <a:tc>
                  <a:txBody>
                    <a:bodyPr/>
                    <a:lstStyle/>
                    <a:p>
                      <a:r>
                        <a:rPr lang="fr-FR" sz="1400" u="sng"/>
                        <a:t>Format</a:t>
                      </a:r>
                      <a:r>
                        <a:rPr lang="fr-FR" sz="1400"/>
                        <a:t> </a:t>
                      </a:r>
                    </a:p>
                  </a:txBody>
                  <a:tcPr marL="73501" marR="73501" marT="36751" marB="36751" anchor="ctr"/>
                </a:tc>
                <a:tc>
                  <a:txBody>
                    <a:bodyPr/>
                    <a:lstStyle/>
                    <a:p>
                      <a:r>
                        <a:rPr lang="fr-FR" sz="1400"/>
                        <a:t>Price </a:t>
                      </a:r>
                    </a:p>
                  </a:txBody>
                  <a:tcPr marL="73501" marR="73501" marT="36751" marB="36751" anchor="ctr"/>
                </a:tc>
                <a:tc>
                  <a:txBody>
                    <a:bodyPr/>
                    <a:lstStyle/>
                    <a:p>
                      <a:r>
                        <a:rPr lang="fr-FR" sz="1400"/>
                        <a:t>Subject </a:t>
                      </a:r>
                    </a:p>
                  </a:txBody>
                  <a:tcPr marL="73501" marR="73501" marT="36751" marB="36751" anchor="ctr">
                    <a:solidFill>
                      <a:schemeClr val="accent6">
                        <a:lumMod val="60000"/>
                        <a:lumOff val="40000"/>
                      </a:schemeClr>
                    </a:solidFill>
                  </a:tcPr>
                </a:tc>
                <a:tc>
                  <a:txBody>
                    <a:bodyPr/>
                    <a:lstStyle/>
                    <a:p>
                      <a:r>
                        <a:rPr lang="fr-FR" sz="1400"/>
                        <a:t>Pages </a:t>
                      </a:r>
                    </a:p>
                  </a:txBody>
                  <a:tcPr marL="73501" marR="73501" marT="36751" marB="36751" anchor="ctr"/>
                </a:tc>
                <a:tc>
                  <a:txBody>
                    <a:bodyPr/>
                    <a:lstStyle/>
                    <a:p>
                      <a:r>
                        <a:rPr lang="fr-FR" sz="1400"/>
                        <a:t>Thickness </a:t>
                      </a:r>
                    </a:p>
                  </a:txBody>
                  <a:tcPr marL="73501" marR="73501" marT="36751" marB="36751" anchor="ctr"/>
                </a:tc>
                <a:tc>
                  <a:txBody>
                    <a:bodyPr/>
                    <a:lstStyle/>
                    <a:p>
                      <a:r>
                        <a:rPr lang="fr-FR" sz="1400"/>
                        <a:t>Publisher </a:t>
                      </a:r>
                    </a:p>
                  </a:txBody>
                  <a:tcPr marL="73501" marR="73501" marT="36751" marB="36751" anchor="ctr"/>
                </a:tc>
                <a:tc>
                  <a:txBody>
                    <a:bodyPr/>
                    <a:lstStyle/>
                    <a:p>
                      <a:r>
                        <a:rPr lang="fr-FR" sz="1400"/>
                        <a:t>Publisher Country </a:t>
                      </a:r>
                    </a:p>
                  </a:txBody>
                  <a:tcPr marL="73501" marR="73501" marT="36751" marB="36751" anchor="ctr"/>
                </a:tc>
                <a:tc>
                  <a:txBody>
                    <a:bodyPr/>
                    <a:lstStyle/>
                    <a:p>
                      <a:r>
                        <a:rPr lang="fr-FR" sz="1400"/>
                        <a:t>Publication Type </a:t>
                      </a:r>
                    </a:p>
                  </a:txBody>
                  <a:tcPr marL="73501" marR="73501" marT="36751" marB="36751" anchor="ctr"/>
                </a:tc>
                <a:tc>
                  <a:txBody>
                    <a:bodyPr/>
                    <a:lstStyle/>
                    <a:p>
                      <a:r>
                        <a:rPr lang="fr-FR" sz="1400"/>
                        <a:t>Genre ID </a:t>
                      </a:r>
                    </a:p>
                  </a:txBody>
                  <a:tcPr marL="73501" marR="73501" marT="36751" marB="36751" anchor="ctr"/>
                </a:tc>
                <a:tc>
                  <a:txBody>
                    <a:bodyPr/>
                    <a:lstStyle/>
                    <a:p>
                      <a:r>
                        <a:rPr lang="fr-FR" sz="1400"/>
                        <a:t>Genre Name </a:t>
                      </a:r>
                    </a:p>
                  </a:txBody>
                  <a:tcPr marL="73501" marR="73501" marT="36751" marB="36751" anchor="ctr"/>
                </a:tc>
                <a:extLst>
                  <a:ext uri="{0D108BD9-81ED-4DB2-BD59-A6C34878D82A}">
                    <a16:rowId xmlns:a16="http://schemas.microsoft.com/office/drawing/2014/main" val="454131833"/>
                  </a:ext>
                </a:extLst>
              </a:tr>
              <a:tr h="1374458">
                <a:tc>
                  <a:txBody>
                    <a:bodyPr/>
                    <a:lstStyle/>
                    <a:p>
                      <a:r>
                        <a:rPr lang="en-US" sz="1400"/>
                        <a:t>Beginning Database</a:t>
                      </a:r>
                    </a:p>
                  </a:txBody>
                  <a:tcPr marL="73501" marR="73501" marT="36751" marB="36751" anchor="ctr"/>
                </a:tc>
                <a:tc>
                  <a:txBody>
                    <a:bodyPr/>
                    <a:lstStyle/>
                    <a:p>
                      <a:r>
                        <a:rPr lang="fr-FR" sz="1400"/>
                        <a:t>Chad Russell </a:t>
                      </a:r>
                    </a:p>
                  </a:txBody>
                  <a:tcPr marL="73501" marR="73501" marT="36751" marB="36751" anchor="ctr"/>
                </a:tc>
                <a:tc>
                  <a:txBody>
                    <a:bodyPr/>
                    <a:lstStyle/>
                    <a:p>
                      <a:r>
                        <a:rPr lang="fr-FR" sz="1400"/>
                        <a:t>American </a:t>
                      </a:r>
                    </a:p>
                  </a:txBody>
                  <a:tcPr marL="73501" marR="73501" marT="36751" marB="36751" anchor="ctr"/>
                </a:tc>
                <a:tc>
                  <a:txBody>
                    <a:bodyPr/>
                    <a:lstStyle/>
                    <a:p>
                      <a:r>
                        <a:rPr lang="fr-FR" sz="1400" err="1"/>
                        <a:t>Hardcover</a:t>
                      </a:r>
                      <a:r>
                        <a:rPr lang="fr-FR" sz="1400"/>
                        <a:t> </a:t>
                      </a:r>
                    </a:p>
                  </a:txBody>
                  <a:tcPr marL="73501" marR="73501" marT="36751" marB="36751" anchor="ctr"/>
                </a:tc>
                <a:tc>
                  <a:txBody>
                    <a:bodyPr/>
                    <a:lstStyle/>
                    <a:p>
                      <a:r>
                        <a:rPr lang="fr-FR" sz="1400"/>
                        <a:t>49.99 </a:t>
                      </a:r>
                    </a:p>
                  </a:txBody>
                  <a:tcPr marL="73501" marR="73501" marT="36751" marB="36751" anchor="ctr"/>
                </a:tc>
                <a:tc>
                  <a:txBody>
                    <a:bodyPr/>
                    <a:lstStyle/>
                    <a:p>
                      <a:r>
                        <a:rPr lang="fr-FR" sz="1400"/>
                        <a:t>MySQL, </a:t>
                      </a:r>
                      <a:r>
                        <a:rPr lang="fr-FR" sz="1400" err="1"/>
                        <a:t>Database</a:t>
                      </a:r>
                      <a:r>
                        <a:rPr lang="fr-FR" sz="1400"/>
                        <a:t>, </a:t>
                      </a:r>
                    </a:p>
                    <a:p>
                      <a:r>
                        <a:rPr lang="fr-FR" sz="1400"/>
                        <a:t>Design </a:t>
                      </a:r>
                    </a:p>
                  </a:txBody>
                  <a:tcPr marL="73501" marR="73501" marT="36751" marB="36751" anchor="ctr">
                    <a:solidFill>
                      <a:schemeClr val="accent5">
                        <a:lumMod val="60000"/>
                        <a:lumOff val="40000"/>
                      </a:schemeClr>
                    </a:solidFill>
                  </a:tcPr>
                </a:tc>
                <a:tc>
                  <a:txBody>
                    <a:bodyPr/>
                    <a:lstStyle/>
                    <a:p>
                      <a:r>
                        <a:rPr lang="fr-FR" sz="1400"/>
                        <a:t>520 </a:t>
                      </a:r>
                    </a:p>
                  </a:txBody>
                  <a:tcPr marL="73501" marR="73501" marT="36751" marB="36751" anchor="ctr"/>
                </a:tc>
                <a:tc>
                  <a:txBody>
                    <a:bodyPr/>
                    <a:lstStyle/>
                    <a:p>
                      <a:r>
                        <a:rPr lang="fr-FR" sz="1400" err="1"/>
                        <a:t>Thick</a:t>
                      </a:r>
                      <a:r>
                        <a:rPr lang="fr-FR" sz="1400"/>
                        <a:t> </a:t>
                      </a:r>
                    </a:p>
                  </a:txBody>
                  <a:tcPr marL="73501" marR="73501" marT="36751" marB="36751" anchor="ctr"/>
                </a:tc>
                <a:tc>
                  <a:txBody>
                    <a:bodyPr/>
                    <a:lstStyle/>
                    <a:p>
                      <a:r>
                        <a:rPr lang="fr-FR" sz="1400" err="1"/>
                        <a:t>Apress</a:t>
                      </a:r>
                      <a:r>
                        <a:rPr lang="fr-FR" sz="1400"/>
                        <a:t> </a:t>
                      </a:r>
                    </a:p>
                  </a:txBody>
                  <a:tcPr marL="73501" marR="73501" marT="36751" marB="36751" anchor="ctr"/>
                </a:tc>
                <a:tc>
                  <a:txBody>
                    <a:bodyPr/>
                    <a:lstStyle/>
                    <a:p>
                      <a:r>
                        <a:rPr lang="fr-FR" sz="1400"/>
                        <a:t>USA </a:t>
                      </a:r>
                    </a:p>
                  </a:txBody>
                  <a:tcPr marL="73501" marR="73501" marT="36751" marB="36751" anchor="ctr"/>
                </a:tc>
                <a:tc>
                  <a:txBody>
                    <a:bodyPr/>
                    <a:lstStyle/>
                    <a:p>
                      <a:r>
                        <a:rPr lang="fr-FR" sz="1400"/>
                        <a:t>E-book </a:t>
                      </a:r>
                    </a:p>
                  </a:txBody>
                  <a:tcPr marL="73501" marR="73501" marT="36751" marB="36751" anchor="ctr"/>
                </a:tc>
                <a:tc>
                  <a:txBody>
                    <a:bodyPr/>
                    <a:lstStyle/>
                    <a:p>
                      <a:r>
                        <a:rPr lang="fr-FR" sz="1400"/>
                        <a:t>1 </a:t>
                      </a:r>
                    </a:p>
                  </a:txBody>
                  <a:tcPr marL="73501" marR="73501" marT="36751" marB="36751" anchor="ctr"/>
                </a:tc>
                <a:tc>
                  <a:txBody>
                    <a:bodyPr/>
                    <a:lstStyle/>
                    <a:p>
                      <a:r>
                        <a:rPr lang="fr-FR" sz="1400"/>
                        <a:t>Tutorial </a:t>
                      </a:r>
                    </a:p>
                  </a:txBody>
                  <a:tcPr marL="73501" marR="73501" marT="36751" marB="36751" anchor="ctr"/>
                </a:tc>
                <a:extLst>
                  <a:ext uri="{0D108BD9-81ED-4DB2-BD59-A6C34878D82A}">
                    <a16:rowId xmlns:a16="http://schemas.microsoft.com/office/drawing/2014/main" val="3700779043"/>
                  </a:ext>
                </a:extLst>
              </a:tr>
            </a:tbl>
          </a:graphicData>
        </a:graphic>
      </p:graphicFrame>
    </p:spTree>
    <p:extLst>
      <p:ext uri="{BB962C8B-B14F-4D97-AF65-F5344CB8AC3E}">
        <p14:creationId xmlns:p14="http://schemas.microsoft.com/office/powerpoint/2010/main" val="341783018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ECE52D-1033-4501-8F9F-1229EE87F3F6}"/>
              </a:ext>
            </a:extLst>
          </p:cNvPr>
          <p:cNvSpPr>
            <a:spLocks noGrp="1"/>
          </p:cNvSpPr>
          <p:nvPr>
            <p:ph type="title"/>
          </p:nvPr>
        </p:nvSpPr>
        <p:spPr/>
        <p:txBody>
          <a:bodyPr/>
          <a:lstStyle/>
          <a:p>
            <a:r>
              <a:rPr lang="fr-FR"/>
              <a:t>Exemple de normalisation</a:t>
            </a:r>
          </a:p>
        </p:txBody>
      </p:sp>
      <p:sp>
        <p:nvSpPr>
          <p:cNvPr id="3" name="Espace réservé du contenu 2">
            <a:extLst>
              <a:ext uri="{FF2B5EF4-FFF2-40B4-BE49-F238E27FC236}">
                <a16:creationId xmlns:a16="http://schemas.microsoft.com/office/drawing/2014/main" id="{D455CABB-CC79-4153-83BD-8C4EF0BDF458}"/>
              </a:ext>
            </a:extLst>
          </p:cNvPr>
          <p:cNvSpPr>
            <a:spLocks noGrp="1"/>
          </p:cNvSpPr>
          <p:nvPr>
            <p:ph idx="1"/>
          </p:nvPr>
        </p:nvSpPr>
        <p:spPr/>
        <p:txBody>
          <a:bodyPr anchor="t"/>
          <a:lstStyle/>
          <a:p>
            <a:r>
              <a:rPr lang="fr-FR"/>
              <a:t>Première forme normale :</a:t>
            </a:r>
          </a:p>
          <a:p>
            <a:endParaRPr lang="fr-FR"/>
          </a:p>
        </p:txBody>
      </p:sp>
      <p:sp>
        <p:nvSpPr>
          <p:cNvPr id="9" name="Espace réservé du numéro de diapositive 8">
            <a:extLst>
              <a:ext uri="{FF2B5EF4-FFF2-40B4-BE49-F238E27FC236}">
                <a16:creationId xmlns:a16="http://schemas.microsoft.com/office/drawing/2014/main" id="{1C6A9CDE-93AE-410D-8DB7-83AA902894E4}"/>
              </a:ext>
            </a:extLst>
          </p:cNvPr>
          <p:cNvSpPr>
            <a:spLocks noGrp="1"/>
          </p:cNvSpPr>
          <p:nvPr>
            <p:ph type="sldNum" sz="quarter" idx="12"/>
          </p:nvPr>
        </p:nvSpPr>
        <p:spPr/>
        <p:txBody>
          <a:bodyPr/>
          <a:lstStyle/>
          <a:p>
            <a:fld id="{27C6CCC6-2BE5-4E42-96A4-D1E8E81A3D8E}" type="slidenum">
              <a:rPr lang="de-DE" smtClean="0"/>
              <a:t>192</a:t>
            </a:fld>
            <a:endParaRPr lang="de-DE"/>
          </a:p>
        </p:txBody>
      </p:sp>
      <p:graphicFrame>
        <p:nvGraphicFramePr>
          <p:cNvPr id="4" name="Tableau 3">
            <a:extLst>
              <a:ext uri="{FF2B5EF4-FFF2-40B4-BE49-F238E27FC236}">
                <a16:creationId xmlns:a16="http://schemas.microsoft.com/office/drawing/2014/main" id="{A8CC1FF1-5135-44FF-8918-8377746C062E}"/>
              </a:ext>
            </a:extLst>
          </p:cNvPr>
          <p:cNvGraphicFramePr>
            <a:graphicFrameLocks noGrp="1"/>
          </p:cNvGraphicFramePr>
          <p:nvPr>
            <p:extLst>
              <p:ext uri="{D42A27DB-BD31-4B8C-83A1-F6EECF244321}">
                <p14:modId xmlns:p14="http://schemas.microsoft.com/office/powerpoint/2010/main" val="2209882618"/>
              </p:ext>
            </p:extLst>
          </p:nvPr>
        </p:nvGraphicFramePr>
        <p:xfrm>
          <a:off x="1291211" y="2699298"/>
          <a:ext cx="9609576" cy="2301400"/>
        </p:xfrm>
        <a:graphic>
          <a:graphicData uri="http://schemas.openxmlformats.org/drawingml/2006/table">
            <a:tbl>
              <a:tblPr firstRow="1" bandRow="1">
                <a:tableStyleId>{5C22544A-7EE6-4342-B048-85BDC9FD1C3A}</a:tableStyleId>
              </a:tblPr>
              <a:tblGrid>
                <a:gridCol w="800798">
                  <a:extLst>
                    <a:ext uri="{9D8B030D-6E8A-4147-A177-3AD203B41FA5}">
                      <a16:colId xmlns:a16="http://schemas.microsoft.com/office/drawing/2014/main" val="1844529400"/>
                    </a:ext>
                  </a:extLst>
                </a:gridCol>
                <a:gridCol w="800798">
                  <a:extLst>
                    <a:ext uri="{9D8B030D-6E8A-4147-A177-3AD203B41FA5}">
                      <a16:colId xmlns:a16="http://schemas.microsoft.com/office/drawing/2014/main" val="2490012961"/>
                    </a:ext>
                  </a:extLst>
                </a:gridCol>
                <a:gridCol w="800798">
                  <a:extLst>
                    <a:ext uri="{9D8B030D-6E8A-4147-A177-3AD203B41FA5}">
                      <a16:colId xmlns:a16="http://schemas.microsoft.com/office/drawing/2014/main" val="3163703434"/>
                    </a:ext>
                  </a:extLst>
                </a:gridCol>
                <a:gridCol w="800798">
                  <a:extLst>
                    <a:ext uri="{9D8B030D-6E8A-4147-A177-3AD203B41FA5}">
                      <a16:colId xmlns:a16="http://schemas.microsoft.com/office/drawing/2014/main" val="2352272359"/>
                    </a:ext>
                  </a:extLst>
                </a:gridCol>
                <a:gridCol w="800798">
                  <a:extLst>
                    <a:ext uri="{9D8B030D-6E8A-4147-A177-3AD203B41FA5}">
                      <a16:colId xmlns:a16="http://schemas.microsoft.com/office/drawing/2014/main" val="814849479"/>
                    </a:ext>
                  </a:extLst>
                </a:gridCol>
                <a:gridCol w="800798">
                  <a:extLst>
                    <a:ext uri="{9D8B030D-6E8A-4147-A177-3AD203B41FA5}">
                      <a16:colId xmlns:a16="http://schemas.microsoft.com/office/drawing/2014/main" val="3511823412"/>
                    </a:ext>
                  </a:extLst>
                </a:gridCol>
                <a:gridCol w="800798">
                  <a:extLst>
                    <a:ext uri="{9D8B030D-6E8A-4147-A177-3AD203B41FA5}">
                      <a16:colId xmlns:a16="http://schemas.microsoft.com/office/drawing/2014/main" val="1483402898"/>
                    </a:ext>
                  </a:extLst>
                </a:gridCol>
                <a:gridCol w="800798">
                  <a:extLst>
                    <a:ext uri="{9D8B030D-6E8A-4147-A177-3AD203B41FA5}">
                      <a16:colId xmlns:a16="http://schemas.microsoft.com/office/drawing/2014/main" val="1000424771"/>
                    </a:ext>
                  </a:extLst>
                </a:gridCol>
                <a:gridCol w="800798">
                  <a:extLst>
                    <a:ext uri="{9D8B030D-6E8A-4147-A177-3AD203B41FA5}">
                      <a16:colId xmlns:a16="http://schemas.microsoft.com/office/drawing/2014/main" val="76965338"/>
                    </a:ext>
                  </a:extLst>
                </a:gridCol>
                <a:gridCol w="800798">
                  <a:extLst>
                    <a:ext uri="{9D8B030D-6E8A-4147-A177-3AD203B41FA5}">
                      <a16:colId xmlns:a16="http://schemas.microsoft.com/office/drawing/2014/main" val="3780773456"/>
                    </a:ext>
                  </a:extLst>
                </a:gridCol>
                <a:gridCol w="800798">
                  <a:extLst>
                    <a:ext uri="{9D8B030D-6E8A-4147-A177-3AD203B41FA5}">
                      <a16:colId xmlns:a16="http://schemas.microsoft.com/office/drawing/2014/main" val="3017368306"/>
                    </a:ext>
                  </a:extLst>
                </a:gridCol>
                <a:gridCol w="800798">
                  <a:extLst>
                    <a:ext uri="{9D8B030D-6E8A-4147-A177-3AD203B41FA5}">
                      <a16:colId xmlns:a16="http://schemas.microsoft.com/office/drawing/2014/main" val="2766775176"/>
                    </a:ext>
                  </a:extLst>
                </a:gridCol>
              </a:tblGrid>
              <a:tr h="526363">
                <a:tc>
                  <a:txBody>
                    <a:bodyPr/>
                    <a:lstStyle/>
                    <a:p>
                      <a:r>
                        <a:rPr lang="fr-FR" sz="1400" u="sng" err="1"/>
                        <a:t>Title</a:t>
                      </a:r>
                      <a:r>
                        <a:rPr lang="fr-FR" sz="1400" u="sng"/>
                        <a:t> </a:t>
                      </a:r>
                    </a:p>
                  </a:txBody>
                  <a:tcPr marL="73501" marR="73501" marT="36751" marB="36751" anchor="ctr"/>
                </a:tc>
                <a:tc>
                  <a:txBody>
                    <a:bodyPr/>
                    <a:lstStyle/>
                    <a:p>
                      <a:r>
                        <a:rPr lang="fr-FR" sz="1400"/>
                        <a:t>Author </a:t>
                      </a:r>
                    </a:p>
                  </a:txBody>
                  <a:tcPr marL="73501" marR="73501" marT="36751" marB="36751" anchor="ctr"/>
                </a:tc>
                <a:tc>
                  <a:txBody>
                    <a:bodyPr/>
                    <a:lstStyle/>
                    <a:p>
                      <a:r>
                        <a:rPr lang="fr-FR" sz="1400"/>
                        <a:t>Author </a:t>
                      </a:r>
                      <a:r>
                        <a:rPr lang="fr-FR" sz="1400" err="1"/>
                        <a:t>Nationality</a:t>
                      </a:r>
                      <a:r>
                        <a:rPr lang="fr-FR" sz="1400"/>
                        <a:t> </a:t>
                      </a:r>
                    </a:p>
                  </a:txBody>
                  <a:tcPr marL="73501" marR="73501" marT="36751" marB="36751" anchor="ctr"/>
                </a:tc>
                <a:tc>
                  <a:txBody>
                    <a:bodyPr/>
                    <a:lstStyle/>
                    <a:p>
                      <a:r>
                        <a:rPr lang="fr-FR" sz="1400" u="sng"/>
                        <a:t>Format</a:t>
                      </a:r>
                      <a:r>
                        <a:rPr lang="fr-FR" sz="1400"/>
                        <a:t> </a:t>
                      </a:r>
                    </a:p>
                  </a:txBody>
                  <a:tcPr marL="73501" marR="73501" marT="36751" marB="36751" anchor="ctr"/>
                </a:tc>
                <a:tc>
                  <a:txBody>
                    <a:bodyPr/>
                    <a:lstStyle/>
                    <a:p>
                      <a:r>
                        <a:rPr lang="fr-FR" sz="1400"/>
                        <a:t>Price </a:t>
                      </a:r>
                    </a:p>
                  </a:txBody>
                  <a:tcPr marL="73501" marR="73501" marT="36751" marB="36751" anchor="ctr"/>
                </a:tc>
                <a:tc>
                  <a:txBody>
                    <a:bodyPr/>
                    <a:lstStyle/>
                    <a:p>
                      <a:r>
                        <a:rPr lang="fr-FR" sz="1400"/>
                        <a:t>Pages </a:t>
                      </a:r>
                    </a:p>
                  </a:txBody>
                  <a:tcPr marL="73501" marR="73501" marT="36751" marB="36751" anchor="ctr"/>
                </a:tc>
                <a:tc>
                  <a:txBody>
                    <a:bodyPr/>
                    <a:lstStyle/>
                    <a:p>
                      <a:r>
                        <a:rPr lang="fr-FR" sz="1400"/>
                        <a:t>Thickness </a:t>
                      </a:r>
                    </a:p>
                  </a:txBody>
                  <a:tcPr marL="73501" marR="73501" marT="36751" marB="36751" anchor="ctr"/>
                </a:tc>
                <a:tc>
                  <a:txBody>
                    <a:bodyPr/>
                    <a:lstStyle/>
                    <a:p>
                      <a:r>
                        <a:rPr lang="fr-FR" sz="1400"/>
                        <a:t>Publisher </a:t>
                      </a:r>
                    </a:p>
                  </a:txBody>
                  <a:tcPr marL="73501" marR="73501" marT="36751" marB="36751" anchor="ctr"/>
                </a:tc>
                <a:tc>
                  <a:txBody>
                    <a:bodyPr/>
                    <a:lstStyle/>
                    <a:p>
                      <a:r>
                        <a:rPr lang="fr-FR" sz="1400"/>
                        <a:t>Publisher Country </a:t>
                      </a:r>
                    </a:p>
                  </a:txBody>
                  <a:tcPr marL="73501" marR="73501" marT="36751" marB="36751" anchor="ctr"/>
                </a:tc>
                <a:tc>
                  <a:txBody>
                    <a:bodyPr/>
                    <a:lstStyle/>
                    <a:p>
                      <a:r>
                        <a:rPr lang="fr-FR" sz="1400"/>
                        <a:t>Publication Type </a:t>
                      </a:r>
                    </a:p>
                  </a:txBody>
                  <a:tcPr marL="73501" marR="73501" marT="36751" marB="36751" anchor="ctr"/>
                </a:tc>
                <a:tc>
                  <a:txBody>
                    <a:bodyPr/>
                    <a:lstStyle/>
                    <a:p>
                      <a:r>
                        <a:rPr lang="fr-FR" sz="1400"/>
                        <a:t>Genre ID </a:t>
                      </a:r>
                    </a:p>
                  </a:txBody>
                  <a:tcPr marL="73501" marR="73501" marT="36751" marB="36751" anchor="ctr"/>
                </a:tc>
                <a:tc>
                  <a:txBody>
                    <a:bodyPr/>
                    <a:lstStyle/>
                    <a:p>
                      <a:r>
                        <a:rPr lang="fr-FR" sz="1400"/>
                        <a:t>Genre Name </a:t>
                      </a:r>
                    </a:p>
                  </a:txBody>
                  <a:tcPr marL="73501" marR="73501" marT="36751" marB="36751" anchor="ctr"/>
                </a:tc>
                <a:extLst>
                  <a:ext uri="{0D108BD9-81ED-4DB2-BD59-A6C34878D82A}">
                    <a16:rowId xmlns:a16="http://schemas.microsoft.com/office/drawing/2014/main" val="454131833"/>
                  </a:ext>
                </a:extLst>
              </a:tr>
              <a:tr h="1374458">
                <a:tc>
                  <a:txBody>
                    <a:bodyPr/>
                    <a:lstStyle/>
                    <a:p>
                      <a:r>
                        <a:rPr lang="en-US" sz="1400"/>
                        <a:t>Beginning Database</a:t>
                      </a:r>
                    </a:p>
                  </a:txBody>
                  <a:tcPr marL="73501" marR="73501" marT="36751" marB="36751" anchor="ctr"/>
                </a:tc>
                <a:tc>
                  <a:txBody>
                    <a:bodyPr/>
                    <a:lstStyle/>
                    <a:p>
                      <a:r>
                        <a:rPr lang="fr-FR" sz="1400"/>
                        <a:t>Chad Russell </a:t>
                      </a:r>
                    </a:p>
                  </a:txBody>
                  <a:tcPr marL="73501" marR="73501" marT="36751" marB="36751" anchor="ctr"/>
                </a:tc>
                <a:tc>
                  <a:txBody>
                    <a:bodyPr/>
                    <a:lstStyle/>
                    <a:p>
                      <a:r>
                        <a:rPr lang="fr-FR" sz="1400"/>
                        <a:t>American </a:t>
                      </a:r>
                    </a:p>
                  </a:txBody>
                  <a:tcPr marL="73501" marR="73501" marT="36751" marB="36751" anchor="ctr"/>
                </a:tc>
                <a:tc>
                  <a:txBody>
                    <a:bodyPr/>
                    <a:lstStyle/>
                    <a:p>
                      <a:r>
                        <a:rPr lang="fr-FR" sz="1400" err="1"/>
                        <a:t>Hardcover</a:t>
                      </a:r>
                      <a:r>
                        <a:rPr lang="fr-FR" sz="1400"/>
                        <a:t> </a:t>
                      </a:r>
                    </a:p>
                  </a:txBody>
                  <a:tcPr marL="73501" marR="73501" marT="36751" marB="36751" anchor="ctr"/>
                </a:tc>
                <a:tc>
                  <a:txBody>
                    <a:bodyPr/>
                    <a:lstStyle/>
                    <a:p>
                      <a:r>
                        <a:rPr lang="fr-FR" sz="1400"/>
                        <a:t>49.99 </a:t>
                      </a:r>
                    </a:p>
                  </a:txBody>
                  <a:tcPr marL="73501" marR="73501" marT="36751" marB="36751" anchor="ctr"/>
                </a:tc>
                <a:tc>
                  <a:txBody>
                    <a:bodyPr/>
                    <a:lstStyle/>
                    <a:p>
                      <a:r>
                        <a:rPr lang="fr-FR" sz="1400"/>
                        <a:t>520 </a:t>
                      </a:r>
                    </a:p>
                  </a:txBody>
                  <a:tcPr marL="73501" marR="73501" marT="36751" marB="36751" anchor="ctr"/>
                </a:tc>
                <a:tc>
                  <a:txBody>
                    <a:bodyPr/>
                    <a:lstStyle/>
                    <a:p>
                      <a:r>
                        <a:rPr lang="fr-FR" sz="1400" err="1"/>
                        <a:t>Thick</a:t>
                      </a:r>
                      <a:r>
                        <a:rPr lang="fr-FR" sz="1400"/>
                        <a:t> </a:t>
                      </a:r>
                    </a:p>
                  </a:txBody>
                  <a:tcPr marL="73501" marR="73501" marT="36751" marB="36751" anchor="ctr"/>
                </a:tc>
                <a:tc>
                  <a:txBody>
                    <a:bodyPr/>
                    <a:lstStyle/>
                    <a:p>
                      <a:r>
                        <a:rPr lang="fr-FR" sz="1400" err="1"/>
                        <a:t>Apress</a:t>
                      </a:r>
                      <a:r>
                        <a:rPr lang="fr-FR" sz="1400"/>
                        <a:t> </a:t>
                      </a:r>
                    </a:p>
                  </a:txBody>
                  <a:tcPr marL="73501" marR="73501" marT="36751" marB="36751" anchor="ctr"/>
                </a:tc>
                <a:tc>
                  <a:txBody>
                    <a:bodyPr/>
                    <a:lstStyle/>
                    <a:p>
                      <a:r>
                        <a:rPr lang="fr-FR" sz="1400"/>
                        <a:t>USA </a:t>
                      </a:r>
                    </a:p>
                  </a:txBody>
                  <a:tcPr marL="73501" marR="73501" marT="36751" marB="36751" anchor="ctr"/>
                </a:tc>
                <a:tc>
                  <a:txBody>
                    <a:bodyPr/>
                    <a:lstStyle/>
                    <a:p>
                      <a:r>
                        <a:rPr lang="fr-FR" sz="1400"/>
                        <a:t>E-book </a:t>
                      </a:r>
                    </a:p>
                  </a:txBody>
                  <a:tcPr marL="73501" marR="73501" marT="36751" marB="36751" anchor="ctr"/>
                </a:tc>
                <a:tc>
                  <a:txBody>
                    <a:bodyPr/>
                    <a:lstStyle/>
                    <a:p>
                      <a:r>
                        <a:rPr lang="fr-FR" sz="1400"/>
                        <a:t>1 </a:t>
                      </a:r>
                    </a:p>
                  </a:txBody>
                  <a:tcPr marL="73501" marR="73501" marT="36751" marB="36751" anchor="ctr"/>
                </a:tc>
                <a:tc>
                  <a:txBody>
                    <a:bodyPr/>
                    <a:lstStyle/>
                    <a:p>
                      <a:r>
                        <a:rPr lang="fr-FR" sz="1400"/>
                        <a:t>Tutorial </a:t>
                      </a:r>
                    </a:p>
                  </a:txBody>
                  <a:tcPr marL="73501" marR="73501" marT="36751" marB="36751" anchor="ctr"/>
                </a:tc>
                <a:extLst>
                  <a:ext uri="{0D108BD9-81ED-4DB2-BD59-A6C34878D82A}">
                    <a16:rowId xmlns:a16="http://schemas.microsoft.com/office/drawing/2014/main" val="3700779043"/>
                  </a:ext>
                </a:extLst>
              </a:tr>
            </a:tbl>
          </a:graphicData>
        </a:graphic>
      </p:graphicFrame>
      <p:graphicFrame>
        <p:nvGraphicFramePr>
          <p:cNvPr id="5" name="Tableau 4">
            <a:extLst>
              <a:ext uri="{FF2B5EF4-FFF2-40B4-BE49-F238E27FC236}">
                <a16:creationId xmlns:a16="http://schemas.microsoft.com/office/drawing/2014/main" id="{54D12021-EBB1-4076-AC93-DAA40651B2B0}"/>
              </a:ext>
            </a:extLst>
          </p:cNvPr>
          <p:cNvGraphicFramePr>
            <a:graphicFrameLocks noGrp="1"/>
          </p:cNvGraphicFramePr>
          <p:nvPr>
            <p:extLst>
              <p:ext uri="{D42A27DB-BD31-4B8C-83A1-F6EECF244321}">
                <p14:modId xmlns:p14="http://schemas.microsoft.com/office/powerpoint/2010/main" val="2795247725"/>
              </p:ext>
            </p:extLst>
          </p:nvPr>
        </p:nvGraphicFramePr>
        <p:xfrm>
          <a:off x="7697038" y="5174762"/>
          <a:ext cx="3548184" cy="1483360"/>
        </p:xfrm>
        <a:graphic>
          <a:graphicData uri="http://schemas.openxmlformats.org/drawingml/2006/table">
            <a:tbl>
              <a:tblPr firstRow="1" bandRow="1">
                <a:tableStyleId>{5C22544A-7EE6-4342-B048-85BDC9FD1C3A}</a:tableStyleId>
              </a:tblPr>
              <a:tblGrid>
                <a:gridCol w="1774092">
                  <a:extLst>
                    <a:ext uri="{9D8B030D-6E8A-4147-A177-3AD203B41FA5}">
                      <a16:colId xmlns:a16="http://schemas.microsoft.com/office/drawing/2014/main" val="460381783"/>
                    </a:ext>
                  </a:extLst>
                </a:gridCol>
                <a:gridCol w="1774092">
                  <a:extLst>
                    <a:ext uri="{9D8B030D-6E8A-4147-A177-3AD203B41FA5}">
                      <a16:colId xmlns:a16="http://schemas.microsoft.com/office/drawing/2014/main" val="3154770953"/>
                    </a:ext>
                  </a:extLst>
                </a:gridCol>
              </a:tblGrid>
              <a:tr h="370840">
                <a:tc>
                  <a:txBody>
                    <a:bodyPr/>
                    <a:lstStyle/>
                    <a:p>
                      <a:r>
                        <a:rPr lang="fr-FR" u="sng"/>
                        <a:t>ID Subject</a:t>
                      </a:r>
                    </a:p>
                  </a:txBody>
                  <a:tcPr/>
                </a:tc>
                <a:tc>
                  <a:txBody>
                    <a:bodyPr/>
                    <a:lstStyle/>
                    <a:p>
                      <a:r>
                        <a:rPr lang="fr-FR"/>
                        <a:t>Subject Name</a:t>
                      </a:r>
                    </a:p>
                  </a:txBody>
                  <a:tcPr/>
                </a:tc>
                <a:extLst>
                  <a:ext uri="{0D108BD9-81ED-4DB2-BD59-A6C34878D82A}">
                    <a16:rowId xmlns:a16="http://schemas.microsoft.com/office/drawing/2014/main" val="4020481430"/>
                  </a:ext>
                </a:extLst>
              </a:tr>
              <a:tr h="370840">
                <a:tc>
                  <a:txBody>
                    <a:bodyPr/>
                    <a:lstStyle/>
                    <a:p>
                      <a:r>
                        <a:rPr lang="fr-FR"/>
                        <a:t>1</a:t>
                      </a:r>
                    </a:p>
                  </a:txBody>
                  <a:tcPr/>
                </a:tc>
                <a:tc>
                  <a:txBody>
                    <a:bodyPr/>
                    <a:lstStyle/>
                    <a:p>
                      <a:r>
                        <a:rPr lang="fr-FR"/>
                        <a:t>MySQL</a:t>
                      </a:r>
                    </a:p>
                  </a:txBody>
                  <a:tcPr/>
                </a:tc>
                <a:extLst>
                  <a:ext uri="{0D108BD9-81ED-4DB2-BD59-A6C34878D82A}">
                    <a16:rowId xmlns:a16="http://schemas.microsoft.com/office/drawing/2014/main" val="3389181532"/>
                  </a:ext>
                </a:extLst>
              </a:tr>
              <a:tr h="370840">
                <a:tc>
                  <a:txBody>
                    <a:bodyPr/>
                    <a:lstStyle/>
                    <a:p>
                      <a:r>
                        <a:rPr lang="fr-FR"/>
                        <a:t>2</a:t>
                      </a:r>
                    </a:p>
                  </a:txBody>
                  <a:tcPr/>
                </a:tc>
                <a:tc>
                  <a:txBody>
                    <a:bodyPr/>
                    <a:lstStyle/>
                    <a:p>
                      <a:r>
                        <a:rPr lang="fr-FR" err="1"/>
                        <a:t>Database</a:t>
                      </a:r>
                      <a:endParaRPr lang="fr-FR"/>
                    </a:p>
                  </a:txBody>
                  <a:tcPr/>
                </a:tc>
                <a:extLst>
                  <a:ext uri="{0D108BD9-81ED-4DB2-BD59-A6C34878D82A}">
                    <a16:rowId xmlns:a16="http://schemas.microsoft.com/office/drawing/2014/main" val="764656943"/>
                  </a:ext>
                </a:extLst>
              </a:tr>
              <a:tr h="370840">
                <a:tc>
                  <a:txBody>
                    <a:bodyPr/>
                    <a:lstStyle/>
                    <a:p>
                      <a:r>
                        <a:rPr lang="fr-FR"/>
                        <a:t>3</a:t>
                      </a:r>
                    </a:p>
                  </a:txBody>
                  <a:tcPr/>
                </a:tc>
                <a:tc>
                  <a:txBody>
                    <a:bodyPr/>
                    <a:lstStyle/>
                    <a:p>
                      <a:r>
                        <a:rPr lang="fr-FR"/>
                        <a:t>Design</a:t>
                      </a:r>
                    </a:p>
                  </a:txBody>
                  <a:tcPr/>
                </a:tc>
                <a:extLst>
                  <a:ext uri="{0D108BD9-81ED-4DB2-BD59-A6C34878D82A}">
                    <a16:rowId xmlns:a16="http://schemas.microsoft.com/office/drawing/2014/main" val="3008140327"/>
                  </a:ext>
                </a:extLst>
              </a:tr>
            </a:tbl>
          </a:graphicData>
        </a:graphic>
      </p:graphicFrame>
      <p:graphicFrame>
        <p:nvGraphicFramePr>
          <p:cNvPr id="6" name="Tableau 5">
            <a:extLst>
              <a:ext uri="{FF2B5EF4-FFF2-40B4-BE49-F238E27FC236}">
                <a16:creationId xmlns:a16="http://schemas.microsoft.com/office/drawing/2014/main" id="{059874CF-103C-4229-8A8E-0BCC18E6E0F3}"/>
              </a:ext>
            </a:extLst>
          </p:cNvPr>
          <p:cNvGraphicFramePr>
            <a:graphicFrameLocks noGrp="1"/>
          </p:cNvGraphicFramePr>
          <p:nvPr>
            <p:extLst>
              <p:ext uri="{D42A27DB-BD31-4B8C-83A1-F6EECF244321}">
                <p14:modId xmlns:p14="http://schemas.microsoft.com/office/powerpoint/2010/main" val="753353531"/>
              </p:ext>
            </p:extLst>
          </p:nvPr>
        </p:nvGraphicFramePr>
        <p:xfrm>
          <a:off x="1286189" y="5174762"/>
          <a:ext cx="4371034" cy="1483360"/>
        </p:xfrm>
        <a:graphic>
          <a:graphicData uri="http://schemas.openxmlformats.org/drawingml/2006/table">
            <a:tbl>
              <a:tblPr firstRow="1" bandRow="1">
                <a:tableStyleId>{5C22544A-7EE6-4342-B048-85BDC9FD1C3A}</a:tableStyleId>
              </a:tblPr>
              <a:tblGrid>
                <a:gridCol w="2723103">
                  <a:extLst>
                    <a:ext uri="{9D8B030D-6E8A-4147-A177-3AD203B41FA5}">
                      <a16:colId xmlns:a16="http://schemas.microsoft.com/office/drawing/2014/main" val="460381783"/>
                    </a:ext>
                  </a:extLst>
                </a:gridCol>
                <a:gridCol w="1647931">
                  <a:extLst>
                    <a:ext uri="{9D8B030D-6E8A-4147-A177-3AD203B41FA5}">
                      <a16:colId xmlns:a16="http://schemas.microsoft.com/office/drawing/2014/main" val="3154770953"/>
                    </a:ext>
                  </a:extLst>
                </a:gridCol>
              </a:tblGrid>
              <a:tr h="370840">
                <a:tc>
                  <a:txBody>
                    <a:bodyPr/>
                    <a:lstStyle/>
                    <a:p>
                      <a:r>
                        <a:rPr lang="fr-FR" u="sng" err="1"/>
                        <a:t>Title</a:t>
                      </a:r>
                      <a:endParaRPr lang="fr-FR" u="sng"/>
                    </a:p>
                  </a:txBody>
                  <a:tcPr/>
                </a:tc>
                <a:tc>
                  <a:txBody>
                    <a:bodyPr/>
                    <a:lstStyle/>
                    <a:p>
                      <a:r>
                        <a:rPr lang="fr-FR" u="sng" dirty="0"/>
                        <a:t>ID </a:t>
                      </a:r>
                      <a:r>
                        <a:rPr lang="fr-FR" u="sng" dirty="0" err="1"/>
                        <a:t>Subject</a:t>
                      </a:r>
                      <a:endParaRPr lang="fr-FR" u="sng" dirty="0"/>
                    </a:p>
                  </a:txBody>
                  <a:tcPr/>
                </a:tc>
                <a:extLst>
                  <a:ext uri="{0D108BD9-81ED-4DB2-BD59-A6C34878D82A}">
                    <a16:rowId xmlns:a16="http://schemas.microsoft.com/office/drawing/2014/main" val="4020481430"/>
                  </a:ext>
                </a:extLst>
              </a:tr>
              <a:tr h="370840">
                <a:tc>
                  <a:txBody>
                    <a:bodyPr/>
                    <a:lstStyle/>
                    <a:p>
                      <a:r>
                        <a:rPr lang="en-US" sz="1800"/>
                        <a:t>Beginning Database</a:t>
                      </a:r>
                    </a:p>
                  </a:txBody>
                  <a:tcPr/>
                </a:tc>
                <a:tc>
                  <a:txBody>
                    <a:bodyPr/>
                    <a:lstStyle/>
                    <a:p>
                      <a:r>
                        <a:rPr lang="fr-FR"/>
                        <a:t>1</a:t>
                      </a:r>
                    </a:p>
                  </a:txBody>
                  <a:tcPr/>
                </a:tc>
                <a:extLst>
                  <a:ext uri="{0D108BD9-81ED-4DB2-BD59-A6C34878D82A}">
                    <a16:rowId xmlns:a16="http://schemas.microsoft.com/office/drawing/2014/main" val="3389181532"/>
                  </a:ext>
                </a:extLst>
              </a:tr>
              <a:tr h="370840">
                <a:tc>
                  <a:txBody>
                    <a:bodyPr/>
                    <a:lstStyle/>
                    <a:p>
                      <a:r>
                        <a:rPr lang="en-US" sz="1800"/>
                        <a:t>Beginning Database</a:t>
                      </a:r>
                    </a:p>
                  </a:txBody>
                  <a:tcPr/>
                </a:tc>
                <a:tc>
                  <a:txBody>
                    <a:bodyPr/>
                    <a:lstStyle/>
                    <a:p>
                      <a:r>
                        <a:rPr lang="fr-FR"/>
                        <a:t>2</a:t>
                      </a:r>
                    </a:p>
                  </a:txBody>
                  <a:tcPr/>
                </a:tc>
                <a:extLst>
                  <a:ext uri="{0D108BD9-81ED-4DB2-BD59-A6C34878D82A}">
                    <a16:rowId xmlns:a16="http://schemas.microsoft.com/office/drawing/2014/main" val="764656943"/>
                  </a:ext>
                </a:extLst>
              </a:tr>
              <a:tr h="370840">
                <a:tc>
                  <a:txBody>
                    <a:bodyPr/>
                    <a:lstStyle/>
                    <a:p>
                      <a:r>
                        <a:rPr lang="en-US" sz="1800"/>
                        <a:t>Beginning Database</a:t>
                      </a:r>
                    </a:p>
                  </a:txBody>
                  <a:tcPr/>
                </a:tc>
                <a:tc>
                  <a:txBody>
                    <a:bodyPr/>
                    <a:lstStyle/>
                    <a:p>
                      <a:r>
                        <a:rPr lang="fr-FR" dirty="0"/>
                        <a:t>3</a:t>
                      </a:r>
                    </a:p>
                  </a:txBody>
                  <a:tcPr/>
                </a:tc>
                <a:extLst>
                  <a:ext uri="{0D108BD9-81ED-4DB2-BD59-A6C34878D82A}">
                    <a16:rowId xmlns:a16="http://schemas.microsoft.com/office/drawing/2014/main" val="3008140327"/>
                  </a:ext>
                </a:extLst>
              </a:tr>
            </a:tbl>
          </a:graphicData>
        </a:graphic>
      </p:graphicFrame>
    </p:spTree>
    <p:extLst>
      <p:ext uri="{BB962C8B-B14F-4D97-AF65-F5344CB8AC3E}">
        <p14:creationId xmlns:p14="http://schemas.microsoft.com/office/powerpoint/2010/main" val="71204087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ECE52D-1033-4501-8F9F-1229EE87F3F6}"/>
              </a:ext>
            </a:extLst>
          </p:cNvPr>
          <p:cNvSpPr>
            <a:spLocks noGrp="1"/>
          </p:cNvSpPr>
          <p:nvPr>
            <p:ph type="title"/>
          </p:nvPr>
        </p:nvSpPr>
        <p:spPr/>
        <p:txBody>
          <a:bodyPr/>
          <a:lstStyle/>
          <a:p>
            <a:r>
              <a:rPr lang="fr-FR"/>
              <a:t>Exemple de normalisation</a:t>
            </a:r>
          </a:p>
        </p:txBody>
      </p:sp>
      <p:sp>
        <p:nvSpPr>
          <p:cNvPr id="3" name="Espace réservé du contenu 2">
            <a:extLst>
              <a:ext uri="{FF2B5EF4-FFF2-40B4-BE49-F238E27FC236}">
                <a16:creationId xmlns:a16="http://schemas.microsoft.com/office/drawing/2014/main" id="{D455CABB-CC79-4153-83BD-8C4EF0BDF458}"/>
              </a:ext>
            </a:extLst>
          </p:cNvPr>
          <p:cNvSpPr>
            <a:spLocks noGrp="1"/>
          </p:cNvSpPr>
          <p:nvPr>
            <p:ph idx="1"/>
          </p:nvPr>
        </p:nvSpPr>
        <p:spPr>
          <a:xfrm>
            <a:off x="818712" y="2222287"/>
            <a:ext cx="10554574" cy="437023"/>
          </a:xfrm>
        </p:spPr>
        <p:txBody>
          <a:bodyPr anchor="t">
            <a:normAutofit/>
          </a:bodyPr>
          <a:lstStyle/>
          <a:p>
            <a:r>
              <a:rPr lang="fr-FR"/>
              <a:t>Deuxième forme normale :</a:t>
            </a:r>
          </a:p>
          <a:p>
            <a:endParaRPr lang="fr-FR"/>
          </a:p>
        </p:txBody>
      </p:sp>
      <p:sp>
        <p:nvSpPr>
          <p:cNvPr id="6" name="Espace réservé du numéro de diapositive 5">
            <a:extLst>
              <a:ext uri="{FF2B5EF4-FFF2-40B4-BE49-F238E27FC236}">
                <a16:creationId xmlns:a16="http://schemas.microsoft.com/office/drawing/2014/main" id="{7DB20DA9-10C7-4EE4-831A-C7B791D533C8}"/>
              </a:ext>
            </a:extLst>
          </p:cNvPr>
          <p:cNvSpPr>
            <a:spLocks noGrp="1"/>
          </p:cNvSpPr>
          <p:nvPr>
            <p:ph type="sldNum" sz="quarter" idx="12"/>
          </p:nvPr>
        </p:nvSpPr>
        <p:spPr/>
        <p:txBody>
          <a:bodyPr/>
          <a:lstStyle/>
          <a:p>
            <a:fld id="{27C6CCC6-2BE5-4E42-96A4-D1E8E81A3D8E}" type="slidenum">
              <a:rPr lang="de-DE" smtClean="0"/>
              <a:t>193</a:t>
            </a:fld>
            <a:endParaRPr lang="de-DE"/>
          </a:p>
        </p:txBody>
      </p:sp>
      <p:graphicFrame>
        <p:nvGraphicFramePr>
          <p:cNvPr id="7" name="Tableau 6">
            <a:extLst>
              <a:ext uri="{FF2B5EF4-FFF2-40B4-BE49-F238E27FC236}">
                <a16:creationId xmlns:a16="http://schemas.microsoft.com/office/drawing/2014/main" id="{38DED3F2-8A22-4697-B8C6-B963D5B27F06}"/>
              </a:ext>
            </a:extLst>
          </p:cNvPr>
          <p:cNvGraphicFramePr>
            <a:graphicFrameLocks noGrp="1"/>
          </p:cNvGraphicFramePr>
          <p:nvPr>
            <p:extLst>
              <p:ext uri="{D42A27DB-BD31-4B8C-83A1-F6EECF244321}">
                <p14:modId xmlns:p14="http://schemas.microsoft.com/office/powerpoint/2010/main" val="2798453348"/>
              </p:ext>
            </p:extLst>
          </p:nvPr>
        </p:nvGraphicFramePr>
        <p:xfrm>
          <a:off x="1317072" y="2743201"/>
          <a:ext cx="9405210" cy="1965930"/>
        </p:xfrm>
        <a:graphic>
          <a:graphicData uri="http://schemas.openxmlformats.org/drawingml/2006/table">
            <a:tbl>
              <a:tblPr firstRow="1" bandRow="1">
                <a:tableStyleId>{5C22544A-7EE6-4342-B048-85BDC9FD1C3A}</a:tableStyleId>
              </a:tblPr>
              <a:tblGrid>
                <a:gridCol w="940521">
                  <a:extLst>
                    <a:ext uri="{9D8B030D-6E8A-4147-A177-3AD203B41FA5}">
                      <a16:colId xmlns:a16="http://schemas.microsoft.com/office/drawing/2014/main" val="1209955460"/>
                    </a:ext>
                  </a:extLst>
                </a:gridCol>
                <a:gridCol w="940521">
                  <a:extLst>
                    <a:ext uri="{9D8B030D-6E8A-4147-A177-3AD203B41FA5}">
                      <a16:colId xmlns:a16="http://schemas.microsoft.com/office/drawing/2014/main" val="306668912"/>
                    </a:ext>
                  </a:extLst>
                </a:gridCol>
                <a:gridCol w="940521">
                  <a:extLst>
                    <a:ext uri="{9D8B030D-6E8A-4147-A177-3AD203B41FA5}">
                      <a16:colId xmlns:a16="http://schemas.microsoft.com/office/drawing/2014/main" val="1376677381"/>
                    </a:ext>
                  </a:extLst>
                </a:gridCol>
                <a:gridCol w="940521">
                  <a:extLst>
                    <a:ext uri="{9D8B030D-6E8A-4147-A177-3AD203B41FA5}">
                      <a16:colId xmlns:a16="http://schemas.microsoft.com/office/drawing/2014/main" val="2654089634"/>
                    </a:ext>
                  </a:extLst>
                </a:gridCol>
                <a:gridCol w="940521">
                  <a:extLst>
                    <a:ext uri="{9D8B030D-6E8A-4147-A177-3AD203B41FA5}">
                      <a16:colId xmlns:a16="http://schemas.microsoft.com/office/drawing/2014/main" val="4262579280"/>
                    </a:ext>
                  </a:extLst>
                </a:gridCol>
                <a:gridCol w="940521">
                  <a:extLst>
                    <a:ext uri="{9D8B030D-6E8A-4147-A177-3AD203B41FA5}">
                      <a16:colId xmlns:a16="http://schemas.microsoft.com/office/drawing/2014/main" val="2413993998"/>
                    </a:ext>
                  </a:extLst>
                </a:gridCol>
                <a:gridCol w="940521">
                  <a:extLst>
                    <a:ext uri="{9D8B030D-6E8A-4147-A177-3AD203B41FA5}">
                      <a16:colId xmlns:a16="http://schemas.microsoft.com/office/drawing/2014/main" val="2074122830"/>
                    </a:ext>
                  </a:extLst>
                </a:gridCol>
                <a:gridCol w="940521">
                  <a:extLst>
                    <a:ext uri="{9D8B030D-6E8A-4147-A177-3AD203B41FA5}">
                      <a16:colId xmlns:a16="http://schemas.microsoft.com/office/drawing/2014/main" val="2322140536"/>
                    </a:ext>
                  </a:extLst>
                </a:gridCol>
                <a:gridCol w="940521">
                  <a:extLst>
                    <a:ext uri="{9D8B030D-6E8A-4147-A177-3AD203B41FA5}">
                      <a16:colId xmlns:a16="http://schemas.microsoft.com/office/drawing/2014/main" val="2967307609"/>
                    </a:ext>
                  </a:extLst>
                </a:gridCol>
                <a:gridCol w="940521">
                  <a:extLst>
                    <a:ext uri="{9D8B030D-6E8A-4147-A177-3AD203B41FA5}">
                      <a16:colId xmlns:a16="http://schemas.microsoft.com/office/drawing/2014/main" val="1691657086"/>
                    </a:ext>
                  </a:extLst>
                </a:gridCol>
              </a:tblGrid>
              <a:tr h="322137">
                <a:tc>
                  <a:txBody>
                    <a:bodyPr/>
                    <a:lstStyle/>
                    <a:p>
                      <a:r>
                        <a:rPr lang="fr-FR" sz="1200" u="sng"/>
                        <a:t>Title</a:t>
                      </a:r>
                      <a:r>
                        <a:rPr lang="fr-FR" sz="1200"/>
                        <a:t> </a:t>
                      </a:r>
                    </a:p>
                  </a:txBody>
                  <a:tcPr marL="27426" marR="27426" marT="13713" marB="13713" anchor="ctr"/>
                </a:tc>
                <a:tc>
                  <a:txBody>
                    <a:bodyPr/>
                    <a:lstStyle/>
                    <a:p>
                      <a:r>
                        <a:rPr lang="fr-FR" sz="1200" u="sng"/>
                        <a:t>Format</a:t>
                      </a:r>
                      <a:r>
                        <a:rPr lang="fr-FR" sz="1200"/>
                        <a:t> </a:t>
                      </a:r>
                    </a:p>
                  </a:txBody>
                  <a:tcPr marL="27426" marR="27426" marT="13713" marB="13713" anchor="ctr"/>
                </a:tc>
                <a:tc>
                  <a:txBody>
                    <a:bodyPr/>
                    <a:lstStyle/>
                    <a:p>
                      <a:r>
                        <a:rPr lang="fr-FR" sz="1200"/>
                        <a:t>Author </a:t>
                      </a:r>
                    </a:p>
                  </a:txBody>
                  <a:tcPr marL="27426" marR="27426" marT="13713" marB="13713" anchor="ctr"/>
                </a:tc>
                <a:tc>
                  <a:txBody>
                    <a:bodyPr/>
                    <a:lstStyle/>
                    <a:p>
                      <a:r>
                        <a:rPr lang="fr-FR" sz="1200"/>
                        <a:t>Author </a:t>
                      </a:r>
                      <a:r>
                        <a:rPr lang="fr-FR" sz="1200" err="1"/>
                        <a:t>Nationality</a:t>
                      </a:r>
                      <a:r>
                        <a:rPr lang="fr-FR" sz="1200"/>
                        <a:t> </a:t>
                      </a:r>
                    </a:p>
                  </a:txBody>
                  <a:tcPr marL="27426" marR="27426" marT="13713" marB="13713" anchor="ctr"/>
                </a:tc>
                <a:tc>
                  <a:txBody>
                    <a:bodyPr/>
                    <a:lstStyle/>
                    <a:p>
                      <a:r>
                        <a:rPr lang="fr-FR" sz="1200"/>
                        <a:t>Price </a:t>
                      </a:r>
                    </a:p>
                  </a:txBody>
                  <a:tcPr marL="27426" marR="27426" marT="13713" marB="13713" anchor="ctr"/>
                </a:tc>
                <a:tc>
                  <a:txBody>
                    <a:bodyPr/>
                    <a:lstStyle/>
                    <a:p>
                      <a:r>
                        <a:rPr lang="fr-FR" sz="1200"/>
                        <a:t>Pages </a:t>
                      </a:r>
                    </a:p>
                  </a:txBody>
                  <a:tcPr marL="27426" marR="27426" marT="13713" marB="13713" anchor="ctr"/>
                </a:tc>
                <a:tc>
                  <a:txBody>
                    <a:bodyPr/>
                    <a:lstStyle/>
                    <a:p>
                      <a:r>
                        <a:rPr lang="fr-FR" sz="1200"/>
                        <a:t>Thickness </a:t>
                      </a:r>
                    </a:p>
                  </a:txBody>
                  <a:tcPr marL="27426" marR="27426" marT="13713" marB="13713" anchor="ctr"/>
                </a:tc>
                <a:tc>
                  <a:txBody>
                    <a:bodyPr/>
                    <a:lstStyle/>
                    <a:p>
                      <a:r>
                        <a:rPr lang="fr-FR" sz="1200"/>
                        <a:t>Genre ID </a:t>
                      </a:r>
                    </a:p>
                  </a:txBody>
                  <a:tcPr marL="27426" marR="27426" marT="13713" marB="13713" anchor="ctr"/>
                </a:tc>
                <a:tc>
                  <a:txBody>
                    <a:bodyPr/>
                    <a:lstStyle/>
                    <a:p>
                      <a:r>
                        <a:rPr lang="fr-FR" sz="1200"/>
                        <a:t>Genre Name </a:t>
                      </a:r>
                    </a:p>
                  </a:txBody>
                  <a:tcPr marL="27426" marR="27426" marT="13713" marB="13713" anchor="ctr"/>
                </a:tc>
                <a:tc>
                  <a:txBody>
                    <a:bodyPr/>
                    <a:lstStyle/>
                    <a:p>
                      <a:r>
                        <a:rPr lang="fr-FR" sz="1200"/>
                        <a:t>Publisher ID </a:t>
                      </a:r>
                    </a:p>
                  </a:txBody>
                  <a:tcPr marL="27426" marR="27426" marT="13713" marB="13713" anchor="ctr"/>
                </a:tc>
                <a:extLst>
                  <a:ext uri="{0D108BD9-81ED-4DB2-BD59-A6C34878D82A}">
                    <a16:rowId xmlns:a16="http://schemas.microsoft.com/office/drawing/2014/main" val="2127991266"/>
                  </a:ext>
                </a:extLst>
              </a:tr>
              <a:tr h="322137">
                <a:tc>
                  <a:txBody>
                    <a:bodyPr/>
                    <a:lstStyle/>
                    <a:p>
                      <a:r>
                        <a:rPr lang="en-US" sz="1200"/>
                        <a:t>Beginning Database</a:t>
                      </a:r>
                    </a:p>
                  </a:txBody>
                  <a:tcPr marL="27426" marR="27426" marT="13713" marB="13713" anchor="ctr"/>
                </a:tc>
                <a:tc>
                  <a:txBody>
                    <a:bodyPr/>
                    <a:lstStyle/>
                    <a:p>
                      <a:r>
                        <a:rPr lang="fr-FR" sz="1200"/>
                        <a:t>Hardcover </a:t>
                      </a:r>
                    </a:p>
                  </a:txBody>
                  <a:tcPr marL="27426" marR="27426" marT="13713" marB="13713" anchor="ctr"/>
                </a:tc>
                <a:tc>
                  <a:txBody>
                    <a:bodyPr/>
                    <a:lstStyle/>
                    <a:p>
                      <a:r>
                        <a:rPr lang="fr-FR" sz="1200"/>
                        <a:t>Chad Russell </a:t>
                      </a:r>
                    </a:p>
                  </a:txBody>
                  <a:tcPr marL="27426" marR="27426" marT="13713" marB="13713" anchor="ctr"/>
                </a:tc>
                <a:tc>
                  <a:txBody>
                    <a:bodyPr/>
                    <a:lstStyle/>
                    <a:p>
                      <a:r>
                        <a:rPr lang="fr-FR" sz="1200"/>
                        <a:t>American </a:t>
                      </a:r>
                    </a:p>
                  </a:txBody>
                  <a:tcPr marL="27426" marR="27426" marT="13713" marB="13713" anchor="ctr"/>
                </a:tc>
                <a:tc>
                  <a:txBody>
                    <a:bodyPr/>
                    <a:lstStyle/>
                    <a:p>
                      <a:r>
                        <a:rPr lang="fr-FR" sz="1200"/>
                        <a:t>49.99 </a:t>
                      </a:r>
                    </a:p>
                  </a:txBody>
                  <a:tcPr marL="27426" marR="27426" marT="13713" marB="13713" anchor="ctr"/>
                </a:tc>
                <a:tc>
                  <a:txBody>
                    <a:bodyPr/>
                    <a:lstStyle/>
                    <a:p>
                      <a:r>
                        <a:rPr lang="fr-FR" sz="1200"/>
                        <a:t>520 </a:t>
                      </a:r>
                    </a:p>
                  </a:txBody>
                  <a:tcPr marL="27426" marR="27426" marT="13713" marB="13713" anchor="ctr"/>
                </a:tc>
                <a:tc>
                  <a:txBody>
                    <a:bodyPr/>
                    <a:lstStyle/>
                    <a:p>
                      <a:r>
                        <a:rPr lang="fr-FR" sz="1200"/>
                        <a:t>Thick </a:t>
                      </a:r>
                    </a:p>
                  </a:txBody>
                  <a:tcPr marL="27426" marR="27426" marT="13713" marB="13713" anchor="ctr"/>
                </a:tc>
                <a:tc>
                  <a:txBody>
                    <a:bodyPr/>
                    <a:lstStyle/>
                    <a:p>
                      <a:r>
                        <a:rPr lang="fr-FR" sz="1200"/>
                        <a:t>1 </a:t>
                      </a:r>
                    </a:p>
                  </a:txBody>
                  <a:tcPr marL="27426" marR="27426" marT="13713" marB="13713" anchor="ctr"/>
                </a:tc>
                <a:tc>
                  <a:txBody>
                    <a:bodyPr/>
                    <a:lstStyle/>
                    <a:p>
                      <a:r>
                        <a:rPr lang="fr-FR" sz="1200"/>
                        <a:t>Tutorial </a:t>
                      </a:r>
                    </a:p>
                  </a:txBody>
                  <a:tcPr marL="27426" marR="27426" marT="13713" marB="13713" anchor="ctr"/>
                </a:tc>
                <a:tc>
                  <a:txBody>
                    <a:bodyPr/>
                    <a:lstStyle/>
                    <a:p>
                      <a:r>
                        <a:rPr lang="fr-FR" sz="1200"/>
                        <a:t>1 </a:t>
                      </a:r>
                    </a:p>
                  </a:txBody>
                  <a:tcPr marL="27426" marR="27426" marT="13713" marB="13713" anchor="ctr"/>
                </a:tc>
                <a:extLst>
                  <a:ext uri="{0D108BD9-81ED-4DB2-BD59-A6C34878D82A}">
                    <a16:rowId xmlns:a16="http://schemas.microsoft.com/office/drawing/2014/main" val="3026049201"/>
                  </a:ext>
                </a:extLst>
              </a:tr>
              <a:tr h="322137">
                <a:tc>
                  <a:txBody>
                    <a:bodyPr/>
                    <a:lstStyle/>
                    <a:p>
                      <a:r>
                        <a:rPr lang="en-US" sz="1200"/>
                        <a:t>Beginning Database</a:t>
                      </a:r>
                    </a:p>
                  </a:txBody>
                  <a:tcPr marL="27426" marR="27426" marT="13713" marB="13713" anchor="ctr"/>
                </a:tc>
                <a:tc>
                  <a:txBody>
                    <a:bodyPr/>
                    <a:lstStyle/>
                    <a:p>
                      <a:r>
                        <a:rPr lang="fr-FR" sz="1200"/>
                        <a:t>E-book </a:t>
                      </a:r>
                    </a:p>
                  </a:txBody>
                  <a:tcPr marL="27426" marR="27426" marT="13713" marB="13713" anchor="ctr"/>
                </a:tc>
                <a:tc>
                  <a:txBody>
                    <a:bodyPr/>
                    <a:lstStyle/>
                    <a:p>
                      <a:r>
                        <a:rPr lang="fr-FR" sz="1200"/>
                        <a:t>Chad Russell </a:t>
                      </a:r>
                    </a:p>
                  </a:txBody>
                  <a:tcPr marL="27426" marR="27426" marT="13713" marB="13713" anchor="ctr"/>
                </a:tc>
                <a:tc>
                  <a:txBody>
                    <a:bodyPr/>
                    <a:lstStyle/>
                    <a:p>
                      <a:r>
                        <a:rPr lang="fr-FR" sz="1200"/>
                        <a:t>American </a:t>
                      </a:r>
                    </a:p>
                  </a:txBody>
                  <a:tcPr marL="27426" marR="27426" marT="13713" marB="13713" anchor="ctr"/>
                </a:tc>
                <a:tc>
                  <a:txBody>
                    <a:bodyPr/>
                    <a:lstStyle/>
                    <a:p>
                      <a:r>
                        <a:rPr lang="fr-FR" sz="1200"/>
                        <a:t>22.34 </a:t>
                      </a:r>
                    </a:p>
                  </a:txBody>
                  <a:tcPr marL="27426" marR="27426" marT="13713" marB="13713" anchor="ctr"/>
                </a:tc>
                <a:tc>
                  <a:txBody>
                    <a:bodyPr/>
                    <a:lstStyle/>
                    <a:p>
                      <a:r>
                        <a:rPr lang="fr-FR" sz="1200"/>
                        <a:t>520 </a:t>
                      </a:r>
                    </a:p>
                  </a:txBody>
                  <a:tcPr marL="27426" marR="27426" marT="13713" marB="13713" anchor="ctr"/>
                </a:tc>
                <a:tc>
                  <a:txBody>
                    <a:bodyPr/>
                    <a:lstStyle/>
                    <a:p>
                      <a:r>
                        <a:rPr lang="fr-FR" sz="1200"/>
                        <a:t>Thick </a:t>
                      </a:r>
                    </a:p>
                  </a:txBody>
                  <a:tcPr marL="27426" marR="27426" marT="13713" marB="13713" anchor="ctr"/>
                </a:tc>
                <a:tc>
                  <a:txBody>
                    <a:bodyPr/>
                    <a:lstStyle/>
                    <a:p>
                      <a:r>
                        <a:rPr lang="fr-FR" sz="1200"/>
                        <a:t>1 </a:t>
                      </a:r>
                    </a:p>
                  </a:txBody>
                  <a:tcPr marL="27426" marR="27426" marT="13713" marB="13713" anchor="ctr"/>
                </a:tc>
                <a:tc>
                  <a:txBody>
                    <a:bodyPr/>
                    <a:lstStyle/>
                    <a:p>
                      <a:r>
                        <a:rPr lang="fr-FR" sz="1200"/>
                        <a:t>Tutorial </a:t>
                      </a:r>
                    </a:p>
                  </a:txBody>
                  <a:tcPr marL="27426" marR="27426" marT="13713" marB="13713" anchor="ctr"/>
                </a:tc>
                <a:tc>
                  <a:txBody>
                    <a:bodyPr/>
                    <a:lstStyle/>
                    <a:p>
                      <a:r>
                        <a:rPr lang="fr-FR" sz="1200"/>
                        <a:t>1 </a:t>
                      </a:r>
                    </a:p>
                  </a:txBody>
                  <a:tcPr marL="27426" marR="27426" marT="13713" marB="13713" anchor="ctr"/>
                </a:tc>
                <a:extLst>
                  <a:ext uri="{0D108BD9-81ED-4DB2-BD59-A6C34878D82A}">
                    <a16:rowId xmlns:a16="http://schemas.microsoft.com/office/drawing/2014/main" val="544939783"/>
                  </a:ext>
                </a:extLst>
              </a:tr>
              <a:tr h="322137">
                <a:tc>
                  <a:txBody>
                    <a:bodyPr/>
                    <a:lstStyle/>
                    <a:p>
                      <a:r>
                        <a:rPr lang="fr-FR" sz="1200" err="1"/>
                        <a:t>Relational</a:t>
                      </a:r>
                      <a:r>
                        <a:rPr lang="fr-FR" sz="1200"/>
                        <a:t> Model</a:t>
                      </a:r>
                    </a:p>
                  </a:txBody>
                  <a:tcPr marL="27426" marR="27426" marT="13713" marB="13713" anchor="ctr"/>
                </a:tc>
                <a:tc>
                  <a:txBody>
                    <a:bodyPr/>
                    <a:lstStyle/>
                    <a:p>
                      <a:r>
                        <a:rPr lang="fr-FR" sz="1200"/>
                        <a:t>E-book </a:t>
                      </a:r>
                    </a:p>
                  </a:txBody>
                  <a:tcPr marL="27426" marR="27426" marT="13713" marB="13713" anchor="ctr"/>
                </a:tc>
                <a:tc>
                  <a:txBody>
                    <a:bodyPr/>
                    <a:lstStyle/>
                    <a:p>
                      <a:r>
                        <a:rPr lang="fr-FR" sz="1200"/>
                        <a:t>E.F.Codd </a:t>
                      </a:r>
                    </a:p>
                  </a:txBody>
                  <a:tcPr marL="27426" marR="27426" marT="13713" marB="13713" anchor="ctr"/>
                </a:tc>
                <a:tc>
                  <a:txBody>
                    <a:bodyPr/>
                    <a:lstStyle/>
                    <a:p>
                      <a:r>
                        <a:rPr lang="fr-FR" sz="1200"/>
                        <a:t>British </a:t>
                      </a:r>
                    </a:p>
                  </a:txBody>
                  <a:tcPr marL="27426" marR="27426" marT="13713" marB="13713" anchor="ctr"/>
                </a:tc>
                <a:tc>
                  <a:txBody>
                    <a:bodyPr/>
                    <a:lstStyle/>
                    <a:p>
                      <a:r>
                        <a:rPr lang="fr-FR" sz="1200"/>
                        <a:t>13.88 </a:t>
                      </a:r>
                    </a:p>
                  </a:txBody>
                  <a:tcPr marL="27426" marR="27426" marT="13713" marB="13713" anchor="ctr"/>
                </a:tc>
                <a:tc>
                  <a:txBody>
                    <a:bodyPr/>
                    <a:lstStyle/>
                    <a:p>
                      <a:r>
                        <a:rPr lang="fr-FR" sz="1200"/>
                        <a:t>538 </a:t>
                      </a:r>
                    </a:p>
                  </a:txBody>
                  <a:tcPr marL="27426" marR="27426" marT="13713" marB="13713" anchor="ctr"/>
                </a:tc>
                <a:tc>
                  <a:txBody>
                    <a:bodyPr/>
                    <a:lstStyle/>
                    <a:p>
                      <a:r>
                        <a:rPr lang="fr-FR" sz="1200"/>
                        <a:t>Thick </a:t>
                      </a:r>
                    </a:p>
                  </a:txBody>
                  <a:tcPr marL="27426" marR="27426" marT="13713" marB="13713" anchor="ctr"/>
                </a:tc>
                <a:tc>
                  <a:txBody>
                    <a:bodyPr/>
                    <a:lstStyle/>
                    <a:p>
                      <a:r>
                        <a:rPr lang="fr-FR" sz="1200"/>
                        <a:t>2 </a:t>
                      </a:r>
                    </a:p>
                  </a:txBody>
                  <a:tcPr marL="27426" marR="27426" marT="13713" marB="13713" anchor="ctr"/>
                </a:tc>
                <a:tc>
                  <a:txBody>
                    <a:bodyPr/>
                    <a:lstStyle/>
                    <a:p>
                      <a:r>
                        <a:rPr lang="fr-FR" sz="1200"/>
                        <a:t>Popular science </a:t>
                      </a:r>
                    </a:p>
                  </a:txBody>
                  <a:tcPr marL="27426" marR="27426" marT="13713" marB="13713" anchor="ctr"/>
                </a:tc>
                <a:tc>
                  <a:txBody>
                    <a:bodyPr/>
                    <a:lstStyle/>
                    <a:p>
                      <a:r>
                        <a:rPr lang="fr-FR" sz="1200"/>
                        <a:t>2 </a:t>
                      </a:r>
                    </a:p>
                  </a:txBody>
                  <a:tcPr marL="27426" marR="27426" marT="13713" marB="13713" anchor="ctr"/>
                </a:tc>
                <a:extLst>
                  <a:ext uri="{0D108BD9-81ED-4DB2-BD59-A6C34878D82A}">
                    <a16:rowId xmlns:a16="http://schemas.microsoft.com/office/drawing/2014/main" val="3430316993"/>
                  </a:ext>
                </a:extLst>
              </a:tr>
              <a:tr h="322137">
                <a:tc>
                  <a:txBody>
                    <a:bodyPr/>
                    <a:lstStyle/>
                    <a:p>
                      <a:r>
                        <a:rPr lang="fr-FR" sz="1200" err="1"/>
                        <a:t>Relational</a:t>
                      </a:r>
                      <a:r>
                        <a:rPr lang="fr-FR" sz="1200"/>
                        <a:t> Model</a:t>
                      </a:r>
                    </a:p>
                  </a:txBody>
                  <a:tcPr marL="27426" marR="27426" marT="13713" marB="13713" anchor="ctr"/>
                </a:tc>
                <a:tc>
                  <a:txBody>
                    <a:bodyPr/>
                    <a:lstStyle/>
                    <a:p>
                      <a:r>
                        <a:rPr lang="fr-FR" sz="1200"/>
                        <a:t>Paperback </a:t>
                      </a:r>
                    </a:p>
                  </a:txBody>
                  <a:tcPr marL="27426" marR="27426" marT="13713" marB="13713" anchor="ctr"/>
                </a:tc>
                <a:tc>
                  <a:txBody>
                    <a:bodyPr/>
                    <a:lstStyle/>
                    <a:p>
                      <a:r>
                        <a:rPr lang="fr-FR" sz="1200"/>
                        <a:t>E.F.Codd </a:t>
                      </a:r>
                    </a:p>
                  </a:txBody>
                  <a:tcPr marL="27426" marR="27426" marT="13713" marB="13713" anchor="ctr"/>
                </a:tc>
                <a:tc>
                  <a:txBody>
                    <a:bodyPr/>
                    <a:lstStyle/>
                    <a:p>
                      <a:r>
                        <a:rPr lang="fr-FR" sz="1200"/>
                        <a:t>British </a:t>
                      </a:r>
                    </a:p>
                  </a:txBody>
                  <a:tcPr marL="27426" marR="27426" marT="13713" marB="13713" anchor="ctr"/>
                </a:tc>
                <a:tc>
                  <a:txBody>
                    <a:bodyPr/>
                    <a:lstStyle/>
                    <a:p>
                      <a:r>
                        <a:rPr lang="fr-FR" sz="1200"/>
                        <a:t>39.99 </a:t>
                      </a:r>
                    </a:p>
                  </a:txBody>
                  <a:tcPr marL="27426" marR="27426" marT="13713" marB="13713" anchor="ctr"/>
                </a:tc>
                <a:tc>
                  <a:txBody>
                    <a:bodyPr/>
                    <a:lstStyle/>
                    <a:p>
                      <a:r>
                        <a:rPr lang="fr-FR" sz="1200"/>
                        <a:t>538 </a:t>
                      </a:r>
                    </a:p>
                  </a:txBody>
                  <a:tcPr marL="27426" marR="27426" marT="13713" marB="13713" anchor="ctr"/>
                </a:tc>
                <a:tc>
                  <a:txBody>
                    <a:bodyPr/>
                    <a:lstStyle/>
                    <a:p>
                      <a:r>
                        <a:rPr lang="fr-FR" sz="1200"/>
                        <a:t>Thick </a:t>
                      </a:r>
                    </a:p>
                  </a:txBody>
                  <a:tcPr marL="27426" marR="27426" marT="13713" marB="13713" anchor="ctr"/>
                </a:tc>
                <a:tc>
                  <a:txBody>
                    <a:bodyPr/>
                    <a:lstStyle/>
                    <a:p>
                      <a:r>
                        <a:rPr lang="fr-FR" sz="1200"/>
                        <a:t>2 </a:t>
                      </a:r>
                    </a:p>
                  </a:txBody>
                  <a:tcPr marL="27426" marR="27426" marT="13713" marB="13713" anchor="ctr"/>
                </a:tc>
                <a:tc>
                  <a:txBody>
                    <a:bodyPr/>
                    <a:lstStyle/>
                    <a:p>
                      <a:r>
                        <a:rPr lang="fr-FR" sz="1200"/>
                        <a:t>Popular science </a:t>
                      </a:r>
                    </a:p>
                  </a:txBody>
                  <a:tcPr marL="27426" marR="27426" marT="13713" marB="13713" anchor="ctr"/>
                </a:tc>
                <a:tc>
                  <a:txBody>
                    <a:bodyPr/>
                    <a:lstStyle/>
                    <a:p>
                      <a:r>
                        <a:rPr lang="fr-FR" sz="1200"/>
                        <a:t>2</a:t>
                      </a:r>
                    </a:p>
                  </a:txBody>
                  <a:tcPr marL="27426" marR="27426" marT="13713" marB="13713" anchor="ctr"/>
                </a:tc>
                <a:extLst>
                  <a:ext uri="{0D108BD9-81ED-4DB2-BD59-A6C34878D82A}">
                    <a16:rowId xmlns:a16="http://schemas.microsoft.com/office/drawing/2014/main" val="186110813"/>
                  </a:ext>
                </a:extLst>
              </a:tr>
            </a:tbl>
          </a:graphicData>
        </a:graphic>
      </p:graphicFrame>
      <p:sp>
        <p:nvSpPr>
          <p:cNvPr id="8" name="Espace réservé du contenu 2">
            <a:extLst>
              <a:ext uri="{FF2B5EF4-FFF2-40B4-BE49-F238E27FC236}">
                <a16:creationId xmlns:a16="http://schemas.microsoft.com/office/drawing/2014/main" id="{83AB5530-8FAD-42F3-AF32-B6238588DBD9}"/>
              </a:ext>
            </a:extLst>
          </p:cNvPr>
          <p:cNvSpPr txBox="1">
            <a:spLocks/>
          </p:cNvSpPr>
          <p:nvPr/>
        </p:nvSpPr>
        <p:spPr>
          <a:xfrm>
            <a:off x="810000" y="4835569"/>
            <a:ext cx="10554574" cy="1707843"/>
          </a:xfrm>
          <a:prstGeom prst="rect">
            <a:avLst/>
          </a:prstGeom>
          <a:effectLst>
            <a:outerShdw blurRad="50800" dir="14400000">
              <a:srgbClr val="000000">
                <a:alpha val="40000"/>
              </a:srgbClr>
            </a:outerShdw>
          </a:effectLst>
        </p:spPr>
        <p:txBody>
          <a:bodyPr vert="horz" lIns="91440" tIns="45720" rIns="91440" bIns="45720" rtlCol="0" anchor="t">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fr-FR" dirty="0"/>
              <a:t>La clé primaire est composée de </a:t>
            </a:r>
            <a:r>
              <a:rPr lang="fr-FR" b="1" dirty="0" err="1"/>
              <a:t>Title</a:t>
            </a:r>
            <a:r>
              <a:rPr lang="fr-FR" dirty="0"/>
              <a:t> et </a:t>
            </a:r>
            <a:r>
              <a:rPr lang="fr-FR" b="1" dirty="0"/>
              <a:t>Format, </a:t>
            </a:r>
            <a:r>
              <a:rPr lang="fr-FR" dirty="0"/>
              <a:t>tous les champs dépendent de </a:t>
            </a:r>
            <a:r>
              <a:rPr lang="fr-FR" dirty="0" err="1"/>
              <a:t>Title</a:t>
            </a:r>
            <a:r>
              <a:rPr lang="fr-FR" dirty="0"/>
              <a:t>, mais seul Price dépend aussi de Format</a:t>
            </a:r>
          </a:p>
          <a:p>
            <a:r>
              <a:rPr lang="fr-FR" dirty="0"/>
              <a:t>Chaque attribut doit dépendre de toute la clé primaire (2NF)</a:t>
            </a:r>
          </a:p>
          <a:p>
            <a:r>
              <a:rPr lang="fr-FR" dirty="0"/>
              <a:t>Normalisation : définir </a:t>
            </a:r>
            <a:r>
              <a:rPr lang="fr-FR" dirty="0" err="1"/>
              <a:t>Title</a:t>
            </a:r>
            <a:r>
              <a:rPr lang="fr-FR" dirty="0"/>
              <a:t> comme clé primaire (au lieu de {</a:t>
            </a:r>
            <a:r>
              <a:rPr lang="fr-FR" dirty="0" err="1"/>
              <a:t>Title</a:t>
            </a:r>
            <a:r>
              <a:rPr lang="fr-FR" dirty="0"/>
              <a:t>, Format}) et déplacer Price qui dépend de </a:t>
            </a:r>
            <a:r>
              <a:rPr lang="fr-FR" dirty="0" err="1"/>
              <a:t>Title</a:t>
            </a:r>
            <a:r>
              <a:rPr lang="fr-FR" dirty="0"/>
              <a:t> et de Format dans une autre table</a:t>
            </a:r>
          </a:p>
          <a:p>
            <a:endParaRPr lang="fr-FR" dirty="0"/>
          </a:p>
        </p:txBody>
      </p:sp>
    </p:spTree>
    <p:extLst>
      <p:ext uri="{BB962C8B-B14F-4D97-AF65-F5344CB8AC3E}">
        <p14:creationId xmlns:p14="http://schemas.microsoft.com/office/powerpoint/2010/main" val="2268720684"/>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ECE52D-1033-4501-8F9F-1229EE87F3F6}"/>
              </a:ext>
            </a:extLst>
          </p:cNvPr>
          <p:cNvSpPr>
            <a:spLocks noGrp="1"/>
          </p:cNvSpPr>
          <p:nvPr>
            <p:ph type="title"/>
          </p:nvPr>
        </p:nvSpPr>
        <p:spPr/>
        <p:txBody>
          <a:bodyPr/>
          <a:lstStyle/>
          <a:p>
            <a:r>
              <a:rPr lang="fr-FR"/>
              <a:t>Exemple de normalisation</a:t>
            </a:r>
          </a:p>
        </p:txBody>
      </p:sp>
      <p:sp>
        <p:nvSpPr>
          <p:cNvPr id="3" name="Espace réservé du contenu 2">
            <a:extLst>
              <a:ext uri="{FF2B5EF4-FFF2-40B4-BE49-F238E27FC236}">
                <a16:creationId xmlns:a16="http://schemas.microsoft.com/office/drawing/2014/main" id="{D455CABB-CC79-4153-83BD-8C4EF0BDF458}"/>
              </a:ext>
            </a:extLst>
          </p:cNvPr>
          <p:cNvSpPr>
            <a:spLocks noGrp="1"/>
          </p:cNvSpPr>
          <p:nvPr>
            <p:ph idx="1"/>
          </p:nvPr>
        </p:nvSpPr>
        <p:spPr>
          <a:xfrm>
            <a:off x="818712" y="2222287"/>
            <a:ext cx="10554574" cy="437023"/>
          </a:xfrm>
        </p:spPr>
        <p:txBody>
          <a:bodyPr anchor="t">
            <a:normAutofit/>
          </a:bodyPr>
          <a:lstStyle/>
          <a:p>
            <a:r>
              <a:rPr lang="fr-FR"/>
              <a:t>Deuxième forme normale :</a:t>
            </a:r>
          </a:p>
          <a:p>
            <a:endParaRPr lang="fr-FR"/>
          </a:p>
        </p:txBody>
      </p:sp>
      <p:sp>
        <p:nvSpPr>
          <p:cNvPr id="9" name="Espace réservé du numéro de diapositive 8">
            <a:extLst>
              <a:ext uri="{FF2B5EF4-FFF2-40B4-BE49-F238E27FC236}">
                <a16:creationId xmlns:a16="http://schemas.microsoft.com/office/drawing/2014/main" id="{CE42FF24-DA07-4960-996C-C1F418293BAF}"/>
              </a:ext>
            </a:extLst>
          </p:cNvPr>
          <p:cNvSpPr>
            <a:spLocks noGrp="1"/>
          </p:cNvSpPr>
          <p:nvPr>
            <p:ph type="sldNum" sz="quarter" idx="12"/>
          </p:nvPr>
        </p:nvSpPr>
        <p:spPr/>
        <p:txBody>
          <a:bodyPr/>
          <a:lstStyle/>
          <a:p>
            <a:fld id="{27C6CCC6-2BE5-4E42-96A4-D1E8E81A3D8E}" type="slidenum">
              <a:rPr lang="de-DE" smtClean="0"/>
              <a:t>194</a:t>
            </a:fld>
            <a:endParaRPr lang="de-DE"/>
          </a:p>
        </p:txBody>
      </p:sp>
      <p:sp>
        <p:nvSpPr>
          <p:cNvPr id="8" name="Espace réservé du contenu 2">
            <a:extLst>
              <a:ext uri="{FF2B5EF4-FFF2-40B4-BE49-F238E27FC236}">
                <a16:creationId xmlns:a16="http://schemas.microsoft.com/office/drawing/2014/main" id="{83AB5530-8FAD-42F3-AF32-B6238588DBD9}"/>
              </a:ext>
            </a:extLst>
          </p:cNvPr>
          <p:cNvSpPr txBox="1">
            <a:spLocks/>
          </p:cNvSpPr>
          <p:nvPr/>
        </p:nvSpPr>
        <p:spPr>
          <a:xfrm>
            <a:off x="810000" y="4835569"/>
            <a:ext cx="10554574" cy="1707843"/>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None/>
            </a:pPr>
            <a:endParaRPr lang="fr-FR"/>
          </a:p>
        </p:txBody>
      </p:sp>
      <p:graphicFrame>
        <p:nvGraphicFramePr>
          <p:cNvPr id="4" name="Tableau 3">
            <a:extLst>
              <a:ext uri="{FF2B5EF4-FFF2-40B4-BE49-F238E27FC236}">
                <a16:creationId xmlns:a16="http://schemas.microsoft.com/office/drawing/2014/main" id="{00D7CA7F-EFC6-4165-8C49-2439D2D47496}"/>
              </a:ext>
            </a:extLst>
          </p:cNvPr>
          <p:cNvGraphicFramePr>
            <a:graphicFrameLocks noGrp="1"/>
          </p:cNvGraphicFramePr>
          <p:nvPr>
            <p:extLst>
              <p:ext uri="{D42A27DB-BD31-4B8C-83A1-F6EECF244321}">
                <p14:modId xmlns:p14="http://schemas.microsoft.com/office/powerpoint/2010/main" val="1738500590"/>
              </p:ext>
            </p:extLst>
          </p:nvPr>
        </p:nvGraphicFramePr>
        <p:xfrm>
          <a:off x="667012" y="2798393"/>
          <a:ext cx="7861968" cy="1591008"/>
        </p:xfrm>
        <a:graphic>
          <a:graphicData uri="http://schemas.openxmlformats.org/drawingml/2006/table">
            <a:tbl>
              <a:tblPr firstRow="1" bandRow="1">
                <a:tableStyleId>{5C22544A-7EE6-4342-B048-85BDC9FD1C3A}</a:tableStyleId>
              </a:tblPr>
              <a:tblGrid>
                <a:gridCol w="982746">
                  <a:extLst>
                    <a:ext uri="{9D8B030D-6E8A-4147-A177-3AD203B41FA5}">
                      <a16:colId xmlns:a16="http://schemas.microsoft.com/office/drawing/2014/main" val="1901012456"/>
                    </a:ext>
                  </a:extLst>
                </a:gridCol>
                <a:gridCol w="982746">
                  <a:extLst>
                    <a:ext uri="{9D8B030D-6E8A-4147-A177-3AD203B41FA5}">
                      <a16:colId xmlns:a16="http://schemas.microsoft.com/office/drawing/2014/main" val="625035015"/>
                    </a:ext>
                  </a:extLst>
                </a:gridCol>
                <a:gridCol w="982746">
                  <a:extLst>
                    <a:ext uri="{9D8B030D-6E8A-4147-A177-3AD203B41FA5}">
                      <a16:colId xmlns:a16="http://schemas.microsoft.com/office/drawing/2014/main" val="2755541377"/>
                    </a:ext>
                  </a:extLst>
                </a:gridCol>
                <a:gridCol w="982746">
                  <a:extLst>
                    <a:ext uri="{9D8B030D-6E8A-4147-A177-3AD203B41FA5}">
                      <a16:colId xmlns:a16="http://schemas.microsoft.com/office/drawing/2014/main" val="1724681182"/>
                    </a:ext>
                  </a:extLst>
                </a:gridCol>
                <a:gridCol w="982746">
                  <a:extLst>
                    <a:ext uri="{9D8B030D-6E8A-4147-A177-3AD203B41FA5}">
                      <a16:colId xmlns:a16="http://schemas.microsoft.com/office/drawing/2014/main" val="1338887439"/>
                    </a:ext>
                  </a:extLst>
                </a:gridCol>
                <a:gridCol w="982746">
                  <a:extLst>
                    <a:ext uri="{9D8B030D-6E8A-4147-A177-3AD203B41FA5}">
                      <a16:colId xmlns:a16="http://schemas.microsoft.com/office/drawing/2014/main" val="1154039885"/>
                    </a:ext>
                  </a:extLst>
                </a:gridCol>
                <a:gridCol w="982746">
                  <a:extLst>
                    <a:ext uri="{9D8B030D-6E8A-4147-A177-3AD203B41FA5}">
                      <a16:colId xmlns:a16="http://schemas.microsoft.com/office/drawing/2014/main" val="827136186"/>
                    </a:ext>
                  </a:extLst>
                </a:gridCol>
                <a:gridCol w="982746">
                  <a:extLst>
                    <a:ext uri="{9D8B030D-6E8A-4147-A177-3AD203B41FA5}">
                      <a16:colId xmlns:a16="http://schemas.microsoft.com/office/drawing/2014/main" val="157135340"/>
                    </a:ext>
                  </a:extLst>
                </a:gridCol>
              </a:tblGrid>
              <a:tr h="362435">
                <a:tc>
                  <a:txBody>
                    <a:bodyPr/>
                    <a:lstStyle/>
                    <a:p>
                      <a:r>
                        <a:rPr lang="fr-FR" sz="1300" u="sng"/>
                        <a:t>Title</a:t>
                      </a:r>
                      <a:r>
                        <a:rPr lang="fr-FR" sz="1300"/>
                        <a:t> </a:t>
                      </a:r>
                    </a:p>
                  </a:txBody>
                  <a:tcPr marL="68057" marR="68057" marT="34028" marB="34028" anchor="ctr"/>
                </a:tc>
                <a:tc>
                  <a:txBody>
                    <a:bodyPr/>
                    <a:lstStyle/>
                    <a:p>
                      <a:r>
                        <a:rPr lang="fr-FR" sz="1300"/>
                        <a:t>Author </a:t>
                      </a:r>
                    </a:p>
                  </a:txBody>
                  <a:tcPr marL="68057" marR="68057" marT="34028" marB="34028" anchor="ctr"/>
                </a:tc>
                <a:tc>
                  <a:txBody>
                    <a:bodyPr/>
                    <a:lstStyle/>
                    <a:p>
                      <a:r>
                        <a:rPr lang="fr-FR" sz="1300"/>
                        <a:t>Author </a:t>
                      </a:r>
                      <a:r>
                        <a:rPr lang="fr-FR" sz="1300" err="1"/>
                        <a:t>Nationality</a:t>
                      </a:r>
                      <a:r>
                        <a:rPr lang="fr-FR" sz="1300"/>
                        <a:t> </a:t>
                      </a:r>
                    </a:p>
                  </a:txBody>
                  <a:tcPr marL="68057" marR="68057" marT="34028" marB="34028" anchor="ctr"/>
                </a:tc>
                <a:tc>
                  <a:txBody>
                    <a:bodyPr/>
                    <a:lstStyle/>
                    <a:p>
                      <a:r>
                        <a:rPr lang="fr-FR" sz="1300"/>
                        <a:t>Pages </a:t>
                      </a:r>
                    </a:p>
                  </a:txBody>
                  <a:tcPr marL="68057" marR="68057" marT="34028" marB="34028" anchor="ctr"/>
                </a:tc>
                <a:tc>
                  <a:txBody>
                    <a:bodyPr/>
                    <a:lstStyle/>
                    <a:p>
                      <a:r>
                        <a:rPr lang="fr-FR" sz="1300"/>
                        <a:t>Thickness </a:t>
                      </a:r>
                    </a:p>
                  </a:txBody>
                  <a:tcPr marL="68057" marR="68057" marT="34028" marB="34028" anchor="ctr"/>
                </a:tc>
                <a:tc>
                  <a:txBody>
                    <a:bodyPr/>
                    <a:lstStyle/>
                    <a:p>
                      <a:r>
                        <a:rPr lang="fr-FR" sz="1300"/>
                        <a:t>Genre ID </a:t>
                      </a:r>
                    </a:p>
                  </a:txBody>
                  <a:tcPr marL="68057" marR="68057" marT="34028" marB="34028" anchor="ctr"/>
                </a:tc>
                <a:tc>
                  <a:txBody>
                    <a:bodyPr/>
                    <a:lstStyle/>
                    <a:p>
                      <a:r>
                        <a:rPr lang="fr-FR" sz="1300"/>
                        <a:t>Genre Name </a:t>
                      </a:r>
                    </a:p>
                  </a:txBody>
                  <a:tcPr marL="68057" marR="68057" marT="34028" marB="34028" anchor="ctr"/>
                </a:tc>
                <a:tc>
                  <a:txBody>
                    <a:bodyPr/>
                    <a:lstStyle/>
                    <a:p>
                      <a:r>
                        <a:rPr lang="fr-FR" sz="1300"/>
                        <a:t>Publisher ID </a:t>
                      </a:r>
                    </a:p>
                  </a:txBody>
                  <a:tcPr marL="68057" marR="68057" marT="34028" marB="34028" anchor="ctr"/>
                </a:tc>
                <a:extLst>
                  <a:ext uri="{0D108BD9-81ED-4DB2-BD59-A6C34878D82A}">
                    <a16:rowId xmlns:a16="http://schemas.microsoft.com/office/drawing/2014/main" val="714109620"/>
                  </a:ext>
                </a:extLst>
              </a:tr>
              <a:tr h="362435">
                <a:tc>
                  <a:txBody>
                    <a:bodyPr/>
                    <a:lstStyle/>
                    <a:p>
                      <a:r>
                        <a:rPr lang="en-US" sz="1300"/>
                        <a:t>Beginning Database</a:t>
                      </a:r>
                    </a:p>
                  </a:txBody>
                  <a:tcPr marL="68057" marR="68057" marT="34028" marB="34028" anchor="ctr"/>
                </a:tc>
                <a:tc>
                  <a:txBody>
                    <a:bodyPr/>
                    <a:lstStyle/>
                    <a:p>
                      <a:r>
                        <a:rPr lang="fr-FR" sz="1300"/>
                        <a:t>Chad Russell </a:t>
                      </a:r>
                    </a:p>
                  </a:txBody>
                  <a:tcPr marL="68057" marR="68057" marT="34028" marB="34028" anchor="ctr"/>
                </a:tc>
                <a:tc>
                  <a:txBody>
                    <a:bodyPr/>
                    <a:lstStyle/>
                    <a:p>
                      <a:r>
                        <a:rPr lang="fr-FR" sz="1300"/>
                        <a:t>American </a:t>
                      </a:r>
                    </a:p>
                  </a:txBody>
                  <a:tcPr marL="68057" marR="68057" marT="34028" marB="34028" anchor="ctr"/>
                </a:tc>
                <a:tc>
                  <a:txBody>
                    <a:bodyPr/>
                    <a:lstStyle/>
                    <a:p>
                      <a:r>
                        <a:rPr lang="fr-FR" sz="1300"/>
                        <a:t>520 </a:t>
                      </a:r>
                    </a:p>
                  </a:txBody>
                  <a:tcPr marL="68057" marR="68057" marT="34028" marB="34028" anchor="ctr"/>
                </a:tc>
                <a:tc>
                  <a:txBody>
                    <a:bodyPr/>
                    <a:lstStyle/>
                    <a:p>
                      <a:r>
                        <a:rPr lang="fr-FR" sz="1300"/>
                        <a:t>Thick </a:t>
                      </a:r>
                    </a:p>
                  </a:txBody>
                  <a:tcPr marL="68057" marR="68057" marT="34028" marB="34028" anchor="ctr"/>
                </a:tc>
                <a:tc>
                  <a:txBody>
                    <a:bodyPr/>
                    <a:lstStyle/>
                    <a:p>
                      <a:r>
                        <a:rPr lang="fr-FR" sz="1300"/>
                        <a:t>1 </a:t>
                      </a:r>
                    </a:p>
                  </a:txBody>
                  <a:tcPr marL="68057" marR="68057" marT="34028" marB="34028" anchor="ctr"/>
                </a:tc>
                <a:tc>
                  <a:txBody>
                    <a:bodyPr/>
                    <a:lstStyle/>
                    <a:p>
                      <a:r>
                        <a:rPr lang="fr-FR" sz="1300"/>
                        <a:t>Tutorial </a:t>
                      </a:r>
                    </a:p>
                  </a:txBody>
                  <a:tcPr marL="68057" marR="68057" marT="34028" marB="34028" anchor="ctr"/>
                </a:tc>
                <a:tc>
                  <a:txBody>
                    <a:bodyPr/>
                    <a:lstStyle/>
                    <a:p>
                      <a:r>
                        <a:rPr lang="fr-FR" sz="1300"/>
                        <a:t>1 </a:t>
                      </a:r>
                    </a:p>
                  </a:txBody>
                  <a:tcPr marL="68057" marR="68057" marT="34028" marB="34028" anchor="ctr"/>
                </a:tc>
                <a:extLst>
                  <a:ext uri="{0D108BD9-81ED-4DB2-BD59-A6C34878D82A}">
                    <a16:rowId xmlns:a16="http://schemas.microsoft.com/office/drawing/2014/main" val="463138947"/>
                  </a:ext>
                </a:extLst>
              </a:tr>
              <a:tr h="362435">
                <a:tc>
                  <a:txBody>
                    <a:bodyPr/>
                    <a:lstStyle/>
                    <a:p>
                      <a:r>
                        <a:rPr lang="fr-FR" sz="1300" err="1"/>
                        <a:t>Relational</a:t>
                      </a:r>
                      <a:r>
                        <a:rPr lang="fr-FR" sz="1300"/>
                        <a:t> Model</a:t>
                      </a:r>
                    </a:p>
                  </a:txBody>
                  <a:tcPr marL="68057" marR="68057" marT="34028" marB="34028" anchor="ctr"/>
                </a:tc>
                <a:tc>
                  <a:txBody>
                    <a:bodyPr/>
                    <a:lstStyle/>
                    <a:p>
                      <a:r>
                        <a:rPr lang="fr-FR" sz="1300"/>
                        <a:t>E.F.Codd </a:t>
                      </a:r>
                    </a:p>
                  </a:txBody>
                  <a:tcPr marL="68057" marR="68057" marT="34028" marB="34028" anchor="ctr"/>
                </a:tc>
                <a:tc>
                  <a:txBody>
                    <a:bodyPr/>
                    <a:lstStyle/>
                    <a:p>
                      <a:r>
                        <a:rPr lang="fr-FR" sz="1300"/>
                        <a:t>British </a:t>
                      </a:r>
                    </a:p>
                  </a:txBody>
                  <a:tcPr marL="68057" marR="68057" marT="34028" marB="34028" anchor="ctr"/>
                </a:tc>
                <a:tc>
                  <a:txBody>
                    <a:bodyPr/>
                    <a:lstStyle/>
                    <a:p>
                      <a:r>
                        <a:rPr lang="fr-FR" sz="1300"/>
                        <a:t>538 </a:t>
                      </a:r>
                    </a:p>
                  </a:txBody>
                  <a:tcPr marL="68057" marR="68057" marT="34028" marB="34028" anchor="ctr"/>
                </a:tc>
                <a:tc>
                  <a:txBody>
                    <a:bodyPr/>
                    <a:lstStyle/>
                    <a:p>
                      <a:r>
                        <a:rPr lang="fr-FR" sz="1300"/>
                        <a:t>Thick </a:t>
                      </a:r>
                    </a:p>
                  </a:txBody>
                  <a:tcPr marL="68057" marR="68057" marT="34028" marB="34028" anchor="ctr"/>
                </a:tc>
                <a:tc>
                  <a:txBody>
                    <a:bodyPr/>
                    <a:lstStyle/>
                    <a:p>
                      <a:r>
                        <a:rPr lang="fr-FR" sz="1300"/>
                        <a:t>2 </a:t>
                      </a:r>
                    </a:p>
                  </a:txBody>
                  <a:tcPr marL="68057" marR="68057" marT="34028" marB="34028" anchor="ctr"/>
                </a:tc>
                <a:tc>
                  <a:txBody>
                    <a:bodyPr/>
                    <a:lstStyle/>
                    <a:p>
                      <a:r>
                        <a:rPr lang="fr-FR" sz="1300"/>
                        <a:t>Popular science </a:t>
                      </a:r>
                    </a:p>
                  </a:txBody>
                  <a:tcPr marL="68057" marR="68057" marT="34028" marB="34028" anchor="ctr"/>
                </a:tc>
                <a:tc>
                  <a:txBody>
                    <a:bodyPr/>
                    <a:lstStyle/>
                    <a:p>
                      <a:r>
                        <a:rPr lang="fr-FR" sz="1300"/>
                        <a:t>2</a:t>
                      </a:r>
                    </a:p>
                  </a:txBody>
                  <a:tcPr marL="68057" marR="68057" marT="34028" marB="34028" anchor="ctr"/>
                </a:tc>
                <a:extLst>
                  <a:ext uri="{0D108BD9-81ED-4DB2-BD59-A6C34878D82A}">
                    <a16:rowId xmlns:a16="http://schemas.microsoft.com/office/drawing/2014/main" val="3234629939"/>
                  </a:ext>
                </a:extLst>
              </a:tr>
            </a:tbl>
          </a:graphicData>
        </a:graphic>
      </p:graphicFrame>
      <p:graphicFrame>
        <p:nvGraphicFramePr>
          <p:cNvPr id="5" name="Tableau 4">
            <a:extLst>
              <a:ext uri="{FF2B5EF4-FFF2-40B4-BE49-F238E27FC236}">
                <a16:creationId xmlns:a16="http://schemas.microsoft.com/office/drawing/2014/main" id="{3513FCE8-68F6-44C9-8614-C6E66C6CC020}"/>
              </a:ext>
            </a:extLst>
          </p:cNvPr>
          <p:cNvGraphicFramePr>
            <a:graphicFrameLocks noGrp="1"/>
          </p:cNvGraphicFramePr>
          <p:nvPr>
            <p:extLst>
              <p:ext uri="{D42A27DB-BD31-4B8C-83A1-F6EECF244321}">
                <p14:modId xmlns:p14="http://schemas.microsoft.com/office/powerpoint/2010/main" val="4118213285"/>
              </p:ext>
            </p:extLst>
          </p:nvPr>
        </p:nvGraphicFramePr>
        <p:xfrm>
          <a:off x="6096000" y="4753448"/>
          <a:ext cx="5276853" cy="1395335"/>
        </p:xfrm>
        <a:graphic>
          <a:graphicData uri="http://schemas.openxmlformats.org/drawingml/2006/table">
            <a:tbl>
              <a:tblPr firstRow="1" bandRow="1">
                <a:tableStyleId>{5C22544A-7EE6-4342-B048-85BDC9FD1C3A}</a:tableStyleId>
              </a:tblPr>
              <a:tblGrid>
                <a:gridCol w="1758951">
                  <a:extLst>
                    <a:ext uri="{9D8B030D-6E8A-4147-A177-3AD203B41FA5}">
                      <a16:colId xmlns:a16="http://schemas.microsoft.com/office/drawing/2014/main" val="4285793821"/>
                    </a:ext>
                  </a:extLst>
                </a:gridCol>
                <a:gridCol w="1758951">
                  <a:extLst>
                    <a:ext uri="{9D8B030D-6E8A-4147-A177-3AD203B41FA5}">
                      <a16:colId xmlns:a16="http://schemas.microsoft.com/office/drawing/2014/main" val="2871408840"/>
                    </a:ext>
                  </a:extLst>
                </a:gridCol>
                <a:gridCol w="1758951">
                  <a:extLst>
                    <a:ext uri="{9D8B030D-6E8A-4147-A177-3AD203B41FA5}">
                      <a16:colId xmlns:a16="http://schemas.microsoft.com/office/drawing/2014/main" val="1548752705"/>
                    </a:ext>
                  </a:extLst>
                </a:gridCol>
              </a:tblGrid>
              <a:tr h="279067">
                <a:tc>
                  <a:txBody>
                    <a:bodyPr/>
                    <a:lstStyle/>
                    <a:p>
                      <a:r>
                        <a:rPr lang="fr-FR" sz="1200" u="sng" err="1"/>
                        <a:t>Title</a:t>
                      </a:r>
                      <a:r>
                        <a:rPr lang="fr-FR" sz="1200"/>
                        <a:t> </a:t>
                      </a:r>
                    </a:p>
                  </a:txBody>
                  <a:tcPr anchor="ctr"/>
                </a:tc>
                <a:tc>
                  <a:txBody>
                    <a:bodyPr/>
                    <a:lstStyle/>
                    <a:p>
                      <a:r>
                        <a:rPr lang="fr-FR" sz="1200" u="sng"/>
                        <a:t>Format</a:t>
                      </a:r>
                      <a:r>
                        <a:rPr lang="fr-FR" sz="1200"/>
                        <a:t> </a:t>
                      </a:r>
                    </a:p>
                  </a:txBody>
                  <a:tcPr anchor="ctr"/>
                </a:tc>
                <a:tc>
                  <a:txBody>
                    <a:bodyPr/>
                    <a:lstStyle/>
                    <a:p>
                      <a:r>
                        <a:rPr lang="fr-FR" sz="1200"/>
                        <a:t>Price </a:t>
                      </a:r>
                    </a:p>
                  </a:txBody>
                  <a:tcPr anchor="ctr"/>
                </a:tc>
                <a:extLst>
                  <a:ext uri="{0D108BD9-81ED-4DB2-BD59-A6C34878D82A}">
                    <a16:rowId xmlns:a16="http://schemas.microsoft.com/office/drawing/2014/main" val="735359104"/>
                  </a:ext>
                </a:extLst>
              </a:tr>
              <a:tr h="279067">
                <a:tc>
                  <a:txBody>
                    <a:bodyPr/>
                    <a:lstStyle/>
                    <a:p>
                      <a:r>
                        <a:rPr lang="en-US" sz="1200"/>
                        <a:t>Beginning Database</a:t>
                      </a:r>
                    </a:p>
                  </a:txBody>
                  <a:tcPr anchor="ctr"/>
                </a:tc>
                <a:tc>
                  <a:txBody>
                    <a:bodyPr/>
                    <a:lstStyle/>
                    <a:p>
                      <a:r>
                        <a:rPr lang="fr-FR" sz="1200"/>
                        <a:t>Hardcover </a:t>
                      </a:r>
                    </a:p>
                  </a:txBody>
                  <a:tcPr anchor="ctr"/>
                </a:tc>
                <a:tc>
                  <a:txBody>
                    <a:bodyPr/>
                    <a:lstStyle/>
                    <a:p>
                      <a:r>
                        <a:rPr lang="fr-FR" sz="1200"/>
                        <a:t>49.99 </a:t>
                      </a:r>
                    </a:p>
                  </a:txBody>
                  <a:tcPr anchor="ctr"/>
                </a:tc>
                <a:extLst>
                  <a:ext uri="{0D108BD9-81ED-4DB2-BD59-A6C34878D82A}">
                    <a16:rowId xmlns:a16="http://schemas.microsoft.com/office/drawing/2014/main" val="3623529994"/>
                  </a:ext>
                </a:extLst>
              </a:tr>
              <a:tr h="279067">
                <a:tc>
                  <a:txBody>
                    <a:bodyPr/>
                    <a:lstStyle/>
                    <a:p>
                      <a:r>
                        <a:rPr lang="en-US" sz="1200"/>
                        <a:t>Beginning Database</a:t>
                      </a:r>
                    </a:p>
                  </a:txBody>
                  <a:tcPr anchor="ctr"/>
                </a:tc>
                <a:tc>
                  <a:txBody>
                    <a:bodyPr/>
                    <a:lstStyle/>
                    <a:p>
                      <a:r>
                        <a:rPr lang="fr-FR" sz="1200"/>
                        <a:t>E-book </a:t>
                      </a:r>
                    </a:p>
                  </a:txBody>
                  <a:tcPr anchor="ctr"/>
                </a:tc>
                <a:tc>
                  <a:txBody>
                    <a:bodyPr/>
                    <a:lstStyle/>
                    <a:p>
                      <a:r>
                        <a:rPr lang="fr-FR" sz="1200"/>
                        <a:t>22.34 </a:t>
                      </a:r>
                    </a:p>
                  </a:txBody>
                  <a:tcPr anchor="ctr"/>
                </a:tc>
                <a:extLst>
                  <a:ext uri="{0D108BD9-81ED-4DB2-BD59-A6C34878D82A}">
                    <a16:rowId xmlns:a16="http://schemas.microsoft.com/office/drawing/2014/main" val="4207345255"/>
                  </a:ext>
                </a:extLst>
              </a:tr>
              <a:tr h="279067">
                <a:tc>
                  <a:txBody>
                    <a:bodyPr/>
                    <a:lstStyle/>
                    <a:p>
                      <a:r>
                        <a:rPr lang="fr-FR" sz="1200" err="1"/>
                        <a:t>Relational</a:t>
                      </a:r>
                      <a:r>
                        <a:rPr lang="fr-FR" sz="1200"/>
                        <a:t> Model</a:t>
                      </a:r>
                    </a:p>
                  </a:txBody>
                  <a:tcPr anchor="ctr"/>
                </a:tc>
                <a:tc>
                  <a:txBody>
                    <a:bodyPr/>
                    <a:lstStyle/>
                    <a:p>
                      <a:r>
                        <a:rPr lang="fr-FR" sz="1200"/>
                        <a:t>E-book </a:t>
                      </a:r>
                    </a:p>
                  </a:txBody>
                  <a:tcPr anchor="ctr"/>
                </a:tc>
                <a:tc>
                  <a:txBody>
                    <a:bodyPr/>
                    <a:lstStyle/>
                    <a:p>
                      <a:r>
                        <a:rPr lang="fr-FR" sz="1200"/>
                        <a:t>13.88 </a:t>
                      </a:r>
                    </a:p>
                  </a:txBody>
                  <a:tcPr anchor="ctr"/>
                </a:tc>
                <a:extLst>
                  <a:ext uri="{0D108BD9-81ED-4DB2-BD59-A6C34878D82A}">
                    <a16:rowId xmlns:a16="http://schemas.microsoft.com/office/drawing/2014/main" val="3957036139"/>
                  </a:ext>
                </a:extLst>
              </a:tr>
              <a:tr h="279067">
                <a:tc>
                  <a:txBody>
                    <a:bodyPr/>
                    <a:lstStyle/>
                    <a:p>
                      <a:r>
                        <a:rPr lang="fr-FR" sz="1200" err="1"/>
                        <a:t>Relational</a:t>
                      </a:r>
                      <a:r>
                        <a:rPr lang="fr-FR" sz="1200"/>
                        <a:t> Model</a:t>
                      </a:r>
                    </a:p>
                  </a:txBody>
                  <a:tcPr anchor="ctr"/>
                </a:tc>
                <a:tc>
                  <a:txBody>
                    <a:bodyPr/>
                    <a:lstStyle/>
                    <a:p>
                      <a:r>
                        <a:rPr lang="fr-FR" sz="1200" err="1"/>
                        <a:t>Paperback</a:t>
                      </a:r>
                      <a:r>
                        <a:rPr lang="fr-FR" sz="1200"/>
                        <a:t> </a:t>
                      </a:r>
                    </a:p>
                  </a:txBody>
                  <a:tcPr anchor="ctr"/>
                </a:tc>
                <a:tc>
                  <a:txBody>
                    <a:bodyPr/>
                    <a:lstStyle/>
                    <a:p>
                      <a:r>
                        <a:rPr lang="fr-FR" sz="1200"/>
                        <a:t>39.99 </a:t>
                      </a:r>
                    </a:p>
                  </a:txBody>
                  <a:tcPr anchor="ctr"/>
                </a:tc>
                <a:extLst>
                  <a:ext uri="{0D108BD9-81ED-4DB2-BD59-A6C34878D82A}">
                    <a16:rowId xmlns:a16="http://schemas.microsoft.com/office/drawing/2014/main" val="4261051913"/>
                  </a:ext>
                </a:extLst>
              </a:tr>
            </a:tbl>
          </a:graphicData>
        </a:graphic>
      </p:graphicFrame>
    </p:spTree>
    <p:extLst>
      <p:ext uri="{BB962C8B-B14F-4D97-AF65-F5344CB8AC3E}">
        <p14:creationId xmlns:p14="http://schemas.microsoft.com/office/powerpoint/2010/main" val="224955917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ECE52D-1033-4501-8F9F-1229EE87F3F6}"/>
              </a:ext>
            </a:extLst>
          </p:cNvPr>
          <p:cNvSpPr>
            <a:spLocks noGrp="1"/>
          </p:cNvSpPr>
          <p:nvPr>
            <p:ph type="title"/>
          </p:nvPr>
        </p:nvSpPr>
        <p:spPr/>
        <p:txBody>
          <a:bodyPr/>
          <a:lstStyle/>
          <a:p>
            <a:r>
              <a:rPr lang="fr-FR"/>
              <a:t>Exemple de normalisation</a:t>
            </a:r>
          </a:p>
        </p:txBody>
      </p:sp>
      <p:sp>
        <p:nvSpPr>
          <p:cNvPr id="3" name="Espace réservé du contenu 2">
            <a:extLst>
              <a:ext uri="{FF2B5EF4-FFF2-40B4-BE49-F238E27FC236}">
                <a16:creationId xmlns:a16="http://schemas.microsoft.com/office/drawing/2014/main" id="{D455CABB-CC79-4153-83BD-8C4EF0BDF458}"/>
              </a:ext>
            </a:extLst>
          </p:cNvPr>
          <p:cNvSpPr>
            <a:spLocks noGrp="1"/>
          </p:cNvSpPr>
          <p:nvPr>
            <p:ph idx="1"/>
          </p:nvPr>
        </p:nvSpPr>
        <p:spPr>
          <a:xfrm>
            <a:off x="818712" y="2222287"/>
            <a:ext cx="10554574" cy="437023"/>
          </a:xfrm>
        </p:spPr>
        <p:txBody>
          <a:bodyPr anchor="t">
            <a:normAutofit/>
          </a:bodyPr>
          <a:lstStyle/>
          <a:p>
            <a:r>
              <a:rPr lang="fr-FR"/>
              <a:t>Troisième forme normale :</a:t>
            </a:r>
          </a:p>
          <a:p>
            <a:endParaRPr lang="fr-FR"/>
          </a:p>
        </p:txBody>
      </p:sp>
      <p:sp>
        <p:nvSpPr>
          <p:cNvPr id="11" name="Espace réservé du numéro de diapositive 10">
            <a:extLst>
              <a:ext uri="{FF2B5EF4-FFF2-40B4-BE49-F238E27FC236}">
                <a16:creationId xmlns:a16="http://schemas.microsoft.com/office/drawing/2014/main" id="{09BFEB7C-8556-4D1A-8B71-FF5DFABAC30A}"/>
              </a:ext>
            </a:extLst>
          </p:cNvPr>
          <p:cNvSpPr>
            <a:spLocks noGrp="1"/>
          </p:cNvSpPr>
          <p:nvPr>
            <p:ph type="sldNum" sz="quarter" idx="12"/>
          </p:nvPr>
        </p:nvSpPr>
        <p:spPr/>
        <p:txBody>
          <a:bodyPr/>
          <a:lstStyle/>
          <a:p>
            <a:fld id="{27C6CCC6-2BE5-4E42-96A4-D1E8E81A3D8E}" type="slidenum">
              <a:rPr lang="de-DE" smtClean="0"/>
              <a:t>195</a:t>
            </a:fld>
            <a:endParaRPr lang="de-DE"/>
          </a:p>
        </p:txBody>
      </p:sp>
      <p:sp>
        <p:nvSpPr>
          <p:cNvPr id="8" name="Espace réservé du contenu 2">
            <a:extLst>
              <a:ext uri="{FF2B5EF4-FFF2-40B4-BE49-F238E27FC236}">
                <a16:creationId xmlns:a16="http://schemas.microsoft.com/office/drawing/2014/main" id="{83AB5530-8FAD-42F3-AF32-B6238588DBD9}"/>
              </a:ext>
            </a:extLst>
          </p:cNvPr>
          <p:cNvSpPr txBox="1">
            <a:spLocks/>
          </p:cNvSpPr>
          <p:nvPr/>
        </p:nvSpPr>
        <p:spPr>
          <a:xfrm>
            <a:off x="810000" y="4835569"/>
            <a:ext cx="10554574" cy="1707843"/>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None/>
            </a:pPr>
            <a:endParaRPr lang="fr-FR"/>
          </a:p>
        </p:txBody>
      </p:sp>
      <p:graphicFrame>
        <p:nvGraphicFramePr>
          <p:cNvPr id="4" name="Tableau 3">
            <a:extLst>
              <a:ext uri="{FF2B5EF4-FFF2-40B4-BE49-F238E27FC236}">
                <a16:creationId xmlns:a16="http://schemas.microsoft.com/office/drawing/2014/main" id="{00D7CA7F-EFC6-4165-8C49-2439D2D47496}"/>
              </a:ext>
            </a:extLst>
          </p:cNvPr>
          <p:cNvGraphicFramePr>
            <a:graphicFrameLocks noGrp="1"/>
          </p:cNvGraphicFramePr>
          <p:nvPr>
            <p:extLst>
              <p:ext uri="{D42A27DB-BD31-4B8C-83A1-F6EECF244321}">
                <p14:modId xmlns:p14="http://schemas.microsoft.com/office/powerpoint/2010/main" val="3217808041"/>
              </p:ext>
            </p:extLst>
          </p:nvPr>
        </p:nvGraphicFramePr>
        <p:xfrm>
          <a:off x="667012" y="2798393"/>
          <a:ext cx="7861968" cy="1591008"/>
        </p:xfrm>
        <a:graphic>
          <a:graphicData uri="http://schemas.openxmlformats.org/drawingml/2006/table">
            <a:tbl>
              <a:tblPr firstRow="1" bandRow="1">
                <a:tableStyleId>{5C22544A-7EE6-4342-B048-85BDC9FD1C3A}</a:tableStyleId>
              </a:tblPr>
              <a:tblGrid>
                <a:gridCol w="982746">
                  <a:extLst>
                    <a:ext uri="{9D8B030D-6E8A-4147-A177-3AD203B41FA5}">
                      <a16:colId xmlns:a16="http://schemas.microsoft.com/office/drawing/2014/main" val="1901012456"/>
                    </a:ext>
                  </a:extLst>
                </a:gridCol>
                <a:gridCol w="982746">
                  <a:extLst>
                    <a:ext uri="{9D8B030D-6E8A-4147-A177-3AD203B41FA5}">
                      <a16:colId xmlns:a16="http://schemas.microsoft.com/office/drawing/2014/main" val="625035015"/>
                    </a:ext>
                  </a:extLst>
                </a:gridCol>
                <a:gridCol w="982746">
                  <a:extLst>
                    <a:ext uri="{9D8B030D-6E8A-4147-A177-3AD203B41FA5}">
                      <a16:colId xmlns:a16="http://schemas.microsoft.com/office/drawing/2014/main" val="2755541377"/>
                    </a:ext>
                  </a:extLst>
                </a:gridCol>
                <a:gridCol w="982746">
                  <a:extLst>
                    <a:ext uri="{9D8B030D-6E8A-4147-A177-3AD203B41FA5}">
                      <a16:colId xmlns:a16="http://schemas.microsoft.com/office/drawing/2014/main" val="1724681182"/>
                    </a:ext>
                  </a:extLst>
                </a:gridCol>
                <a:gridCol w="982746">
                  <a:extLst>
                    <a:ext uri="{9D8B030D-6E8A-4147-A177-3AD203B41FA5}">
                      <a16:colId xmlns:a16="http://schemas.microsoft.com/office/drawing/2014/main" val="1338887439"/>
                    </a:ext>
                  </a:extLst>
                </a:gridCol>
                <a:gridCol w="982746">
                  <a:extLst>
                    <a:ext uri="{9D8B030D-6E8A-4147-A177-3AD203B41FA5}">
                      <a16:colId xmlns:a16="http://schemas.microsoft.com/office/drawing/2014/main" val="1154039885"/>
                    </a:ext>
                  </a:extLst>
                </a:gridCol>
                <a:gridCol w="982746">
                  <a:extLst>
                    <a:ext uri="{9D8B030D-6E8A-4147-A177-3AD203B41FA5}">
                      <a16:colId xmlns:a16="http://schemas.microsoft.com/office/drawing/2014/main" val="827136186"/>
                    </a:ext>
                  </a:extLst>
                </a:gridCol>
                <a:gridCol w="982746">
                  <a:extLst>
                    <a:ext uri="{9D8B030D-6E8A-4147-A177-3AD203B41FA5}">
                      <a16:colId xmlns:a16="http://schemas.microsoft.com/office/drawing/2014/main" val="157135340"/>
                    </a:ext>
                  </a:extLst>
                </a:gridCol>
              </a:tblGrid>
              <a:tr h="362435">
                <a:tc>
                  <a:txBody>
                    <a:bodyPr/>
                    <a:lstStyle/>
                    <a:p>
                      <a:r>
                        <a:rPr lang="fr-FR" sz="1300" u="sng"/>
                        <a:t>Title</a:t>
                      </a:r>
                      <a:r>
                        <a:rPr lang="fr-FR" sz="1300"/>
                        <a:t> </a:t>
                      </a:r>
                    </a:p>
                  </a:txBody>
                  <a:tcPr marL="68057" marR="68057" marT="34028" marB="34028" anchor="ctr"/>
                </a:tc>
                <a:tc>
                  <a:txBody>
                    <a:bodyPr/>
                    <a:lstStyle/>
                    <a:p>
                      <a:r>
                        <a:rPr lang="fr-FR" sz="1300"/>
                        <a:t>Author </a:t>
                      </a:r>
                    </a:p>
                  </a:txBody>
                  <a:tcPr marL="68057" marR="68057" marT="34028" marB="34028" anchor="ctr"/>
                </a:tc>
                <a:tc>
                  <a:txBody>
                    <a:bodyPr/>
                    <a:lstStyle/>
                    <a:p>
                      <a:r>
                        <a:rPr lang="fr-FR" sz="1300"/>
                        <a:t>Author </a:t>
                      </a:r>
                      <a:r>
                        <a:rPr lang="fr-FR" sz="1300" err="1"/>
                        <a:t>Nationality</a:t>
                      </a:r>
                      <a:r>
                        <a:rPr lang="fr-FR" sz="1300"/>
                        <a:t> </a:t>
                      </a:r>
                    </a:p>
                  </a:txBody>
                  <a:tcPr marL="68057" marR="68057" marT="34028" marB="34028" anchor="ctr"/>
                </a:tc>
                <a:tc>
                  <a:txBody>
                    <a:bodyPr/>
                    <a:lstStyle/>
                    <a:p>
                      <a:r>
                        <a:rPr lang="fr-FR" sz="1300"/>
                        <a:t>Pages </a:t>
                      </a:r>
                    </a:p>
                  </a:txBody>
                  <a:tcPr marL="68057" marR="68057" marT="34028" marB="34028" anchor="ctr"/>
                </a:tc>
                <a:tc>
                  <a:txBody>
                    <a:bodyPr/>
                    <a:lstStyle/>
                    <a:p>
                      <a:r>
                        <a:rPr lang="fr-FR" sz="1300"/>
                        <a:t>Thickness </a:t>
                      </a:r>
                    </a:p>
                  </a:txBody>
                  <a:tcPr marL="68057" marR="68057" marT="34028" marB="34028" anchor="ctr"/>
                </a:tc>
                <a:tc>
                  <a:txBody>
                    <a:bodyPr/>
                    <a:lstStyle/>
                    <a:p>
                      <a:r>
                        <a:rPr lang="fr-FR" sz="1300"/>
                        <a:t>Genre ID </a:t>
                      </a:r>
                    </a:p>
                  </a:txBody>
                  <a:tcPr marL="68057" marR="68057" marT="34028" marB="34028" anchor="ctr">
                    <a:solidFill>
                      <a:schemeClr val="accent6">
                        <a:lumMod val="60000"/>
                        <a:lumOff val="40000"/>
                      </a:schemeClr>
                    </a:solidFill>
                  </a:tcPr>
                </a:tc>
                <a:tc>
                  <a:txBody>
                    <a:bodyPr/>
                    <a:lstStyle/>
                    <a:p>
                      <a:r>
                        <a:rPr lang="fr-FR" sz="1300"/>
                        <a:t>Genre Name </a:t>
                      </a:r>
                    </a:p>
                  </a:txBody>
                  <a:tcPr marL="68057" marR="68057" marT="34028" marB="34028" anchor="ctr">
                    <a:solidFill>
                      <a:schemeClr val="accent6">
                        <a:lumMod val="60000"/>
                        <a:lumOff val="40000"/>
                      </a:schemeClr>
                    </a:solidFill>
                  </a:tcPr>
                </a:tc>
                <a:tc>
                  <a:txBody>
                    <a:bodyPr/>
                    <a:lstStyle/>
                    <a:p>
                      <a:r>
                        <a:rPr lang="fr-FR" sz="1300"/>
                        <a:t>Publisher ID </a:t>
                      </a:r>
                    </a:p>
                  </a:txBody>
                  <a:tcPr marL="68057" marR="68057" marT="34028" marB="34028" anchor="ctr"/>
                </a:tc>
                <a:extLst>
                  <a:ext uri="{0D108BD9-81ED-4DB2-BD59-A6C34878D82A}">
                    <a16:rowId xmlns:a16="http://schemas.microsoft.com/office/drawing/2014/main" val="714109620"/>
                  </a:ext>
                </a:extLst>
              </a:tr>
              <a:tr h="362435">
                <a:tc>
                  <a:txBody>
                    <a:bodyPr/>
                    <a:lstStyle/>
                    <a:p>
                      <a:r>
                        <a:rPr lang="en-US" sz="1300"/>
                        <a:t>Beginning Database</a:t>
                      </a:r>
                    </a:p>
                  </a:txBody>
                  <a:tcPr marL="68057" marR="68057" marT="34028" marB="34028" anchor="ctr"/>
                </a:tc>
                <a:tc>
                  <a:txBody>
                    <a:bodyPr/>
                    <a:lstStyle/>
                    <a:p>
                      <a:r>
                        <a:rPr lang="fr-FR" sz="1300"/>
                        <a:t>Chad Russell </a:t>
                      </a:r>
                    </a:p>
                  </a:txBody>
                  <a:tcPr marL="68057" marR="68057" marT="34028" marB="34028" anchor="ctr"/>
                </a:tc>
                <a:tc>
                  <a:txBody>
                    <a:bodyPr/>
                    <a:lstStyle/>
                    <a:p>
                      <a:r>
                        <a:rPr lang="fr-FR" sz="1300"/>
                        <a:t>American </a:t>
                      </a:r>
                    </a:p>
                  </a:txBody>
                  <a:tcPr marL="68057" marR="68057" marT="34028" marB="34028" anchor="ctr"/>
                </a:tc>
                <a:tc>
                  <a:txBody>
                    <a:bodyPr/>
                    <a:lstStyle/>
                    <a:p>
                      <a:r>
                        <a:rPr lang="fr-FR" sz="1300"/>
                        <a:t>520 </a:t>
                      </a:r>
                    </a:p>
                  </a:txBody>
                  <a:tcPr marL="68057" marR="68057" marT="34028" marB="34028" anchor="ctr"/>
                </a:tc>
                <a:tc>
                  <a:txBody>
                    <a:bodyPr/>
                    <a:lstStyle/>
                    <a:p>
                      <a:r>
                        <a:rPr lang="fr-FR" sz="1300"/>
                        <a:t>Thick </a:t>
                      </a:r>
                    </a:p>
                  </a:txBody>
                  <a:tcPr marL="68057" marR="68057" marT="34028" marB="34028" anchor="ctr"/>
                </a:tc>
                <a:tc>
                  <a:txBody>
                    <a:bodyPr/>
                    <a:lstStyle/>
                    <a:p>
                      <a:r>
                        <a:rPr lang="fr-FR" sz="1300"/>
                        <a:t>1 </a:t>
                      </a:r>
                    </a:p>
                  </a:txBody>
                  <a:tcPr marL="68057" marR="68057" marT="34028" marB="34028" anchor="ctr">
                    <a:solidFill>
                      <a:schemeClr val="accent5">
                        <a:lumMod val="60000"/>
                        <a:lumOff val="40000"/>
                      </a:schemeClr>
                    </a:solidFill>
                  </a:tcPr>
                </a:tc>
                <a:tc>
                  <a:txBody>
                    <a:bodyPr/>
                    <a:lstStyle/>
                    <a:p>
                      <a:r>
                        <a:rPr lang="fr-FR" sz="1300"/>
                        <a:t>Tutorial </a:t>
                      </a:r>
                    </a:p>
                  </a:txBody>
                  <a:tcPr marL="68057" marR="68057" marT="34028" marB="34028" anchor="ctr">
                    <a:solidFill>
                      <a:schemeClr val="accent5">
                        <a:lumMod val="60000"/>
                        <a:lumOff val="40000"/>
                      </a:schemeClr>
                    </a:solidFill>
                  </a:tcPr>
                </a:tc>
                <a:tc>
                  <a:txBody>
                    <a:bodyPr/>
                    <a:lstStyle/>
                    <a:p>
                      <a:r>
                        <a:rPr lang="fr-FR" sz="1300"/>
                        <a:t>1 </a:t>
                      </a:r>
                    </a:p>
                  </a:txBody>
                  <a:tcPr marL="68057" marR="68057" marT="34028" marB="34028" anchor="ctr"/>
                </a:tc>
                <a:extLst>
                  <a:ext uri="{0D108BD9-81ED-4DB2-BD59-A6C34878D82A}">
                    <a16:rowId xmlns:a16="http://schemas.microsoft.com/office/drawing/2014/main" val="463138947"/>
                  </a:ext>
                </a:extLst>
              </a:tr>
              <a:tr h="362435">
                <a:tc>
                  <a:txBody>
                    <a:bodyPr/>
                    <a:lstStyle/>
                    <a:p>
                      <a:r>
                        <a:rPr lang="fr-FR" sz="1300" err="1"/>
                        <a:t>Relational</a:t>
                      </a:r>
                      <a:r>
                        <a:rPr lang="fr-FR" sz="1300"/>
                        <a:t> Model</a:t>
                      </a:r>
                    </a:p>
                  </a:txBody>
                  <a:tcPr marL="68057" marR="68057" marT="34028" marB="34028" anchor="ctr"/>
                </a:tc>
                <a:tc>
                  <a:txBody>
                    <a:bodyPr/>
                    <a:lstStyle/>
                    <a:p>
                      <a:r>
                        <a:rPr lang="fr-FR" sz="1300"/>
                        <a:t>E.F.Codd </a:t>
                      </a:r>
                    </a:p>
                  </a:txBody>
                  <a:tcPr marL="68057" marR="68057" marT="34028" marB="34028" anchor="ctr"/>
                </a:tc>
                <a:tc>
                  <a:txBody>
                    <a:bodyPr/>
                    <a:lstStyle/>
                    <a:p>
                      <a:r>
                        <a:rPr lang="fr-FR" sz="1300"/>
                        <a:t>British </a:t>
                      </a:r>
                    </a:p>
                  </a:txBody>
                  <a:tcPr marL="68057" marR="68057" marT="34028" marB="34028" anchor="ctr"/>
                </a:tc>
                <a:tc>
                  <a:txBody>
                    <a:bodyPr/>
                    <a:lstStyle/>
                    <a:p>
                      <a:r>
                        <a:rPr lang="fr-FR" sz="1300"/>
                        <a:t>538 </a:t>
                      </a:r>
                    </a:p>
                  </a:txBody>
                  <a:tcPr marL="68057" marR="68057" marT="34028" marB="34028" anchor="ctr"/>
                </a:tc>
                <a:tc>
                  <a:txBody>
                    <a:bodyPr/>
                    <a:lstStyle/>
                    <a:p>
                      <a:r>
                        <a:rPr lang="fr-FR" sz="1300"/>
                        <a:t>Thick </a:t>
                      </a:r>
                    </a:p>
                  </a:txBody>
                  <a:tcPr marL="68057" marR="68057" marT="34028" marB="34028" anchor="ctr"/>
                </a:tc>
                <a:tc>
                  <a:txBody>
                    <a:bodyPr/>
                    <a:lstStyle/>
                    <a:p>
                      <a:r>
                        <a:rPr lang="fr-FR" sz="1300"/>
                        <a:t>2 </a:t>
                      </a:r>
                    </a:p>
                  </a:txBody>
                  <a:tcPr marL="68057" marR="68057" marT="34028" marB="34028" anchor="ctr">
                    <a:solidFill>
                      <a:schemeClr val="accent5">
                        <a:lumMod val="60000"/>
                        <a:lumOff val="40000"/>
                      </a:schemeClr>
                    </a:solidFill>
                  </a:tcPr>
                </a:tc>
                <a:tc>
                  <a:txBody>
                    <a:bodyPr/>
                    <a:lstStyle/>
                    <a:p>
                      <a:r>
                        <a:rPr lang="fr-FR" sz="1300" err="1"/>
                        <a:t>Popular</a:t>
                      </a:r>
                      <a:r>
                        <a:rPr lang="fr-FR" sz="1300"/>
                        <a:t> science </a:t>
                      </a:r>
                    </a:p>
                  </a:txBody>
                  <a:tcPr marL="68057" marR="68057" marT="34028" marB="34028" anchor="ctr">
                    <a:solidFill>
                      <a:schemeClr val="accent5">
                        <a:lumMod val="60000"/>
                        <a:lumOff val="40000"/>
                      </a:schemeClr>
                    </a:solidFill>
                  </a:tcPr>
                </a:tc>
                <a:tc>
                  <a:txBody>
                    <a:bodyPr/>
                    <a:lstStyle/>
                    <a:p>
                      <a:r>
                        <a:rPr lang="fr-FR" sz="1300"/>
                        <a:t>2</a:t>
                      </a:r>
                    </a:p>
                  </a:txBody>
                  <a:tcPr marL="68057" marR="68057" marT="34028" marB="34028" anchor="ctr"/>
                </a:tc>
                <a:extLst>
                  <a:ext uri="{0D108BD9-81ED-4DB2-BD59-A6C34878D82A}">
                    <a16:rowId xmlns:a16="http://schemas.microsoft.com/office/drawing/2014/main" val="3234629939"/>
                  </a:ext>
                </a:extLst>
              </a:tr>
            </a:tbl>
          </a:graphicData>
        </a:graphic>
      </p:graphicFrame>
      <p:sp>
        <p:nvSpPr>
          <p:cNvPr id="7" name="Espace réservé du contenu 2">
            <a:extLst>
              <a:ext uri="{FF2B5EF4-FFF2-40B4-BE49-F238E27FC236}">
                <a16:creationId xmlns:a16="http://schemas.microsoft.com/office/drawing/2014/main" id="{5A38BEA5-E99A-4ACC-8A14-6ACA7EDC33E0}"/>
              </a:ext>
            </a:extLst>
          </p:cNvPr>
          <p:cNvSpPr txBox="1">
            <a:spLocks/>
          </p:cNvSpPr>
          <p:nvPr/>
        </p:nvSpPr>
        <p:spPr>
          <a:xfrm>
            <a:off x="667012" y="4528484"/>
            <a:ext cx="10554574" cy="2014928"/>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fr-FR"/>
              <a:t>3NF : Les colonnes non clé doivent être indépendantes</a:t>
            </a:r>
          </a:p>
          <a:p>
            <a:endParaRPr lang="fr-FR"/>
          </a:p>
        </p:txBody>
      </p:sp>
      <p:graphicFrame>
        <p:nvGraphicFramePr>
          <p:cNvPr id="9" name="Tableau 8">
            <a:extLst>
              <a:ext uri="{FF2B5EF4-FFF2-40B4-BE49-F238E27FC236}">
                <a16:creationId xmlns:a16="http://schemas.microsoft.com/office/drawing/2014/main" id="{F929339B-6F52-42FB-AEC4-0B117FEC0359}"/>
              </a:ext>
            </a:extLst>
          </p:cNvPr>
          <p:cNvGraphicFramePr>
            <a:graphicFrameLocks noGrp="1"/>
          </p:cNvGraphicFramePr>
          <p:nvPr>
            <p:extLst>
              <p:ext uri="{D42A27DB-BD31-4B8C-83A1-F6EECF244321}">
                <p14:modId xmlns:p14="http://schemas.microsoft.com/office/powerpoint/2010/main" val="2474946368"/>
              </p:ext>
            </p:extLst>
          </p:nvPr>
        </p:nvGraphicFramePr>
        <p:xfrm>
          <a:off x="667012" y="4952404"/>
          <a:ext cx="6879222" cy="1591008"/>
        </p:xfrm>
        <a:graphic>
          <a:graphicData uri="http://schemas.openxmlformats.org/drawingml/2006/table">
            <a:tbl>
              <a:tblPr firstRow="1" bandRow="1">
                <a:tableStyleId>{5C22544A-7EE6-4342-B048-85BDC9FD1C3A}</a:tableStyleId>
              </a:tblPr>
              <a:tblGrid>
                <a:gridCol w="982746">
                  <a:extLst>
                    <a:ext uri="{9D8B030D-6E8A-4147-A177-3AD203B41FA5}">
                      <a16:colId xmlns:a16="http://schemas.microsoft.com/office/drawing/2014/main" val="1901012456"/>
                    </a:ext>
                  </a:extLst>
                </a:gridCol>
                <a:gridCol w="982746">
                  <a:extLst>
                    <a:ext uri="{9D8B030D-6E8A-4147-A177-3AD203B41FA5}">
                      <a16:colId xmlns:a16="http://schemas.microsoft.com/office/drawing/2014/main" val="625035015"/>
                    </a:ext>
                  </a:extLst>
                </a:gridCol>
                <a:gridCol w="982746">
                  <a:extLst>
                    <a:ext uri="{9D8B030D-6E8A-4147-A177-3AD203B41FA5}">
                      <a16:colId xmlns:a16="http://schemas.microsoft.com/office/drawing/2014/main" val="2755541377"/>
                    </a:ext>
                  </a:extLst>
                </a:gridCol>
                <a:gridCol w="982746">
                  <a:extLst>
                    <a:ext uri="{9D8B030D-6E8A-4147-A177-3AD203B41FA5}">
                      <a16:colId xmlns:a16="http://schemas.microsoft.com/office/drawing/2014/main" val="1724681182"/>
                    </a:ext>
                  </a:extLst>
                </a:gridCol>
                <a:gridCol w="982746">
                  <a:extLst>
                    <a:ext uri="{9D8B030D-6E8A-4147-A177-3AD203B41FA5}">
                      <a16:colId xmlns:a16="http://schemas.microsoft.com/office/drawing/2014/main" val="1338887439"/>
                    </a:ext>
                  </a:extLst>
                </a:gridCol>
                <a:gridCol w="982746">
                  <a:extLst>
                    <a:ext uri="{9D8B030D-6E8A-4147-A177-3AD203B41FA5}">
                      <a16:colId xmlns:a16="http://schemas.microsoft.com/office/drawing/2014/main" val="1154039885"/>
                    </a:ext>
                  </a:extLst>
                </a:gridCol>
                <a:gridCol w="982746">
                  <a:extLst>
                    <a:ext uri="{9D8B030D-6E8A-4147-A177-3AD203B41FA5}">
                      <a16:colId xmlns:a16="http://schemas.microsoft.com/office/drawing/2014/main" val="157135340"/>
                    </a:ext>
                  </a:extLst>
                </a:gridCol>
              </a:tblGrid>
              <a:tr h="362435">
                <a:tc>
                  <a:txBody>
                    <a:bodyPr/>
                    <a:lstStyle/>
                    <a:p>
                      <a:r>
                        <a:rPr lang="fr-FR" sz="1300" u="sng"/>
                        <a:t>Title</a:t>
                      </a:r>
                      <a:r>
                        <a:rPr lang="fr-FR" sz="1300"/>
                        <a:t> </a:t>
                      </a:r>
                    </a:p>
                  </a:txBody>
                  <a:tcPr marL="68057" marR="68057" marT="34028" marB="34028" anchor="ctr"/>
                </a:tc>
                <a:tc>
                  <a:txBody>
                    <a:bodyPr/>
                    <a:lstStyle/>
                    <a:p>
                      <a:r>
                        <a:rPr lang="fr-FR" sz="1300"/>
                        <a:t>Author </a:t>
                      </a:r>
                    </a:p>
                  </a:txBody>
                  <a:tcPr marL="68057" marR="68057" marT="34028" marB="34028" anchor="ctr"/>
                </a:tc>
                <a:tc>
                  <a:txBody>
                    <a:bodyPr/>
                    <a:lstStyle/>
                    <a:p>
                      <a:r>
                        <a:rPr lang="fr-FR" sz="1300"/>
                        <a:t>Author </a:t>
                      </a:r>
                      <a:r>
                        <a:rPr lang="fr-FR" sz="1300" err="1"/>
                        <a:t>Nationality</a:t>
                      </a:r>
                      <a:r>
                        <a:rPr lang="fr-FR" sz="1300"/>
                        <a:t> </a:t>
                      </a:r>
                    </a:p>
                  </a:txBody>
                  <a:tcPr marL="68057" marR="68057" marT="34028" marB="34028" anchor="ctr"/>
                </a:tc>
                <a:tc>
                  <a:txBody>
                    <a:bodyPr/>
                    <a:lstStyle/>
                    <a:p>
                      <a:r>
                        <a:rPr lang="fr-FR" sz="1300"/>
                        <a:t>Pages </a:t>
                      </a:r>
                    </a:p>
                  </a:txBody>
                  <a:tcPr marL="68057" marR="68057" marT="34028" marB="34028" anchor="ctr"/>
                </a:tc>
                <a:tc>
                  <a:txBody>
                    <a:bodyPr/>
                    <a:lstStyle/>
                    <a:p>
                      <a:r>
                        <a:rPr lang="fr-FR" sz="1300"/>
                        <a:t>Thickness </a:t>
                      </a:r>
                    </a:p>
                  </a:txBody>
                  <a:tcPr marL="68057" marR="68057" marT="34028" marB="34028" anchor="ctr"/>
                </a:tc>
                <a:tc>
                  <a:txBody>
                    <a:bodyPr/>
                    <a:lstStyle/>
                    <a:p>
                      <a:r>
                        <a:rPr lang="fr-FR" sz="1300"/>
                        <a:t>Genre ID </a:t>
                      </a:r>
                    </a:p>
                  </a:txBody>
                  <a:tcPr marL="68057" marR="68057" marT="34028" marB="34028" anchor="ctr">
                    <a:solidFill>
                      <a:schemeClr val="accent1"/>
                    </a:solidFill>
                  </a:tcPr>
                </a:tc>
                <a:tc>
                  <a:txBody>
                    <a:bodyPr/>
                    <a:lstStyle/>
                    <a:p>
                      <a:r>
                        <a:rPr lang="fr-FR" sz="1300"/>
                        <a:t>Publisher ID </a:t>
                      </a:r>
                    </a:p>
                  </a:txBody>
                  <a:tcPr marL="68057" marR="68057" marT="34028" marB="34028" anchor="ctr"/>
                </a:tc>
                <a:extLst>
                  <a:ext uri="{0D108BD9-81ED-4DB2-BD59-A6C34878D82A}">
                    <a16:rowId xmlns:a16="http://schemas.microsoft.com/office/drawing/2014/main" val="714109620"/>
                  </a:ext>
                </a:extLst>
              </a:tr>
              <a:tr h="362435">
                <a:tc>
                  <a:txBody>
                    <a:bodyPr/>
                    <a:lstStyle/>
                    <a:p>
                      <a:r>
                        <a:rPr lang="en-US" sz="1300"/>
                        <a:t>Beginning Database</a:t>
                      </a:r>
                    </a:p>
                  </a:txBody>
                  <a:tcPr marL="68057" marR="68057" marT="34028" marB="34028" anchor="ctr"/>
                </a:tc>
                <a:tc>
                  <a:txBody>
                    <a:bodyPr/>
                    <a:lstStyle/>
                    <a:p>
                      <a:r>
                        <a:rPr lang="fr-FR" sz="1300"/>
                        <a:t>Chad Russell </a:t>
                      </a:r>
                    </a:p>
                  </a:txBody>
                  <a:tcPr marL="68057" marR="68057" marT="34028" marB="34028" anchor="ctr"/>
                </a:tc>
                <a:tc>
                  <a:txBody>
                    <a:bodyPr/>
                    <a:lstStyle/>
                    <a:p>
                      <a:r>
                        <a:rPr lang="fr-FR" sz="1300"/>
                        <a:t>American </a:t>
                      </a:r>
                    </a:p>
                  </a:txBody>
                  <a:tcPr marL="68057" marR="68057" marT="34028" marB="34028" anchor="ctr"/>
                </a:tc>
                <a:tc>
                  <a:txBody>
                    <a:bodyPr/>
                    <a:lstStyle/>
                    <a:p>
                      <a:r>
                        <a:rPr lang="fr-FR" sz="1300"/>
                        <a:t>520 </a:t>
                      </a:r>
                    </a:p>
                  </a:txBody>
                  <a:tcPr marL="68057" marR="68057" marT="34028" marB="34028" anchor="ctr"/>
                </a:tc>
                <a:tc>
                  <a:txBody>
                    <a:bodyPr/>
                    <a:lstStyle/>
                    <a:p>
                      <a:r>
                        <a:rPr lang="fr-FR" sz="1300"/>
                        <a:t>Thick </a:t>
                      </a:r>
                    </a:p>
                  </a:txBody>
                  <a:tcPr marL="68057" marR="68057" marT="34028" marB="34028" anchor="ctr"/>
                </a:tc>
                <a:tc>
                  <a:txBody>
                    <a:bodyPr/>
                    <a:lstStyle/>
                    <a:p>
                      <a:r>
                        <a:rPr lang="fr-FR" sz="1300"/>
                        <a:t>1 </a:t>
                      </a:r>
                    </a:p>
                  </a:txBody>
                  <a:tcPr marL="68057" marR="68057" marT="34028" marB="34028" anchor="ctr">
                    <a:solidFill>
                      <a:srgbClr val="CBEAE7"/>
                    </a:solidFill>
                  </a:tcPr>
                </a:tc>
                <a:tc>
                  <a:txBody>
                    <a:bodyPr/>
                    <a:lstStyle/>
                    <a:p>
                      <a:r>
                        <a:rPr lang="fr-FR" sz="1300"/>
                        <a:t>1 </a:t>
                      </a:r>
                    </a:p>
                  </a:txBody>
                  <a:tcPr marL="68057" marR="68057" marT="34028" marB="34028" anchor="ctr"/>
                </a:tc>
                <a:extLst>
                  <a:ext uri="{0D108BD9-81ED-4DB2-BD59-A6C34878D82A}">
                    <a16:rowId xmlns:a16="http://schemas.microsoft.com/office/drawing/2014/main" val="463138947"/>
                  </a:ext>
                </a:extLst>
              </a:tr>
              <a:tr h="362435">
                <a:tc>
                  <a:txBody>
                    <a:bodyPr/>
                    <a:lstStyle/>
                    <a:p>
                      <a:r>
                        <a:rPr lang="fr-FR" sz="1300" err="1"/>
                        <a:t>Relational</a:t>
                      </a:r>
                      <a:r>
                        <a:rPr lang="fr-FR" sz="1300"/>
                        <a:t> Model</a:t>
                      </a:r>
                    </a:p>
                  </a:txBody>
                  <a:tcPr marL="68057" marR="68057" marT="34028" marB="34028" anchor="ctr"/>
                </a:tc>
                <a:tc>
                  <a:txBody>
                    <a:bodyPr/>
                    <a:lstStyle/>
                    <a:p>
                      <a:r>
                        <a:rPr lang="fr-FR" sz="1300"/>
                        <a:t>E.F.Codd </a:t>
                      </a:r>
                    </a:p>
                  </a:txBody>
                  <a:tcPr marL="68057" marR="68057" marT="34028" marB="34028" anchor="ctr"/>
                </a:tc>
                <a:tc>
                  <a:txBody>
                    <a:bodyPr/>
                    <a:lstStyle/>
                    <a:p>
                      <a:r>
                        <a:rPr lang="fr-FR" sz="1300"/>
                        <a:t>British </a:t>
                      </a:r>
                    </a:p>
                  </a:txBody>
                  <a:tcPr marL="68057" marR="68057" marT="34028" marB="34028" anchor="ctr"/>
                </a:tc>
                <a:tc>
                  <a:txBody>
                    <a:bodyPr/>
                    <a:lstStyle/>
                    <a:p>
                      <a:r>
                        <a:rPr lang="fr-FR" sz="1300"/>
                        <a:t>538 </a:t>
                      </a:r>
                    </a:p>
                  </a:txBody>
                  <a:tcPr marL="68057" marR="68057" marT="34028" marB="34028" anchor="ctr"/>
                </a:tc>
                <a:tc>
                  <a:txBody>
                    <a:bodyPr/>
                    <a:lstStyle/>
                    <a:p>
                      <a:r>
                        <a:rPr lang="fr-FR" sz="1300"/>
                        <a:t>Thick </a:t>
                      </a:r>
                    </a:p>
                  </a:txBody>
                  <a:tcPr marL="68057" marR="68057" marT="34028" marB="34028" anchor="ctr"/>
                </a:tc>
                <a:tc>
                  <a:txBody>
                    <a:bodyPr/>
                    <a:lstStyle/>
                    <a:p>
                      <a:r>
                        <a:rPr lang="fr-FR" sz="1300"/>
                        <a:t>2 </a:t>
                      </a:r>
                    </a:p>
                  </a:txBody>
                  <a:tcPr marL="68057" marR="68057" marT="34028" marB="34028" anchor="ctr">
                    <a:solidFill>
                      <a:srgbClr val="E7F5F3"/>
                    </a:solidFill>
                  </a:tcPr>
                </a:tc>
                <a:tc>
                  <a:txBody>
                    <a:bodyPr/>
                    <a:lstStyle/>
                    <a:p>
                      <a:r>
                        <a:rPr lang="fr-FR" sz="1300"/>
                        <a:t>2</a:t>
                      </a:r>
                    </a:p>
                  </a:txBody>
                  <a:tcPr marL="68057" marR="68057" marT="34028" marB="34028" anchor="ctr"/>
                </a:tc>
                <a:extLst>
                  <a:ext uri="{0D108BD9-81ED-4DB2-BD59-A6C34878D82A}">
                    <a16:rowId xmlns:a16="http://schemas.microsoft.com/office/drawing/2014/main" val="3234629939"/>
                  </a:ext>
                </a:extLst>
              </a:tr>
            </a:tbl>
          </a:graphicData>
        </a:graphic>
      </p:graphicFrame>
      <p:graphicFrame>
        <p:nvGraphicFramePr>
          <p:cNvPr id="6" name="Tableau 5">
            <a:extLst>
              <a:ext uri="{FF2B5EF4-FFF2-40B4-BE49-F238E27FC236}">
                <a16:creationId xmlns:a16="http://schemas.microsoft.com/office/drawing/2014/main" id="{BD82432E-FEA6-4B4A-A101-703913EEB46C}"/>
              </a:ext>
            </a:extLst>
          </p:cNvPr>
          <p:cNvGraphicFramePr>
            <a:graphicFrameLocks noGrp="1"/>
          </p:cNvGraphicFramePr>
          <p:nvPr>
            <p:extLst>
              <p:ext uri="{D42A27DB-BD31-4B8C-83A1-F6EECF244321}">
                <p14:modId xmlns:p14="http://schemas.microsoft.com/office/powerpoint/2010/main" val="3370643188"/>
              </p:ext>
            </p:extLst>
          </p:nvPr>
        </p:nvGraphicFramePr>
        <p:xfrm>
          <a:off x="8528980" y="5134031"/>
          <a:ext cx="2608977" cy="1097280"/>
        </p:xfrm>
        <a:graphic>
          <a:graphicData uri="http://schemas.openxmlformats.org/drawingml/2006/table">
            <a:tbl>
              <a:tblPr firstRow="1" bandRow="1">
                <a:tableStyleId>{5C22544A-7EE6-4342-B048-85BDC9FD1C3A}</a:tableStyleId>
              </a:tblPr>
              <a:tblGrid>
                <a:gridCol w="931180">
                  <a:extLst>
                    <a:ext uri="{9D8B030D-6E8A-4147-A177-3AD203B41FA5}">
                      <a16:colId xmlns:a16="http://schemas.microsoft.com/office/drawing/2014/main" val="3013671492"/>
                    </a:ext>
                  </a:extLst>
                </a:gridCol>
                <a:gridCol w="1677797">
                  <a:extLst>
                    <a:ext uri="{9D8B030D-6E8A-4147-A177-3AD203B41FA5}">
                      <a16:colId xmlns:a16="http://schemas.microsoft.com/office/drawing/2014/main" val="479045600"/>
                    </a:ext>
                  </a:extLst>
                </a:gridCol>
              </a:tblGrid>
              <a:tr h="365760">
                <a:tc>
                  <a:txBody>
                    <a:bodyPr/>
                    <a:lstStyle/>
                    <a:p>
                      <a:r>
                        <a:rPr lang="fr-FR" sz="1200" u="sng"/>
                        <a:t>Genre ID</a:t>
                      </a:r>
                      <a:r>
                        <a:rPr lang="fr-FR" sz="1200"/>
                        <a:t> </a:t>
                      </a:r>
                    </a:p>
                  </a:txBody>
                  <a:tcPr anchor="ctr"/>
                </a:tc>
                <a:tc>
                  <a:txBody>
                    <a:bodyPr/>
                    <a:lstStyle/>
                    <a:p>
                      <a:r>
                        <a:rPr lang="fr-FR" sz="1200"/>
                        <a:t>Genre Name </a:t>
                      </a:r>
                    </a:p>
                  </a:txBody>
                  <a:tcPr anchor="ctr"/>
                </a:tc>
                <a:extLst>
                  <a:ext uri="{0D108BD9-81ED-4DB2-BD59-A6C34878D82A}">
                    <a16:rowId xmlns:a16="http://schemas.microsoft.com/office/drawing/2014/main" val="1866850724"/>
                  </a:ext>
                </a:extLst>
              </a:tr>
              <a:tr h="365760">
                <a:tc>
                  <a:txBody>
                    <a:bodyPr/>
                    <a:lstStyle/>
                    <a:p>
                      <a:r>
                        <a:rPr lang="fr-FR" sz="1200"/>
                        <a:t>1 </a:t>
                      </a:r>
                    </a:p>
                  </a:txBody>
                  <a:tcPr anchor="ctr"/>
                </a:tc>
                <a:tc>
                  <a:txBody>
                    <a:bodyPr/>
                    <a:lstStyle/>
                    <a:p>
                      <a:r>
                        <a:rPr lang="fr-FR" sz="1200"/>
                        <a:t>Tutorial </a:t>
                      </a:r>
                    </a:p>
                  </a:txBody>
                  <a:tcPr anchor="ctr"/>
                </a:tc>
                <a:extLst>
                  <a:ext uri="{0D108BD9-81ED-4DB2-BD59-A6C34878D82A}">
                    <a16:rowId xmlns:a16="http://schemas.microsoft.com/office/drawing/2014/main" val="1786622339"/>
                  </a:ext>
                </a:extLst>
              </a:tr>
              <a:tr h="365760">
                <a:tc>
                  <a:txBody>
                    <a:bodyPr/>
                    <a:lstStyle/>
                    <a:p>
                      <a:r>
                        <a:rPr lang="fr-FR" sz="1200"/>
                        <a:t>2 </a:t>
                      </a:r>
                    </a:p>
                  </a:txBody>
                  <a:tcPr anchor="ctr"/>
                </a:tc>
                <a:tc>
                  <a:txBody>
                    <a:bodyPr/>
                    <a:lstStyle/>
                    <a:p>
                      <a:r>
                        <a:rPr lang="fr-FR" sz="1200" err="1"/>
                        <a:t>Popular</a:t>
                      </a:r>
                      <a:r>
                        <a:rPr lang="fr-FR" sz="1200"/>
                        <a:t> science</a:t>
                      </a:r>
                    </a:p>
                  </a:txBody>
                  <a:tcPr anchor="ctr"/>
                </a:tc>
                <a:extLst>
                  <a:ext uri="{0D108BD9-81ED-4DB2-BD59-A6C34878D82A}">
                    <a16:rowId xmlns:a16="http://schemas.microsoft.com/office/drawing/2014/main" val="3538513258"/>
                  </a:ext>
                </a:extLst>
              </a:tr>
            </a:tbl>
          </a:graphicData>
        </a:graphic>
      </p:graphicFrame>
    </p:spTree>
    <p:extLst>
      <p:ext uri="{BB962C8B-B14F-4D97-AF65-F5344CB8AC3E}">
        <p14:creationId xmlns:p14="http://schemas.microsoft.com/office/powerpoint/2010/main" val="26416521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ECE52D-1033-4501-8F9F-1229EE87F3F6}"/>
              </a:ext>
            </a:extLst>
          </p:cNvPr>
          <p:cNvSpPr>
            <a:spLocks noGrp="1"/>
          </p:cNvSpPr>
          <p:nvPr>
            <p:ph type="title"/>
          </p:nvPr>
        </p:nvSpPr>
        <p:spPr/>
        <p:txBody>
          <a:bodyPr/>
          <a:lstStyle/>
          <a:p>
            <a:r>
              <a:rPr lang="fr-FR"/>
              <a:t>Exemple de normalisation</a:t>
            </a:r>
          </a:p>
        </p:txBody>
      </p:sp>
      <p:sp>
        <p:nvSpPr>
          <p:cNvPr id="3" name="Espace réservé du contenu 2">
            <a:extLst>
              <a:ext uri="{FF2B5EF4-FFF2-40B4-BE49-F238E27FC236}">
                <a16:creationId xmlns:a16="http://schemas.microsoft.com/office/drawing/2014/main" id="{D455CABB-CC79-4153-83BD-8C4EF0BDF458}"/>
              </a:ext>
            </a:extLst>
          </p:cNvPr>
          <p:cNvSpPr>
            <a:spLocks noGrp="1"/>
          </p:cNvSpPr>
          <p:nvPr>
            <p:ph idx="1"/>
          </p:nvPr>
        </p:nvSpPr>
        <p:spPr>
          <a:xfrm>
            <a:off x="818712" y="2222287"/>
            <a:ext cx="10554574" cy="437023"/>
          </a:xfrm>
        </p:spPr>
        <p:txBody>
          <a:bodyPr anchor="t">
            <a:normAutofit/>
          </a:bodyPr>
          <a:lstStyle/>
          <a:p>
            <a:r>
              <a:rPr lang="fr-FR"/>
              <a:t>Forme normale de Boyce-Codd :</a:t>
            </a:r>
          </a:p>
          <a:p>
            <a:endParaRPr lang="fr-FR"/>
          </a:p>
        </p:txBody>
      </p:sp>
      <p:sp>
        <p:nvSpPr>
          <p:cNvPr id="11" name="Espace réservé du numéro de diapositive 10">
            <a:extLst>
              <a:ext uri="{FF2B5EF4-FFF2-40B4-BE49-F238E27FC236}">
                <a16:creationId xmlns:a16="http://schemas.microsoft.com/office/drawing/2014/main" id="{99EE7379-C92A-4C23-BCFA-664DEDFCB67E}"/>
              </a:ext>
            </a:extLst>
          </p:cNvPr>
          <p:cNvSpPr>
            <a:spLocks noGrp="1"/>
          </p:cNvSpPr>
          <p:nvPr>
            <p:ph type="sldNum" sz="quarter" idx="12"/>
          </p:nvPr>
        </p:nvSpPr>
        <p:spPr/>
        <p:txBody>
          <a:bodyPr/>
          <a:lstStyle/>
          <a:p>
            <a:fld id="{27C6CCC6-2BE5-4E42-96A4-D1E8E81A3D8E}" type="slidenum">
              <a:rPr lang="de-DE" smtClean="0"/>
              <a:t>196</a:t>
            </a:fld>
            <a:endParaRPr lang="de-DE"/>
          </a:p>
        </p:txBody>
      </p:sp>
      <p:sp>
        <p:nvSpPr>
          <p:cNvPr id="8" name="Espace réservé du contenu 2">
            <a:extLst>
              <a:ext uri="{FF2B5EF4-FFF2-40B4-BE49-F238E27FC236}">
                <a16:creationId xmlns:a16="http://schemas.microsoft.com/office/drawing/2014/main" id="{83AB5530-8FAD-42F3-AF32-B6238588DBD9}"/>
              </a:ext>
            </a:extLst>
          </p:cNvPr>
          <p:cNvSpPr txBox="1">
            <a:spLocks/>
          </p:cNvSpPr>
          <p:nvPr/>
        </p:nvSpPr>
        <p:spPr>
          <a:xfrm>
            <a:off x="810000" y="4835569"/>
            <a:ext cx="10554574" cy="1707843"/>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None/>
            </a:pPr>
            <a:endParaRPr lang="fr-FR"/>
          </a:p>
        </p:txBody>
      </p:sp>
      <p:sp>
        <p:nvSpPr>
          <p:cNvPr id="7" name="Espace réservé du contenu 2">
            <a:extLst>
              <a:ext uri="{FF2B5EF4-FFF2-40B4-BE49-F238E27FC236}">
                <a16:creationId xmlns:a16="http://schemas.microsoft.com/office/drawing/2014/main" id="{5A38BEA5-E99A-4ACC-8A14-6ACA7EDC33E0}"/>
              </a:ext>
            </a:extLst>
          </p:cNvPr>
          <p:cNvSpPr txBox="1">
            <a:spLocks/>
          </p:cNvSpPr>
          <p:nvPr/>
        </p:nvSpPr>
        <p:spPr>
          <a:xfrm>
            <a:off x="667012" y="4268608"/>
            <a:ext cx="10554574" cy="2274804"/>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fr-FR"/>
              <a:t>Chaque attribut doit caractériser seulement la clé, il y a une dépendance non-triviale entre Author et Author </a:t>
            </a:r>
            <a:r>
              <a:rPr lang="fr-FR" err="1"/>
              <a:t>Nationality</a:t>
            </a:r>
            <a:r>
              <a:rPr lang="fr-FR"/>
              <a:t> :</a:t>
            </a:r>
          </a:p>
          <a:p>
            <a:endParaRPr lang="fr-FR"/>
          </a:p>
        </p:txBody>
      </p:sp>
      <p:graphicFrame>
        <p:nvGraphicFramePr>
          <p:cNvPr id="9" name="Tableau 8">
            <a:extLst>
              <a:ext uri="{FF2B5EF4-FFF2-40B4-BE49-F238E27FC236}">
                <a16:creationId xmlns:a16="http://schemas.microsoft.com/office/drawing/2014/main" id="{F929339B-6F52-42FB-AEC4-0B117FEC0359}"/>
              </a:ext>
            </a:extLst>
          </p:cNvPr>
          <p:cNvGraphicFramePr>
            <a:graphicFrameLocks noGrp="1"/>
          </p:cNvGraphicFramePr>
          <p:nvPr>
            <p:extLst>
              <p:ext uri="{D42A27DB-BD31-4B8C-83A1-F6EECF244321}">
                <p14:modId xmlns:p14="http://schemas.microsoft.com/office/powerpoint/2010/main" val="3894589285"/>
              </p:ext>
            </p:extLst>
          </p:nvPr>
        </p:nvGraphicFramePr>
        <p:xfrm>
          <a:off x="818712" y="2668455"/>
          <a:ext cx="6879222" cy="1591008"/>
        </p:xfrm>
        <a:graphic>
          <a:graphicData uri="http://schemas.openxmlformats.org/drawingml/2006/table">
            <a:tbl>
              <a:tblPr firstRow="1" bandRow="1">
                <a:tableStyleId>{5C22544A-7EE6-4342-B048-85BDC9FD1C3A}</a:tableStyleId>
              </a:tblPr>
              <a:tblGrid>
                <a:gridCol w="982746">
                  <a:extLst>
                    <a:ext uri="{9D8B030D-6E8A-4147-A177-3AD203B41FA5}">
                      <a16:colId xmlns:a16="http://schemas.microsoft.com/office/drawing/2014/main" val="1901012456"/>
                    </a:ext>
                  </a:extLst>
                </a:gridCol>
                <a:gridCol w="982746">
                  <a:extLst>
                    <a:ext uri="{9D8B030D-6E8A-4147-A177-3AD203B41FA5}">
                      <a16:colId xmlns:a16="http://schemas.microsoft.com/office/drawing/2014/main" val="625035015"/>
                    </a:ext>
                  </a:extLst>
                </a:gridCol>
                <a:gridCol w="982746">
                  <a:extLst>
                    <a:ext uri="{9D8B030D-6E8A-4147-A177-3AD203B41FA5}">
                      <a16:colId xmlns:a16="http://schemas.microsoft.com/office/drawing/2014/main" val="2755541377"/>
                    </a:ext>
                  </a:extLst>
                </a:gridCol>
                <a:gridCol w="982746">
                  <a:extLst>
                    <a:ext uri="{9D8B030D-6E8A-4147-A177-3AD203B41FA5}">
                      <a16:colId xmlns:a16="http://schemas.microsoft.com/office/drawing/2014/main" val="1724681182"/>
                    </a:ext>
                  </a:extLst>
                </a:gridCol>
                <a:gridCol w="982746">
                  <a:extLst>
                    <a:ext uri="{9D8B030D-6E8A-4147-A177-3AD203B41FA5}">
                      <a16:colId xmlns:a16="http://schemas.microsoft.com/office/drawing/2014/main" val="1338887439"/>
                    </a:ext>
                  </a:extLst>
                </a:gridCol>
                <a:gridCol w="982746">
                  <a:extLst>
                    <a:ext uri="{9D8B030D-6E8A-4147-A177-3AD203B41FA5}">
                      <a16:colId xmlns:a16="http://schemas.microsoft.com/office/drawing/2014/main" val="1154039885"/>
                    </a:ext>
                  </a:extLst>
                </a:gridCol>
                <a:gridCol w="982746">
                  <a:extLst>
                    <a:ext uri="{9D8B030D-6E8A-4147-A177-3AD203B41FA5}">
                      <a16:colId xmlns:a16="http://schemas.microsoft.com/office/drawing/2014/main" val="157135340"/>
                    </a:ext>
                  </a:extLst>
                </a:gridCol>
              </a:tblGrid>
              <a:tr h="362435">
                <a:tc>
                  <a:txBody>
                    <a:bodyPr/>
                    <a:lstStyle/>
                    <a:p>
                      <a:r>
                        <a:rPr lang="fr-FR" sz="1300" u="sng"/>
                        <a:t>Title</a:t>
                      </a:r>
                      <a:r>
                        <a:rPr lang="fr-FR" sz="1300"/>
                        <a:t> </a:t>
                      </a:r>
                    </a:p>
                  </a:txBody>
                  <a:tcPr marL="68057" marR="68057" marT="34028" marB="34028" anchor="ctr"/>
                </a:tc>
                <a:tc>
                  <a:txBody>
                    <a:bodyPr/>
                    <a:lstStyle/>
                    <a:p>
                      <a:r>
                        <a:rPr lang="fr-FR" sz="1300"/>
                        <a:t>Author </a:t>
                      </a:r>
                    </a:p>
                  </a:txBody>
                  <a:tcPr marL="68057" marR="68057" marT="34028" marB="34028" anchor="ctr">
                    <a:solidFill>
                      <a:schemeClr val="accent6">
                        <a:lumMod val="60000"/>
                        <a:lumOff val="40000"/>
                      </a:schemeClr>
                    </a:solidFill>
                  </a:tcPr>
                </a:tc>
                <a:tc>
                  <a:txBody>
                    <a:bodyPr/>
                    <a:lstStyle/>
                    <a:p>
                      <a:r>
                        <a:rPr lang="fr-FR" sz="1300"/>
                        <a:t>Author </a:t>
                      </a:r>
                      <a:r>
                        <a:rPr lang="fr-FR" sz="1300" err="1"/>
                        <a:t>Nationality</a:t>
                      </a:r>
                      <a:r>
                        <a:rPr lang="fr-FR" sz="1300"/>
                        <a:t> </a:t>
                      </a:r>
                    </a:p>
                  </a:txBody>
                  <a:tcPr marL="68057" marR="68057" marT="34028" marB="34028" anchor="ctr">
                    <a:solidFill>
                      <a:schemeClr val="accent6">
                        <a:lumMod val="60000"/>
                        <a:lumOff val="40000"/>
                      </a:schemeClr>
                    </a:solidFill>
                  </a:tcPr>
                </a:tc>
                <a:tc>
                  <a:txBody>
                    <a:bodyPr/>
                    <a:lstStyle/>
                    <a:p>
                      <a:r>
                        <a:rPr lang="fr-FR" sz="1300"/>
                        <a:t>Pages </a:t>
                      </a:r>
                    </a:p>
                  </a:txBody>
                  <a:tcPr marL="68057" marR="68057" marT="34028" marB="34028" anchor="ctr"/>
                </a:tc>
                <a:tc>
                  <a:txBody>
                    <a:bodyPr/>
                    <a:lstStyle/>
                    <a:p>
                      <a:r>
                        <a:rPr lang="fr-FR" sz="1300"/>
                        <a:t>Thickness </a:t>
                      </a:r>
                    </a:p>
                  </a:txBody>
                  <a:tcPr marL="68057" marR="68057" marT="34028" marB="34028" anchor="ctr"/>
                </a:tc>
                <a:tc>
                  <a:txBody>
                    <a:bodyPr/>
                    <a:lstStyle/>
                    <a:p>
                      <a:r>
                        <a:rPr lang="fr-FR" sz="1300"/>
                        <a:t>Genre ID </a:t>
                      </a:r>
                    </a:p>
                  </a:txBody>
                  <a:tcPr marL="68057" marR="68057" marT="34028" marB="34028" anchor="ctr">
                    <a:solidFill>
                      <a:schemeClr val="accent1"/>
                    </a:solidFill>
                  </a:tcPr>
                </a:tc>
                <a:tc>
                  <a:txBody>
                    <a:bodyPr/>
                    <a:lstStyle/>
                    <a:p>
                      <a:r>
                        <a:rPr lang="fr-FR" sz="1300"/>
                        <a:t>Publisher ID </a:t>
                      </a:r>
                    </a:p>
                  </a:txBody>
                  <a:tcPr marL="68057" marR="68057" marT="34028" marB="34028" anchor="ctr"/>
                </a:tc>
                <a:extLst>
                  <a:ext uri="{0D108BD9-81ED-4DB2-BD59-A6C34878D82A}">
                    <a16:rowId xmlns:a16="http://schemas.microsoft.com/office/drawing/2014/main" val="714109620"/>
                  </a:ext>
                </a:extLst>
              </a:tr>
              <a:tr h="362435">
                <a:tc>
                  <a:txBody>
                    <a:bodyPr/>
                    <a:lstStyle/>
                    <a:p>
                      <a:r>
                        <a:rPr lang="en-US" sz="1300"/>
                        <a:t>Beginning Database</a:t>
                      </a:r>
                    </a:p>
                  </a:txBody>
                  <a:tcPr marL="68057" marR="68057" marT="34028" marB="34028" anchor="ctr"/>
                </a:tc>
                <a:tc>
                  <a:txBody>
                    <a:bodyPr/>
                    <a:lstStyle/>
                    <a:p>
                      <a:r>
                        <a:rPr lang="fr-FR" sz="1300"/>
                        <a:t>Chad Russell </a:t>
                      </a:r>
                    </a:p>
                  </a:txBody>
                  <a:tcPr marL="68057" marR="68057" marT="34028" marB="34028" anchor="ctr">
                    <a:solidFill>
                      <a:schemeClr val="accent5">
                        <a:lumMod val="60000"/>
                        <a:lumOff val="40000"/>
                      </a:schemeClr>
                    </a:solidFill>
                  </a:tcPr>
                </a:tc>
                <a:tc>
                  <a:txBody>
                    <a:bodyPr/>
                    <a:lstStyle/>
                    <a:p>
                      <a:r>
                        <a:rPr lang="fr-FR" sz="1300"/>
                        <a:t>American </a:t>
                      </a:r>
                    </a:p>
                  </a:txBody>
                  <a:tcPr marL="68057" marR="68057" marT="34028" marB="34028" anchor="ctr">
                    <a:solidFill>
                      <a:schemeClr val="accent5">
                        <a:lumMod val="60000"/>
                        <a:lumOff val="40000"/>
                      </a:schemeClr>
                    </a:solidFill>
                  </a:tcPr>
                </a:tc>
                <a:tc>
                  <a:txBody>
                    <a:bodyPr/>
                    <a:lstStyle/>
                    <a:p>
                      <a:r>
                        <a:rPr lang="fr-FR" sz="1300"/>
                        <a:t>520 </a:t>
                      </a:r>
                    </a:p>
                  </a:txBody>
                  <a:tcPr marL="68057" marR="68057" marT="34028" marB="34028" anchor="ctr"/>
                </a:tc>
                <a:tc>
                  <a:txBody>
                    <a:bodyPr/>
                    <a:lstStyle/>
                    <a:p>
                      <a:r>
                        <a:rPr lang="fr-FR" sz="1300"/>
                        <a:t>Thick </a:t>
                      </a:r>
                    </a:p>
                  </a:txBody>
                  <a:tcPr marL="68057" marR="68057" marT="34028" marB="34028" anchor="ctr"/>
                </a:tc>
                <a:tc>
                  <a:txBody>
                    <a:bodyPr/>
                    <a:lstStyle/>
                    <a:p>
                      <a:r>
                        <a:rPr lang="fr-FR" sz="1300"/>
                        <a:t>1 </a:t>
                      </a:r>
                    </a:p>
                  </a:txBody>
                  <a:tcPr marL="68057" marR="68057" marT="34028" marB="34028" anchor="ctr">
                    <a:solidFill>
                      <a:srgbClr val="CBEAE7"/>
                    </a:solidFill>
                  </a:tcPr>
                </a:tc>
                <a:tc>
                  <a:txBody>
                    <a:bodyPr/>
                    <a:lstStyle/>
                    <a:p>
                      <a:r>
                        <a:rPr lang="fr-FR" sz="1300"/>
                        <a:t>1 </a:t>
                      </a:r>
                    </a:p>
                  </a:txBody>
                  <a:tcPr marL="68057" marR="68057" marT="34028" marB="34028" anchor="ctr"/>
                </a:tc>
                <a:extLst>
                  <a:ext uri="{0D108BD9-81ED-4DB2-BD59-A6C34878D82A}">
                    <a16:rowId xmlns:a16="http://schemas.microsoft.com/office/drawing/2014/main" val="463138947"/>
                  </a:ext>
                </a:extLst>
              </a:tr>
              <a:tr h="362435">
                <a:tc>
                  <a:txBody>
                    <a:bodyPr/>
                    <a:lstStyle/>
                    <a:p>
                      <a:r>
                        <a:rPr lang="fr-FR" sz="1300" err="1"/>
                        <a:t>Relational</a:t>
                      </a:r>
                      <a:r>
                        <a:rPr lang="fr-FR" sz="1300"/>
                        <a:t> Model</a:t>
                      </a:r>
                    </a:p>
                  </a:txBody>
                  <a:tcPr marL="68057" marR="68057" marT="34028" marB="34028" anchor="ctr"/>
                </a:tc>
                <a:tc>
                  <a:txBody>
                    <a:bodyPr/>
                    <a:lstStyle/>
                    <a:p>
                      <a:r>
                        <a:rPr lang="fr-FR" sz="1300" err="1"/>
                        <a:t>E.F.Codd</a:t>
                      </a:r>
                      <a:r>
                        <a:rPr lang="fr-FR" sz="1300"/>
                        <a:t> </a:t>
                      </a:r>
                    </a:p>
                  </a:txBody>
                  <a:tcPr marL="68057" marR="68057" marT="34028" marB="34028" anchor="ctr">
                    <a:solidFill>
                      <a:schemeClr val="accent5">
                        <a:lumMod val="60000"/>
                        <a:lumOff val="40000"/>
                      </a:schemeClr>
                    </a:solidFill>
                  </a:tcPr>
                </a:tc>
                <a:tc>
                  <a:txBody>
                    <a:bodyPr/>
                    <a:lstStyle/>
                    <a:p>
                      <a:r>
                        <a:rPr lang="fr-FR" sz="1300"/>
                        <a:t>British </a:t>
                      </a:r>
                    </a:p>
                  </a:txBody>
                  <a:tcPr marL="68057" marR="68057" marT="34028" marB="34028" anchor="ctr">
                    <a:solidFill>
                      <a:schemeClr val="accent5">
                        <a:lumMod val="60000"/>
                        <a:lumOff val="40000"/>
                      </a:schemeClr>
                    </a:solidFill>
                  </a:tcPr>
                </a:tc>
                <a:tc>
                  <a:txBody>
                    <a:bodyPr/>
                    <a:lstStyle/>
                    <a:p>
                      <a:r>
                        <a:rPr lang="fr-FR" sz="1300"/>
                        <a:t>538 </a:t>
                      </a:r>
                    </a:p>
                  </a:txBody>
                  <a:tcPr marL="68057" marR="68057" marT="34028" marB="34028" anchor="ctr"/>
                </a:tc>
                <a:tc>
                  <a:txBody>
                    <a:bodyPr/>
                    <a:lstStyle/>
                    <a:p>
                      <a:r>
                        <a:rPr lang="fr-FR" sz="1300"/>
                        <a:t>Thick </a:t>
                      </a:r>
                    </a:p>
                  </a:txBody>
                  <a:tcPr marL="68057" marR="68057" marT="34028" marB="34028" anchor="ctr"/>
                </a:tc>
                <a:tc>
                  <a:txBody>
                    <a:bodyPr/>
                    <a:lstStyle/>
                    <a:p>
                      <a:r>
                        <a:rPr lang="fr-FR" sz="1300"/>
                        <a:t>2 </a:t>
                      </a:r>
                    </a:p>
                  </a:txBody>
                  <a:tcPr marL="68057" marR="68057" marT="34028" marB="34028" anchor="ctr">
                    <a:solidFill>
                      <a:srgbClr val="E7F5F3"/>
                    </a:solidFill>
                  </a:tcPr>
                </a:tc>
                <a:tc>
                  <a:txBody>
                    <a:bodyPr/>
                    <a:lstStyle/>
                    <a:p>
                      <a:r>
                        <a:rPr lang="fr-FR" sz="1300"/>
                        <a:t>2</a:t>
                      </a:r>
                    </a:p>
                  </a:txBody>
                  <a:tcPr marL="68057" marR="68057" marT="34028" marB="34028" anchor="ctr"/>
                </a:tc>
                <a:extLst>
                  <a:ext uri="{0D108BD9-81ED-4DB2-BD59-A6C34878D82A}">
                    <a16:rowId xmlns:a16="http://schemas.microsoft.com/office/drawing/2014/main" val="3234629939"/>
                  </a:ext>
                </a:extLst>
              </a:tr>
            </a:tbl>
          </a:graphicData>
        </a:graphic>
      </p:graphicFrame>
      <p:graphicFrame>
        <p:nvGraphicFramePr>
          <p:cNvPr id="10" name="Tableau 9">
            <a:extLst>
              <a:ext uri="{FF2B5EF4-FFF2-40B4-BE49-F238E27FC236}">
                <a16:creationId xmlns:a16="http://schemas.microsoft.com/office/drawing/2014/main" id="{B4806981-A80C-47CB-81CB-F9F3065CF15D}"/>
              </a:ext>
            </a:extLst>
          </p:cNvPr>
          <p:cNvGraphicFramePr>
            <a:graphicFrameLocks noGrp="1"/>
          </p:cNvGraphicFramePr>
          <p:nvPr>
            <p:extLst>
              <p:ext uri="{D42A27DB-BD31-4B8C-83A1-F6EECF244321}">
                <p14:modId xmlns:p14="http://schemas.microsoft.com/office/powerpoint/2010/main" val="1122987910"/>
              </p:ext>
            </p:extLst>
          </p:nvPr>
        </p:nvGraphicFramePr>
        <p:xfrm>
          <a:off x="810000" y="5041175"/>
          <a:ext cx="5896476" cy="1392888"/>
        </p:xfrm>
        <a:graphic>
          <a:graphicData uri="http://schemas.openxmlformats.org/drawingml/2006/table">
            <a:tbl>
              <a:tblPr firstRow="1" bandRow="1">
                <a:tableStyleId>{5C22544A-7EE6-4342-B048-85BDC9FD1C3A}</a:tableStyleId>
              </a:tblPr>
              <a:tblGrid>
                <a:gridCol w="982746">
                  <a:extLst>
                    <a:ext uri="{9D8B030D-6E8A-4147-A177-3AD203B41FA5}">
                      <a16:colId xmlns:a16="http://schemas.microsoft.com/office/drawing/2014/main" val="1901012456"/>
                    </a:ext>
                  </a:extLst>
                </a:gridCol>
                <a:gridCol w="982746">
                  <a:extLst>
                    <a:ext uri="{9D8B030D-6E8A-4147-A177-3AD203B41FA5}">
                      <a16:colId xmlns:a16="http://schemas.microsoft.com/office/drawing/2014/main" val="625035015"/>
                    </a:ext>
                  </a:extLst>
                </a:gridCol>
                <a:gridCol w="982746">
                  <a:extLst>
                    <a:ext uri="{9D8B030D-6E8A-4147-A177-3AD203B41FA5}">
                      <a16:colId xmlns:a16="http://schemas.microsoft.com/office/drawing/2014/main" val="1724681182"/>
                    </a:ext>
                  </a:extLst>
                </a:gridCol>
                <a:gridCol w="982746">
                  <a:extLst>
                    <a:ext uri="{9D8B030D-6E8A-4147-A177-3AD203B41FA5}">
                      <a16:colId xmlns:a16="http://schemas.microsoft.com/office/drawing/2014/main" val="1338887439"/>
                    </a:ext>
                  </a:extLst>
                </a:gridCol>
                <a:gridCol w="982746">
                  <a:extLst>
                    <a:ext uri="{9D8B030D-6E8A-4147-A177-3AD203B41FA5}">
                      <a16:colId xmlns:a16="http://schemas.microsoft.com/office/drawing/2014/main" val="1154039885"/>
                    </a:ext>
                  </a:extLst>
                </a:gridCol>
                <a:gridCol w="982746">
                  <a:extLst>
                    <a:ext uri="{9D8B030D-6E8A-4147-A177-3AD203B41FA5}">
                      <a16:colId xmlns:a16="http://schemas.microsoft.com/office/drawing/2014/main" val="157135340"/>
                    </a:ext>
                  </a:extLst>
                </a:gridCol>
              </a:tblGrid>
              <a:tr h="362435">
                <a:tc>
                  <a:txBody>
                    <a:bodyPr/>
                    <a:lstStyle/>
                    <a:p>
                      <a:r>
                        <a:rPr lang="fr-FR" sz="1300" u="sng"/>
                        <a:t>Title</a:t>
                      </a:r>
                      <a:r>
                        <a:rPr lang="fr-FR" sz="1300"/>
                        <a:t> </a:t>
                      </a:r>
                    </a:p>
                  </a:txBody>
                  <a:tcPr marL="68057" marR="68057" marT="34028" marB="34028" anchor="ctr"/>
                </a:tc>
                <a:tc>
                  <a:txBody>
                    <a:bodyPr/>
                    <a:lstStyle/>
                    <a:p>
                      <a:r>
                        <a:rPr lang="fr-FR" sz="1300"/>
                        <a:t>Author </a:t>
                      </a:r>
                    </a:p>
                  </a:txBody>
                  <a:tcPr marL="68057" marR="68057" marT="34028" marB="34028" anchor="ctr">
                    <a:solidFill>
                      <a:srgbClr val="00C6BB"/>
                    </a:solidFill>
                  </a:tcPr>
                </a:tc>
                <a:tc>
                  <a:txBody>
                    <a:bodyPr/>
                    <a:lstStyle/>
                    <a:p>
                      <a:r>
                        <a:rPr lang="fr-FR" sz="1300"/>
                        <a:t>Pages </a:t>
                      </a:r>
                    </a:p>
                  </a:txBody>
                  <a:tcPr marL="68057" marR="68057" marT="34028" marB="34028" anchor="ctr"/>
                </a:tc>
                <a:tc>
                  <a:txBody>
                    <a:bodyPr/>
                    <a:lstStyle/>
                    <a:p>
                      <a:r>
                        <a:rPr lang="fr-FR" sz="1300"/>
                        <a:t>Thickness </a:t>
                      </a:r>
                    </a:p>
                  </a:txBody>
                  <a:tcPr marL="68057" marR="68057" marT="34028" marB="34028" anchor="ctr"/>
                </a:tc>
                <a:tc>
                  <a:txBody>
                    <a:bodyPr/>
                    <a:lstStyle/>
                    <a:p>
                      <a:r>
                        <a:rPr lang="fr-FR" sz="1300"/>
                        <a:t>Genre ID </a:t>
                      </a:r>
                    </a:p>
                  </a:txBody>
                  <a:tcPr marL="68057" marR="68057" marT="34028" marB="34028" anchor="ctr">
                    <a:solidFill>
                      <a:schemeClr val="accent1"/>
                    </a:solidFill>
                  </a:tcPr>
                </a:tc>
                <a:tc>
                  <a:txBody>
                    <a:bodyPr/>
                    <a:lstStyle/>
                    <a:p>
                      <a:r>
                        <a:rPr lang="fr-FR" sz="1300"/>
                        <a:t>Publisher ID </a:t>
                      </a:r>
                    </a:p>
                  </a:txBody>
                  <a:tcPr marL="68057" marR="68057" marT="34028" marB="34028" anchor="ctr"/>
                </a:tc>
                <a:extLst>
                  <a:ext uri="{0D108BD9-81ED-4DB2-BD59-A6C34878D82A}">
                    <a16:rowId xmlns:a16="http://schemas.microsoft.com/office/drawing/2014/main" val="714109620"/>
                  </a:ext>
                </a:extLst>
              </a:tr>
              <a:tr h="362435">
                <a:tc>
                  <a:txBody>
                    <a:bodyPr/>
                    <a:lstStyle/>
                    <a:p>
                      <a:r>
                        <a:rPr lang="en-US" sz="1300"/>
                        <a:t>Beginning Database</a:t>
                      </a:r>
                    </a:p>
                  </a:txBody>
                  <a:tcPr marL="68057" marR="68057" marT="34028" marB="34028" anchor="ctr"/>
                </a:tc>
                <a:tc>
                  <a:txBody>
                    <a:bodyPr/>
                    <a:lstStyle/>
                    <a:p>
                      <a:r>
                        <a:rPr lang="fr-FR" sz="1300"/>
                        <a:t>Chad Russell </a:t>
                      </a:r>
                    </a:p>
                  </a:txBody>
                  <a:tcPr marL="68057" marR="68057" marT="34028" marB="34028" anchor="ctr">
                    <a:solidFill>
                      <a:srgbClr val="CBEAE7"/>
                    </a:solidFill>
                  </a:tcPr>
                </a:tc>
                <a:tc>
                  <a:txBody>
                    <a:bodyPr/>
                    <a:lstStyle/>
                    <a:p>
                      <a:r>
                        <a:rPr lang="fr-FR" sz="1300"/>
                        <a:t>520 </a:t>
                      </a:r>
                    </a:p>
                  </a:txBody>
                  <a:tcPr marL="68057" marR="68057" marT="34028" marB="34028" anchor="ctr"/>
                </a:tc>
                <a:tc>
                  <a:txBody>
                    <a:bodyPr/>
                    <a:lstStyle/>
                    <a:p>
                      <a:r>
                        <a:rPr lang="fr-FR" sz="1300"/>
                        <a:t>Thick </a:t>
                      </a:r>
                    </a:p>
                  </a:txBody>
                  <a:tcPr marL="68057" marR="68057" marT="34028" marB="34028" anchor="ctr"/>
                </a:tc>
                <a:tc>
                  <a:txBody>
                    <a:bodyPr/>
                    <a:lstStyle/>
                    <a:p>
                      <a:r>
                        <a:rPr lang="fr-FR" sz="1300"/>
                        <a:t>1 </a:t>
                      </a:r>
                    </a:p>
                  </a:txBody>
                  <a:tcPr marL="68057" marR="68057" marT="34028" marB="34028" anchor="ctr">
                    <a:solidFill>
                      <a:srgbClr val="CBEAE7"/>
                    </a:solidFill>
                  </a:tcPr>
                </a:tc>
                <a:tc>
                  <a:txBody>
                    <a:bodyPr/>
                    <a:lstStyle/>
                    <a:p>
                      <a:r>
                        <a:rPr lang="fr-FR" sz="1300"/>
                        <a:t>1 </a:t>
                      </a:r>
                    </a:p>
                  </a:txBody>
                  <a:tcPr marL="68057" marR="68057" marT="34028" marB="34028" anchor="ctr"/>
                </a:tc>
                <a:extLst>
                  <a:ext uri="{0D108BD9-81ED-4DB2-BD59-A6C34878D82A}">
                    <a16:rowId xmlns:a16="http://schemas.microsoft.com/office/drawing/2014/main" val="463138947"/>
                  </a:ext>
                </a:extLst>
              </a:tr>
              <a:tr h="362435">
                <a:tc>
                  <a:txBody>
                    <a:bodyPr/>
                    <a:lstStyle/>
                    <a:p>
                      <a:r>
                        <a:rPr lang="fr-FR" sz="1300" err="1"/>
                        <a:t>Relational</a:t>
                      </a:r>
                      <a:r>
                        <a:rPr lang="fr-FR" sz="1300"/>
                        <a:t> Model</a:t>
                      </a:r>
                    </a:p>
                  </a:txBody>
                  <a:tcPr marL="68057" marR="68057" marT="34028" marB="34028" anchor="ctr"/>
                </a:tc>
                <a:tc>
                  <a:txBody>
                    <a:bodyPr/>
                    <a:lstStyle/>
                    <a:p>
                      <a:r>
                        <a:rPr lang="fr-FR" sz="1300"/>
                        <a:t>E.F.Codd </a:t>
                      </a:r>
                    </a:p>
                  </a:txBody>
                  <a:tcPr marL="68057" marR="68057" marT="34028" marB="34028" anchor="ctr">
                    <a:solidFill>
                      <a:srgbClr val="E7F5F3"/>
                    </a:solidFill>
                  </a:tcPr>
                </a:tc>
                <a:tc>
                  <a:txBody>
                    <a:bodyPr/>
                    <a:lstStyle/>
                    <a:p>
                      <a:r>
                        <a:rPr lang="fr-FR" sz="1300"/>
                        <a:t>538 </a:t>
                      </a:r>
                    </a:p>
                  </a:txBody>
                  <a:tcPr marL="68057" marR="68057" marT="34028" marB="34028" anchor="ctr"/>
                </a:tc>
                <a:tc>
                  <a:txBody>
                    <a:bodyPr/>
                    <a:lstStyle/>
                    <a:p>
                      <a:r>
                        <a:rPr lang="fr-FR" sz="1300"/>
                        <a:t>Thick </a:t>
                      </a:r>
                    </a:p>
                  </a:txBody>
                  <a:tcPr marL="68057" marR="68057" marT="34028" marB="34028" anchor="ctr"/>
                </a:tc>
                <a:tc>
                  <a:txBody>
                    <a:bodyPr/>
                    <a:lstStyle/>
                    <a:p>
                      <a:r>
                        <a:rPr lang="fr-FR" sz="1300"/>
                        <a:t>2 </a:t>
                      </a:r>
                    </a:p>
                  </a:txBody>
                  <a:tcPr marL="68057" marR="68057" marT="34028" marB="34028" anchor="ctr">
                    <a:solidFill>
                      <a:srgbClr val="E7F5F3"/>
                    </a:solidFill>
                  </a:tcPr>
                </a:tc>
                <a:tc>
                  <a:txBody>
                    <a:bodyPr/>
                    <a:lstStyle/>
                    <a:p>
                      <a:r>
                        <a:rPr lang="fr-FR" sz="1300"/>
                        <a:t>2</a:t>
                      </a:r>
                    </a:p>
                  </a:txBody>
                  <a:tcPr marL="68057" marR="68057" marT="34028" marB="34028" anchor="ctr"/>
                </a:tc>
                <a:extLst>
                  <a:ext uri="{0D108BD9-81ED-4DB2-BD59-A6C34878D82A}">
                    <a16:rowId xmlns:a16="http://schemas.microsoft.com/office/drawing/2014/main" val="3234629939"/>
                  </a:ext>
                </a:extLst>
              </a:tr>
            </a:tbl>
          </a:graphicData>
        </a:graphic>
      </p:graphicFrame>
      <p:graphicFrame>
        <p:nvGraphicFramePr>
          <p:cNvPr id="5" name="Tableau 4">
            <a:extLst>
              <a:ext uri="{FF2B5EF4-FFF2-40B4-BE49-F238E27FC236}">
                <a16:creationId xmlns:a16="http://schemas.microsoft.com/office/drawing/2014/main" id="{0B7C1338-76D5-4E9C-BE7D-016552F37D58}"/>
              </a:ext>
            </a:extLst>
          </p:cNvPr>
          <p:cNvGraphicFramePr>
            <a:graphicFrameLocks noGrp="1"/>
          </p:cNvGraphicFramePr>
          <p:nvPr>
            <p:extLst>
              <p:ext uri="{D42A27DB-BD31-4B8C-83A1-F6EECF244321}">
                <p14:modId xmlns:p14="http://schemas.microsoft.com/office/powerpoint/2010/main" val="2146682779"/>
              </p:ext>
            </p:extLst>
          </p:nvPr>
        </p:nvGraphicFramePr>
        <p:xfrm>
          <a:off x="8487830" y="4993045"/>
          <a:ext cx="1965492" cy="1489147"/>
        </p:xfrm>
        <a:graphic>
          <a:graphicData uri="http://schemas.openxmlformats.org/drawingml/2006/table">
            <a:tbl>
              <a:tblPr firstRow="1" bandRow="1">
                <a:tableStyleId>{5C22544A-7EE6-4342-B048-85BDC9FD1C3A}</a:tableStyleId>
              </a:tblPr>
              <a:tblGrid>
                <a:gridCol w="982746">
                  <a:extLst>
                    <a:ext uri="{9D8B030D-6E8A-4147-A177-3AD203B41FA5}">
                      <a16:colId xmlns:a16="http://schemas.microsoft.com/office/drawing/2014/main" val="2968970217"/>
                    </a:ext>
                  </a:extLst>
                </a:gridCol>
                <a:gridCol w="982746">
                  <a:extLst>
                    <a:ext uri="{9D8B030D-6E8A-4147-A177-3AD203B41FA5}">
                      <a16:colId xmlns:a16="http://schemas.microsoft.com/office/drawing/2014/main" val="1244394709"/>
                    </a:ext>
                  </a:extLst>
                </a:gridCol>
              </a:tblGrid>
              <a:tr h="362435">
                <a:tc>
                  <a:txBody>
                    <a:bodyPr/>
                    <a:lstStyle/>
                    <a:p>
                      <a:r>
                        <a:rPr lang="fr-FR" sz="1300" u="sng"/>
                        <a:t>Author </a:t>
                      </a:r>
                    </a:p>
                  </a:txBody>
                  <a:tcPr marL="68057" marR="68057" marT="34028" marB="34028" anchor="ctr">
                    <a:solidFill>
                      <a:srgbClr val="00C6BB"/>
                    </a:solidFill>
                  </a:tcPr>
                </a:tc>
                <a:tc>
                  <a:txBody>
                    <a:bodyPr/>
                    <a:lstStyle/>
                    <a:p>
                      <a:r>
                        <a:rPr lang="fr-FR" sz="1300"/>
                        <a:t>Author </a:t>
                      </a:r>
                      <a:r>
                        <a:rPr lang="fr-FR" sz="1300" err="1"/>
                        <a:t>Nationality</a:t>
                      </a:r>
                      <a:r>
                        <a:rPr lang="fr-FR" sz="1300"/>
                        <a:t> </a:t>
                      </a:r>
                    </a:p>
                  </a:txBody>
                  <a:tcPr marL="68057" marR="68057" marT="34028" marB="34028" anchor="ctr">
                    <a:solidFill>
                      <a:srgbClr val="00C6BB"/>
                    </a:solidFill>
                  </a:tcPr>
                </a:tc>
                <a:extLst>
                  <a:ext uri="{0D108BD9-81ED-4DB2-BD59-A6C34878D82A}">
                    <a16:rowId xmlns:a16="http://schemas.microsoft.com/office/drawing/2014/main" val="2042409855"/>
                  </a:ext>
                </a:extLst>
              </a:tr>
              <a:tr h="362435">
                <a:tc>
                  <a:txBody>
                    <a:bodyPr/>
                    <a:lstStyle/>
                    <a:p>
                      <a:r>
                        <a:rPr lang="fr-FR" sz="1300"/>
                        <a:t>Chad Russell </a:t>
                      </a:r>
                    </a:p>
                  </a:txBody>
                  <a:tcPr marL="68057" marR="68057" marT="34028" marB="34028" anchor="ctr">
                    <a:solidFill>
                      <a:srgbClr val="CBEAE7"/>
                    </a:solidFill>
                  </a:tcPr>
                </a:tc>
                <a:tc>
                  <a:txBody>
                    <a:bodyPr/>
                    <a:lstStyle/>
                    <a:p>
                      <a:r>
                        <a:rPr lang="fr-FR" sz="1300"/>
                        <a:t>American </a:t>
                      </a:r>
                    </a:p>
                  </a:txBody>
                  <a:tcPr marL="68057" marR="68057" marT="34028" marB="34028" anchor="ctr">
                    <a:solidFill>
                      <a:srgbClr val="CBEAE7"/>
                    </a:solidFill>
                  </a:tcPr>
                </a:tc>
                <a:extLst>
                  <a:ext uri="{0D108BD9-81ED-4DB2-BD59-A6C34878D82A}">
                    <a16:rowId xmlns:a16="http://schemas.microsoft.com/office/drawing/2014/main" val="550535087"/>
                  </a:ext>
                </a:extLst>
              </a:tr>
              <a:tr h="362435">
                <a:tc>
                  <a:txBody>
                    <a:bodyPr/>
                    <a:lstStyle/>
                    <a:p>
                      <a:r>
                        <a:rPr lang="fr-FR" sz="1300" err="1"/>
                        <a:t>E.F.Codd</a:t>
                      </a:r>
                      <a:r>
                        <a:rPr lang="fr-FR" sz="1300"/>
                        <a:t> </a:t>
                      </a:r>
                    </a:p>
                  </a:txBody>
                  <a:tcPr marL="68057" marR="68057" marT="34028" marB="34028" anchor="ctr">
                    <a:solidFill>
                      <a:srgbClr val="E7F5F3"/>
                    </a:solidFill>
                  </a:tcPr>
                </a:tc>
                <a:tc>
                  <a:txBody>
                    <a:bodyPr/>
                    <a:lstStyle/>
                    <a:p>
                      <a:r>
                        <a:rPr lang="fr-FR" sz="1300"/>
                        <a:t>British </a:t>
                      </a:r>
                    </a:p>
                  </a:txBody>
                  <a:tcPr marL="68057" marR="68057" marT="34028" marB="34028" anchor="ctr">
                    <a:solidFill>
                      <a:srgbClr val="E7F5F3"/>
                    </a:solidFill>
                  </a:tcPr>
                </a:tc>
                <a:extLst>
                  <a:ext uri="{0D108BD9-81ED-4DB2-BD59-A6C34878D82A}">
                    <a16:rowId xmlns:a16="http://schemas.microsoft.com/office/drawing/2014/main" val="1686648181"/>
                  </a:ext>
                </a:extLst>
              </a:tr>
            </a:tbl>
          </a:graphicData>
        </a:graphic>
      </p:graphicFrame>
    </p:spTree>
    <p:extLst>
      <p:ext uri="{BB962C8B-B14F-4D97-AF65-F5344CB8AC3E}">
        <p14:creationId xmlns:p14="http://schemas.microsoft.com/office/powerpoint/2010/main" val="273632235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2C5577-529E-4389-A205-57008FE8D588}"/>
              </a:ext>
            </a:extLst>
          </p:cNvPr>
          <p:cNvSpPr>
            <a:spLocks noGrp="1"/>
          </p:cNvSpPr>
          <p:nvPr>
            <p:ph type="title"/>
          </p:nvPr>
        </p:nvSpPr>
        <p:spPr/>
        <p:txBody>
          <a:bodyPr>
            <a:normAutofit fontScale="90000"/>
          </a:bodyPr>
          <a:lstStyle/>
          <a:p>
            <a:r>
              <a:rPr lang="fr-FR"/>
              <a:t>Méthodologie de conception d’une base de données relationnelle</a:t>
            </a:r>
          </a:p>
        </p:txBody>
      </p:sp>
      <p:sp>
        <p:nvSpPr>
          <p:cNvPr id="3" name="Espace réservé du texte 2">
            <a:extLst>
              <a:ext uri="{FF2B5EF4-FFF2-40B4-BE49-F238E27FC236}">
                <a16:creationId xmlns:a16="http://schemas.microsoft.com/office/drawing/2014/main" id="{F0B9C18C-E3F5-4178-B572-BA43500A4D67}"/>
              </a:ext>
            </a:extLst>
          </p:cNvPr>
          <p:cNvSpPr>
            <a:spLocks noGrp="1"/>
          </p:cNvSpPr>
          <p:nvPr>
            <p:ph type="body" idx="1"/>
          </p:nvPr>
        </p:nvSpPr>
        <p:spPr/>
        <p:txBody>
          <a:bodyPr/>
          <a:lstStyle/>
          <a:p>
            <a:r>
              <a:rPr lang="fr-FR"/>
              <a:t>Comment construire une base de données ?</a:t>
            </a:r>
          </a:p>
        </p:txBody>
      </p:sp>
      <p:sp>
        <p:nvSpPr>
          <p:cNvPr id="6" name="Espace réservé du numéro de diapositive 5">
            <a:extLst>
              <a:ext uri="{FF2B5EF4-FFF2-40B4-BE49-F238E27FC236}">
                <a16:creationId xmlns:a16="http://schemas.microsoft.com/office/drawing/2014/main" id="{AC016694-9E9A-4996-960E-D50A797BAB58}"/>
              </a:ext>
            </a:extLst>
          </p:cNvPr>
          <p:cNvSpPr>
            <a:spLocks noGrp="1"/>
          </p:cNvSpPr>
          <p:nvPr>
            <p:ph type="sldNum" sz="quarter" idx="12"/>
          </p:nvPr>
        </p:nvSpPr>
        <p:spPr/>
        <p:txBody>
          <a:bodyPr/>
          <a:lstStyle/>
          <a:p>
            <a:fld id="{27C6CCC6-2BE5-4E42-96A4-D1E8E81A3D8E}" type="slidenum">
              <a:rPr lang="de-DE" smtClean="0"/>
              <a:t>197</a:t>
            </a:fld>
            <a:endParaRPr lang="de-DE"/>
          </a:p>
        </p:txBody>
      </p:sp>
    </p:spTree>
    <p:extLst>
      <p:ext uri="{BB962C8B-B14F-4D97-AF65-F5344CB8AC3E}">
        <p14:creationId xmlns:p14="http://schemas.microsoft.com/office/powerpoint/2010/main" val="83653218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a:t>Les exemples étudiés jusqu'à présent en cours et en TD sont relativement simples et peuvent être appréhendés rapidement</a:t>
            </a:r>
          </a:p>
          <a:p>
            <a:r>
              <a:rPr lang="fr-FR"/>
              <a:t>Mais le système d'information d'une entreprise peut facilement compter des centaines d'entités en relation</a:t>
            </a:r>
          </a:p>
          <a:p>
            <a:r>
              <a:rPr lang="fr-FR"/>
              <a:t>Une erreur de conception peut bloquer l'évolution du système d'information ou coûter cher en performances (difficile de réaliser directement une base normalisée)</a:t>
            </a:r>
          </a:p>
        </p:txBody>
      </p:sp>
      <p:sp>
        <p:nvSpPr>
          <p:cNvPr id="6" name="Espace réservé du numéro de diapositive 5">
            <a:extLst>
              <a:ext uri="{FF2B5EF4-FFF2-40B4-BE49-F238E27FC236}">
                <a16:creationId xmlns:a16="http://schemas.microsoft.com/office/drawing/2014/main" id="{DF9598C0-EBBB-48F1-88BF-9B9E9587EFB7}"/>
              </a:ext>
            </a:extLst>
          </p:cNvPr>
          <p:cNvSpPr>
            <a:spLocks noGrp="1"/>
          </p:cNvSpPr>
          <p:nvPr>
            <p:ph type="sldNum" sz="quarter" idx="12"/>
          </p:nvPr>
        </p:nvSpPr>
        <p:spPr/>
        <p:txBody>
          <a:bodyPr/>
          <a:lstStyle/>
          <a:p>
            <a:fld id="{27C6CCC6-2BE5-4E42-96A4-D1E8E81A3D8E}" type="slidenum">
              <a:rPr lang="de-DE" smtClean="0"/>
              <a:t>198</a:t>
            </a:fld>
            <a:endParaRPr lang="de-DE"/>
          </a:p>
        </p:txBody>
      </p:sp>
    </p:spTree>
    <p:extLst>
      <p:ext uri="{BB962C8B-B14F-4D97-AF65-F5344CB8AC3E}">
        <p14:creationId xmlns:p14="http://schemas.microsoft.com/office/powerpoint/2010/main" val="386380751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a:t>Pour éviter ce genre de désagrément, une méthodologie doit être suivie pour concevoir la base de données</a:t>
            </a:r>
          </a:p>
          <a:p>
            <a:r>
              <a:rPr lang="fr-FR"/>
              <a:t>Suivre une méthodologie permet notamment de :</a:t>
            </a:r>
          </a:p>
          <a:p>
            <a:pPr lvl="1"/>
            <a:r>
              <a:rPr lang="fr-FR"/>
              <a:t>Concevoir une base qui répond bien aux besoins</a:t>
            </a:r>
          </a:p>
          <a:p>
            <a:pPr lvl="1"/>
            <a:r>
              <a:rPr lang="fr-FR"/>
              <a:t>Concevoir directement une base normalisée (en identifiant clairement les clés, les dépendances fonctionnelles)</a:t>
            </a:r>
          </a:p>
        </p:txBody>
      </p:sp>
      <p:sp>
        <p:nvSpPr>
          <p:cNvPr id="6" name="Espace réservé du numéro de diapositive 5">
            <a:extLst>
              <a:ext uri="{FF2B5EF4-FFF2-40B4-BE49-F238E27FC236}">
                <a16:creationId xmlns:a16="http://schemas.microsoft.com/office/drawing/2014/main" id="{E6205CCD-3A75-4A4E-AE8F-9BF346C8BDA5}"/>
              </a:ext>
            </a:extLst>
          </p:cNvPr>
          <p:cNvSpPr>
            <a:spLocks noGrp="1"/>
          </p:cNvSpPr>
          <p:nvPr>
            <p:ph type="sldNum" sz="quarter" idx="12"/>
          </p:nvPr>
        </p:nvSpPr>
        <p:spPr/>
        <p:txBody>
          <a:bodyPr/>
          <a:lstStyle/>
          <a:p>
            <a:fld id="{27C6CCC6-2BE5-4E42-96A4-D1E8E81A3D8E}" type="slidenum">
              <a:rPr lang="de-DE" smtClean="0"/>
              <a:t>199</a:t>
            </a:fld>
            <a:endParaRPr lang="de-DE"/>
          </a:p>
        </p:txBody>
      </p:sp>
    </p:spTree>
    <p:extLst>
      <p:ext uri="{BB962C8B-B14F-4D97-AF65-F5344CB8AC3E}">
        <p14:creationId xmlns:p14="http://schemas.microsoft.com/office/powerpoint/2010/main" val="235713015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a:t>De nombreuses méthodologies existent, nous ne les étudierons pas en détail</a:t>
            </a:r>
          </a:p>
          <a:p>
            <a:r>
              <a:rPr lang="fr-FR"/>
              <a:t>Nous verrons seulement quelques principes et les outils associés</a:t>
            </a:r>
          </a:p>
        </p:txBody>
      </p:sp>
      <p:sp>
        <p:nvSpPr>
          <p:cNvPr id="6" name="Espace réservé du numéro de diapositive 5">
            <a:extLst>
              <a:ext uri="{FF2B5EF4-FFF2-40B4-BE49-F238E27FC236}">
                <a16:creationId xmlns:a16="http://schemas.microsoft.com/office/drawing/2014/main" id="{589ECD49-302F-46B7-89C3-CD9CC8F19536}"/>
              </a:ext>
            </a:extLst>
          </p:cNvPr>
          <p:cNvSpPr>
            <a:spLocks noGrp="1"/>
          </p:cNvSpPr>
          <p:nvPr>
            <p:ph type="sldNum" sz="quarter" idx="12"/>
          </p:nvPr>
        </p:nvSpPr>
        <p:spPr/>
        <p:txBody>
          <a:bodyPr/>
          <a:lstStyle/>
          <a:p>
            <a:fld id="{27C6CCC6-2BE5-4E42-96A4-D1E8E81A3D8E}" type="slidenum">
              <a:rPr lang="de-DE" smtClean="0"/>
              <a:t>200</a:t>
            </a:fld>
            <a:endParaRPr lang="de-DE"/>
          </a:p>
        </p:txBody>
      </p:sp>
    </p:spTree>
    <p:extLst>
      <p:ext uri="{BB962C8B-B14F-4D97-AF65-F5344CB8AC3E}">
        <p14:creationId xmlns:p14="http://schemas.microsoft.com/office/powerpoint/2010/main" val="261906268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b="1" dirty="0"/>
              <a:t>Analyse</a:t>
            </a:r>
            <a:r>
              <a:rPr lang="fr-FR" dirty="0"/>
              <a:t> : Déterminez la raison d’être de votre base de données</a:t>
            </a:r>
          </a:p>
          <a:p>
            <a:r>
              <a:rPr lang="fr-FR" b="1" dirty="0"/>
              <a:t>Conception</a:t>
            </a:r>
            <a:r>
              <a:rPr lang="fr-FR" dirty="0"/>
              <a:t> : Recherchez et organisez les informations requises</a:t>
            </a:r>
          </a:p>
          <a:p>
            <a:r>
              <a:rPr lang="fr-FR" b="1" dirty="0"/>
              <a:t>Implémentation</a:t>
            </a:r>
            <a:r>
              <a:rPr lang="fr-FR" dirty="0"/>
              <a:t> : Divisez les informations en table, transformer les attributs en colonnes, spécifier les clés primaires et les relations</a:t>
            </a:r>
          </a:p>
          <a:p>
            <a:r>
              <a:rPr lang="fr-FR" b="1" dirty="0"/>
              <a:t>Évaluation</a:t>
            </a:r>
            <a:r>
              <a:rPr lang="fr-FR" dirty="0"/>
              <a:t> : Vérifiez votre conception, appliquez les règles de normalisation</a:t>
            </a:r>
          </a:p>
        </p:txBody>
      </p:sp>
      <p:sp>
        <p:nvSpPr>
          <p:cNvPr id="6" name="Espace réservé du numéro de diapositive 5">
            <a:extLst>
              <a:ext uri="{FF2B5EF4-FFF2-40B4-BE49-F238E27FC236}">
                <a16:creationId xmlns:a16="http://schemas.microsoft.com/office/drawing/2014/main" id="{589ECD49-302F-46B7-89C3-CD9CC8F19536}"/>
              </a:ext>
            </a:extLst>
          </p:cNvPr>
          <p:cNvSpPr>
            <a:spLocks noGrp="1"/>
          </p:cNvSpPr>
          <p:nvPr>
            <p:ph type="sldNum" sz="quarter" idx="12"/>
          </p:nvPr>
        </p:nvSpPr>
        <p:spPr/>
        <p:txBody>
          <a:bodyPr/>
          <a:lstStyle/>
          <a:p>
            <a:fld id="{27C6CCC6-2BE5-4E42-96A4-D1E8E81A3D8E}" type="slidenum">
              <a:rPr lang="de-DE" smtClean="0"/>
              <a:t>201</a:t>
            </a:fld>
            <a:endParaRPr lang="de-DE"/>
          </a:p>
        </p:txBody>
      </p:sp>
    </p:spTree>
    <p:extLst>
      <p:ext uri="{BB962C8B-B14F-4D97-AF65-F5344CB8AC3E}">
        <p14:creationId xmlns:p14="http://schemas.microsoft.com/office/powerpoint/2010/main" val="3569096486"/>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graphicFrame>
        <p:nvGraphicFramePr>
          <p:cNvPr id="5" name="Espace réservé du contenu 4">
            <a:extLst>
              <a:ext uri="{FF2B5EF4-FFF2-40B4-BE49-F238E27FC236}">
                <a16:creationId xmlns:a16="http://schemas.microsoft.com/office/drawing/2014/main" id="{27062EEF-C241-442F-8AE9-0E6466CCEB11}"/>
              </a:ext>
            </a:extLst>
          </p:cNvPr>
          <p:cNvGraphicFramePr>
            <a:graphicFrameLocks noGrp="1"/>
          </p:cNvGraphicFramePr>
          <p:nvPr>
            <p:ph idx="1"/>
          </p:nvPr>
        </p:nvGraphicFramePr>
        <p:xfrm>
          <a:off x="3432706" y="2922662"/>
          <a:ext cx="5326587" cy="37174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Espace réservé du numéro de diapositive 6">
            <a:extLst>
              <a:ext uri="{FF2B5EF4-FFF2-40B4-BE49-F238E27FC236}">
                <a16:creationId xmlns:a16="http://schemas.microsoft.com/office/drawing/2014/main" id="{35017588-303B-464E-9F01-8D652E0A64E4}"/>
              </a:ext>
            </a:extLst>
          </p:cNvPr>
          <p:cNvSpPr>
            <a:spLocks noGrp="1"/>
          </p:cNvSpPr>
          <p:nvPr>
            <p:ph type="sldNum" sz="quarter" idx="12"/>
          </p:nvPr>
        </p:nvSpPr>
        <p:spPr/>
        <p:txBody>
          <a:bodyPr/>
          <a:lstStyle/>
          <a:p>
            <a:fld id="{27C6CCC6-2BE5-4E42-96A4-D1E8E81A3D8E}" type="slidenum">
              <a:rPr lang="de-DE" smtClean="0"/>
              <a:t>202</a:t>
            </a:fld>
            <a:endParaRPr lang="de-DE"/>
          </a:p>
        </p:txBody>
      </p:sp>
      <p:sp>
        <p:nvSpPr>
          <p:cNvPr id="6" name="ZoneTexte 5">
            <a:extLst>
              <a:ext uri="{FF2B5EF4-FFF2-40B4-BE49-F238E27FC236}">
                <a16:creationId xmlns:a16="http://schemas.microsoft.com/office/drawing/2014/main" id="{CCCA789E-6631-4F9E-86CA-AFED3B16A334}"/>
              </a:ext>
            </a:extLst>
          </p:cNvPr>
          <p:cNvSpPr txBox="1"/>
          <p:nvPr/>
        </p:nvSpPr>
        <p:spPr>
          <a:xfrm>
            <a:off x="810000" y="2418460"/>
            <a:ext cx="10468598" cy="369332"/>
          </a:xfrm>
          <a:prstGeom prst="rect">
            <a:avLst/>
          </a:prstGeom>
          <a:noFill/>
        </p:spPr>
        <p:txBody>
          <a:bodyPr wrap="square" rtlCol="0">
            <a:spAutoFit/>
          </a:bodyPr>
          <a:lstStyle/>
          <a:p>
            <a:pPr marL="285750" indent="-285750">
              <a:buFont typeface="Courier New" panose="02070309020205020404" pitchFamily="49" charset="0"/>
              <a:buChar char="o"/>
            </a:pPr>
            <a:r>
              <a:rPr lang="fr-FR"/>
              <a:t>Approche </a:t>
            </a:r>
            <a:r>
              <a:rPr lang="fr-FR" err="1"/>
              <a:t>Waterfall</a:t>
            </a:r>
            <a:r>
              <a:rPr lang="fr-FR"/>
              <a:t> (en cascade)</a:t>
            </a:r>
          </a:p>
        </p:txBody>
      </p:sp>
    </p:spTree>
    <p:extLst>
      <p:ext uri="{BB962C8B-B14F-4D97-AF65-F5344CB8AC3E}">
        <p14:creationId xmlns:p14="http://schemas.microsoft.com/office/powerpoint/2010/main" val="375194537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graphicFrame>
        <p:nvGraphicFramePr>
          <p:cNvPr id="5" name="Espace réservé du contenu 4">
            <a:extLst>
              <a:ext uri="{FF2B5EF4-FFF2-40B4-BE49-F238E27FC236}">
                <a16:creationId xmlns:a16="http://schemas.microsoft.com/office/drawing/2014/main" id="{27062EEF-C241-442F-8AE9-0E6466CCEB11}"/>
              </a:ext>
            </a:extLst>
          </p:cNvPr>
          <p:cNvGraphicFramePr>
            <a:graphicFrameLocks noGrp="1"/>
          </p:cNvGraphicFramePr>
          <p:nvPr>
            <p:ph idx="1"/>
          </p:nvPr>
        </p:nvGraphicFramePr>
        <p:xfrm>
          <a:off x="4244993" y="3067939"/>
          <a:ext cx="3702013" cy="27994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Espace réservé du numéro de diapositive 6">
            <a:extLst>
              <a:ext uri="{FF2B5EF4-FFF2-40B4-BE49-F238E27FC236}">
                <a16:creationId xmlns:a16="http://schemas.microsoft.com/office/drawing/2014/main" id="{6B7CC297-7432-49A5-BFCC-AB9A8D070E0A}"/>
              </a:ext>
            </a:extLst>
          </p:cNvPr>
          <p:cNvSpPr>
            <a:spLocks noGrp="1"/>
          </p:cNvSpPr>
          <p:nvPr>
            <p:ph type="sldNum" sz="quarter" idx="12"/>
          </p:nvPr>
        </p:nvSpPr>
        <p:spPr/>
        <p:txBody>
          <a:bodyPr/>
          <a:lstStyle/>
          <a:p>
            <a:fld id="{27C6CCC6-2BE5-4E42-96A4-D1E8E81A3D8E}" type="slidenum">
              <a:rPr lang="de-DE" smtClean="0"/>
              <a:t>203</a:t>
            </a:fld>
            <a:endParaRPr lang="de-DE"/>
          </a:p>
        </p:txBody>
      </p:sp>
      <p:sp>
        <p:nvSpPr>
          <p:cNvPr id="6" name="ZoneTexte 5">
            <a:extLst>
              <a:ext uri="{FF2B5EF4-FFF2-40B4-BE49-F238E27FC236}">
                <a16:creationId xmlns:a16="http://schemas.microsoft.com/office/drawing/2014/main" id="{CCCA789E-6631-4F9E-86CA-AFED3B16A334}"/>
              </a:ext>
            </a:extLst>
          </p:cNvPr>
          <p:cNvSpPr txBox="1"/>
          <p:nvPr/>
        </p:nvSpPr>
        <p:spPr>
          <a:xfrm>
            <a:off x="810000" y="2418460"/>
            <a:ext cx="10468598" cy="369332"/>
          </a:xfrm>
          <a:prstGeom prst="rect">
            <a:avLst/>
          </a:prstGeom>
          <a:noFill/>
        </p:spPr>
        <p:txBody>
          <a:bodyPr wrap="square" rtlCol="0">
            <a:spAutoFit/>
          </a:bodyPr>
          <a:lstStyle/>
          <a:p>
            <a:pPr marL="285750" indent="-285750">
              <a:buFont typeface="Courier New" panose="02070309020205020404" pitchFamily="49" charset="0"/>
              <a:buChar char="o"/>
            </a:pPr>
            <a:r>
              <a:rPr lang="fr-FR"/>
              <a:t>Approche Agile : succession de cycles courts</a:t>
            </a:r>
          </a:p>
        </p:txBody>
      </p:sp>
    </p:spTree>
    <p:extLst>
      <p:ext uri="{BB962C8B-B14F-4D97-AF65-F5344CB8AC3E}">
        <p14:creationId xmlns:p14="http://schemas.microsoft.com/office/powerpoint/2010/main" val="405313097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dirty="0"/>
              <a:t>Pour chacune des phases différents outils méthodologiques existent :</a:t>
            </a:r>
          </a:p>
          <a:p>
            <a:pPr lvl="1"/>
            <a:r>
              <a:rPr lang="fr-FR" b="1" dirty="0"/>
              <a:t>Analyse</a:t>
            </a:r>
            <a:r>
              <a:rPr lang="fr-FR" dirty="0"/>
              <a:t> : diagramme de cas d’utilisation</a:t>
            </a:r>
          </a:p>
          <a:p>
            <a:pPr lvl="1"/>
            <a:r>
              <a:rPr lang="fr-FR" b="1" dirty="0"/>
              <a:t>Conception</a:t>
            </a:r>
            <a:r>
              <a:rPr lang="fr-FR" dirty="0"/>
              <a:t> : modélisation conceptuelle, diagramme entité-association, diagramme UML relationnel</a:t>
            </a:r>
          </a:p>
          <a:p>
            <a:pPr lvl="1"/>
            <a:r>
              <a:rPr lang="fr-FR" b="1" dirty="0"/>
              <a:t>Implémentation</a:t>
            </a:r>
            <a:r>
              <a:rPr lang="fr-FR" dirty="0"/>
              <a:t> : traduction du modèle conceptuel en schéma de données</a:t>
            </a:r>
          </a:p>
          <a:p>
            <a:pPr lvl="1"/>
            <a:r>
              <a:rPr lang="fr-FR" b="1" dirty="0"/>
              <a:t>Evaluation/test </a:t>
            </a:r>
            <a:r>
              <a:rPr lang="fr-FR" dirty="0"/>
              <a:t>: formes normales, tests fonctionnels et non fonctionnels</a:t>
            </a:r>
          </a:p>
        </p:txBody>
      </p:sp>
      <p:sp>
        <p:nvSpPr>
          <p:cNvPr id="6" name="Espace réservé du numéro de diapositive 5">
            <a:extLst>
              <a:ext uri="{FF2B5EF4-FFF2-40B4-BE49-F238E27FC236}">
                <a16:creationId xmlns:a16="http://schemas.microsoft.com/office/drawing/2014/main" id="{589ECD49-302F-46B7-89C3-CD9CC8F19536}"/>
              </a:ext>
            </a:extLst>
          </p:cNvPr>
          <p:cNvSpPr>
            <a:spLocks noGrp="1"/>
          </p:cNvSpPr>
          <p:nvPr>
            <p:ph type="sldNum" sz="quarter" idx="12"/>
          </p:nvPr>
        </p:nvSpPr>
        <p:spPr/>
        <p:txBody>
          <a:bodyPr/>
          <a:lstStyle/>
          <a:p>
            <a:fld id="{27C6CCC6-2BE5-4E42-96A4-D1E8E81A3D8E}" type="slidenum">
              <a:rPr lang="de-DE" smtClean="0"/>
              <a:t>204</a:t>
            </a:fld>
            <a:endParaRPr lang="de-DE"/>
          </a:p>
        </p:txBody>
      </p:sp>
    </p:spTree>
    <p:extLst>
      <p:ext uri="{BB962C8B-B14F-4D97-AF65-F5344CB8AC3E}">
        <p14:creationId xmlns:p14="http://schemas.microsoft.com/office/powerpoint/2010/main" val="237267792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a:t>Analyse des cas d’utilisation :</a:t>
            </a:r>
          </a:p>
          <a:p>
            <a:pPr lvl="1"/>
            <a:r>
              <a:rPr lang="fr-FR"/>
              <a:t>Identifier clairement les cas d’utilisations du système d’information</a:t>
            </a:r>
          </a:p>
          <a:p>
            <a:pPr lvl="1"/>
            <a:r>
              <a:rPr lang="fr-FR"/>
              <a:t>Il est </a:t>
            </a:r>
            <a:r>
              <a:rPr lang="fr-FR" i="1"/>
              <a:t>a priori</a:t>
            </a:r>
            <a:r>
              <a:rPr lang="fr-FR"/>
              <a:t> inutile d’enregistrer des données qui ne seront pas utilisées</a:t>
            </a:r>
          </a:p>
        </p:txBody>
      </p:sp>
      <p:sp>
        <p:nvSpPr>
          <p:cNvPr id="6" name="Espace réservé du numéro de diapositive 5">
            <a:extLst>
              <a:ext uri="{FF2B5EF4-FFF2-40B4-BE49-F238E27FC236}">
                <a16:creationId xmlns:a16="http://schemas.microsoft.com/office/drawing/2014/main" id="{A40474A8-4319-49F7-969D-48173E9DC532}"/>
              </a:ext>
            </a:extLst>
          </p:cNvPr>
          <p:cNvSpPr>
            <a:spLocks noGrp="1"/>
          </p:cNvSpPr>
          <p:nvPr>
            <p:ph type="sldNum" sz="quarter" idx="12"/>
          </p:nvPr>
        </p:nvSpPr>
        <p:spPr/>
        <p:txBody>
          <a:bodyPr/>
          <a:lstStyle/>
          <a:p>
            <a:fld id="{27C6CCC6-2BE5-4E42-96A4-D1E8E81A3D8E}" type="slidenum">
              <a:rPr lang="de-DE" smtClean="0"/>
              <a:t>205</a:t>
            </a:fld>
            <a:endParaRPr lang="de-DE"/>
          </a:p>
        </p:txBody>
      </p:sp>
    </p:spTree>
    <p:extLst>
      <p:ext uri="{BB962C8B-B14F-4D97-AF65-F5344CB8AC3E}">
        <p14:creationId xmlns:p14="http://schemas.microsoft.com/office/powerpoint/2010/main" val="347029543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7"/>
            <a:ext cx="10554574" cy="3965862"/>
          </a:xfrm>
        </p:spPr>
        <p:txBody>
          <a:bodyPr/>
          <a:lstStyle/>
          <a:p>
            <a:r>
              <a:rPr lang="fr-FR" dirty="0"/>
              <a:t>Pour l’analyse des cas d’utilisation du système, on procède par étape :</a:t>
            </a:r>
          </a:p>
          <a:p>
            <a:pPr lvl="1"/>
            <a:r>
              <a:rPr lang="fr-FR" dirty="0"/>
              <a:t>On définit clairement les limites du système (un cadre qui regroupera les usages du système)</a:t>
            </a:r>
          </a:p>
          <a:p>
            <a:pPr lvl="1"/>
            <a:r>
              <a:rPr lang="fr-FR" dirty="0"/>
              <a:t>On définit les acteurs interagissant avec ce système</a:t>
            </a:r>
          </a:p>
          <a:p>
            <a:pPr lvl="1"/>
            <a:r>
              <a:rPr lang="fr-FR" dirty="0"/>
              <a:t>Pour chaque acteur on définit ses interactions avec le système</a:t>
            </a:r>
          </a:p>
        </p:txBody>
      </p:sp>
      <p:sp>
        <p:nvSpPr>
          <p:cNvPr id="6" name="Espace réservé du numéro de diapositive 5">
            <a:extLst>
              <a:ext uri="{FF2B5EF4-FFF2-40B4-BE49-F238E27FC236}">
                <a16:creationId xmlns:a16="http://schemas.microsoft.com/office/drawing/2014/main" id="{A40474A8-4319-49F7-969D-48173E9DC532}"/>
              </a:ext>
            </a:extLst>
          </p:cNvPr>
          <p:cNvSpPr>
            <a:spLocks noGrp="1"/>
          </p:cNvSpPr>
          <p:nvPr>
            <p:ph type="sldNum" sz="quarter" idx="12"/>
          </p:nvPr>
        </p:nvSpPr>
        <p:spPr/>
        <p:txBody>
          <a:bodyPr/>
          <a:lstStyle/>
          <a:p>
            <a:fld id="{27C6CCC6-2BE5-4E42-96A4-D1E8E81A3D8E}" type="slidenum">
              <a:rPr lang="de-DE" smtClean="0"/>
              <a:t>206</a:t>
            </a:fld>
            <a:endParaRPr lang="de-DE"/>
          </a:p>
        </p:txBody>
      </p:sp>
    </p:spTree>
    <p:extLst>
      <p:ext uri="{BB962C8B-B14F-4D97-AF65-F5344CB8AC3E}">
        <p14:creationId xmlns:p14="http://schemas.microsoft.com/office/powerpoint/2010/main" val="107371658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7"/>
            <a:ext cx="10554574" cy="604803"/>
          </a:xfrm>
        </p:spPr>
        <p:txBody>
          <a:bodyPr>
            <a:normAutofit/>
          </a:bodyPr>
          <a:lstStyle/>
          <a:p>
            <a:r>
              <a:rPr lang="fr-FR" dirty="0"/>
              <a:t>Outil pour l’analyse des cas d’utilisation : le diagramme de cas d’utilisation UML</a:t>
            </a:r>
          </a:p>
        </p:txBody>
      </p:sp>
      <p:sp>
        <p:nvSpPr>
          <p:cNvPr id="6" name="Espace réservé du numéro de diapositive 5">
            <a:extLst>
              <a:ext uri="{FF2B5EF4-FFF2-40B4-BE49-F238E27FC236}">
                <a16:creationId xmlns:a16="http://schemas.microsoft.com/office/drawing/2014/main" id="{A40474A8-4319-49F7-969D-48173E9DC532}"/>
              </a:ext>
            </a:extLst>
          </p:cNvPr>
          <p:cNvSpPr>
            <a:spLocks noGrp="1"/>
          </p:cNvSpPr>
          <p:nvPr>
            <p:ph type="sldNum" sz="quarter" idx="12"/>
          </p:nvPr>
        </p:nvSpPr>
        <p:spPr/>
        <p:txBody>
          <a:bodyPr/>
          <a:lstStyle/>
          <a:p>
            <a:fld id="{27C6CCC6-2BE5-4E42-96A4-D1E8E81A3D8E}" type="slidenum">
              <a:rPr lang="de-DE" smtClean="0"/>
              <a:t>207</a:t>
            </a:fld>
            <a:endParaRPr lang="de-DE"/>
          </a:p>
        </p:txBody>
      </p:sp>
      <p:pic>
        <p:nvPicPr>
          <p:cNvPr id="5" name="Image 4">
            <a:extLst>
              <a:ext uri="{FF2B5EF4-FFF2-40B4-BE49-F238E27FC236}">
                <a16:creationId xmlns:a16="http://schemas.microsoft.com/office/drawing/2014/main" id="{D7255D67-4DB2-43B9-A920-E9735993CF4C}"/>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829259" y="3429000"/>
            <a:ext cx="6533482" cy="2460945"/>
          </a:xfrm>
          <a:prstGeom prst="rect">
            <a:avLst/>
          </a:prstGeom>
        </p:spPr>
      </p:pic>
    </p:spTree>
    <p:extLst>
      <p:ext uri="{BB962C8B-B14F-4D97-AF65-F5344CB8AC3E}">
        <p14:creationId xmlns:p14="http://schemas.microsoft.com/office/powerpoint/2010/main" val="337732337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7"/>
            <a:ext cx="10554574" cy="4082820"/>
          </a:xfrm>
        </p:spPr>
        <p:txBody>
          <a:bodyPr/>
          <a:lstStyle/>
          <a:p>
            <a:r>
              <a:rPr lang="fr-FR" dirty="0"/>
              <a:t>Des relations de dépendances peuvent apparaître entre plusieurs usages du système</a:t>
            </a:r>
          </a:p>
          <a:p>
            <a:pPr lvl="1"/>
            <a:r>
              <a:rPr lang="fr-FR" dirty="0"/>
              <a:t>Un cas d’utilisation peut en « inclure » un autre pour signifier une relation de dépendance (par exemple « acheter » sur un site va inclure le cas d’utilisation « se connecter »)</a:t>
            </a:r>
          </a:p>
          <a:p>
            <a:pPr lvl="1"/>
            <a:r>
              <a:rPr lang="fr-FR" dirty="0"/>
              <a:t>Un cas d’utilisation peut en « étendre » un autre pour signifier qu’un cas d’utilisation peut en compléter un autre, de façon optionnelle (par exemple le cas d’utilisation « Téléphoner » peut être étendu par « Visualiser le nom de l’interlocuteur »)</a:t>
            </a:r>
          </a:p>
        </p:txBody>
      </p:sp>
      <p:sp>
        <p:nvSpPr>
          <p:cNvPr id="6" name="Espace réservé du numéro de diapositive 5">
            <a:extLst>
              <a:ext uri="{FF2B5EF4-FFF2-40B4-BE49-F238E27FC236}">
                <a16:creationId xmlns:a16="http://schemas.microsoft.com/office/drawing/2014/main" id="{A40474A8-4319-49F7-969D-48173E9DC532}"/>
              </a:ext>
            </a:extLst>
          </p:cNvPr>
          <p:cNvSpPr>
            <a:spLocks noGrp="1"/>
          </p:cNvSpPr>
          <p:nvPr>
            <p:ph type="sldNum" sz="quarter" idx="12"/>
          </p:nvPr>
        </p:nvSpPr>
        <p:spPr/>
        <p:txBody>
          <a:bodyPr/>
          <a:lstStyle/>
          <a:p>
            <a:fld id="{27C6CCC6-2BE5-4E42-96A4-D1E8E81A3D8E}" type="slidenum">
              <a:rPr lang="de-DE" smtClean="0"/>
              <a:t>208</a:t>
            </a:fld>
            <a:endParaRPr lang="de-DE"/>
          </a:p>
        </p:txBody>
      </p:sp>
    </p:spTree>
    <p:extLst>
      <p:ext uri="{BB962C8B-B14F-4D97-AF65-F5344CB8AC3E}">
        <p14:creationId xmlns:p14="http://schemas.microsoft.com/office/powerpoint/2010/main" val="287436103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7"/>
            <a:ext cx="10554574" cy="4082820"/>
          </a:xfrm>
        </p:spPr>
        <p:txBody>
          <a:bodyPr anchor="t"/>
          <a:lstStyle/>
          <a:p>
            <a:r>
              <a:rPr lang="fr-FR" dirty="0"/>
              <a:t>Dans un diagramme UML, les notations seraient :</a:t>
            </a:r>
          </a:p>
          <a:p>
            <a:endParaRPr lang="fr-FR" dirty="0"/>
          </a:p>
          <a:p>
            <a:pPr marL="0" indent="0">
              <a:buNone/>
            </a:pPr>
            <a:r>
              <a:rPr lang="fr-FR" dirty="0"/>
              <a:t>	</a:t>
            </a:r>
          </a:p>
        </p:txBody>
      </p:sp>
      <p:sp>
        <p:nvSpPr>
          <p:cNvPr id="6" name="Espace réservé du numéro de diapositive 5">
            <a:extLst>
              <a:ext uri="{FF2B5EF4-FFF2-40B4-BE49-F238E27FC236}">
                <a16:creationId xmlns:a16="http://schemas.microsoft.com/office/drawing/2014/main" id="{A40474A8-4319-49F7-969D-48173E9DC532}"/>
              </a:ext>
            </a:extLst>
          </p:cNvPr>
          <p:cNvSpPr>
            <a:spLocks noGrp="1"/>
          </p:cNvSpPr>
          <p:nvPr>
            <p:ph type="sldNum" sz="quarter" idx="12"/>
          </p:nvPr>
        </p:nvSpPr>
        <p:spPr/>
        <p:txBody>
          <a:bodyPr/>
          <a:lstStyle/>
          <a:p>
            <a:fld id="{27C6CCC6-2BE5-4E42-96A4-D1E8E81A3D8E}" type="slidenum">
              <a:rPr lang="de-DE" smtClean="0"/>
              <a:t>209</a:t>
            </a:fld>
            <a:endParaRPr lang="de-DE"/>
          </a:p>
        </p:txBody>
      </p:sp>
      <p:sp>
        <p:nvSpPr>
          <p:cNvPr id="4" name="Ellipse 3">
            <a:extLst>
              <a:ext uri="{FF2B5EF4-FFF2-40B4-BE49-F238E27FC236}">
                <a16:creationId xmlns:a16="http://schemas.microsoft.com/office/drawing/2014/main" id="{A3E1046E-4F25-4C91-AD61-B10211E2041A}"/>
              </a:ext>
            </a:extLst>
          </p:cNvPr>
          <p:cNvSpPr/>
          <p:nvPr/>
        </p:nvSpPr>
        <p:spPr>
          <a:xfrm>
            <a:off x="1998921" y="2838893"/>
            <a:ext cx="2721935" cy="9888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A6CFE68E-55AC-48FC-8194-46DA5B895838}"/>
              </a:ext>
            </a:extLst>
          </p:cNvPr>
          <p:cNvSpPr/>
          <p:nvPr/>
        </p:nvSpPr>
        <p:spPr>
          <a:xfrm>
            <a:off x="2023033" y="2838893"/>
            <a:ext cx="2721935" cy="9888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Acheter</a:t>
            </a:r>
          </a:p>
        </p:txBody>
      </p:sp>
      <p:sp>
        <p:nvSpPr>
          <p:cNvPr id="9" name="Ellipse 8">
            <a:extLst>
              <a:ext uri="{FF2B5EF4-FFF2-40B4-BE49-F238E27FC236}">
                <a16:creationId xmlns:a16="http://schemas.microsoft.com/office/drawing/2014/main" id="{84B9183C-F7C0-492E-A00A-3F289C414D53}"/>
              </a:ext>
            </a:extLst>
          </p:cNvPr>
          <p:cNvSpPr/>
          <p:nvPr/>
        </p:nvSpPr>
        <p:spPr>
          <a:xfrm>
            <a:off x="7932284" y="2833206"/>
            <a:ext cx="2721935" cy="9888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Se connecter</a:t>
            </a:r>
          </a:p>
        </p:txBody>
      </p:sp>
      <p:sp>
        <p:nvSpPr>
          <p:cNvPr id="10" name="Ellipse 9">
            <a:extLst>
              <a:ext uri="{FF2B5EF4-FFF2-40B4-BE49-F238E27FC236}">
                <a16:creationId xmlns:a16="http://schemas.microsoft.com/office/drawing/2014/main" id="{74958B9B-F616-4788-9F0E-ABF2897E2D5D}"/>
              </a:ext>
            </a:extLst>
          </p:cNvPr>
          <p:cNvSpPr/>
          <p:nvPr/>
        </p:nvSpPr>
        <p:spPr>
          <a:xfrm>
            <a:off x="2023033" y="4824709"/>
            <a:ext cx="2721935" cy="9888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Téléphoner</a:t>
            </a:r>
          </a:p>
        </p:txBody>
      </p:sp>
      <p:sp>
        <p:nvSpPr>
          <p:cNvPr id="11" name="Ellipse 10">
            <a:extLst>
              <a:ext uri="{FF2B5EF4-FFF2-40B4-BE49-F238E27FC236}">
                <a16:creationId xmlns:a16="http://schemas.microsoft.com/office/drawing/2014/main" id="{8BECA28B-3B36-4FE9-9DF4-D04931831C6B}"/>
              </a:ext>
            </a:extLst>
          </p:cNvPr>
          <p:cNvSpPr/>
          <p:nvPr/>
        </p:nvSpPr>
        <p:spPr>
          <a:xfrm>
            <a:off x="7932283" y="4824709"/>
            <a:ext cx="2721935" cy="9888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Visualiser numéro</a:t>
            </a:r>
          </a:p>
        </p:txBody>
      </p:sp>
      <p:cxnSp>
        <p:nvCxnSpPr>
          <p:cNvPr id="12" name="Connecteur droit avec flèche 11">
            <a:extLst>
              <a:ext uri="{FF2B5EF4-FFF2-40B4-BE49-F238E27FC236}">
                <a16:creationId xmlns:a16="http://schemas.microsoft.com/office/drawing/2014/main" id="{6F4495FB-DE67-4C3D-918B-34A8EDF0E641}"/>
              </a:ext>
            </a:extLst>
          </p:cNvPr>
          <p:cNvCxnSpPr>
            <a:cxnSpLocks/>
            <a:endCxn id="9" idx="2"/>
          </p:cNvCxnSpPr>
          <p:nvPr/>
        </p:nvCxnSpPr>
        <p:spPr>
          <a:xfrm>
            <a:off x="4744968" y="3327620"/>
            <a:ext cx="3187316" cy="0"/>
          </a:xfrm>
          <a:prstGeom prst="straightConnector1">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ZoneTexte 13">
            <a:extLst>
              <a:ext uri="{FF2B5EF4-FFF2-40B4-BE49-F238E27FC236}">
                <a16:creationId xmlns:a16="http://schemas.microsoft.com/office/drawing/2014/main" id="{65CCA8AB-872C-4259-8C4E-CEC6E427A403}"/>
              </a:ext>
            </a:extLst>
          </p:cNvPr>
          <p:cNvSpPr txBox="1"/>
          <p:nvPr/>
        </p:nvSpPr>
        <p:spPr>
          <a:xfrm>
            <a:off x="5556120" y="2958288"/>
            <a:ext cx="1576072" cy="369332"/>
          </a:xfrm>
          <a:prstGeom prst="rect">
            <a:avLst/>
          </a:prstGeom>
          <a:noFill/>
        </p:spPr>
        <p:txBody>
          <a:bodyPr wrap="none" rtlCol="0">
            <a:spAutoFit/>
          </a:bodyPr>
          <a:lstStyle/>
          <a:p>
            <a:r>
              <a:rPr lang="fr-FR" dirty="0"/>
              <a:t>&lt;&lt;</a:t>
            </a:r>
            <a:r>
              <a:rPr lang="fr-FR" dirty="0" err="1"/>
              <a:t>include</a:t>
            </a:r>
            <a:r>
              <a:rPr lang="fr-FR" dirty="0"/>
              <a:t>&gt;&gt;</a:t>
            </a:r>
          </a:p>
        </p:txBody>
      </p:sp>
      <p:cxnSp>
        <p:nvCxnSpPr>
          <p:cNvPr id="15" name="Connecteur droit avec flèche 14">
            <a:extLst>
              <a:ext uri="{FF2B5EF4-FFF2-40B4-BE49-F238E27FC236}">
                <a16:creationId xmlns:a16="http://schemas.microsoft.com/office/drawing/2014/main" id="{7005F52C-B364-4CC4-8EF8-0B9FEB21CA4F}"/>
              </a:ext>
            </a:extLst>
          </p:cNvPr>
          <p:cNvCxnSpPr>
            <a:cxnSpLocks/>
            <a:stCxn id="11" idx="2"/>
            <a:endCxn id="10" idx="6"/>
          </p:cNvCxnSpPr>
          <p:nvPr/>
        </p:nvCxnSpPr>
        <p:spPr>
          <a:xfrm flipH="1">
            <a:off x="4744968" y="5319123"/>
            <a:ext cx="31873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ACEB2ED0-6891-456C-822F-2FBFF431A180}"/>
              </a:ext>
            </a:extLst>
          </p:cNvPr>
          <p:cNvSpPr txBox="1"/>
          <p:nvPr/>
        </p:nvSpPr>
        <p:spPr>
          <a:xfrm>
            <a:off x="5556120" y="4887250"/>
            <a:ext cx="1532792" cy="369332"/>
          </a:xfrm>
          <a:prstGeom prst="rect">
            <a:avLst/>
          </a:prstGeom>
          <a:noFill/>
        </p:spPr>
        <p:txBody>
          <a:bodyPr wrap="none" rtlCol="0">
            <a:spAutoFit/>
          </a:bodyPr>
          <a:lstStyle/>
          <a:p>
            <a:r>
              <a:rPr lang="fr-FR" dirty="0"/>
              <a:t>&lt;&lt;</a:t>
            </a:r>
            <a:r>
              <a:rPr lang="fr-FR" dirty="0" err="1"/>
              <a:t>extend</a:t>
            </a:r>
            <a:r>
              <a:rPr lang="fr-FR" dirty="0"/>
              <a:t>&gt;&gt;</a:t>
            </a:r>
          </a:p>
        </p:txBody>
      </p:sp>
    </p:spTree>
    <p:extLst>
      <p:ext uri="{BB962C8B-B14F-4D97-AF65-F5344CB8AC3E}">
        <p14:creationId xmlns:p14="http://schemas.microsoft.com/office/powerpoint/2010/main" val="260892431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7"/>
            <a:ext cx="10554574" cy="4082820"/>
          </a:xfrm>
        </p:spPr>
        <p:txBody>
          <a:bodyPr anchor="t">
            <a:normAutofit fontScale="70000" lnSpcReduction="20000"/>
          </a:bodyPr>
          <a:lstStyle/>
          <a:p>
            <a:r>
              <a:rPr lang="fr-FR" dirty="0"/>
              <a:t>Les cas d’utilisations peuvent ensuite être spécifiés de façon formelle sous forme textuelle</a:t>
            </a:r>
          </a:p>
          <a:p>
            <a:pPr marL="0" indent="0">
              <a:buNone/>
            </a:pPr>
            <a:endParaRPr lang="fr-FR" dirty="0"/>
          </a:p>
          <a:p>
            <a:pPr marL="0" indent="0">
              <a:buNone/>
            </a:pPr>
            <a:r>
              <a:rPr lang="fr-FR" dirty="0"/>
              <a:t>Identification :</a:t>
            </a:r>
          </a:p>
          <a:p>
            <a:pPr>
              <a:buFontTx/>
              <a:buChar char="-"/>
            </a:pPr>
            <a:r>
              <a:rPr lang="fr-FR" dirty="0"/>
              <a:t>Nom du cas : </a:t>
            </a:r>
          </a:p>
          <a:p>
            <a:pPr>
              <a:buFontTx/>
              <a:buChar char="-"/>
            </a:pPr>
            <a:r>
              <a:rPr lang="fr-FR" dirty="0"/>
              <a:t>Objectif :</a:t>
            </a:r>
          </a:p>
          <a:p>
            <a:pPr>
              <a:buFontTx/>
              <a:buChar char="-"/>
            </a:pPr>
            <a:r>
              <a:rPr lang="fr-FR" dirty="0"/>
              <a:t>Acteurs :</a:t>
            </a:r>
          </a:p>
          <a:p>
            <a:pPr>
              <a:buFontTx/>
              <a:buChar char="-"/>
            </a:pPr>
            <a:r>
              <a:rPr lang="fr-FR" dirty="0"/>
              <a:t>Date :</a:t>
            </a:r>
          </a:p>
          <a:p>
            <a:pPr>
              <a:buFontTx/>
              <a:buChar char="-"/>
            </a:pPr>
            <a:r>
              <a:rPr lang="fr-FR" dirty="0"/>
              <a:t>Responsables :</a:t>
            </a:r>
          </a:p>
          <a:p>
            <a:pPr>
              <a:buFontTx/>
              <a:buChar char="-"/>
            </a:pPr>
            <a:r>
              <a:rPr lang="fr-FR" dirty="0"/>
              <a:t>Version : </a:t>
            </a:r>
          </a:p>
          <a:p>
            <a:pPr marL="0" indent="0">
              <a:buNone/>
            </a:pPr>
            <a:r>
              <a:rPr lang="fr-FR" dirty="0"/>
              <a:t>Séquencements :</a:t>
            </a:r>
          </a:p>
          <a:p>
            <a:pPr>
              <a:buFontTx/>
              <a:buChar char="-"/>
            </a:pPr>
            <a:r>
              <a:rPr lang="fr-FR" dirty="0"/>
              <a:t>Décrire quand commence le cas</a:t>
            </a:r>
          </a:p>
          <a:p>
            <a:pPr>
              <a:buFontTx/>
              <a:buChar char="-"/>
            </a:pPr>
            <a:r>
              <a:rPr lang="fr-FR" dirty="0"/>
              <a:t>Précondition</a:t>
            </a:r>
          </a:p>
          <a:p>
            <a:pPr>
              <a:buFontTx/>
              <a:buChar char="-"/>
            </a:pPr>
            <a:r>
              <a:rPr lang="fr-FR" dirty="0"/>
              <a:t>Enchaînement : décrire l’enchaînement des opérations, y compris les alternatives</a:t>
            </a:r>
          </a:p>
          <a:p>
            <a:pPr>
              <a:buFontTx/>
              <a:buChar char="-"/>
            </a:pPr>
            <a:r>
              <a:rPr lang="fr-FR" dirty="0"/>
              <a:t>Postcondition</a:t>
            </a:r>
          </a:p>
        </p:txBody>
      </p:sp>
      <p:sp>
        <p:nvSpPr>
          <p:cNvPr id="6" name="Espace réservé du numéro de diapositive 5">
            <a:extLst>
              <a:ext uri="{FF2B5EF4-FFF2-40B4-BE49-F238E27FC236}">
                <a16:creationId xmlns:a16="http://schemas.microsoft.com/office/drawing/2014/main" id="{A40474A8-4319-49F7-969D-48173E9DC532}"/>
              </a:ext>
            </a:extLst>
          </p:cNvPr>
          <p:cNvSpPr>
            <a:spLocks noGrp="1"/>
          </p:cNvSpPr>
          <p:nvPr>
            <p:ph type="sldNum" sz="quarter" idx="12"/>
          </p:nvPr>
        </p:nvSpPr>
        <p:spPr/>
        <p:txBody>
          <a:bodyPr/>
          <a:lstStyle/>
          <a:p>
            <a:fld id="{27C6CCC6-2BE5-4E42-96A4-D1E8E81A3D8E}" type="slidenum">
              <a:rPr lang="de-DE" smtClean="0"/>
              <a:t>210</a:t>
            </a:fld>
            <a:endParaRPr lang="de-DE"/>
          </a:p>
        </p:txBody>
      </p:sp>
    </p:spTree>
    <p:extLst>
      <p:ext uri="{BB962C8B-B14F-4D97-AF65-F5344CB8AC3E}">
        <p14:creationId xmlns:p14="http://schemas.microsoft.com/office/powerpoint/2010/main" val="1868653633"/>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a:t>Analyse du domaine :</a:t>
            </a:r>
          </a:p>
          <a:p>
            <a:pPr lvl="1"/>
            <a:r>
              <a:rPr lang="fr-FR"/>
              <a:t>Identification des différentes entités</a:t>
            </a:r>
          </a:p>
          <a:p>
            <a:pPr lvl="1"/>
            <a:r>
              <a:rPr lang="fr-FR"/>
              <a:t>Identifications des attributs des entités</a:t>
            </a:r>
          </a:p>
          <a:p>
            <a:pPr lvl="1"/>
            <a:r>
              <a:rPr lang="fr-FR"/>
              <a:t>Identification des relations entre les entités</a:t>
            </a:r>
          </a:p>
        </p:txBody>
      </p:sp>
      <p:sp>
        <p:nvSpPr>
          <p:cNvPr id="6" name="Espace réservé du numéro de diapositive 5">
            <a:extLst>
              <a:ext uri="{FF2B5EF4-FFF2-40B4-BE49-F238E27FC236}">
                <a16:creationId xmlns:a16="http://schemas.microsoft.com/office/drawing/2014/main" id="{8853A187-521B-4AAC-9E02-C4F55FFD45BE}"/>
              </a:ext>
            </a:extLst>
          </p:cNvPr>
          <p:cNvSpPr>
            <a:spLocks noGrp="1"/>
          </p:cNvSpPr>
          <p:nvPr>
            <p:ph type="sldNum" sz="quarter" idx="12"/>
          </p:nvPr>
        </p:nvSpPr>
        <p:spPr/>
        <p:txBody>
          <a:bodyPr/>
          <a:lstStyle/>
          <a:p>
            <a:fld id="{27C6CCC6-2BE5-4E42-96A4-D1E8E81A3D8E}" type="slidenum">
              <a:rPr lang="de-DE" smtClean="0"/>
              <a:t>211</a:t>
            </a:fld>
            <a:endParaRPr lang="de-DE"/>
          </a:p>
        </p:txBody>
      </p:sp>
    </p:spTree>
    <p:extLst>
      <p:ext uri="{BB962C8B-B14F-4D97-AF65-F5344CB8AC3E}">
        <p14:creationId xmlns:p14="http://schemas.microsoft.com/office/powerpoint/2010/main" val="2038935714"/>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8"/>
            <a:ext cx="10554574" cy="2748314"/>
          </a:xfrm>
        </p:spPr>
        <p:txBody>
          <a:bodyPr>
            <a:normAutofit lnSpcReduction="10000"/>
          </a:bodyPr>
          <a:lstStyle/>
          <a:p>
            <a:r>
              <a:rPr lang="fr-FR" dirty="0"/>
              <a:t>Outil de modélisation : le diagramme entités-associations (</a:t>
            </a:r>
            <a:r>
              <a:rPr lang="fr-FR" dirty="0" err="1"/>
              <a:t>Entity</a:t>
            </a:r>
            <a:r>
              <a:rPr lang="fr-FR" dirty="0"/>
              <a:t> Relationship Diagram) – Equivalent du MCD (modèle conceptuel de données) de la méthodologie MERISE</a:t>
            </a:r>
          </a:p>
          <a:p>
            <a:r>
              <a:rPr lang="fr-FR" dirty="0"/>
              <a:t>Niveau conceptuel : on représente les concepts sans accorder d’importance à la façon dont ils seront représentés en BDD sous forme de table</a:t>
            </a:r>
          </a:p>
          <a:p>
            <a:r>
              <a:rPr lang="fr-FR" dirty="0"/>
              <a:t>Notation de Chen (une parmi tant d’autres) :</a:t>
            </a:r>
          </a:p>
          <a:p>
            <a:pPr lvl="1"/>
            <a:r>
              <a:rPr lang="fr-FR" dirty="0"/>
              <a:t>Entités représentées par un rectangle</a:t>
            </a:r>
          </a:p>
          <a:p>
            <a:pPr lvl="1"/>
            <a:r>
              <a:rPr lang="fr-FR" dirty="0"/>
              <a:t>Associations représentées par un losange</a:t>
            </a:r>
          </a:p>
          <a:p>
            <a:pPr lvl="1"/>
            <a:r>
              <a:rPr lang="fr-FR" dirty="0"/>
              <a:t>Attributs représentés par des ovales (attribut souligné = clé primaire)</a:t>
            </a:r>
          </a:p>
        </p:txBody>
      </p:sp>
      <p:sp>
        <p:nvSpPr>
          <p:cNvPr id="11" name="Espace réservé du numéro de diapositive 10">
            <a:extLst>
              <a:ext uri="{FF2B5EF4-FFF2-40B4-BE49-F238E27FC236}">
                <a16:creationId xmlns:a16="http://schemas.microsoft.com/office/drawing/2014/main" id="{5BB3FBDA-E46E-450D-9F29-AD0866533708}"/>
              </a:ext>
            </a:extLst>
          </p:cNvPr>
          <p:cNvSpPr>
            <a:spLocks noGrp="1"/>
          </p:cNvSpPr>
          <p:nvPr>
            <p:ph type="sldNum" sz="quarter" idx="12"/>
          </p:nvPr>
        </p:nvSpPr>
        <p:spPr/>
        <p:txBody>
          <a:bodyPr/>
          <a:lstStyle/>
          <a:p>
            <a:fld id="{27C6CCC6-2BE5-4E42-96A4-D1E8E81A3D8E}" type="slidenum">
              <a:rPr lang="de-DE" smtClean="0"/>
              <a:t>212</a:t>
            </a:fld>
            <a:endParaRPr lang="de-DE"/>
          </a:p>
        </p:txBody>
      </p:sp>
      <p:sp>
        <p:nvSpPr>
          <p:cNvPr id="4" name="Rectangle 3">
            <a:extLst>
              <a:ext uri="{FF2B5EF4-FFF2-40B4-BE49-F238E27FC236}">
                <a16:creationId xmlns:a16="http://schemas.microsoft.com/office/drawing/2014/main" id="{6D9C0E64-97A2-403A-B344-0BA75B7BF769}"/>
              </a:ext>
            </a:extLst>
          </p:cNvPr>
          <p:cNvSpPr/>
          <p:nvPr/>
        </p:nvSpPr>
        <p:spPr>
          <a:xfrm>
            <a:off x="2568796" y="5302363"/>
            <a:ext cx="1563880"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Artiste</a:t>
            </a:r>
          </a:p>
        </p:txBody>
      </p:sp>
      <p:sp>
        <p:nvSpPr>
          <p:cNvPr id="5" name="Rectangle 4">
            <a:extLst>
              <a:ext uri="{FF2B5EF4-FFF2-40B4-BE49-F238E27FC236}">
                <a16:creationId xmlns:a16="http://schemas.microsoft.com/office/drawing/2014/main" id="{55409621-21DE-4D7C-A6BE-8F50A2ABEADE}"/>
              </a:ext>
            </a:extLst>
          </p:cNvPr>
          <p:cNvSpPr/>
          <p:nvPr/>
        </p:nvSpPr>
        <p:spPr>
          <a:xfrm>
            <a:off x="7074208" y="5300412"/>
            <a:ext cx="1563880"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Chanson</a:t>
            </a:r>
          </a:p>
        </p:txBody>
      </p:sp>
      <p:sp>
        <p:nvSpPr>
          <p:cNvPr id="6" name="Losange 5">
            <a:extLst>
              <a:ext uri="{FF2B5EF4-FFF2-40B4-BE49-F238E27FC236}">
                <a16:creationId xmlns:a16="http://schemas.microsoft.com/office/drawing/2014/main" id="{2F173093-2B46-4BF0-974F-5B204BD534A9}"/>
              </a:ext>
            </a:extLst>
          </p:cNvPr>
          <p:cNvSpPr/>
          <p:nvPr/>
        </p:nvSpPr>
        <p:spPr>
          <a:xfrm>
            <a:off x="4723225" y="5300413"/>
            <a:ext cx="1760434" cy="52983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t>Chante</a:t>
            </a:r>
          </a:p>
        </p:txBody>
      </p:sp>
      <p:cxnSp>
        <p:nvCxnSpPr>
          <p:cNvPr id="8" name="Connecteur droit 7">
            <a:extLst>
              <a:ext uri="{FF2B5EF4-FFF2-40B4-BE49-F238E27FC236}">
                <a16:creationId xmlns:a16="http://schemas.microsoft.com/office/drawing/2014/main" id="{0C2BD97F-EA3E-4FDD-A4A2-9DA7A88A838A}"/>
              </a:ext>
            </a:extLst>
          </p:cNvPr>
          <p:cNvCxnSpPr>
            <a:cxnSpLocks/>
            <a:stCxn id="4" idx="3"/>
            <a:endCxn id="6" idx="1"/>
          </p:cNvCxnSpPr>
          <p:nvPr/>
        </p:nvCxnSpPr>
        <p:spPr>
          <a:xfrm flipV="1">
            <a:off x="4132676" y="5565332"/>
            <a:ext cx="590549" cy="1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4814A35A-3B15-4FC4-A62B-4E0EE8A58B0A}"/>
              </a:ext>
            </a:extLst>
          </p:cNvPr>
          <p:cNvCxnSpPr>
            <a:cxnSpLocks/>
            <a:stCxn id="6" idx="3"/>
            <a:endCxn id="5" idx="1"/>
          </p:cNvCxnSpPr>
          <p:nvPr/>
        </p:nvCxnSpPr>
        <p:spPr>
          <a:xfrm>
            <a:off x="6483659" y="5565332"/>
            <a:ext cx="590549"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Ellipse 6">
            <a:extLst>
              <a:ext uri="{FF2B5EF4-FFF2-40B4-BE49-F238E27FC236}">
                <a16:creationId xmlns:a16="http://schemas.microsoft.com/office/drawing/2014/main" id="{95F02031-6BD5-400F-9DA3-64C81920389A}"/>
              </a:ext>
            </a:extLst>
          </p:cNvPr>
          <p:cNvSpPr/>
          <p:nvPr/>
        </p:nvSpPr>
        <p:spPr>
          <a:xfrm>
            <a:off x="9223747" y="5271866"/>
            <a:ext cx="1563880" cy="5869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u="sng" dirty="0"/>
              <a:t>Titre</a:t>
            </a:r>
          </a:p>
        </p:txBody>
      </p:sp>
      <p:cxnSp>
        <p:nvCxnSpPr>
          <p:cNvPr id="12" name="Connecteur droit 11">
            <a:extLst>
              <a:ext uri="{FF2B5EF4-FFF2-40B4-BE49-F238E27FC236}">
                <a16:creationId xmlns:a16="http://schemas.microsoft.com/office/drawing/2014/main" id="{182F7A93-8AAE-49C8-A313-074FF619D94F}"/>
              </a:ext>
            </a:extLst>
          </p:cNvPr>
          <p:cNvCxnSpPr>
            <a:stCxn id="5" idx="3"/>
            <a:endCxn id="7" idx="2"/>
          </p:cNvCxnSpPr>
          <p:nvPr/>
        </p:nvCxnSpPr>
        <p:spPr>
          <a:xfrm flipV="1">
            <a:off x="8638088" y="5565331"/>
            <a:ext cx="585659" cy="1"/>
          </a:xfrm>
          <a:prstGeom prst="line">
            <a:avLst/>
          </a:prstGeom>
        </p:spPr>
        <p:style>
          <a:lnRef idx="1">
            <a:schemeClr val="accent1"/>
          </a:lnRef>
          <a:fillRef idx="0">
            <a:schemeClr val="accent1"/>
          </a:fillRef>
          <a:effectRef idx="0">
            <a:schemeClr val="accent1"/>
          </a:effectRef>
          <a:fontRef idx="minor">
            <a:schemeClr val="tx1"/>
          </a:fontRef>
        </p:style>
      </p:cxnSp>
      <p:sp>
        <p:nvSpPr>
          <p:cNvPr id="32" name="Ellipse 31">
            <a:extLst>
              <a:ext uri="{FF2B5EF4-FFF2-40B4-BE49-F238E27FC236}">
                <a16:creationId xmlns:a16="http://schemas.microsoft.com/office/drawing/2014/main" id="{A3344585-969D-41F9-8768-A5E7EF6CC801}"/>
              </a:ext>
            </a:extLst>
          </p:cNvPr>
          <p:cNvSpPr/>
          <p:nvPr/>
        </p:nvSpPr>
        <p:spPr>
          <a:xfrm>
            <a:off x="414367" y="5147429"/>
            <a:ext cx="1760434" cy="5869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u="sng" dirty="0"/>
              <a:t>Nom</a:t>
            </a:r>
          </a:p>
        </p:txBody>
      </p:sp>
      <p:sp>
        <p:nvSpPr>
          <p:cNvPr id="33" name="Ellipse 32">
            <a:extLst>
              <a:ext uri="{FF2B5EF4-FFF2-40B4-BE49-F238E27FC236}">
                <a16:creationId xmlns:a16="http://schemas.microsoft.com/office/drawing/2014/main" id="{4518654B-3811-4371-A719-48BBBFE1EB88}"/>
              </a:ext>
            </a:extLst>
          </p:cNvPr>
          <p:cNvSpPr/>
          <p:nvPr/>
        </p:nvSpPr>
        <p:spPr>
          <a:xfrm>
            <a:off x="377643" y="5830251"/>
            <a:ext cx="1833883" cy="5869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Date de naissance</a:t>
            </a:r>
          </a:p>
        </p:txBody>
      </p:sp>
      <p:cxnSp>
        <p:nvCxnSpPr>
          <p:cNvPr id="35" name="Connecteur droit 34">
            <a:extLst>
              <a:ext uri="{FF2B5EF4-FFF2-40B4-BE49-F238E27FC236}">
                <a16:creationId xmlns:a16="http://schemas.microsoft.com/office/drawing/2014/main" id="{18AB33F6-8F5C-42D6-92AF-DD13B1D2FE39}"/>
              </a:ext>
            </a:extLst>
          </p:cNvPr>
          <p:cNvCxnSpPr>
            <a:stCxn id="32" idx="6"/>
            <a:endCxn id="4" idx="1"/>
          </p:cNvCxnSpPr>
          <p:nvPr/>
        </p:nvCxnSpPr>
        <p:spPr>
          <a:xfrm>
            <a:off x="2174801" y="5440894"/>
            <a:ext cx="393995" cy="1263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625ABB03-0D12-4E59-AADE-68A66F06F57E}"/>
              </a:ext>
            </a:extLst>
          </p:cNvPr>
          <p:cNvCxnSpPr>
            <a:stCxn id="33" idx="6"/>
            <a:endCxn id="4" idx="1"/>
          </p:cNvCxnSpPr>
          <p:nvPr/>
        </p:nvCxnSpPr>
        <p:spPr>
          <a:xfrm flipV="1">
            <a:off x="2211526" y="5567283"/>
            <a:ext cx="357270" cy="55643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628528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lstStyle/>
          <a:p>
            <a:r>
              <a:rPr lang="fr-FR"/>
              <a:t>Nom commun : type d’entité</a:t>
            </a:r>
          </a:p>
          <a:p>
            <a:r>
              <a:rPr lang="fr-FR"/>
              <a:t>Nom propre : entité</a:t>
            </a:r>
          </a:p>
          <a:p>
            <a:r>
              <a:rPr lang="fr-FR"/>
              <a:t>Verbe transitif : type de relation</a:t>
            </a:r>
          </a:p>
          <a:p>
            <a:r>
              <a:rPr lang="fr-FR"/>
              <a:t>Verbe intransitif : type d’attribut</a:t>
            </a:r>
          </a:p>
          <a:p>
            <a:r>
              <a:rPr lang="fr-FR"/>
              <a:t>Adjectif : attribut pour une entité</a:t>
            </a:r>
          </a:p>
          <a:p>
            <a:r>
              <a:rPr lang="fr-FR"/>
              <a:t>Adverbe : attribut pour une relation</a:t>
            </a:r>
          </a:p>
        </p:txBody>
      </p:sp>
      <p:sp>
        <p:nvSpPr>
          <p:cNvPr id="6" name="Espace réservé du numéro de diapositive 5">
            <a:extLst>
              <a:ext uri="{FF2B5EF4-FFF2-40B4-BE49-F238E27FC236}">
                <a16:creationId xmlns:a16="http://schemas.microsoft.com/office/drawing/2014/main" id="{AA1517AE-142D-4D5F-B239-8C90A68D675F}"/>
              </a:ext>
            </a:extLst>
          </p:cNvPr>
          <p:cNvSpPr>
            <a:spLocks noGrp="1"/>
          </p:cNvSpPr>
          <p:nvPr>
            <p:ph type="sldNum" sz="quarter" idx="12"/>
          </p:nvPr>
        </p:nvSpPr>
        <p:spPr/>
        <p:txBody>
          <a:bodyPr/>
          <a:lstStyle/>
          <a:p>
            <a:fld id="{27C6CCC6-2BE5-4E42-96A4-D1E8E81A3D8E}" type="slidenum">
              <a:rPr lang="de-DE" smtClean="0"/>
              <a:t>213</a:t>
            </a:fld>
            <a:endParaRPr lang="de-DE"/>
          </a:p>
        </p:txBody>
      </p:sp>
    </p:spTree>
    <p:extLst>
      <p:ext uri="{BB962C8B-B14F-4D97-AF65-F5344CB8AC3E}">
        <p14:creationId xmlns:p14="http://schemas.microsoft.com/office/powerpoint/2010/main" val="2820335285"/>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dirty="0"/>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a:xfrm>
            <a:off x="818712" y="2222286"/>
            <a:ext cx="10554574" cy="700733"/>
          </a:xfrm>
        </p:spPr>
        <p:txBody>
          <a:bodyPr anchor="t">
            <a:normAutofit fontScale="92500" lnSpcReduction="10000"/>
          </a:bodyPr>
          <a:lstStyle/>
          <a:p>
            <a:r>
              <a:rPr lang="fr-FR"/>
              <a:t>Cardinalités</a:t>
            </a:r>
          </a:p>
          <a:p>
            <a:pPr lvl="1"/>
            <a:r>
              <a:rPr lang="fr-FR"/>
              <a:t>Un client possède plusieurs factures</a:t>
            </a:r>
          </a:p>
        </p:txBody>
      </p:sp>
      <p:sp>
        <p:nvSpPr>
          <p:cNvPr id="11" name="Espace réservé du numéro de diapositive 10">
            <a:extLst>
              <a:ext uri="{FF2B5EF4-FFF2-40B4-BE49-F238E27FC236}">
                <a16:creationId xmlns:a16="http://schemas.microsoft.com/office/drawing/2014/main" id="{EF3E70EE-851C-4B2A-92B5-A9DA68E78858}"/>
              </a:ext>
            </a:extLst>
          </p:cNvPr>
          <p:cNvSpPr>
            <a:spLocks noGrp="1"/>
          </p:cNvSpPr>
          <p:nvPr>
            <p:ph type="sldNum" sz="quarter" idx="12"/>
          </p:nvPr>
        </p:nvSpPr>
        <p:spPr/>
        <p:txBody>
          <a:bodyPr/>
          <a:lstStyle/>
          <a:p>
            <a:fld id="{27C6CCC6-2BE5-4E42-96A4-D1E8E81A3D8E}" type="slidenum">
              <a:rPr lang="de-DE" smtClean="0"/>
              <a:t>214</a:t>
            </a:fld>
            <a:endParaRPr lang="de-DE"/>
          </a:p>
        </p:txBody>
      </p:sp>
      <p:sp>
        <p:nvSpPr>
          <p:cNvPr id="4" name="Rectangle 3">
            <a:extLst>
              <a:ext uri="{FF2B5EF4-FFF2-40B4-BE49-F238E27FC236}">
                <a16:creationId xmlns:a16="http://schemas.microsoft.com/office/drawing/2014/main" id="{58D405FD-353C-42B9-A141-452F68511592}"/>
              </a:ext>
            </a:extLst>
          </p:cNvPr>
          <p:cNvSpPr/>
          <p:nvPr/>
        </p:nvSpPr>
        <p:spPr>
          <a:xfrm>
            <a:off x="2946877" y="3098506"/>
            <a:ext cx="1563880"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Client</a:t>
            </a:r>
          </a:p>
        </p:txBody>
      </p:sp>
      <p:sp>
        <p:nvSpPr>
          <p:cNvPr id="5" name="Rectangle 4">
            <a:extLst>
              <a:ext uri="{FF2B5EF4-FFF2-40B4-BE49-F238E27FC236}">
                <a16:creationId xmlns:a16="http://schemas.microsoft.com/office/drawing/2014/main" id="{28712019-4AB2-4FAB-BBFF-7D1A77A10942}"/>
              </a:ext>
            </a:extLst>
          </p:cNvPr>
          <p:cNvSpPr/>
          <p:nvPr/>
        </p:nvSpPr>
        <p:spPr>
          <a:xfrm>
            <a:off x="7578696" y="3098507"/>
            <a:ext cx="1563880"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Facture</a:t>
            </a:r>
          </a:p>
        </p:txBody>
      </p:sp>
      <p:sp>
        <p:nvSpPr>
          <p:cNvPr id="6" name="Losange 5">
            <a:extLst>
              <a:ext uri="{FF2B5EF4-FFF2-40B4-BE49-F238E27FC236}">
                <a16:creationId xmlns:a16="http://schemas.microsoft.com/office/drawing/2014/main" id="{676FD977-4852-40FD-A924-49D28DB44879}"/>
              </a:ext>
            </a:extLst>
          </p:cNvPr>
          <p:cNvSpPr/>
          <p:nvPr/>
        </p:nvSpPr>
        <p:spPr>
          <a:xfrm>
            <a:off x="5134598" y="3098507"/>
            <a:ext cx="1922803" cy="52983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t>Possède</a:t>
            </a:r>
          </a:p>
        </p:txBody>
      </p:sp>
      <p:cxnSp>
        <p:nvCxnSpPr>
          <p:cNvPr id="7" name="Connecteur droit 6">
            <a:extLst>
              <a:ext uri="{FF2B5EF4-FFF2-40B4-BE49-F238E27FC236}">
                <a16:creationId xmlns:a16="http://schemas.microsoft.com/office/drawing/2014/main" id="{6E7BE49E-7A84-49C3-824A-47C749EAACF2}"/>
              </a:ext>
            </a:extLst>
          </p:cNvPr>
          <p:cNvCxnSpPr>
            <a:cxnSpLocks/>
            <a:stCxn id="4" idx="3"/>
            <a:endCxn id="6" idx="1"/>
          </p:cNvCxnSpPr>
          <p:nvPr/>
        </p:nvCxnSpPr>
        <p:spPr>
          <a:xfrm>
            <a:off x="4510757" y="3363426"/>
            <a:ext cx="6238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6F90E1E8-19FF-4182-865B-65BC868387DE}"/>
              </a:ext>
            </a:extLst>
          </p:cNvPr>
          <p:cNvCxnSpPr>
            <a:cxnSpLocks/>
            <a:stCxn id="6" idx="3"/>
            <a:endCxn id="5" idx="1"/>
          </p:cNvCxnSpPr>
          <p:nvPr/>
        </p:nvCxnSpPr>
        <p:spPr>
          <a:xfrm>
            <a:off x="7057401" y="3363426"/>
            <a:ext cx="521295" cy="1"/>
          </a:xfrm>
          <a:prstGeom prst="line">
            <a:avLst/>
          </a:prstGeom>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AFC1590B-AA60-4E09-B35A-E8F1D3EC62A6}"/>
              </a:ext>
            </a:extLst>
          </p:cNvPr>
          <p:cNvSpPr txBox="1"/>
          <p:nvPr/>
        </p:nvSpPr>
        <p:spPr>
          <a:xfrm>
            <a:off x="4764723" y="2994093"/>
            <a:ext cx="312906" cy="369332"/>
          </a:xfrm>
          <a:prstGeom prst="rect">
            <a:avLst/>
          </a:prstGeom>
          <a:noFill/>
        </p:spPr>
        <p:txBody>
          <a:bodyPr wrap="none" rtlCol="0">
            <a:spAutoFit/>
          </a:bodyPr>
          <a:lstStyle/>
          <a:p>
            <a:r>
              <a:rPr lang="fr-FR" dirty="0"/>
              <a:t>1</a:t>
            </a:r>
          </a:p>
        </p:txBody>
      </p:sp>
      <p:sp>
        <p:nvSpPr>
          <p:cNvPr id="15" name="ZoneTexte 14">
            <a:extLst>
              <a:ext uri="{FF2B5EF4-FFF2-40B4-BE49-F238E27FC236}">
                <a16:creationId xmlns:a16="http://schemas.microsoft.com/office/drawing/2014/main" id="{B0E5C52D-BDBC-4F6C-A3AE-D92E0DEE9E5C}"/>
              </a:ext>
            </a:extLst>
          </p:cNvPr>
          <p:cNvSpPr txBox="1"/>
          <p:nvPr/>
        </p:nvSpPr>
        <p:spPr>
          <a:xfrm>
            <a:off x="6986129" y="2994093"/>
            <a:ext cx="582211" cy="369332"/>
          </a:xfrm>
          <a:prstGeom prst="rect">
            <a:avLst/>
          </a:prstGeom>
          <a:noFill/>
        </p:spPr>
        <p:txBody>
          <a:bodyPr wrap="none" rtlCol="0">
            <a:spAutoFit/>
          </a:bodyPr>
          <a:lstStyle/>
          <a:p>
            <a:r>
              <a:rPr lang="fr-FR" dirty="0"/>
              <a:t>0..n</a:t>
            </a:r>
          </a:p>
        </p:txBody>
      </p:sp>
      <p:sp>
        <p:nvSpPr>
          <p:cNvPr id="20" name="Rectangle 19">
            <a:extLst>
              <a:ext uri="{FF2B5EF4-FFF2-40B4-BE49-F238E27FC236}">
                <a16:creationId xmlns:a16="http://schemas.microsoft.com/office/drawing/2014/main" id="{97874DC6-7FAF-4AB4-A22C-D1CCA2068159}"/>
              </a:ext>
            </a:extLst>
          </p:cNvPr>
          <p:cNvSpPr/>
          <p:nvPr/>
        </p:nvSpPr>
        <p:spPr>
          <a:xfrm>
            <a:off x="2946877" y="4910517"/>
            <a:ext cx="1563880"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Utilisateur</a:t>
            </a:r>
          </a:p>
        </p:txBody>
      </p:sp>
      <p:sp>
        <p:nvSpPr>
          <p:cNvPr id="21" name="Rectangle 20">
            <a:extLst>
              <a:ext uri="{FF2B5EF4-FFF2-40B4-BE49-F238E27FC236}">
                <a16:creationId xmlns:a16="http://schemas.microsoft.com/office/drawing/2014/main" id="{4F615E23-60CC-464F-964A-4B35C438314A}"/>
              </a:ext>
            </a:extLst>
          </p:cNvPr>
          <p:cNvSpPr/>
          <p:nvPr/>
        </p:nvSpPr>
        <p:spPr>
          <a:xfrm>
            <a:off x="7578696" y="4910518"/>
            <a:ext cx="1563880"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Photo</a:t>
            </a:r>
          </a:p>
        </p:txBody>
      </p:sp>
      <p:sp>
        <p:nvSpPr>
          <p:cNvPr id="22" name="Losange 21">
            <a:extLst>
              <a:ext uri="{FF2B5EF4-FFF2-40B4-BE49-F238E27FC236}">
                <a16:creationId xmlns:a16="http://schemas.microsoft.com/office/drawing/2014/main" id="{BD6AF336-10AB-4678-9861-2F7A64DE80E7}"/>
              </a:ext>
            </a:extLst>
          </p:cNvPr>
          <p:cNvSpPr/>
          <p:nvPr/>
        </p:nvSpPr>
        <p:spPr>
          <a:xfrm>
            <a:off x="5134598" y="4910518"/>
            <a:ext cx="1922803" cy="52983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t>Commenter</a:t>
            </a:r>
          </a:p>
        </p:txBody>
      </p:sp>
      <p:sp>
        <p:nvSpPr>
          <p:cNvPr id="23" name="ZoneTexte 22">
            <a:extLst>
              <a:ext uri="{FF2B5EF4-FFF2-40B4-BE49-F238E27FC236}">
                <a16:creationId xmlns:a16="http://schemas.microsoft.com/office/drawing/2014/main" id="{90DB03A6-392D-4423-8DF4-AD66ED1FD1BA}"/>
              </a:ext>
            </a:extLst>
          </p:cNvPr>
          <p:cNvSpPr txBox="1"/>
          <p:nvPr/>
        </p:nvSpPr>
        <p:spPr>
          <a:xfrm>
            <a:off x="4598842" y="4803722"/>
            <a:ext cx="582211" cy="369332"/>
          </a:xfrm>
          <a:prstGeom prst="rect">
            <a:avLst/>
          </a:prstGeom>
          <a:noFill/>
        </p:spPr>
        <p:txBody>
          <a:bodyPr wrap="none" rtlCol="0">
            <a:spAutoFit/>
          </a:bodyPr>
          <a:lstStyle/>
          <a:p>
            <a:r>
              <a:rPr lang="fr-FR" dirty="0"/>
              <a:t>0..n</a:t>
            </a:r>
          </a:p>
        </p:txBody>
      </p:sp>
      <p:sp>
        <p:nvSpPr>
          <p:cNvPr id="24" name="ZoneTexte 23">
            <a:extLst>
              <a:ext uri="{FF2B5EF4-FFF2-40B4-BE49-F238E27FC236}">
                <a16:creationId xmlns:a16="http://schemas.microsoft.com/office/drawing/2014/main" id="{42809922-1B31-4802-A8B8-60530E49463E}"/>
              </a:ext>
            </a:extLst>
          </p:cNvPr>
          <p:cNvSpPr txBox="1"/>
          <p:nvPr/>
        </p:nvSpPr>
        <p:spPr>
          <a:xfrm>
            <a:off x="7026942" y="4803722"/>
            <a:ext cx="582211" cy="369332"/>
          </a:xfrm>
          <a:prstGeom prst="rect">
            <a:avLst/>
          </a:prstGeom>
          <a:noFill/>
        </p:spPr>
        <p:txBody>
          <a:bodyPr wrap="none" rtlCol="0">
            <a:spAutoFit/>
          </a:bodyPr>
          <a:lstStyle/>
          <a:p>
            <a:r>
              <a:rPr lang="fr-FR" dirty="0"/>
              <a:t>0..n</a:t>
            </a:r>
          </a:p>
        </p:txBody>
      </p:sp>
      <p:cxnSp>
        <p:nvCxnSpPr>
          <p:cNvPr id="25" name="Connecteur droit 24">
            <a:extLst>
              <a:ext uri="{FF2B5EF4-FFF2-40B4-BE49-F238E27FC236}">
                <a16:creationId xmlns:a16="http://schemas.microsoft.com/office/drawing/2014/main" id="{E4FC242B-1886-49AF-A49E-A56AA0FCF5A2}"/>
              </a:ext>
            </a:extLst>
          </p:cNvPr>
          <p:cNvCxnSpPr>
            <a:cxnSpLocks/>
            <a:stCxn id="20" idx="3"/>
            <a:endCxn id="22" idx="1"/>
          </p:cNvCxnSpPr>
          <p:nvPr/>
        </p:nvCxnSpPr>
        <p:spPr>
          <a:xfrm>
            <a:off x="4510757" y="5175437"/>
            <a:ext cx="6238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A5ED0947-FDF4-4926-A18A-7C2D901EF0C6}"/>
              </a:ext>
            </a:extLst>
          </p:cNvPr>
          <p:cNvCxnSpPr>
            <a:cxnSpLocks/>
            <a:stCxn id="22" idx="3"/>
            <a:endCxn id="21" idx="1"/>
          </p:cNvCxnSpPr>
          <p:nvPr/>
        </p:nvCxnSpPr>
        <p:spPr>
          <a:xfrm>
            <a:off x="7057401" y="5175437"/>
            <a:ext cx="521295" cy="1"/>
          </a:xfrm>
          <a:prstGeom prst="line">
            <a:avLst/>
          </a:prstGeom>
        </p:spPr>
        <p:style>
          <a:lnRef idx="1">
            <a:schemeClr val="accent1"/>
          </a:lnRef>
          <a:fillRef idx="0">
            <a:schemeClr val="accent1"/>
          </a:fillRef>
          <a:effectRef idx="0">
            <a:schemeClr val="accent1"/>
          </a:effectRef>
          <a:fontRef idx="minor">
            <a:schemeClr val="tx1"/>
          </a:fontRef>
        </p:style>
      </p:cxnSp>
      <p:sp>
        <p:nvSpPr>
          <p:cNvPr id="31" name="Espace réservé du contenu 2">
            <a:extLst>
              <a:ext uri="{FF2B5EF4-FFF2-40B4-BE49-F238E27FC236}">
                <a16:creationId xmlns:a16="http://schemas.microsoft.com/office/drawing/2014/main" id="{469929AD-D7BD-4FB4-B3B1-BBD941751E5D}"/>
              </a:ext>
            </a:extLst>
          </p:cNvPr>
          <p:cNvSpPr txBox="1">
            <a:spLocks/>
          </p:cNvSpPr>
          <p:nvPr/>
        </p:nvSpPr>
        <p:spPr>
          <a:xfrm>
            <a:off x="810000" y="4179889"/>
            <a:ext cx="10554574" cy="444001"/>
          </a:xfrm>
          <a:prstGeom prst="rect">
            <a:avLst/>
          </a:prstGeom>
          <a:effectLst>
            <a:outerShdw blurRad="50800" dir="14400000">
              <a:srgbClr val="000000">
                <a:alpha val="40000"/>
              </a:srgbClr>
            </a:outerShdw>
          </a:effectLst>
        </p:spPr>
        <p:txBody>
          <a:bodyPr vert="horz" lIns="91440" tIns="45720" rIns="91440" bIns="45720" rtlCol="0" anchor="t">
            <a:normAutofit fontScale="850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lvl="1"/>
            <a:r>
              <a:rPr lang="fr-FR"/>
              <a:t>Un utilisateur peut commenter plusieurs photos, une photo peut être commentée par plusieurs utilisateurs</a:t>
            </a:r>
          </a:p>
        </p:txBody>
      </p:sp>
    </p:spTree>
    <p:extLst>
      <p:ext uri="{BB962C8B-B14F-4D97-AF65-F5344CB8AC3E}">
        <p14:creationId xmlns:p14="http://schemas.microsoft.com/office/powerpoint/2010/main" val="353555908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D8C22B-0A9C-400B-872F-5A6651C90677}"/>
              </a:ext>
            </a:extLst>
          </p:cNvPr>
          <p:cNvSpPr>
            <a:spLocks noGrp="1"/>
          </p:cNvSpPr>
          <p:nvPr>
            <p:ph type="title"/>
          </p:nvPr>
        </p:nvSpPr>
        <p:spPr/>
        <p:txBody>
          <a:bodyPr/>
          <a:lstStyle/>
          <a:p>
            <a:r>
              <a:rPr lang="fr-FR" dirty="0"/>
              <a:t>Méthodologies de conception d'une BDD</a:t>
            </a:r>
          </a:p>
        </p:txBody>
      </p:sp>
      <p:sp>
        <p:nvSpPr>
          <p:cNvPr id="3" name="Espace réservé du contenu 2">
            <a:extLst>
              <a:ext uri="{FF2B5EF4-FFF2-40B4-BE49-F238E27FC236}">
                <a16:creationId xmlns:a16="http://schemas.microsoft.com/office/drawing/2014/main" id="{69CFF9F7-EDB4-45D2-A0CA-665F119B9B35}"/>
              </a:ext>
            </a:extLst>
          </p:cNvPr>
          <p:cNvSpPr>
            <a:spLocks noGrp="1"/>
          </p:cNvSpPr>
          <p:nvPr>
            <p:ph idx="1"/>
          </p:nvPr>
        </p:nvSpPr>
        <p:spPr>
          <a:xfrm>
            <a:off x="818712" y="2222288"/>
            <a:ext cx="10554574" cy="529838"/>
          </a:xfrm>
        </p:spPr>
        <p:txBody>
          <a:bodyPr anchor="t"/>
          <a:lstStyle/>
          <a:p>
            <a:r>
              <a:rPr lang="fr-FR"/>
              <a:t>Il peut exister plusieurs relations entre deux entités</a:t>
            </a:r>
          </a:p>
        </p:txBody>
      </p:sp>
      <p:sp>
        <p:nvSpPr>
          <p:cNvPr id="14" name="Espace réservé du numéro de diapositive 13">
            <a:extLst>
              <a:ext uri="{FF2B5EF4-FFF2-40B4-BE49-F238E27FC236}">
                <a16:creationId xmlns:a16="http://schemas.microsoft.com/office/drawing/2014/main" id="{C4FB8F56-7555-4D16-8FBF-53611E81D86D}"/>
              </a:ext>
            </a:extLst>
          </p:cNvPr>
          <p:cNvSpPr>
            <a:spLocks noGrp="1"/>
          </p:cNvSpPr>
          <p:nvPr>
            <p:ph type="sldNum" sz="quarter" idx="12"/>
          </p:nvPr>
        </p:nvSpPr>
        <p:spPr/>
        <p:txBody>
          <a:bodyPr/>
          <a:lstStyle/>
          <a:p>
            <a:fld id="{27C6CCC6-2BE5-4E42-96A4-D1E8E81A3D8E}" type="slidenum">
              <a:rPr lang="de-DE" smtClean="0"/>
              <a:t>215</a:t>
            </a:fld>
            <a:endParaRPr lang="de-DE"/>
          </a:p>
        </p:txBody>
      </p:sp>
      <p:sp>
        <p:nvSpPr>
          <p:cNvPr id="4" name="Rectangle 3">
            <a:extLst>
              <a:ext uri="{FF2B5EF4-FFF2-40B4-BE49-F238E27FC236}">
                <a16:creationId xmlns:a16="http://schemas.microsoft.com/office/drawing/2014/main" id="{3692DB1D-5973-41A1-8A1A-2211AF76C9EB}"/>
              </a:ext>
            </a:extLst>
          </p:cNvPr>
          <p:cNvSpPr/>
          <p:nvPr/>
        </p:nvSpPr>
        <p:spPr>
          <a:xfrm>
            <a:off x="2331580" y="3164080"/>
            <a:ext cx="1563880"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Utilisateur</a:t>
            </a:r>
          </a:p>
        </p:txBody>
      </p:sp>
      <p:sp>
        <p:nvSpPr>
          <p:cNvPr id="5" name="Rectangle 4">
            <a:extLst>
              <a:ext uri="{FF2B5EF4-FFF2-40B4-BE49-F238E27FC236}">
                <a16:creationId xmlns:a16="http://schemas.microsoft.com/office/drawing/2014/main" id="{094B3727-9630-423D-A5EF-0DFA6ED12CD9}"/>
              </a:ext>
            </a:extLst>
          </p:cNvPr>
          <p:cNvSpPr/>
          <p:nvPr/>
        </p:nvSpPr>
        <p:spPr>
          <a:xfrm>
            <a:off x="6963399" y="3164081"/>
            <a:ext cx="1563880"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Photo</a:t>
            </a:r>
          </a:p>
        </p:txBody>
      </p:sp>
      <p:sp>
        <p:nvSpPr>
          <p:cNvPr id="6" name="Losange 5">
            <a:extLst>
              <a:ext uri="{FF2B5EF4-FFF2-40B4-BE49-F238E27FC236}">
                <a16:creationId xmlns:a16="http://schemas.microsoft.com/office/drawing/2014/main" id="{3E34B612-7536-4A5F-80FF-3F5920114C88}"/>
              </a:ext>
            </a:extLst>
          </p:cNvPr>
          <p:cNvSpPr/>
          <p:nvPr/>
        </p:nvSpPr>
        <p:spPr>
          <a:xfrm>
            <a:off x="4519301" y="3164081"/>
            <a:ext cx="1922803" cy="52983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t>Commenter</a:t>
            </a:r>
          </a:p>
        </p:txBody>
      </p:sp>
      <p:sp>
        <p:nvSpPr>
          <p:cNvPr id="7" name="ZoneTexte 6">
            <a:extLst>
              <a:ext uri="{FF2B5EF4-FFF2-40B4-BE49-F238E27FC236}">
                <a16:creationId xmlns:a16="http://schemas.microsoft.com/office/drawing/2014/main" id="{A65F88A3-1A1B-4022-871E-225EF076C9A6}"/>
              </a:ext>
            </a:extLst>
          </p:cNvPr>
          <p:cNvSpPr txBox="1"/>
          <p:nvPr/>
        </p:nvSpPr>
        <p:spPr>
          <a:xfrm>
            <a:off x="3983545" y="3077618"/>
            <a:ext cx="582211" cy="369332"/>
          </a:xfrm>
          <a:prstGeom prst="rect">
            <a:avLst/>
          </a:prstGeom>
          <a:noFill/>
        </p:spPr>
        <p:txBody>
          <a:bodyPr wrap="none" rtlCol="0">
            <a:spAutoFit/>
          </a:bodyPr>
          <a:lstStyle/>
          <a:p>
            <a:r>
              <a:rPr lang="fr-FR" dirty="0"/>
              <a:t>0..n</a:t>
            </a:r>
          </a:p>
        </p:txBody>
      </p:sp>
      <p:sp>
        <p:nvSpPr>
          <p:cNvPr id="8" name="ZoneTexte 7">
            <a:extLst>
              <a:ext uri="{FF2B5EF4-FFF2-40B4-BE49-F238E27FC236}">
                <a16:creationId xmlns:a16="http://schemas.microsoft.com/office/drawing/2014/main" id="{B1FD8D5A-A125-4295-B68B-7CD86606D961}"/>
              </a:ext>
            </a:extLst>
          </p:cNvPr>
          <p:cNvSpPr txBox="1"/>
          <p:nvPr/>
        </p:nvSpPr>
        <p:spPr>
          <a:xfrm>
            <a:off x="6411645" y="3059667"/>
            <a:ext cx="582211" cy="369332"/>
          </a:xfrm>
          <a:prstGeom prst="rect">
            <a:avLst/>
          </a:prstGeom>
          <a:noFill/>
        </p:spPr>
        <p:txBody>
          <a:bodyPr wrap="none" rtlCol="0">
            <a:spAutoFit/>
          </a:bodyPr>
          <a:lstStyle/>
          <a:p>
            <a:r>
              <a:rPr lang="fr-FR" dirty="0"/>
              <a:t>0..n</a:t>
            </a:r>
          </a:p>
        </p:txBody>
      </p:sp>
      <p:cxnSp>
        <p:nvCxnSpPr>
          <p:cNvPr id="9" name="Connecteur droit 8">
            <a:extLst>
              <a:ext uri="{FF2B5EF4-FFF2-40B4-BE49-F238E27FC236}">
                <a16:creationId xmlns:a16="http://schemas.microsoft.com/office/drawing/2014/main" id="{31228D5D-AAC8-4D28-9F49-299B06B48E16}"/>
              </a:ext>
            </a:extLst>
          </p:cNvPr>
          <p:cNvCxnSpPr>
            <a:cxnSpLocks/>
            <a:stCxn id="4" idx="3"/>
            <a:endCxn id="6" idx="1"/>
          </p:cNvCxnSpPr>
          <p:nvPr/>
        </p:nvCxnSpPr>
        <p:spPr>
          <a:xfrm>
            <a:off x="3895460" y="3429000"/>
            <a:ext cx="6238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4DC6163F-49E3-4ADD-B484-22D16B35E0FC}"/>
              </a:ext>
            </a:extLst>
          </p:cNvPr>
          <p:cNvCxnSpPr>
            <a:cxnSpLocks/>
            <a:stCxn id="6" idx="3"/>
            <a:endCxn id="5" idx="1"/>
          </p:cNvCxnSpPr>
          <p:nvPr/>
        </p:nvCxnSpPr>
        <p:spPr>
          <a:xfrm>
            <a:off x="6442104" y="3429000"/>
            <a:ext cx="521295" cy="1"/>
          </a:xfrm>
          <a:prstGeom prst="line">
            <a:avLst/>
          </a:prstGeom>
        </p:spPr>
        <p:style>
          <a:lnRef idx="1">
            <a:schemeClr val="accent1"/>
          </a:lnRef>
          <a:fillRef idx="0">
            <a:schemeClr val="accent1"/>
          </a:fillRef>
          <a:effectRef idx="0">
            <a:schemeClr val="accent1"/>
          </a:effectRef>
          <a:fontRef idx="minor">
            <a:schemeClr val="tx1"/>
          </a:fontRef>
        </p:style>
      </p:cxnSp>
      <p:sp>
        <p:nvSpPr>
          <p:cNvPr id="11" name="Losange 10">
            <a:extLst>
              <a:ext uri="{FF2B5EF4-FFF2-40B4-BE49-F238E27FC236}">
                <a16:creationId xmlns:a16="http://schemas.microsoft.com/office/drawing/2014/main" id="{2216B671-3ECF-45F9-8457-A36854986BDC}"/>
              </a:ext>
            </a:extLst>
          </p:cNvPr>
          <p:cNvSpPr/>
          <p:nvPr/>
        </p:nvSpPr>
        <p:spPr>
          <a:xfrm>
            <a:off x="4519301" y="4338746"/>
            <a:ext cx="1922803" cy="52983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t>Poster</a:t>
            </a:r>
          </a:p>
        </p:txBody>
      </p:sp>
      <p:sp>
        <p:nvSpPr>
          <p:cNvPr id="15" name="ZoneTexte 14">
            <a:extLst>
              <a:ext uri="{FF2B5EF4-FFF2-40B4-BE49-F238E27FC236}">
                <a16:creationId xmlns:a16="http://schemas.microsoft.com/office/drawing/2014/main" id="{16DA2486-38A7-4424-AA71-5FDB4479164D}"/>
              </a:ext>
            </a:extLst>
          </p:cNvPr>
          <p:cNvSpPr txBox="1"/>
          <p:nvPr/>
        </p:nvSpPr>
        <p:spPr>
          <a:xfrm>
            <a:off x="4207380" y="4186127"/>
            <a:ext cx="312906" cy="369332"/>
          </a:xfrm>
          <a:prstGeom prst="rect">
            <a:avLst/>
          </a:prstGeom>
          <a:noFill/>
        </p:spPr>
        <p:txBody>
          <a:bodyPr wrap="none" rtlCol="0">
            <a:spAutoFit/>
          </a:bodyPr>
          <a:lstStyle/>
          <a:p>
            <a:r>
              <a:rPr lang="fr-FR" dirty="0"/>
              <a:t>1</a:t>
            </a:r>
          </a:p>
        </p:txBody>
      </p:sp>
      <p:cxnSp>
        <p:nvCxnSpPr>
          <p:cNvPr id="20" name="Connecteur : en angle 19">
            <a:extLst>
              <a:ext uri="{FF2B5EF4-FFF2-40B4-BE49-F238E27FC236}">
                <a16:creationId xmlns:a16="http://schemas.microsoft.com/office/drawing/2014/main" id="{E0DD4D66-2102-4308-9C8F-AEA94C776DD0}"/>
              </a:ext>
            </a:extLst>
          </p:cNvPr>
          <p:cNvCxnSpPr>
            <a:cxnSpLocks/>
            <a:stCxn id="11" idx="3"/>
            <a:endCxn id="5" idx="2"/>
          </p:cNvCxnSpPr>
          <p:nvPr/>
        </p:nvCxnSpPr>
        <p:spPr>
          <a:xfrm flipV="1">
            <a:off x="6442104" y="3693920"/>
            <a:ext cx="1303235" cy="90974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3" name="Connecteur : en angle 22">
            <a:extLst>
              <a:ext uri="{FF2B5EF4-FFF2-40B4-BE49-F238E27FC236}">
                <a16:creationId xmlns:a16="http://schemas.microsoft.com/office/drawing/2014/main" id="{E40FB9B3-F518-47D1-B8E5-47B8D98E6F67}"/>
              </a:ext>
            </a:extLst>
          </p:cNvPr>
          <p:cNvCxnSpPr>
            <a:cxnSpLocks/>
            <a:stCxn id="11" idx="1"/>
            <a:endCxn id="4" idx="2"/>
          </p:cNvCxnSpPr>
          <p:nvPr/>
        </p:nvCxnSpPr>
        <p:spPr>
          <a:xfrm rot="10800000">
            <a:off x="3113521" y="3693919"/>
            <a:ext cx="1405781" cy="909746"/>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6" name="ZoneTexte 25">
            <a:extLst>
              <a:ext uri="{FF2B5EF4-FFF2-40B4-BE49-F238E27FC236}">
                <a16:creationId xmlns:a16="http://schemas.microsoft.com/office/drawing/2014/main" id="{3CA5E1A2-049F-48C6-81A8-18DB4336833D}"/>
              </a:ext>
            </a:extLst>
          </p:cNvPr>
          <p:cNvSpPr txBox="1"/>
          <p:nvPr/>
        </p:nvSpPr>
        <p:spPr>
          <a:xfrm>
            <a:off x="6441120" y="4182127"/>
            <a:ext cx="582211" cy="369332"/>
          </a:xfrm>
          <a:prstGeom prst="rect">
            <a:avLst/>
          </a:prstGeom>
          <a:noFill/>
        </p:spPr>
        <p:txBody>
          <a:bodyPr wrap="none" rtlCol="0">
            <a:spAutoFit/>
          </a:bodyPr>
          <a:lstStyle/>
          <a:p>
            <a:r>
              <a:rPr lang="fr-FR" dirty="0"/>
              <a:t>0..n</a:t>
            </a:r>
          </a:p>
        </p:txBody>
      </p:sp>
      <p:sp>
        <p:nvSpPr>
          <p:cNvPr id="27" name="Espace réservé du contenu 2">
            <a:extLst>
              <a:ext uri="{FF2B5EF4-FFF2-40B4-BE49-F238E27FC236}">
                <a16:creationId xmlns:a16="http://schemas.microsoft.com/office/drawing/2014/main" id="{D60CF06B-7E5D-4F05-BF00-0BD8F771F8AA}"/>
              </a:ext>
            </a:extLst>
          </p:cNvPr>
          <p:cNvSpPr txBox="1">
            <a:spLocks/>
          </p:cNvSpPr>
          <p:nvPr/>
        </p:nvSpPr>
        <p:spPr>
          <a:xfrm>
            <a:off x="818712" y="5196284"/>
            <a:ext cx="10554574" cy="1214527"/>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fr-FR" dirty="0"/>
              <a:t>Un utilisateur peut commenter plusieurs photos et une photo peut être commentée par plusieurs utilisateurs</a:t>
            </a:r>
          </a:p>
          <a:p>
            <a:r>
              <a:rPr lang="fr-FR" dirty="0"/>
              <a:t>Un utilisateur peut poster plusieurs photos, une photo n’est postée que par un utilisateur</a:t>
            </a:r>
          </a:p>
        </p:txBody>
      </p:sp>
    </p:spTree>
    <p:extLst>
      <p:ext uri="{BB962C8B-B14F-4D97-AF65-F5344CB8AC3E}">
        <p14:creationId xmlns:p14="http://schemas.microsoft.com/office/powerpoint/2010/main" val="50098896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7B756-B686-4BC9-A2E6-2AA5C7275AEC}"/>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737AA7E0-302A-4883-9970-544B13D1DC23}"/>
              </a:ext>
            </a:extLst>
          </p:cNvPr>
          <p:cNvSpPr>
            <a:spLocks noGrp="1"/>
          </p:cNvSpPr>
          <p:nvPr>
            <p:ph idx="1"/>
          </p:nvPr>
        </p:nvSpPr>
        <p:spPr/>
        <p:txBody>
          <a:bodyPr anchor="t"/>
          <a:lstStyle/>
          <a:p>
            <a:r>
              <a:rPr lang="fr-FR"/>
              <a:t>Exemple de diagramme Entité-Association (location d’appartements pour une agence immobilière) :</a:t>
            </a:r>
          </a:p>
        </p:txBody>
      </p:sp>
      <p:sp>
        <p:nvSpPr>
          <p:cNvPr id="7" name="Espace réservé du numéro de diapositive 6">
            <a:extLst>
              <a:ext uri="{FF2B5EF4-FFF2-40B4-BE49-F238E27FC236}">
                <a16:creationId xmlns:a16="http://schemas.microsoft.com/office/drawing/2014/main" id="{AD1CCB36-46D2-4645-9EE2-8A6658385DF8}"/>
              </a:ext>
            </a:extLst>
          </p:cNvPr>
          <p:cNvSpPr>
            <a:spLocks noGrp="1"/>
          </p:cNvSpPr>
          <p:nvPr>
            <p:ph type="sldNum" sz="quarter" idx="12"/>
          </p:nvPr>
        </p:nvSpPr>
        <p:spPr/>
        <p:txBody>
          <a:bodyPr/>
          <a:lstStyle/>
          <a:p>
            <a:fld id="{27C6CCC6-2BE5-4E42-96A4-D1E8E81A3D8E}" type="slidenum">
              <a:rPr lang="de-DE" smtClean="0"/>
              <a:t>216</a:t>
            </a:fld>
            <a:endParaRPr lang="de-DE"/>
          </a:p>
        </p:txBody>
      </p:sp>
      <p:pic>
        <p:nvPicPr>
          <p:cNvPr id="6" name="Image 5">
            <a:extLst>
              <a:ext uri="{FF2B5EF4-FFF2-40B4-BE49-F238E27FC236}">
                <a16:creationId xmlns:a16="http://schemas.microsoft.com/office/drawing/2014/main" id="{D9F593D5-5CD3-4A5E-ACC6-2C25CB3E88AD}"/>
              </a:ext>
            </a:extLst>
          </p:cNvPr>
          <p:cNvPicPr>
            <a:picLocks noChangeAspect="1"/>
          </p:cNvPicPr>
          <p:nvPr/>
        </p:nvPicPr>
        <p:blipFill>
          <a:blip r:embed="rId2"/>
          <a:stretch>
            <a:fillRect/>
          </a:stretch>
        </p:blipFill>
        <p:spPr>
          <a:xfrm>
            <a:off x="3522767" y="2687051"/>
            <a:ext cx="5146463" cy="3889769"/>
          </a:xfrm>
          <a:prstGeom prst="rect">
            <a:avLst/>
          </a:prstGeom>
        </p:spPr>
      </p:pic>
    </p:spTree>
    <p:extLst>
      <p:ext uri="{BB962C8B-B14F-4D97-AF65-F5344CB8AC3E}">
        <p14:creationId xmlns:p14="http://schemas.microsoft.com/office/powerpoint/2010/main" val="65874272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A91EA-804A-4E3E-BA28-E29C5DE6CAD6}"/>
              </a:ext>
            </a:extLst>
          </p:cNvPr>
          <p:cNvSpPr>
            <a:spLocks noGrp="1"/>
          </p:cNvSpPr>
          <p:nvPr>
            <p:ph type="title"/>
          </p:nvPr>
        </p:nvSpPr>
        <p:spPr/>
        <p:txBody>
          <a:bodyPr>
            <a:normAutofit fontScale="90000"/>
          </a:bodyPr>
          <a:lstStyle/>
          <a:p>
            <a:r>
              <a:rPr lang="fr-FR" dirty="0"/>
              <a:t>Méthodologies de conception d’une BDD</a:t>
            </a:r>
          </a:p>
        </p:txBody>
      </p:sp>
      <p:graphicFrame>
        <p:nvGraphicFramePr>
          <p:cNvPr id="16" name="Espace réservé du contenu 2">
            <a:extLst>
              <a:ext uri="{FF2B5EF4-FFF2-40B4-BE49-F238E27FC236}">
                <a16:creationId xmlns:a16="http://schemas.microsoft.com/office/drawing/2014/main" id="{89F1DB22-D0A8-4D6D-96DD-84C97D8E34FB}"/>
              </a:ext>
            </a:extLst>
          </p:cNvPr>
          <p:cNvGraphicFramePr>
            <a:graphicFrameLocks noGrp="1"/>
          </p:cNvGraphicFramePr>
          <p:nvPr>
            <p:ph idx="1"/>
            <p:extLst>
              <p:ext uri="{D42A27DB-BD31-4B8C-83A1-F6EECF244321}">
                <p14:modId xmlns:p14="http://schemas.microsoft.com/office/powerpoint/2010/main" val="1320817866"/>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numéro de diapositive 4">
            <a:extLst>
              <a:ext uri="{FF2B5EF4-FFF2-40B4-BE49-F238E27FC236}">
                <a16:creationId xmlns:a16="http://schemas.microsoft.com/office/drawing/2014/main" id="{D87FFC28-209D-434B-8A47-3F9F77503E6C}"/>
              </a:ext>
            </a:extLst>
          </p:cNvPr>
          <p:cNvSpPr>
            <a:spLocks noGrp="1"/>
          </p:cNvSpPr>
          <p:nvPr>
            <p:ph type="sldNum" sz="quarter" idx="12"/>
          </p:nvPr>
        </p:nvSpPr>
        <p:spPr/>
        <p:txBody>
          <a:bodyPr>
            <a:normAutofit/>
          </a:bodyPr>
          <a:lstStyle/>
          <a:p>
            <a:pPr>
              <a:spcAft>
                <a:spcPts val="600"/>
              </a:spcAft>
            </a:pPr>
            <a:fld id="{27C6CCC6-2BE5-4E42-96A4-D1E8E81A3D8E}" type="slidenum">
              <a:rPr lang="de-DE" smtClean="0"/>
              <a:pPr>
                <a:spcAft>
                  <a:spcPts val="600"/>
                </a:spcAft>
              </a:pPr>
              <a:t>217</a:t>
            </a:fld>
            <a:endParaRPr lang="de-DE"/>
          </a:p>
        </p:txBody>
      </p:sp>
    </p:spTree>
    <p:extLst>
      <p:ext uri="{BB962C8B-B14F-4D97-AF65-F5344CB8AC3E}">
        <p14:creationId xmlns:p14="http://schemas.microsoft.com/office/powerpoint/2010/main" val="169897709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A91EA-804A-4E3E-BA28-E29C5DE6CAD6}"/>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F6388246-2019-4896-9D05-5A92828F236B}"/>
              </a:ext>
            </a:extLst>
          </p:cNvPr>
          <p:cNvSpPr>
            <a:spLocks noGrp="1"/>
          </p:cNvSpPr>
          <p:nvPr>
            <p:ph idx="1"/>
          </p:nvPr>
        </p:nvSpPr>
        <p:spPr/>
        <p:txBody>
          <a:bodyPr anchor="ctr"/>
          <a:lstStyle/>
          <a:p>
            <a:r>
              <a:rPr lang="fr-FR"/>
              <a:t>Principes de conversion du diagramme entité-association vers le schéma de la BDD :</a:t>
            </a:r>
          </a:p>
          <a:p>
            <a:pPr lvl="1">
              <a:buFont typeface="+mj-lt"/>
              <a:buAutoNum type="arabicPeriod"/>
            </a:pPr>
            <a:r>
              <a:rPr lang="fr-FR"/>
              <a:t>Une entité devient une table, un attribut devient une colonne</a:t>
            </a:r>
          </a:p>
          <a:p>
            <a:pPr lvl="1">
              <a:buFont typeface="+mj-lt"/>
              <a:buAutoNum type="arabicPeriod"/>
            </a:pPr>
            <a:r>
              <a:rPr lang="fr-FR"/>
              <a:t>Une association 1:N se traduit par la création d’une clé étrangère dans la table associée à l’entité du côté N (cette clé étrangère référence la clé primaire)</a:t>
            </a:r>
          </a:p>
          <a:p>
            <a:pPr lvl="1">
              <a:buFont typeface="+mj-lt"/>
              <a:buAutoNum type="arabicPeriod"/>
            </a:pPr>
            <a:r>
              <a:rPr lang="fr-FR"/>
              <a:t>Une association N:M se traduit par la création d’une table de jointure</a:t>
            </a:r>
          </a:p>
        </p:txBody>
      </p:sp>
      <p:sp>
        <p:nvSpPr>
          <p:cNvPr id="6" name="Espace réservé du numéro de diapositive 5">
            <a:extLst>
              <a:ext uri="{FF2B5EF4-FFF2-40B4-BE49-F238E27FC236}">
                <a16:creationId xmlns:a16="http://schemas.microsoft.com/office/drawing/2014/main" id="{F63A9DB6-B43E-45A1-956F-755475556CD8}"/>
              </a:ext>
            </a:extLst>
          </p:cNvPr>
          <p:cNvSpPr>
            <a:spLocks noGrp="1"/>
          </p:cNvSpPr>
          <p:nvPr>
            <p:ph type="sldNum" sz="quarter" idx="12"/>
          </p:nvPr>
        </p:nvSpPr>
        <p:spPr/>
        <p:txBody>
          <a:bodyPr/>
          <a:lstStyle/>
          <a:p>
            <a:fld id="{27C6CCC6-2BE5-4E42-96A4-D1E8E81A3D8E}" type="slidenum">
              <a:rPr lang="de-DE" smtClean="0"/>
              <a:t>218</a:t>
            </a:fld>
            <a:endParaRPr lang="de-DE"/>
          </a:p>
        </p:txBody>
      </p:sp>
    </p:spTree>
    <p:extLst>
      <p:ext uri="{BB962C8B-B14F-4D97-AF65-F5344CB8AC3E}">
        <p14:creationId xmlns:p14="http://schemas.microsoft.com/office/powerpoint/2010/main" val="207005818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A91EA-804A-4E3E-BA28-E29C5DE6CAD6}"/>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F6388246-2019-4896-9D05-5A92828F236B}"/>
              </a:ext>
            </a:extLst>
          </p:cNvPr>
          <p:cNvSpPr>
            <a:spLocks noGrp="1"/>
          </p:cNvSpPr>
          <p:nvPr>
            <p:ph idx="1"/>
          </p:nvPr>
        </p:nvSpPr>
        <p:spPr>
          <a:xfrm>
            <a:off x="818712" y="2222288"/>
            <a:ext cx="10554574" cy="529838"/>
          </a:xfrm>
        </p:spPr>
        <p:txBody>
          <a:bodyPr anchor="t"/>
          <a:lstStyle/>
          <a:p>
            <a:r>
              <a:rPr lang="fr-FR"/>
              <a:t>Cas particulier des associations 1:1</a:t>
            </a:r>
          </a:p>
        </p:txBody>
      </p:sp>
      <p:sp>
        <p:nvSpPr>
          <p:cNvPr id="14" name="Espace réservé du numéro de diapositive 13">
            <a:extLst>
              <a:ext uri="{FF2B5EF4-FFF2-40B4-BE49-F238E27FC236}">
                <a16:creationId xmlns:a16="http://schemas.microsoft.com/office/drawing/2014/main" id="{21FF4FCE-E716-4C5E-A570-0949CE988A08}"/>
              </a:ext>
            </a:extLst>
          </p:cNvPr>
          <p:cNvSpPr>
            <a:spLocks noGrp="1"/>
          </p:cNvSpPr>
          <p:nvPr>
            <p:ph type="sldNum" sz="quarter" idx="12"/>
          </p:nvPr>
        </p:nvSpPr>
        <p:spPr/>
        <p:txBody>
          <a:bodyPr/>
          <a:lstStyle/>
          <a:p>
            <a:fld id="{27C6CCC6-2BE5-4E42-96A4-D1E8E81A3D8E}" type="slidenum">
              <a:rPr lang="de-DE" smtClean="0"/>
              <a:t>219</a:t>
            </a:fld>
            <a:endParaRPr lang="de-DE"/>
          </a:p>
        </p:txBody>
      </p:sp>
      <p:sp>
        <p:nvSpPr>
          <p:cNvPr id="4" name="Rectangle 3">
            <a:extLst>
              <a:ext uri="{FF2B5EF4-FFF2-40B4-BE49-F238E27FC236}">
                <a16:creationId xmlns:a16="http://schemas.microsoft.com/office/drawing/2014/main" id="{050CC702-6BAC-4FCD-8863-6849A37F21B6}"/>
              </a:ext>
            </a:extLst>
          </p:cNvPr>
          <p:cNvSpPr/>
          <p:nvPr/>
        </p:nvSpPr>
        <p:spPr>
          <a:xfrm>
            <a:off x="2895603" y="2899160"/>
            <a:ext cx="1563880"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Marin</a:t>
            </a:r>
          </a:p>
        </p:txBody>
      </p:sp>
      <p:sp>
        <p:nvSpPr>
          <p:cNvPr id="5" name="Rectangle 4">
            <a:extLst>
              <a:ext uri="{FF2B5EF4-FFF2-40B4-BE49-F238E27FC236}">
                <a16:creationId xmlns:a16="http://schemas.microsoft.com/office/drawing/2014/main" id="{4B832D86-ECE7-42FB-8D1D-BBAE7F201A7A}"/>
              </a:ext>
            </a:extLst>
          </p:cNvPr>
          <p:cNvSpPr/>
          <p:nvPr/>
        </p:nvSpPr>
        <p:spPr>
          <a:xfrm>
            <a:off x="7527422" y="2899161"/>
            <a:ext cx="1563880"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Voilier</a:t>
            </a:r>
          </a:p>
        </p:txBody>
      </p:sp>
      <p:sp>
        <p:nvSpPr>
          <p:cNvPr id="6" name="Losange 5">
            <a:extLst>
              <a:ext uri="{FF2B5EF4-FFF2-40B4-BE49-F238E27FC236}">
                <a16:creationId xmlns:a16="http://schemas.microsoft.com/office/drawing/2014/main" id="{03BD129D-708A-45FA-A599-DF37FE7EE266}"/>
              </a:ext>
            </a:extLst>
          </p:cNvPr>
          <p:cNvSpPr/>
          <p:nvPr/>
        </p:nvSpPr>
        <p:spPr>
          <a:xfrm>
            <a:off x="5083324" y="2899161"/>
            <a:ext cx="1922803" cy="52983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t>Pilote</a:t>
            </a:r>
          </a:p>
        </p:txBody>
      </p:sp>
      <p:cxnSp>
        <p:nvCxnSpPr>
          <p:cNvPr id="7" name="Connecteur droit 6">
            <a:extLst>
              <a:ext uri="{FF2B5EF4-FFF2-40B4-BE49-F238E27FC236}">
                <a16:creationId xmlns:a16="http://schemas.microsoft.com/office/drawing/2014/main" id="{0D342531-251E-4009-941D-AB762973746C}"/>
              </a:ext>
            </a:extLst>
          </p:cNvPr>
          <p:cNvCxnSpPr>
            <a:cxnSpLocks/>
            <a:stCxn id="4" idx="3"/>
            <a:endCxn id="6" idx="1"/>
          </p:cNvCxnSpPr>
          <p:nvPr/>
        </p:nvCxnSpPr>
        <p:spPr>
          <a:xfrm>
            <a:off x="4459483" y="3164080"/>
            <a:ext cx="6238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2B0FDB93-2030-4081-B247-8E6618204DBA}"/>
              </a:ext>
            </a:extLst>
          </p:cNvPr>
          <p:cNvCxnSpPr>
            <a:cxnSpLocks/>
            <a:stCxn id="6" idx="3"/>
            <a:endCxn id="5" idx="1"/>
          </p:cNvCxnSpPr>
          <p:nvPr/>
        </p:nvCxnSpPr>
        <p:spPr>
          <a:xfrm>
            <a:off x="7006127" y="3164080"/>
            <a:ext cx="521295" cy="1"/>
          </a:xfrm>
          <a:prstGeom prst="line">
            <a:avLst/>
          </a:prstGeom>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79412A19-FD2A-451F-BC06-EA57AD7D4468}"/>
              </a:ext>
            </a:extLst>
          </p:cNvPr>
          <p:cNvSpPr txBox="1"/>
          <p:nvPr/>
        </p:nvSpPr>
        <p:spPr>
          <a:xfrm>
            <a:off x="4713449" y="2794747"/>
            <a:ext cx="312906" cy="369332"/>
          </a:xfrm>
          <a:prstGeom prst="rect">
            <a:avLst/>
          </a:prstGeom>
          <a:noFill/>
        </p:spPr>
        <p:txBody>
          <a:bodyPr wrap="none" rtlCol="0">
            <a:spAutoFit/>
          </a:bodyPr>
          <a:lstStyle/>
          <a:p>
            <a:r>
              <a:rPr lang="fr-FR"/>
              <a:t>1</a:t>
            </a:r>
          </a:p>
        </p:txBody>
      </p:sp>
      <p:sp>
        <p:nvSpPr>
          <p:cNvPr id="10" name="ZoneTexte 9">
            <a:extLst>
              <a:ext uri="{FF2B5EF4-FFF2-40B4-BE49-F238E27FC236}">
                <a16:creationId xmlns:a16="http://schemas.microsoft.com/office/drawing/2014/main" id="{0379D0EE-B911-4DDB-A518-A3EA0E5E5F45}"/>
              </a:ext>
            </a:extLst>
          </p:cNvPr>
          <p:cNvSpPr txBox="1"/>
          <p:nvPr/>
        </p:nvSpPr>
        <p:spPr>
          <a:xfrm>
            <a:off x="7063096" y="2794747"/>
            <a:ext cx="312906" cy="369332"/>
          </a:xfrm>
          <a:prstGeom prst="rect">
            <a:avLst/>
          </a:prstGeom>
          <a:noFill/>
        </p:spPr>
        <p:txBody>
          <a:bodyPr wrap="none" rtlCol="0">
            <a:spAutoFit/>
          </a:bodyPr>
          <a:lstStyle/>
          <a:p>
            <a:r>
              <a:rPr lang="fr-FR"/>
              <a:t>1</a:t>
            </a:r>
          </a:p>
        </p:txBody>
      </p:sp>
      <p:sp>
        <p:nvSpPr>
          <p:cNvPr id="11" name="Espace réservé du contenu 2">
            <a:extLst>
              <a:ext uri="{FF2B5EF4-FFF2-40B4-BE49-F238E27FC236}">
                <a16:creationId xmlns:a16="http://schemas.microsoft.com/office/drawing/2014/main" id="{09F5BD4C-6DE6-4721-8FF4-7C8E49CEBE12}"/>
              </a:ext>
            </a:extLst>
          </p:cNvPr>
          <p:cNvSpPr txBox="1">
            <a:spLocks/>
          </p:cNvSpPr>
          <p:nvPr/>
        </p:nvSpPr>
        <p:spPr>
          <a:xfrm>
            <a:off x="810000" y="3693917"/>
            <a:ext cx="10554574" cy="2903427"/>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fr-FR"/>
              <a:t>En général, on regroupe les attributs de ces entités dans une unique table</a:t>
            </a:r>
          </a:p>
          <a:p>
            <a:pPr lvl="1"/>
            <a:r>
              <a:rPr lang="fr-FR"/>
              <a:t>Si le marin est le plus important (fonctionnellement) alors l’identifiant du marin devient la clé primaire</a:t>
            </a:r>
          </a:p>
          <a:p>
            <a:pPr lvl="1"/>
            <a:r>
              <a:rPr lang="fr-FR"/>
              <a:t>Si le voilier est le plus important, alors l’identifiant du voilier devient la clé primaire</a:t>
            </a:r>
          </a:p>
          <a:p>
            <a:r>
              <a:rPr lang="fr-FR"/>
              <a:t>Sinon, s’il y a une distinction fonctionnelle forte entre marin et voilier ou si on veut garder une séparation stricte entre les deux (pour pouvoir évoluer s’il devait y avoir à l’avenir plusieurs voiliers par marin)</a:t>
            </a:r>
          </a:p>
          <a:p>
            <a:pPr lvl="1"/>
            <a:r>
              <a:rPr lang="fr-FR"/>
              <a:t>Création de deux tables, chacune ayant une clé étrangère référençant l’autre table</a:t>
            </a:r>
          </a:p>
        </p:txBody>
      </p:sp>
    </p:spTree>
    <p:extLst>
      <p:ext uri="{BB962C8B-B14F-4D97-AF65-F5344CB8AC3E}">
        <p14:creationId xmlns:p14="http://schemas.microsoft.com/office/powerpoint/2010/main" val="1438815055"/>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A91EA-804A-4E3E-BA28-E29C5DE6CAD6}"/>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F6388246-2019-4896-9D05-5A92828F236B}"/>
              </a:ext>
            </a:extLst>
          </p:cNvPr>
          <p:cNvSpPr>
            <a:spLocks noGrp="1"/>
          </p:cNvSpPr>
          <p:nvPr>
            <p:ph idx="1"/>
          </p:nvPr>
        </p:nvSpPr>
        <p:spPr>
          <a:xfrm>
            <a:off x="818712" y="2222288"/>
            <a:ext cx="10554574" cy="4281062"/>
          </a:xfrm>
        </p:spPr>
        <p:txBody>
          <a:bodyPr anchor="t"/>
          <a:lstStyle/>
          <a:p>
            <a:r>
              <a:rPr lang="fr-FR" dirty="0"/>
              <a:t>Applications</a:t>
            </a:r>
          </a:p>
        </p:txBody>
      </p:sp>
      <p:sp>
        <p:nvSpPr>
          <p:cNvPr id="6" name="Espace réservé du numéro de diapositive 5">
            <a:extLst>
              <a:ext uri="{FF2B5EF4-FFF2-40B4-BE49-F238E27FC236}">
                <a16:creationId xmlns:a16="http://schemas.microsoft.com/office/drawing/2014/main" id="{63788315-9567-47C3-A7EA-92EDE6A299EA}"/>
              </a:ext>
            </a:extLst>
          </p:cNvPr>
          <p:cNvSpPr>
            <a:spLocks noGrp="1"/>
          </p:cNvSpPr>
          <p:nvPr>
            <p:ph type="sldNum" sz="quarter" idx="12"/>
          </p:nvPr>
        </p:nvSpPr>
        <p:spPr/>
        <p:txBody>
          <a:bodyPr/>
          <a:lstStyle/>
          <a:p>
            <a:fld id="{27C6CCC6-2BE5-4E42-96A4-D1E8E81A3D8E}" type="slidenum">
              <a:rPr lang="de-DE" smtClean="0"/>
              <a:t>220</a:t>
            </a:fld>
            <a:endParaRPr lang="de-DE"/>
          </a:p>
        </p:txBody>
      </p:sp>
      <p:sp>
        <p:nvSpPr>
          <p:cNvPr id="4" name="Rectangle 3">
            <a:extLst>
              <a:ext uri="{FF2B5EF4-FFF2-40B4-BE49-F238E27FC236}">
                <a16:creationId xmlns:a16="http://schemas.microsoft.com/office/drawing/2014/main" id="{3C7E0F2C-14FE-4BFF-9A34-48107AD8F648}"/>
              </a:ext>
            </a:extLst>
          </p:cNvPr>
          <p:cNvSpPr/>
          <p:nvPr/>
        </p:nvSpPr>
        <p:spPr>
          <a:xfrm>
            <a:off x="2207813" y="3280312"/>
            <a:ext cx="1627465" cy="4425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Étudiant</a:t>
            </a:r>
          </a:p>
        </p:txBody>
      </p:sp>
      <p:sp>
        <p:nvSpPr>
          <p:cNvPr id="7" name="Rectangle 6">
            <a:extLst>
              <a:ext uri="{FF2B5EF4-FFF2-40B4-BE49-F238E27FC236}">
                <a16:creationId xmlns:a16="http://schemas.microsoft.com/office/drawing/2014/main" id="{E76C3B3E-CB0A-4A3B-BFE1-4AC6C366913A}"/>
              </a:ext>
            </a:extLst>
          </p:cNvPr>
          <p:cNvSpPr/>
          <p:nvPr/>
        </p:nvSpPr>
        <p:spPr>
          <a:xfrm>
            <a:off x="2207811" y="4971814"/>
            <a:ext cx="1627465" cy="4425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Promotion</a:t>
            </a:r>
          </a:p>
        </p:txBody>
      </p:sp>
      <p:sp>
        <p:nvSpPr>
          <p:cNvPr id="5" name="Organigramme : Décision 4">
            <a:extLst>
              <a:ext uri="{FF2B5EF4-FFF2-40B4-BE49-F238E27FC236}">
                <a16:creationId xmlns:a16="http://schemas.microsoft.com/office/drawing/2014/main" id="{EBE7F51F-2018-4ADB-A545-186EC967696F}"/>
              </a:ext>
            </a:extLst>
          </p:cNvPr>
          <p:cNvSpPr/>
          <p:nvPr/>
        </p:nvSpPr>
        <p:spPr>
          <a:xfrm>
            <a:off x="2144895" y="4048899"/>
            <a:ext cx="1753299" cy="60971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00" dirty="0"/>
              <a:t>Appartenir à</a:t>
            </a:r>
          </a:p>
        </p:txBody>
      </p:sp>
      <p:cxnSp>
        <p:nvCxnSpPr>
          <p:cNvPr id="9" name="Connecteur droit 8">
            <a:extLst>
              <a:ext uri="{FF2B5EF4-FFF2-40B4-BE49-F238E27FC236}">
                <a16:creationId xmlns:a16="http://schemas.microsoft.com/office/drawing/2014/main" id="{E2EE631D-DE58-428A-BF79-5EC2F975FD20}"/>
              </a:ext>
            </a:extLst>
          </p:cNvPr>
          <p:cNvCxnSpPr>
            <a:stCxn id="4" idx="2"/>
            <a:endCxn id="5" idx="0"/>
          </p:cNvCxnSpPr>
          <p:nvPr/>
        </p:nvCxnSpPr>
        <p:spPr>
          <a:xfrm flipH="1">
            <a:off x="3021545" y="3722831"/>
            <a:ext cx="1" cy="326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6F46117D-6571-4222-B79A-0E0CE937E2EB}"/>
              </a:ext>
            </a:extLst>
          </p:cNvPr>
          <p:cNvCxnSpPr>
            <a:stCxn id="5" idx="2"/>
            <a:endCxn id="7" idx="0"/>
          </p:cNvCxnSpPr>
          <p:nvPr/>
        </p:nvCxnSpPr>
        <p:spPr>
          <a:xfrm flipH="1">
            <a:off x="3021544" y="4658613"/>
            <a:ext cx="1" cy="313201"/>
          </a:xfrm>
          <a:prstGeom prst="line">
            <a:avLst/>
          </a:prstGeom>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ACAD1ADC-D15A-49C6-A70F-D452FEB418AA}"/>
              </a:ext>
            </a:extLst>
          </p:cNvPr>
          <p:cNvSpPr txBox="1"/>
          <p:nvPr/>
        </p:nvSpPr>
        <p:spPr>
          <a:xfrm>
            <a:off x="3297005" y="3676635"/>
            <a:ext cx="548548" cy="369332"/>
          </a:xfrm>
          <a:prstGeom prst="rect">
            <a:avLst/>
          </a:prstGeom>
          <a:noFill/>
        </p:spPr>
        <p:txBody>
          <a:bodyPr wrap="none" rtlCol="0">
            <a:spAutoFit/>
          </a:bodyPr>
          <a:lstStyle/>
          <a:p>
            <a:r>
              <a:rPr lang="fr-FR" dirty="0"/>
              <a:t>0,N</a:t>
            </a:r>
          </a:p>
        </p:txBody>
      </p:sp>
      <p:sp>
        <p:nvSpPr>
          <p:cNvPr id="15" name="ZoneTexte 14">
            <a:extLst>
              <a:ext uri="{FF2B5EF4-FFF2-40B4-BE49-F238E27FC236}">
                <a16:creationId xmlns:a16="http://schemas.microsoft.com/office/drawing/2014/main" id="{BB44F2A4-2412-4A8C-889B-B7E0BBC84E0A}"/>
              </a:ext>
            </a:extLst>
          </p:cNvPr>
          <p:cNvSpPr txBox="1"/>
          <p:nvPr/>
        </p:nvSpPr>
        <p:spPr>
          <a:xfrm>
            <a:off x="3399597" y="4656650"/>
            <a:ext cx="312906" cy="369332"/>
          </a:xfrm>
          <a:prstGeom prst="rect">
            <a:avLst/>
          </a:prstGeom>
          <a:noFill/>
        </p:spPr>
        <p:txBody>
          <a:bodyPr wrap="none" rtlCol="0">
            <a:spAutoFit/>
          </a:bodyPr>
          <a:lstStyle/>
          <a:p>
            <a:r>
              <a:rPr lang="fr-FR" dirty="0"/>
              <a:t>1</a:t>
            </a:r>
          </a:p>
        </p:txBody>
      </p:sp>
      <p:graphicFrame>
        <p:nvGraphicFramePr>
          <p:cNvPr id="16" name="Tableau 16">
            <a:extLst>
              <a:ext uri="{FF2B5EF4-FFF2-40B4-BE49-F238E27FC236}">
                <a16:creationId xmlns:a16="http://schemas.microsoft.com/office/drawing/2014/main" id="{F2AFE4E7-3034-4EDC-A5C5-7B03B3E952C8}"/>
              </a:ext>
            </a:extLst>
          </p:cNvPr>
          <p:cNvGraphicFramePr>
            <a:graphicFrameLocks noGrp="1"/>
          </p:cNvGraphicFramePr>
          <p:nvPr/>
        </p:nvGraphicFramePr>
        <p:xfrm>
          <a:off x="6095999" y="2910365"/>
          <a:ext cx="4354818" cy="739894"/>
        </p:xfrm>
        <a:graphic>
          <a:graphicData uri="http://schemas.openxmlformats.org/drawingml/2006/table">
            <a:tbl>
              <a:tblPr firstRow="1" bandRow="1">
                <a:tableStyleId>{5C22544A-7EE6-4342-B048-85BDC9FD1C3A}</a:tableStyleId>
              </a:tblPr>
              <a:tblGrid>
                <a:gridCol w="2177409">
                  <a:extLst>
                    <a:ext uri="{9D8B030D-6E8A-4147-A177-3AD203B41FA5}">
                      <a16:colId xmlns:a16="http://schemas.microsoft.com/office/drawing/2014/main" val="2584365638"/>
                    </a:ext>
                  </a:extLst>
                </a:gridCol>
                <a:gridCol w="2177409">
                  <a:extLst>
                    <a:ext uri="{9D8B030D-6E8A-4147-A177-3AD203B41FA5}">
                      <a16:colId xmlns:a16="http://schemas.microsoft.com/office/drawing/2014/main" val="254235674"/>
                    </a:ext>
                  </a:extLst>
                </a:gridCol>
              </a:tblGrid>
              <a:tr h="369947">
                <a:tc>
                  <a:txBody>
                    <a:bodyPr/>
                    <a:lstStyle/>
                    <a:p>
                      <a:r>
                        <a:rPr lang="fr-FR" u="sng" dirty="0"/>
                        <a:t>id promo</a:t>
                      </a:r>
                    </a:p>
                  </a:txBody>
                  <a:tcPr/>
                </a:tc>
                <a:tc>
                  <a:txBody>
                    <a:bodyPr/>
                    <a:lstStyle/>
                    <a:p>
                      <a:r>
                        <a:rPr lang="fr-FR" dirty="0"/>
                        <a:t>intitulé</a:t>
                      </a:r>
                    </a:p>
                  </a:txBody>
                  <a:tcPr/>
                </a:tc>
                <a:extLst>
                  <a:ext uri="{0D108BD9-81ED-4DB2-BD59-A6C34878D82A}">
                    <a16:rowId xmlns:a16="http://schemas.microsoft.com/office/drawing/2014/main" val="2785410924"/>
                  </a:ext>
                </a:extLst>
              </a:tr>
              <a:tr h="369947">
                <a:tc>
                  <a:txBody>
                    <a:bodyPr/>
                    <a:lstStyle/>
                    <a:p>
                      <a:endParaRPr lang="fr-FR"/>
                    </a:p>
                  </a:txBody>
                  <a:tcPr/>
                </a:tc>
                <a:tc>
                  <a:txBody>
                    <a:bodyPr/>
                    <a:lstStyle/>
                    <a:p>
                      <a:endParaRPr lang="fr-FR" dirty="0"/>
                    </a:p>
                  </a:txBody>
                  <a:tcPr/>
                </a:tc>
                <a:extLst>
                  <a:ext uri="{0D108BD9-81ED-4DB2-BD59-A6C34878D82A}">
                    <a16:rowId xmlns:a16="http://schemas.microsoft.com/office/drawing/2014/main" val="359052745"/>
                  </a:ext>
                </a:extLst>
              </a:tr>
            </a:tbl>
          </a:graphicData>
        </a:graphic>
      </p:graphicFrame>
      <p:graphicFrame>
        <p:nvGraphicFramePr>
          <p:cNvPr id="19" name="Tableau 16">
            <a:extLst>
              <a:ext uri="{FF2B5EF4-FFF2-40B4-BE49-F238E27FC236}">
                <a16:creationId xmlns:a16="http://schemas.microsoft.com/office/drawing/2014/main" id="{CB8AA4BE-F3C0-43DC-936B-21F7F308B3EC}"/>
              </a:ext>
            </a:extLst>
          </p:cNvPr>
          <p:cNvGraphicFramePr>
            <a:graphicFrameLocks noGrp="1"/>
          </p:cNvGraphicFramePr>
          <p:nvPr/>
        </p:nvGraphicFramePr>
        <p:xfrm>
          <a:off x="5686947" y="4669656"/>
          <a:ext cx="5225796" cy="1010027"/>
        </p:xfrm>
        <a:graphic>
          <a:graphicData uri="http://schemas.openxmlformats.org/drawingml/2006/table">
            <a:tbl>
              <a:tblPr firstRow="1" bandRow="1">
                <a:tableStyleId>{5C22544A-7EE6-4342-B048-85BDC9FD1C3A}</a:tableStyleId>
              </a:tblPr>
              <a:tblGrid>
                <a:gridCol w="1306449">
                  <a:extLst>
                    <a:ext uri="{9D8B030D-6E8A-4147-A177-3AD203B41FA5}">
                      <a16:colId xmlns:a16="http://schemas.microsoft.com/office/drawing/2014/main" val="2584365638"/>
                    </a:ext>
                  </a:extLst>
                </a:gridCol>
                <a:gridCol w="1306449">
                  <a:extLst>
                    <a:ext uri="{9D8B030D-6E8A-4147-A177-3AD203B41FA5}">
                      <a16:colId xmlns:a16="http://schemas.microsoft.com/office/drawing/2014/main" val="254235674"/>
                    </a:ext>
                  </a:extLst>
                </a:gridCol>
                <a:gridCol w="1306449">
                  <a:extLst>
                    <a:ext uri="{9D8B030D-6E8A-4147-A177-3AD203B41FA5}">
                      <a16:colId xmlns:a16="http://schemas.microsoft.com/office/drawing/2014/main" val="2637630073"/>
                    </a:ext>
                  </a:extLst>
                </a:gridCol>
                <a:gridCol w="1306449">
                  <a:extLst>
                    <a:ext uri="{9D8B030D-6E8A-4147-A177-3AD203B41FA5}">
                      <a16:colId xmlns:a16="http://schemas.microsoft.com/office/drawing/2014/main" val="4093424938"/>
                    </a:ext>
                  </a:extLst>
                </a:gridCol>
              </a:tblGrid>
              <a:tr h="369947">
                <a:tc>
                  <a:txBody>
                    <a:bodyPr/>
                    <a:lstStyle/>
                    <a:p>
                      <a:r>
                        <a:rPr lang="fr-FR" u="sng" dirty="0"/>
                        <a:t>id étudiant</a:t>
                      </a:r>
                    </a:p>
                  </a:txBody>
                  <a:tcPr/>
                </a:tc>
                <a:tc>
                  <a:txBody>
                    <a:bodyPr/>
                    <a:lstStyle/>
                    <a:p>
                      <a:r>
                        <a:rPr lang="fr-FR" dirty="0"/>
                        <a:t>nom</a:t>
                      </a:r>
                    </a:p>
                  </a:txBody>
                  <a:tcPr/>
                </a:tc>
                <a:tc>
                  <a:txBody>
                    <a:bodyPr/>
                    <a:lstStyle/>
                    <a:p>
                      <a:r>
                        <a:rPr lang="fr-FR" dirty="0"/>
                        <a:t>prénom</a:t>
                      </a:r>
                    </a:p>
                  </a:txBody>
                  <a:tcPr/>
                </a:tc>
                <a:tc>
                  <a:txBody>
                    <a:bodyPr/>
                    <a:lstStyle/>
                    <a:p>
                      <a:r>
                        <a:rPr lang="fr-FR" dirty="0" err="1"/>
                        <a:t>id_promo</a:t>
                      </a:r>
                      <a:endParaRPr lang="fr-FR" dirty="0"/>
                    </a:p>
                  </a:txBody>
                  <a:tcPr/>
                </a:tc>
                <a:extLst>
                  <a:ext uri="{0D108BD9-81ED-4DB2-BD59-A6C34878D82A}">
                    <a16:rowId xmlns:a16="http://schemas.microsoft.com/office/drawing/2014/main" val="2785410924"/>
                  </a:ext>
                </a:extLst>
              </a:tr>
              <a:tr h="369947">
                <a:tc>
                  <a:txBody>
                    <a:bodyPr/>
                    <a:lstStyle/>
                    <a:p>
                      <a:endParaRPr lang="fr-FR"/>
                    </a:p>
                  </a:txBody>
                  <a:tcPr/>
                </a:tc>
                <a:tc>
                  <a:txBody>
                    <a:bodyPr/>
                    <a:lstStyle/>
                    <a:p>
                      <a:endParaRPr lang="fr-FR" dirty="0"/>
                    </a:p>
                  </a:txBody>
                  <a:tcPr/>
                </a:tc>
                <a:tc>
                  <a:txBody>
                    <a:bodyPr/>
                    <a:lstStyle/>
                    <a:p>
                      <a:endParaRPr lang="fr-FR" dirty="0"/>
                    </a:p>
                  </a:txBody>
                  <a:tcPr/>
                </a:tc>
                <a:tc>
                  <a:txBody>
                    <a:bodyPr/>
                    <a:lstStyle/>
                    <a:p>
                      <a:endParaRPr lang="fr-FR" dirty="0"/>
                    </a:p>
                  </a:txBody>
                  <a:tcPr/>
                </a:tc>
                <a:extLst>
                  <a:ext uri="{0D108BD9-81ED-4DB2-BD59-A6C34878D82A}">
                    <a16:rowId xmlns:a16="http://schemas.microsoft.com/office/drawing/2014/main" val="359052745"/>
                  </a:ext>
                </a:extLst>
              </a:tr>
            </a:tbl>
          </a:graphicData>
        </a:graphic>
      </p:graphicFrame>
      <p:cxnSp>
        <p:nvCxnSpPr>
          <p:cNvPr id="21" name="Connecteur droit avec flèche 20">
            <a:extLst>
              <a:ext uri="{FF2B5EF4-FFF2-40B4-BE49-F238E27FC236}">
                <a16:creationId xmlns:a16="http://schemas.microsoft.com/office/drawing/2014/main" id="{3E1856F1-2E17-4FC3-BC4E-68FB64E7357B}"/>
              </a:ext>
            </a:extLst>
          </p:cNvPr>
          <p:cNvCxnSpPr>
            <a:cxnSpLocks/>
          </p:cNvCxnSpPr>
          <p:nvPr/>
        </p:nvCxnSpPr>
        <p:spPr>
          <a:xfrm flipH="1" flipV="1">
            <a:off x="7147421" y="3716324"/>
            <a:ext cx="2994869" cy="889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Flèche : droite 31">
            <a:extLst>
              <a:ext uri="{FF2B5EF4-FFF2-40B4-BE49-F238E27FC236}">
                <a16:creationId xmlns:a16="http://schemas.microsoft.com/office/drawing/2014/main" id="{8E9334F7-E893-496C-974E-142FDD7388E4}"/>
              </a:ext>
            </a:extLst>
          </p:cNvPr>
          <p:cNvSpPr/>
          <p:nvPr/>
        </p:nvSpPr>
        <p:spPr>
          <a:xfrm>
            <a:off x="4757747" y="4009989"/>
            <a:ext cx="506940" cy="4425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ZoneTexte 32">
            <a:extLst>
              <a:ext uri="{FF2B5EF4-FFF2-40B4-BE49-F238E27FC236}">
                <a16:creationId xmlns:a16="http://schemas.microsoft.com/office/drawing/2014/main" id="{E664F689-9BDF-4411-ACAB-DF890E1FAC1F}"/>
              </a:ext>
            </a:extLst>
          </p:cNvPr>
          <p:cNvSpPr txBox="1"/>
          <p:nvPr/>
        </p:nvSpPr>
        <p:spPr>
          <a:xfrm>
            <a:off x="9057545" y="3897999"/>
            <a:ext cx="2967479" cy="369332"/>
          </a:xfrm>
          <a:prstGeom prst="rect">
            <a:avLst/>
          </a:prstGeom>
          <a:noFill/>
        </p:spPr>
        <p:txBody>
          <a:bodyPr wrap="none" rtlCol="0">
            <a:spAutoFit/>
          </a:bodyPr>
          <a:lstStyle/>
          <a:p>
            <a:r>
              <a:rPr lang="fr-FR" dirty="0"/>
              <a:t>Liaison par clé étrangère</a:t>
            </a:r>
          </a:p>
        </p:txBody>
      </p:sp>
      <p:sp>
        <p:nvSpPr>
          <p:cNvPr id="34" name="ZoneTexte 33">
            <a:extLst>
              <a:ext uri="{FF2B5EF4-FFF2-40B4-BE49-F238E27FC236}">
                <a16:creationId xmlns:a16="http://schemas.microsoft.com/office/drawing/2014/main" id="{8BF10B8F-EC5A-49BF-ACC5-2035992B16B0}"/>
              </a:ext>
            </a:extLst>
          </p:cNvPr>
          <p:cNvSpPr txBox="1"/>
          <p:nvPr/>
        </p:nvSpPr>
        <p:spPr>
          <a:xfrm>
            <a:off x="7373923" y="2474752"/>
            <a:ext cx="1595309" cy="369332"/>
          </a:xfrm>
          <a:prstGeom prst="rect">
            <a:avLst/>
          </a:prstGeom>
          <a:noFill/>
        </p:spPr>
        <p:txBody>
          <a:bodyPr wrap="none" rtlCol="0">
            <a:spAutoFit/>
          </a:bodyPr>
          <a:lstStyle/>
          <a:p>
            <a:r>
              <a:rPr lang="fr-FR" dirty="0"/>
              <a:t>PROMOTION</a:t>
            </a:r>
          </a:p>
        </p:txBody>
      </p:sp>
      <p:sp>
        <p:nvSpPr>
          <p:cNvPr id="35" name="ZoneTexte 34">
            <a:extLst>
              <a:ext uri="{FF2B5EF4-FFF2-40B4-BE49-F238E27FC236}">
                <a16:creationId xmlns:a16="http://schemas.microsoft.com/office/drawing/2014/main" id="{305C7DBF-FA1E-463F-A9EF-72800528D095}"/>
              </a:ext>
            </a:extLst>
          </p:cNvPr>
          <p:cNvSpPr txBox="1"/>
          <p:nvPr/>
        </p:nvSpPr>
        <p:spPr>
          <a:xfrm>
            <a:off x="7502190" y="5791855"/>
            <a:ext cx="1221809" cy="369332"/>
          </a:xfrm>
          <a:prstGeom prst="rect">
            <a:avLst/>
          </a:prstGeom>
          <a:noFill/>
        </p:spPr>
        <p:txBody>
          <a:bodyPr wrap="none" rtlCol="0">
            <a:spAutoFit/>
          </a:bodyPr>
          <a:lstStyle/>
          <a:p>
            <a:r>
              <a:rPr lang="fr-FR" dirty="0"/>
              <a:t>ÉTUDIANT</a:t>
            </a:r>
          </a:p>
        </p:txBody>
      </p:sp>
    </p:spTree>
    <p:extLst>
      <p:ext uri="{BB962C8B-B14F-4D97-AF65-F5344CB8AC3E}">
        <p14:creationId xmlns:p14="http://schemas.microsoft.com/office/powerpoint/2010/main" val="385964149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A91EA-804A-4E3E-BA28-E29C5DE6CAD6}"/>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F6388246-2019-4896-9D05-5A92828F236B}"/>
              </a:ext>
            </a:extLst>
          </p:cNvPr>
          <p:cNvSpPr>
            <a:spLocks noGrp="1"/>
          </p:cNvSpPr>
          <p:nvPr>
            <p:ph idx="1"/>
          </p:nvPr>
        </p:nvSpPr>
        <p:spPr>
          <a:xfrm>
            <a:off x="818712" y="2222288"/>
            <a:ext cx="10554574" cy="4281062"/>
          </a:xfrm>
        </p:spPr>
        <p:txBody>
          <a:bodyPr anchor="t"/>
          <a:lstStyle/>
          <a:p>
            <a:r>
              <a:rPr lang="fr-FR" dirty="0"/>
              <a:t>Applications</a:t>
            </a:r>
          </a:p>
        </p:txBody>
      </p:sp>
      <p:sp>
        <p:nvSpPr>
          <p:cNvPr id="6" name="Espace réservé du numéro de diapositive 5">
            <a:extLst>
              <a:ext uri="{FF2B5EF4-FFF2-40B4-BE49-F238E27FC236}">
                <a16:creationId xmlns:a16="http://schemas.microsoft.com/office/drawing/2014/main" id="{63788315-9567-47C3-A7EA-92EDE6A299EA}"/>
              </a:ext>
            </a:extLst>
          </p:cNvPr>
          <p:cNvSpPr>
            <a:spLocks noGrp="1"/>
          </p:cNvSpPr>
          <p:nvPr>
            <p:ph type="sldNum" sz="quarter" idx="12"/>
          </p:nvPr>
        </p:nvSpPr>
        <p:spPr/>
        <p:txBody>
          <a:bodyPr/>
          <a:lstStyle/>
          <a:p>
            <a:fld id="{27C6CCC6-2BE5-4E42-96A4-D1E8E81A3D8E}" type="slidenum">
              <a:rPr lang="de-DE" smtClean="0"/>
              <a:t>221</a:t>
            </a:fld>
            <a:endParaRPr lang="de-DE"/>
          </a:p>
        </p:txBody>
      </p:sp>
      <p:sp>
        <p:nvSpPr>
          <p:cNvPr id="4" name="Rectangle 3">
            <a:extLst>
              <a:ext uri="{FF2B5EF4-FFF2-40B4-BE49-F238E27FC236}">
                <a16:creationId xmlns:a16="http://schemas.microsoft.com/office/drawing/2014/main" id="{3C7E0F2C-14FE-4BFF-9A34-48107AD8F648}"/>
              </a:ext>
            </a:extLst>
          </p:cNvPr>
          <p:cNvSpPr/>
          <p:nvPr/>
        </p:nvSpPr>
        <p:spPr>
          <a:xfrm>
            <a:off x="2207813" y="3280312"/>
            <a:ext cx="1627465" cy="4425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Étudiant</a:t>
            </a:r>
          </a:p>
        </p:txBody>
      </p:sp>
      <p:sp>
        <p:nvSpPr>
          <p:cNvPr id="7" name="Rectangle 6">
            <a:extLst>
              <a:ext uri="{FF2B5EF4-FFF2-40B4-BE49-F238E27FC236}">
                <a16:creationId xmlns:a16="http://schemas.microsoft.com/office/drawing/2014/main" id="{E76C3B3E-CB0A-4A3B-BFE1-4AC6C366913A}"/>
              </a:ext>
            </a:extLst>
          </p:cNvPr>
          <p:cNvSpPr/>
          <p:nvPr/>
        </p:nvSpPr>
        <p:spPr>
          <a:xfrm>
            <a:off x="2207811" y="4971814"/>
            <a:ext cx="1627465" cy="4425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Promotion</a:t>
            </a:r>
          </a:p>
        </p:txBody>
      </p:sp>
      <p:sp>
        <p:nvSpPr>
          <p:cNvPr id="5" name="Organigramme : Décision 4">
            <a:extLst>
              <a:ext uri="{FF2B5EF4-FFF2-40B4-BE49-F238E27FC236}">
                <a16:creationId xmlns:a16="http://schemas.microsoft.com/office/drawing/2014/main" id="{EBE7F51F-2018-4ADB-A545-186EC967696F}"/>
              </a:ext>
            </a:extLst>
          </p:cNvPr>
          <p:cNvSpPr/>
          <p:nvPr/>
        </p:nvSpPr>
        <p:spPr>
          <a:xfrm>
            <a:off x="2144895" y="4048899"/>
            <a:ext cx="1753299" cy="60971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00" dirty="0"/>
              <a:t>Représenter</a:t>
            </a:r>
          </a:p>
        </p:txBody>
      </p:sp>
      <p:cxnSp>
        <p:nvCxnSpPr>
          <p:cNvPr id="9" name="Connecteur droit 8">
            <a:extLst>
              <a:ext uri="{FF2B5EF4-FFF2-40B4-BE49-F238E27FC236}">
                <a16:creationId xmlns:a16="http://schemas.microsoft.com/office/drawing/2014/main" id="{E2EE631D-DE58-428A-BF79-5EC2F975FD20}"/>
              </a:ext>
            </a:extLst>
          </p:cNvPr>
          <p:cNvCxnSpPr>
            <a:stCxn id="4" idx="2"/>
            <a:endCxn id="5" idx="0"/>
          </p:cNvCxnSpPr>
          <p:nvPr/>
        </p:nvCxnSpPr>
        <p:spPr>
          <a:xfrm flipH="1">
            <a:off x="3021545" y="3722831"/>
            <a:ext cx="1" cy="326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6F46117D-6571-4222-B79A-0E0CE937E2EB}"/>
              </a:ext>
            </a:extLst>
          </p:cNvPr>
          <p:cNvCxnSpPr>
            <a:stCxn id="5" idx="2"/>
            <a:endCxn id="7" idx="0"/>
          </p:cNvCxnSpPr>
          <p:nvPr/>
        </p:nvCxnSpPr>
        <p:spPr>
          <a:xfrm flipH="1">
            <a:off x="3021544" y="4658613"/>
            <a:ext cx="1" cy="313201"/>
          </a:xfrm>
          <a:prstGeom prst="line">
            <a:avLst/>
          </a:prstGeom>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ACAD1ADC-D15A-49C6-A70F-D452FEB418AA}"/>
              </a:ext>
            </a:extLst>
          </p:cNvPr>
          <p:cNvSpPr txBox="1"/>
          <p:nvPr/>
        </p:nvSpPr>
        <p:spPr>
          <a:xfrm>
            <a:off x="3513348" y="3679567"/>
            <a:ext cx="312906" cy="369332"/>
          </a:xfrm>
          <a:prstGeom prst="rect">
            <a:avLst/>
          </a:prstGeom>
          <a:noFill/>
        </p:spPr>
        <p:txBody>
          <a:bodyPr wrap="none" rtlCol="0">
            <a:spAutoFit/>
          </a:bodyPr>
          <a:lstStyle/>
          <a:p>
            <a:r>
              <a:rPr lang="fr-FR" dirty="0"/>
              <a:t>1</a:t>
            </a:r>
          </a:p>
        </p:txBody>
      </p:sp>
      <p:sp>
        <p:nvSpPr>
          <p:cNvPr id="15" name="ZoneTexte 14">
            <a:extLst>
              <a:ext uri="{FF2B5EF4-FFF2-40B4-BE49-F238E27FC236}">
                <a16:creationId xmlns:a16="http://schemas.microsoft.com/office/drawing/2014/main" id="{BB44F2A4-2412-4A8C-889B-B7E0BBC84E0A}"/>
              </a:ext>
            </a:extLst>
          </p:cNvPr>
          <p:cNvSpPr txBox="1"/>
          <p:nvPr/>
        </p:nvSpPr>
        <p:spPr>
          <a:xfrm>
            <a:off x="3411751" y="4658613"/>
            <a:ext cx="505267" cy="369332"/>
          </a:xfrm>
          <a:prstGeom prst="rect">
            <a:avLst/>
          </a:prstGeom>
          <a:noFill/>
        </p:spPr>
        <p:txBody>
          <a:bodyPr wrap="none" rtlCol="0">
            <a:spAutoFit/>
          </a:bodyPr>
          <a:lstStyle/>
          <a:p>
            <a:r>
              <a:rPr lang="fr-FR" dirty="0"/>
              <a:t>0,1</a:t>
            </a:r>
          </a:p>
        </p:txBody>
      </p:sp>
      <p:graphicFrame>
        <p:nvGraphicFramePr>
          <p:cNvPr id="16" name="Tableau 16">
            <a:extLst>
              <a:ext uri="{FF2B5EF4-FFF2-40B4-BE49-F238E27FC236}">
                <a16:creationId xmlns:a16="http://schemas.microsoft.com/office/drawing/2014/main" id="{F2AFE4E7-3034-4EDC-A5C5-7B03B3E952C8}"/>
              </a:ext>
            </a:extLst>
          </p:cNvPr>
          <p:cNvGraphicFramePr>
            <a:graphicFrameLocks noGrp="1"/>
          </p:cNvGraphicFramePr>
          <p:nvPr/>
        </p:nvGraphicFramePr>
        <p:xfrm>
          <a:off x="6095998" y="2910365"/>
          <a:ext cx="4893579" cy="739894"/>
        </p:xfrm>
        <a:graphic>
          <a:graphicData uri="http://schemas.openxmlformats.org/drawingml/2006/table">
            <a:tbl>
              <a:tblPr firstRow="1" bandRow="1">
                <a:tableStyleId>{5C22544A-7EE6-4342-B048-85BDC9FD1C3A}</a:tableStyleId>
              </a:tblPr>
              <a:tblGrid>
                <a:gridCol w="1631193">
                  <a:extLst>
                    <a:ext uri="{9D8B030D-6E8A-4147-A177-3AD203B41FA5}">
                      <a16:colId xmlns:a16="http://schemas.microsoft.com/office/drawing/2014/main" val="2584365638"/>
                    </a:ext>
                  </a:extLst>
                </a:gridCol>
                <a:gridCol w="1022526">
                  <a:extLst>
                    <a:ext uri="{9D8B030D-6E8A-4147-A177-3AD203B41FA5}">
                      <a16:colId xmlns:a16="http://schemas.microsoft.com/office/drawing/2014/main" val="254235674"/>
                    </a:ext>
                  </a:extLst>
                </a:gridCol>
                <a:gridCol w="2239860">
                  <a:extLst>
                    <a:ext uri="{9D8B030D-6E8A-4147-A177-3AD203B41FA5}">
                      <a16:colId xmlns:a16="http://schemas.microsoft.com/office/drawing/2014/main" val="3591686795"/>
                    </a:ext>
                  </a:extLst>
                </a:gridCol>
              </a:tblGrid>
              <a:tr h="369947">
                <a:tc>
                  <a:txBody>
                    <a:bodyPr/>
                    <a:lstStyle/>
                    <a:p>
                      <a:r>
                        <a:rPr lang="fr-FR" u="sng" dirty="0"/>
                        <a:t>id promo</a:t>
                      </a:r>
                    </a:p>
                  </a:txBody>
                  <a:tcPr/>
                </a:tc>
                <a:tc>
                  <a:txBody>
                    <a:bodyPr/>
                    <a:lstStyle/>
                    <a:p>
                      <a:r>
                        <a:rPr lang="fr-FR" dirty="0"/>
                        <a:t>intitulé</a:t>
                      </a:r>
                    </a:p>
                  </a:txBody>
                  <a:tcPr/>
                </a:tc>
                <a:tc>
                  <a:txBody>
                    <a:bodyPr/>
                    <a:lstStyle/>
                    <a:p>
                      <a:r>
                        <a:rPr lang="fr-FR" dirty="0"/>
                        <a:t>Id représentant</a:t>
                      </a:r>
                    </a:p>
                  </a:txBody>
                  <a:tcPr/>
                </a:tc>
                <a:extLst>
                  <a:ext uri="{0D108BD9-81ED-4DB2-BD59-A6C34878D82A}">
                    <a16:rowId xmlns:a16="http://schemas.microsoft.com/office/drawing/2014/main" val="2785410924"/>
                  </a:ext>
                </a:extLst>
              </a:tr>
              <a:tr h="369947">
                <a:tc>
                  <a:txBody>
                    <a:bodyPr/>
                    <a:lstStyle/>
                    <a:p>
                      <a:endParaRPr lang="fr-FR"/>
                    </a:p>
                  </a:txBody>
                  <a:tcPr/>
                </a:tc>
                <a:tc>
                  <a:txBody>
                    <a:bodyPr/>
                    <a:lstStyle/>
                    <a:p>
                      <a:endParaRPr lang="fr-FR" dirty="0"/>
                    </a:p>
                  </a:txBody>
                  <a:tcPr/>
                </a:tc>
                <a:tc>
                  <a:txBody>
                    <a:bodyPr/>
                    <a:lstStyle/>
                    <a:p>
                      <a:endParaRPr lang="fr-FR" dirty="0"/>
                    </a:p>
                  </a:txBody>
                  <a:tcPr/>
                </a:tc>
                <a:extLst>
                  <a:ext uri="{0D108BD9-81ED-4DB2-BD59-A6C34878D82A}">
                    <a16:rowId xmlns:a16="http://schemas.microsoft.com/office/drawing/2014/main" val="359052745"/>
                  </a:ext>
                </a:extLst>
              </a:tr>
            </a:tbl>
          </a:graphicData>
        </a:graphic>
      </p:graphicFrame>
      <p:graphicFrame>
        <p:nvGraphicFramePr>
          <p:cNvPr id="19" name="Tableau 16">
            <a:extLst>
              <a:ext uri="{FF2B5EF4-FFF2-40B4-BE49-F238E27FC236}">
                <a16:creationId xmlns:a16="http://schemas.microsoft.com/office/drawing/2014/main" id="{CB8AA4BE-F3C0-43DC-936B-21F7F308B3EC}"/>
              </a:ext>
            </a:extLst>
          </p:cNvPr>
          <p:cNvGraphicFramePr>
            <a:graphicFrameLocks noGrp="1"/>
          </p:cNvGraphicFramePr>
          <p:nvPr/>
        </p:nvGraphicFramePr>
        <p:xfrm>
          <a:off x="5686947" y="4669656"/>
          <a:ext cx="3919347" cy="1010027"/>
        </p:xfrm>
        <a:graphic>
          <a:graphicData uri="http://schemas.openxmlformats.org/drawingml/2006/table">
            <a:tbl>
              <a:tblPr firstRow="1" bandRow="1">
                <a:tableStyleId>{5C22544A-7EE6-4342-B048-85BDC9FD1C3A}</a:tableStyleId>
              </a:tblPr>
              <a:tblGrid>
                <a:gridCol w="1306449">
                  <a:extLst>
                    <a:ext uri="{9D8B030D-6E8A-4147-A177-3AD203B41FA5}">
                      <a16:colId xmlns:a16="http://schemas.microsoft.com/office/drawing/2014/main" val="2584365638"/>
                    </a:ext>
                  </a:extLst>
                </a:gridCol>
                <a:gridCol w="1306449">
                  <a:extLst>
                    <a:ext uri="{9D8B030D-6E8A-4147-A177-3AD203B41FA5}">
                      <a16:colId xmlns:a16="http://schemas.microsoft.com/office/drawing/2014/main" val="254235674"/>
                    </a:ext>
                  </a:extLst>
                </a:gridCol>
                <a:gridCol w="1306449">
                  <a:extLst>
                    <a:ext uri="{9D8B030D-6E8A-4147-A177-3AD203B41FA5}">
                      <a16:colId xmlns:a16="http://schemas.microsoft.com/office/drawing/2014/main" val="2637630073"/>
                    </a:ext>
                  </a:extLst>
                </a:gridCol>
              </a:tblGrid>
              <a:tr h="369947">
                <a:tc>
                  <a:txBody>
                    <a:bodyPr/>
                    <a:lstStyle/>
                    <a:p>
                      <a:r>
                        <a:rPr lang="fr-FR" u="sng" dirty="0"/>
                        <a:t>id étudiant</a:t>
                      </a:r>
                    </a:p>
                  </a:txBody>
                  <a:tcPr/>
                </a:tc>
                <a:tc>
                  <a:txBody>
                    <a:bodyPr/>
                    <a:lstStyle/>
                    <a:p>
                      <a:r>
                        <a:rPr lang="fr-FR" dirty="0"/>
                        <a:t>nom</a:t>
                      </a:r>
                    </a:p>
                  </a:txBody>
                  <a:tcPr/>
                </a:tc>
                <a:tc>
                  <a:txBody>
                    <a:bodyPr/>
                    <a:lstStyle/>
                    <a:p>
                      <a:r>
                        <a:rPr lang="fr-FR" dirty="0"/>
                        <a:t>prénom</a:t>
                      </a:r>
                    </a:p>
                  </a:txBody>
                  <a:tcPr/>
                </a:tc>
                <a:extLst>
                  <a:ext uri="{0D108BD9-81ED-4DB2-BD59-A6C34878D82A}">
                    <a16:rowId xmlns:a16="http://schemas.microsoft.com/office/drawing/2014/main" val="2785410924"/>
                  </a:ext>
                </a:extLst>
              </a:tr>
              <a:tr h="369947">
                <a:tc>
                  <a:txBody>
                    <a:bodyPr/>
                    <a:lstStyle/>
                    <a:p>
                      <a:endParaRPr lang="fr-FR"/>
                    </a:p>
                  </a:txBody>
                  <a:tcPr/>
                </a:tc>
                <a:tc>
                  <a:txBody>
                    <a:bodyPr/>
                    <a:lstStyle/>
                    <a:p>
                      <a:endParaRPr lang="fr-FR" dirty="0"/>
                    </a:p>
                  </a:txBody>
                  <a:tcPr/>
                </a:tc>
                <a:tc>
                  <a:txBody>
                    <a:bodyPr/>
                    <a:lstStyle/>
                    <a:p>
                      <a:endParaRPr lang="fr-FR" dirty="0"/>
                    </a:p>
                  </a:txBody>
                  <a:tcPr/>
                </a:tc>
                <a:extLst>
                  <a:ext uri="{0D108BD9-81ED-4DB2-BD59-A6C34878D82A}">
                    <a16:rowId xmlns:a16="http://schemas.microsoft.com/office/drawing/2014/main" val="359052745"/>
                  </a:ext>
                </a:extLst>
              </a:tr>
            </a:tbl>
          </a:graphicData>
        </a:graphic>
      </p:graphicFrame>
      <p:cxnSp>
        <p:nvCxnSpPr>
          <p:cNvPr id="21" name="Connecteur droit avec flèche 20">
            <a:extLst>
              <a:ext uri="{FF2B5EF4-FFF2-40B4-BE49-F238E27FC236}">
                <a16:creationId xmlns:a16="http://schemas.microsoft.com/office/drawing/2014/main" id="{3E1856F1-2E17-4FC3-BC4E-68FB64E7357B}"/>
              </a:ext>
            </a:extLst>
          </p:cNvPr>
          <p:cNvCxnSpPr>
            <a:cxnSpLocks/>
          </p:cNvCxnSpPr>
          <p:nvPr/>
        </p:nvCxnSpPr>
        <p:spPr>
          <a:xfrm flipH="1">
            <a:off x="6333688" y="3679567"/>
            <a:ext cx="3495696" cy="900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Flèche : droite 31">
            <a:extLst>
              <a:ext uri="{FF2B5EF4-FFF2-40B4-BE49-F238E27FC236}">
                <a16:creationId xmlns:a16="http://schemas.microsoft.com/office/drawing/2014/main" id="{8E9334F7-E893-496C-974E-142FDD7388E4}"/>
              </a:ext>
            </a:extLst>
          </p:cNvPr>
          <p:cNvSpPr/>
          <p:nvPr/>
        </p:nvSpPr>
        <p:spPr>
          <a:xfrm>
            <a:off x="4757747" y="4009989"/>
            <a:ext cx="506940" cy="4425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ZoneTexte 32">
            <a:extLst>
              <a:ext uri="{FF2B5EF4-FFF2-40B4-BE49-F238E27FC236}">
                <a16:creationId xmlns:a16="http://schemas.microsoft.com/office/drawing/2014/main" id="{E664F689-9BDF-4411-ACAB-DF890E1FAC1F}"/>
              </a:ext>
            </a:extLst>
          </p:cNvPr>
          <p:cNvSpPr txBox="1"/>
          <p:nvPr/>
        </p:nvSpPr>
        <p:spPr>
          <a:xfrm>
            <a:off x="8871553" y="3945312"/>
            <a:ext cx="2967479" cy="369332"/>
          </a:xfrm>
          <a:prstGeom prst="rect">
            <a:avLst/>
          </a:prstGeom>
          <a:noFill/>
        </p:spPr>
        <p:txBody>
          <a:bodyPr wrap="none" rtlCol="0">
            <a:spAutoFit/>
          </a:bodyPr>
          <a:lstStyle/>
          <a:p>
            <a:r>
              <a:rPr lang="fr-FR" dirty="0"/>
              <a:t>Liaison par clé étrangère</a:t>
            </a:r>
          </a:p>
        </p:txBody>
      </p:sp>
      <p:sp>
        <p:nvSpPr>
          <p:cNvPr id="20" name="ZoneTexte 19">
            <a:extLst>
              <a:ext uri="{FF2B5EF4-FFF2-40B4-BE49-F238E27FC236}">
                <a16:creationId xmlns:a16="http://schemas.microsoft.com/office/drawing/2014/main" id="{263534AC-B864-4F38-9CD9-A3F9C913D9A4}"/>
              </a:ext>
            </a:extLst>
          </p:cNvPr>
          <p:cNvSpPr txBox="1"/>
          <p:nvPr/>
        </p:nvSpPr>
        <p:spPr>
          <a:xfrm>
            <a:off x="7373923" y="2474752"/>
            <a:ext cx="1595309" cy="369332"/>
          </a:xfrm>
          <a:prstGeom prst="rect">
            <a:avLst/>
          </a:prstGeom>
          <a:noFill/>
        </p:spPr>
        <p:txBody>
          <a:bodyPr wrap="none" rtlCol="0">
            <a:spAutoFit/>
          </a:bodyPr>
          <a:lstStyle/>
          <a:p>
            <a:r>
              <a:rPr lang="fr-FR" dirty="0"/>
              <a:t>PROMOTION</a:t>
            </a:r>
          </a:p>
        </p:txBody>
      </p:sp>
      <p:sp>
        <p:nvSpPr>
          <p:cNvPr id="22" name="ZoneTexte 21">
            <a:extLst>
              <a:ext uri="{FF2B5EF4-FFF2-40B4-BE49-F238E27FC236}">
                <a16:creationId xmlns:a16="http://schemas.microsoft.com/office/drawing/2014/main" id="{7AFC44F7-6429-4CD4-A166-B25BC65557C1}"/>
              </a:ext>
            </a:extLst>
          </p:cNvPr>
          <p:cNvSpPr txBox="1"/>
          <p:nvPr/>
        </p:nvSpPr>
        <p:spPr>
          <a:xfrm>
            <a:off x="6848965" y="5768950"/>
            <a:ext cx="1221809" cy="369332"/>
          </a:xfrm>
          <a:prstGeom prst="rect">
            <a:avLst/>
          </a:prstGeom>
          <a:noFill/>
        </p:spPr>
        <p:txBody>
          <a:bodyPr wrap="none" rtlCol="0">
            <a:spAutoFit/>
          </a:bodyPr>
          <a:lstStyle/>
          <a:p>
            <a:r>
              <a:rPr lang="fr-FR" dirty="0"/>
              <a:t>ÉTUDIANT</a:t>
            </a:r>
          </a:p>
        </p:txBody>
      </p:sp>
    </p:spTree>
    <p:extLst>
      <p:ext uri="{BB962C8B-B14F-4D97-AF65-F5344CB8AC3E}">
        <p14:creationId xmlns:p14="http://schemas.microsoft.com/office/powerpoint/2010/main" val="415947621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A91EA-804A-4E3E-BA28-E29C5DE6CAD6}"/>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F6388246-2019-4896-9D05-5A92828F236B}"/>
              </a:ext>
            </a:extLst>
          </p:cNvPr>
          <p:cNvSpPr>
            <a:spLocks noGrp="1"/>
          </p:cNvSpPr>
          <p:nvPr>
            <p:ph idx="1"/>
          </p:nvPr>
        </p:nvSpPr>
        <p:spPr>
          <a:xfrm>
            <a:off x="818712" y="2222288"/>
            <a:ext cx="10554574" cy="4281062"/>
          </a:xfrm>
        </p:spPr>
        <p:txBody>
          <a:bodyPr anchor="t"/>
          <a:lstStyle/>
          <a:p>
            <a:r>
              <a:rPr lang="fr-FR" dirty="0"/>
              <a:t>Applications</a:t>
            </a:r>
          </a:p>
        </p:txBody>
      </p:sp>
      <p:sp>
        <p:nvSpPr>
          <p:cNvPr id="6" name="Espace réservé du numéro de diapositive 5">
            <a:extLst>
              <a:ext uri="{FF2B5EF4-FFF2-40B4-BE49-F238E27FC236}">
                <a16:creationId xmlns:a16="http://schemas.microsoft.com/office/drawing/2014/main" id="{63788315-9567-47C3-A7EA-92EDE6A299EA}"/>
              </a:ext>
            </a:extLst>
          </p:cNvPr>
          <p:cNvSpPr>
            <a:spLocks noGrp="1"/>
          </p:cNvSpPr>
          <p:nvPr>
            <p:ph type="sldNum" sz="quarter" idx="12"/>
          </p:nvPr>
        </p:nvSpPr>
        <p:spPr/>
        <p:txBody>
          <a:bodyPr/>
          <a:lstStyle/>
          <a:p>
            <a:fld id="{27C6CCC6-2BE5-4E42-96A4-D1E8E81A3D8E}" type="slidenum">
              <a:rPr lang="de-DE" smtClean="0"/>
              <a:t>222</a:t>
            </a:fld>
            <a:endParaRPr lang="de-DE"/>
          </a:p>
        </p:txBody>
      </p:sp>
      <p:sp>
        <p:nvSpPr>
          <p:cNvPr id="4" name="Rectangle 3">
            <a:extLst>
              <a:ext uri="{FF2B5EF4-FFF2-40B4-BE49-F238E27FC236}">
                <a16:creationId xmlns:a16="http://schemas.microsoft.com/office/drawing/2014/main" id="{3C7E0F2C-14FE-4BFF-9A34-48107AD8F648}"/>
              </a:ext>
            </a:extLst>
          </p:cNvPr>
          <p:cNvSpPr/>
          <p:nvPr/>
        </p:nvSpPr>
        <p:spPr>
          <a:xfrm>
            <a:off x="2207813" y="3280312"/>
            <a:ext cx="1627465" cy="4425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Étudiant</a:t>
            </a:r>
          </a:p>
        </p:txBody>
      </p:sp>
      <p:sp>
        <p:nvSpPr>
          <p:cNvPr id="7" name="Rectangle 6">
            <a:extLst>
              <a:ext uri="{FF2B5EF4-FFF2-40B4-BE49-F238E27FC236}">
                <a16:creationId xmlns:a16="http://schemas.microsoft.com/office/drawing/2014/main" id="{E76C3B3E-CB0A-4A3B-BFE1-4AC6C366913A}"/>
              </a:ext>
            </a:extLst>
          </p:cNvPr>
          <p:cNvSpPr/>
          <p:nvPr/>
        </p:nvSpPr>
        <p:spPr>
          <a:xfrm>
            <a:off x="2207811" y="4971814"/>
            <a:ext cx="1627465" cy="4425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UV</a:t>
            </a:r>
          </a:p>
        </p:txBody>
      </p:sp>
      <p:sp>
        <p:nvSpPr>
          <p:cNvPr id="5" name="Organigramme : Décision 4">
            <a:extLst>
              <a:ext uri="{FF2B5EF4-FFF2-40B4-BE49-F238E27FC236}">
                <a16:creationId xmlns:a16="http://schemas.microsoft.com/office/drawing/2014/main" id="{EBE7F51F-2018-4ADB-A545-186EC967696F}"/>
              </a:ext>
            </a:extLst>
          </p:cNvPr>
          <p:cNvSpPr/>
          <p:nvPr/>
        </p:nvSpPr>
        <p:spPr>
          <a:xfrm>
            <a:off x="2144895" y="4048899"/>
            <a:ext cx="1753299" cy="60971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00" dirty="0"/>
              <a:t>Choisir</a:t>
            </a:r>
          </a:p>
        </p:txBody>
      </p:sp>
      <p:cxnSp>
        <p:nvCxnSpPr>
          <p:cNvPr id="9" name="Connecteur droit 8">
            <a:extLst>
              <a:ext uri="{FF2B5EF4-FFF2-40B4-BE49-F238E27FC236}">
                <a16:creationId xmlns:a16="http://schemas.microsoft.com/office/drawing/2014/main" id="{E2EE631D-DE58-428A-BF79-5EC2F975FD20}"/>
              </a:ext>
            </a:extLst>
          </p:cNvPr>
          <p:cNvCxnSpPr>
            <a:stCxn id="4" idx="2"/>
            <a:endCxn id="5" idx="0"/>
          </p:cNvCxnSpPr>
          <p:nvPr/>
        </p:nvCxnSpPr>
        <p:spPr>
          <a:xfrm flipH="1">
            <a:off x="3021545" y="3722831"/>
            <a:ext cx="1" cy="326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6F46117D-6571-4222-B79A-0E0CE937E2EB}"/>
              </a:ext>
            </a:extLst>
          </p:cNvPr>
          <p:cNvCxnSpPr>
            <a:stCxn id="5" idx="2"/>
            <a:endCxn id="7" idx="0"/>
          </p:cNvCxnSpPr>
          <p:nvPr/>
        </p:nvCxnSpPr>
        <p:spPr>
          <a:xfrm flipH="1">
            <a:off x="3021544" y="4658613"/>
            <a:ext cx="1" cy="313201"/>
          </a:xfrm>
          <a:prstGeom prst="line">
            <a:avLst/>
          </a:prstGeom>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ACAD1ADC-D15A-49C6-A70F-D452FEB418AA}"/>
              </a:ext>
            </a:extLst>
          </p:cNvPr>
          <p:cNvSpPr txBox="1"/>
          <p:nvPr/>
        </p:nvSpPr>
        <p:spPr>
          <a:xfrm>
            <a:off x="3482238" y="4617134"/>
            <a:ext cx="548548" cy="369332"/>
          </a:xfrm>
          <a:prstGeom prst="rect">
            <a:avLst/>
          </a:prstGeom>
          <a:noFill/>
        </p:spPr>
        <p:txBody>
          <a:bodyPr wrap="none" rtlCol="0">
            <a:spAutoFit/>
          </a:bodyPr>
          <a:lstStyle/>
          <a:p>
            <a:r>
              <a:rPr lang="fr-FR" dirty="0"/>
              <a:t>0,N</a:t>
            </a:r>
          </a:p>
        </p:txBody>
      </p:sp>
      <p:sp>
        <p:nvSpPr>
          <p:cNvPr id="15" name="ZoneTexte 14">
            <a:extLst>
              <a:ext uri="{FF2B5EF4-FFF2-40B4-BE49-F238E27FC236}">
                <a16:creationId xmlns:a16="http://schemas.microsoft.com/office/drawing/2014/main" id="{BB44F2A4-2412-4A8C-889B-B7E0BBC84E0A}"/>
              </a:ext>
            </a:extLst>
          </p:cNvPr>
          <p:cNvSpPr txBox="1"/>
          <p:nvPr/>
        </p:nvSpPr>
        <p:spPr>
          <a:xfrm>
            <a:off x="3482238" y="3694766"/>
            <a:ext cx="548548" cy="369332"/>
          </a:xfrm>
          <a:prstGeom prst="rect">
            <a:avLst/>
          </a:prstGeom>
          <a:noFill/>
        </p:spPr>
        <p:txBody>
          <a:bodyPr wrap="none" rtlCol="0">
            <a:spAutoFit/>
          </a:bodyPr>
          <a:lstStyle/>
          <a:p>
            <a:r>
              <a:rPr lang="fr-FR" dirty="0"/>
              <a:t>0,N</a:t>
            </a:r>
          </a:p>
        </p:txBody>
      </p:sp>
      <p:graphicFrame>
        <p:nvGraphicFramePr>
          <p:cNvPr id="16" name="Tableau 16">
            <a:extLst>
              <a:ext uri="{FF2B5EF4-FFF2-40B4-BE49-F238E27FC236}">
                <a16:creationId xmlns:a16="http://schemas.microsoft.com/office/drawing/2014/main" id="{F2AFE4E7-3034-4EDC-A5C5-7B03B3E952C8}"/>
              </a:ext>
            </a:extLst>
          </p:cNvPr>
          <p:cNvGraphicFramePr>
            <a:graphicFrameLocks noGrp="1"/>
          </p:cNvGraphicFramePr>
          <p:nvPr/>
        </p:nvGraphicFramePr>
        <p:xfrm>
          <a:off x="8472103" y="5648598"/>
          <a:ext cx="2653719" cy="735707"/>
        </p:xfrm>
        <a:graphic>
          <a:graphicData uri="http://schemas.openxmlformats.org/drawingml/2006/table">
            <a:tbl>
              <a:tblPr firstRow="1" bandRow="1">
                <a:tableStyleId>{5C22544A-7EE6-4342-B048-85BDC9FD1C3A}</a:tableStyleId>
              </a:tblPr>
              <a:tblGrid>
                <a:gridCol w="1631193">
                  <a:extLst>
                    <a:ext uri="{9D8B030D-6E8A-4147-A177-3AD203B41FA5}">
                      <a16:colId xmlns:a16="http://schemas.microsoft.com/office/drawing/2014/main" val="2584365638"/>
                    </a:ext>
                  </a:extLst>
                </a:gridCol>
                <a:gridCol w="1022526">
                  <a:extLst>
                    <a:ext uri="{9D8B030D-6E8A-4147-A177-3AD203B41FA5}">
                      <a16:colId xmlns:a16="http://schemas.microsoft.com/office/drawing/2014/main" val="254235674"/>
                    </a:ext>
                  </a:extLst>
                </a:gridCol>
              </a:tblGrid>
              <a:tr h="260197">
                <a:tc>
                  <a:txBody>
                    <a:bodyPr/>
                    <a:lstStyle/>
                    <a:p>
                      <a:r>
                        <a:rPr lang="fr-FR" u="sng" dirty="0"/>
                        <a:t>id </a:t>
                      </a:r>
                      <a:r>
                        <a:rPr lang="fr-FR" u="sng" dirty="0" err="1"/>
                        <a:t>uv</a:t>
                      </a:r>
                      <a:endParaRPr lang="fr-FR" u="sng" dirty="0"/>
                    </a:p>
                  </a:txBody>
                  <a:tcPr/>
                </a:tc>
                <a:tc>
                  <a:txBody>
                    <a:bodyPr/>
                    <a:lstStyle/>
                    <a:p>
                      <a:r>
                        <a:rPr lang="fr-FR" dirty="0"/>
                        <a:t>intitulé</a:t>
                      </a:r>
                    </a:p>
                  </a:txBody>
                  <a:tcPr/>
                </a:tc>
                <a:extLst>
                  <a:ext uri="{0D108BD9-81ED-4DB2-BD59-A6C34878D82A}">
                    <a16:rowId xmlns:a16="http://schemas.microsoft.com/office/drawing/2014/main" val="2785410924"/>
                  </a:ext>
                </a:extLst>
              </a:tr>
              <a:tr h="369947">
                <a:tc>
                  <a:txBody>
                    <a:bodyPr/>
                    <a:lstStyle/>
                    <a:p>
                      <a:endParaRPr lang="fr-FR" dirty="0"/>
                    </a:p>
                  </a:txBody>
                  <a:tcPr/>
                </a:tc>
                <a:tc>
                  <a:txBody>
                    <a:bodyPr/>
                    <a:lstStyle/>
                    <a:p>
                      <a:endParaRPr lang="fr-FR" dirty="0"/>
                    </a:p>
                  </a:txBody>
                  <a:tcPr/>
                </a:tc>
                <a:extLst>
                  <a:ext uri="{0D108BD9-81ED-4DB2-BD59-A6C34878D82A}">
                    <a16:rowId xmlns:a16="http://schemas.microsoft.com/office/drawing/2014/main" val="359052745"/>
                  </a:ext>
                </a:extLst>
              </a:tr>
            </a:tbl>
          </a:graphicData>
        </a:graphic>
      </p:graphicFrame>
      <p:graphicFrame>
        <p:nvGraphicFramePr>
          <p:cNvPr id="19" name="Tableau 16">
            <a:extLst>
              <a:ext uri="{FF2B5EF4-FFF2-40B4-BE49-F238E27FC236}">
                <a16:creationId xmlns:a16="http://schemas.microsoft.com/office/drawing/2014/main" id="{CB8AA4BE-F3C0-43DC-936B-21F7F308B3EC}"/>
              </a:ext>
            </a:extLst>
          </p:cNvPr>
          <p:cNvGraphicFramePr>
            <a:graphicFrameLocks noGrp="1"/>
          </p:cNvGraphicFramePr>
          <p:nvPr/>
        </p:nvGraphicFramePr>
        <p:xfrm>
          <a:off x="5264687" y="2445914"/>
          <a:ext cx="3919347" cy="1010027"/>
        </p:xfrm>
        <a:graphic>
          <a:graphicData uri="http://schemas.openxmlformats.org/drawingml/2006/table">
            <a:tbl>
              <a:tblPr firstRow="1" bandRow="1">
                <a:tableStyleId>{5C22544A-7EE6-4342-B048-85BDC9FD1C3A}</a:tableStyleId>
              </a:tblPr>
              <a:tblGrid>
                <a:gridCol w="1306449">
                  <a:extLst>
                    <a:ext uri="{9D8B030D-6E8A-4147-A177-3AD203B41FA5}">
                      <a16:colId xmlns:a16="http://schemas.microsoft.com/office/drawing/2014/main" val="2584365638"/>
                    </a:ext>
                  </a:extLst>
                </a:gridCol>
                <a:gridCol w="1306449">
                  <a:extLst>
                    <a:ext uri="{9D8B030D-6E8A-4147-A177-3AD203B41FA5}">
                      <a16:colId xmlns:a16="http://schemas.microsoft.com/office/drawing/2014/main" val="254235674"/>
                    </a:ext>
                  </a:extLst>
                </a:gridCol>
                <a:gridCol w="1306449">
                  <a:extLst>
                    <a:ext uri="{9D8B030D-6E8A-4147-A177-3AD203B41FA5}">
                      <a16:colId xmlns:a16="http://schemas.microsoft.com/office/drawing/2014/main" val="2637630073"/>
                    </a:ext>
                  </a:extLst>
                </a:gridCol>
              </a:tblGrid>
              <a:tr h="369947">
                <a:tc>
                  <a:txBody>
                    <a:bodyPr/>
                    <a:lstStyle/>
                    <a:p>
                      <a:r>
                        <a:rPr lang="fr-FR" u="sng" dirty="0"/>
                        <a:t>id étudiant</a:t>
                      </a:r>
                    </a:p>
                  </a:txBody>
                  <a:tcPr/>
                </a:tc>
                <a:tc>
                  <a:txBody>
                    <a:bodyPr/>
                    <a:lstStyle/>
                    <a:p>
                      <a:r>
                        <a:rPr lang="fr-FR" dirty="0"/>
                        <a:t>nom</a:t>
                      </a:r>
                    </a:p>
                  </a:txBody>
                  <a:tcPr/>
                </a:tc>
                <a:tc>
                  <a:txBody>
                    <a:bodyPr/>
                    <a:lstStyle/>
                    <a:p>
                      <a:r>
                        <a:rPr lang="fr-FR" dirty="0"/>
                        <a:t>prénom</a:t>
                      </a:r>
                    </a:p>
                  </a:txBody>
                  <a:tcPr/>
                </a:tc>
                <a:extLst>
                  <a:ext uri="{0D108BD9-81ED-4DB2-BD59-A6C34878D82A}">
                    <a16:rowId xmlns:a16="http://schemas.microsoft.com/office/drawing/2014/main" val="2785410924"/>
                  </a:ext>
                </a:extLst>
              </a:tr>
              <a:tr h="369947">
                <a:tc>
                  <a:txBody>
                    <a:bodyPr/>
                    <a:lstStyle/>
                    <a:p>
                      <a:endParaRPr lang="fr-FR"/>
                    </a:p>
                  </a:txBody>
                  <a:tcPr/>
                </a:tc>
                <a:tc>
                  <a:txBody>
                    <a:bodyPr/>
                    <a:lstStyle/>
                    <a:p>
                      <a:endParaRPr lang="fr-FR" dirty="0"/>
                    </a:p>
                  </a:txBody>
                  <a:tcPr/>
                </a:tc>
                <a:tc>
                  <a:txBody>
                    <a:bodyPr/>
                    <a:lstStyle/>
                    <a:p>
                      <a:endParaRPr lang="fr-FR" dirty="0"/>
                    </a:p>
                  </a:txBody>
                  <a:tcPr/>
                </a:tc>
                <a:extLst>
                  <a:ext uri="{0D108BD9-81ED-4DB2-BD59-A6C34878D82A}">
                    <a16:rowId xmlns:a16="http://schemas.microsoft.com/office/drawing/2014/main" val="359052745"/>
                  </a:ext>
                </a:extLst>
              </a:tr>
            </a:tbl>
          </a:graphicData>
        </a:graphic>
      </p:graphicFrame>
      <p:cxnSp>
        <p:nvCxnSpPr>
          <p:cNvPr id="21" name="Connecteur droit avec flèche 20">
            <a:extLst>
              <a:ext uri="{FF2B5EF4-FFF2-40B4-BE49-F238E27FC236}">
                <a16:creationId xmlns:a16="http://schemas.microsoft.com/office/drawing/2014/main" id="{3E1856F1-2E17-4FC3-BC4E-68FB64E7357B}"/>
              </a:ext>
            </a:extLst>
          </p:cNvPr>
          <p:cNvCxnSpPr>
            <a:cxnSpLocks/>
          </p:cNvCxnSpPr>
          <p:nvPr/>
        </p:nvCxnSpPr>
        <p:spPr>
          <a:xfrm flipH="1" flipV="1">
            <a:off x="5941374" y="3501571"/>
            <a:ext cx="1751331" cy="913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Flèche : droite 31">
            <a:extLst>
              <a:ext uri="{FF2B5EF4-FFF2-40B4-BE49-F238E27FC236}">
                <a16:creationId xmlns:a16="http://schemas.microsoft.com/office/drawing/2014/main" id="{8E9334F7-E893-496C-974E-142FDD7388E4}"/>
              </a:ext>
            </a:extLst>
          </p:cNvPr>
          <p:cNvSpPr/>
          <p:nvPr/>
        </p:nvSpPr>
        <p:spPr>
          <a:xfrm>
            <a:off x="4757747" y="4009989"/>
            <a:ext cx="506940" cy="4425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ZoneTexte 32">
            <a:extLst>
              <a:ext uri="{FF2B5EF4-FFF2-40B4-BE49-F238E27FC236}">
                <a16:creationId xmlns:a16="http://schemas.microsoft.com/office/drawing/2014/main" id="{E664F689-9BDF-4411-ACAB-DF890E1FAC1F}"/>
              </a:ext>
            </a:extLst>
          </p:cNvPr>
          <p:cNvSpPr txBox="1"/>
          <p:nvPr/>
        </p:nvSpPr>
        <p:spPr>
          <a:xfrm>
            <a:off x="6988364" y="3722831"/>
            <a:ext cx="2967479" cy="369332"/>
          </a:xfrm>
          <a:prstGeom prst="rect">
            <a:avLst/>
          </a:prstGeom>
          <a:noFill/>
        </p:spPr>
        <p:txBody>
          <a:bodyPr wrap="none" rtlCol="0">
            <a:spAutoFit/>
          </a:bodyPr>
          <a:lstStyle/>
          <a:p>
            <a:r>
              <a:rPr lang="fr-FR" dirty="0"/>
              <a:t>Liaison par clé étrangère</a:t>
            </a:r>
          </a:p>
        </p:txBody>
      </p:sp>
      <p:graphicFrame>
        <p:nvGraphicFramePr>
          <p:cNvPr id="17" name="Tableau 16">
            <a:extLst>
              <a:ext uri="{FF2B5EF4-FFF2-40B4-BE49-F238E27FC236}">
                <a16:creationId xmlns:a16="http://schemas.microsoft.com/office/drawing/2014/main" id="{B7849737-9B8A-464F-BE8B-7E0648EEE30C}"/>
              </a:ext>
            </a:extLst>
          </p:cNvPr>
          <p:cNvGraphicFramePr>
            <a:graphicFrameLocks noGrp="1"/>
          </p:cNvGraphicFramePr>
          <p:nvPr/>
        </p:nvGraphicFramePr>
        <p:xfrm>
          <a:off x="7330470" y="4431853"/>
          <a:ext cx="2653719" cy="739894"/>
        </p:xfrm>
        <a:graphic>
          <a:graphicData uri="http://schemas.openxmlformats.org/drawingml/2006/table">
            <a:tbl>
              <a:tblPr firstRow="1" bandRow="1">
                <a:tableStyleId>{5C22544A-7EE6-4342-B048-85BDC9FD1C3A}</a:tableStyleId>
              </a:tblPr>
              <a:tblGrid>
                <a:gridCol w="1631193">
                  <a:extLst>
                    <a:ext uri="{9D8B030D-6E8A-4147-A177-3AD203B41FA5}">
                      <a16:colId xmlns:a16="http://schemas.microsoft.com/office/drawing/2014/main" val="2584365638"/>
                    </a:ext>
                  </a:extLst>
                </a:gridCol>
                <a:gridCol w="1022526">
                  <a:extLst>
                    <a:ext uri="{9D8B030D-6E8A-4147-A177-3AD203B41FA5}">
                      <a16:colId xmlns:a16="http://schemas.microsoft.com/office/drawing/2014/main" val="254235674"/>
                    </a:ext>
                  </a:extLst>
                </a:gridCol>
              </a:tblGrid>
              <a:tr h="369947">
                <a:tc>
                  <a:txBody>
                    <a:bodyPr/>
                    <a:lstStyle/>
                    <a:p>
                      <a:r>
                        <a:rPr lang="fr-FR" u="sng" dirty="0"/>
                        <a:t>id étudiant</a:t>
                      </a:r>
                    </a:p>
                  </a:txBody>
                  <a:tcPr/>
                </a:tc>
                <a:tc>
                  <a:txBody>
                    <a:bodyPr/>
                    <a:lstStyle/>
                    <a:p>
                      <a:r>
                        <a:rPr lang="fr-FR" u="sng" dirty="0"/>
                        <a:t>id UV</a:t>
                      </a:r>
                    </a:p>
                  </a:txBody>
                  <a:tcPr/>
                </a:tc>
                <a:extLst>
                  <a:ext uri="{0D108BD9-81ED-4DB2-BD59-A6C34878D82A}">
                    <a16:rowId xmlns:a16="http://schemas.microsoft.com/office/drawing/2014/main" val="2785410924"/>
                  </a:ext>
                </a:extLst>
              </a:tr>
              <a:tr h="369947">
                <a:tc>
                  <a:txBody>
                    <a:bodyPr/>
                    <a:lstStyle/>
                    <a:p>
                      <a:endParaRPr lang="fr-FR" dirty="0"/>
                    </a:p>
                  </a:txBody>
                  <a:tcPr/>
                </a:tc>
                <a:tc>
                  <a:txBody>
                    <a:bodyPr/>
                    <a:lstStyle/>
                    <a:p>
                      <a:endParaRPr lang="fr-FR" dirty="0"/>
                    </a:p>
                  </a:txBody>
                  <a:tcPr/>
                </a:tc>
                <a:extLst>
                  <a:ext uri="{0D108BD9-81ED-4DB2-BD59-A6C34878D82A}">
                    <a16:rowId xmlns:a16="http://schemas.microsoft.com/office/drawing/2014/main" val="359052745"/>
                  </a:ext>
                </a:extLst>
              </a:tr>
            </a:tbl>
          </a:graphicData>
        </a:graphic>
      </p:graphicFrame>
      <p:cxnSp>
        <p:nvCxnSpPr>
          <p:cNvPr id="20" name="Connecteur droit avec flèche 19">
            <a:extLst>
              <a:ext uri="{FF2B5EF4-FFF2-40B4-BE49-F238E27FC236}">
                <a16:creationId xmlns:a16="http://schemas.microsoft.com/office/drawing/2014/main" id="{D76536A9-477F-4170-870F-0FE071A0940E}"/>
              </a:ext>
            </a:extLst>
          </p:cNvPr>
          <p:cNvCxnSpPr>
            <a:cxnSpLocks/>
          </p:cNvCxnSpPr>
          <p:nvPr/>
        </p:nvCxnSpPr>
        <p:spPr>
          <a:xfrm flipH="1">
            <a:off x="9184034" y="5259897"/>
            <a:ext cx="228414" cy="3887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F3C4AC34-D5C2-40B6-BCD0-B763B5955867}"/>
              </a:ext>
            </a:extLst>
          </p:cNvPr>
          <p:cNvSpPr txBox="1"/>
          <p:nvPr/>
        </p:nvSpPr>
        <p:spPr>
          <a:xfrm>
            <a:off x="6216555" y="5223374"/>
            <a:ext cx="2967479" cy="369332"/>
          </a:xfrm>
          <a:prstGeom prst="rect">
            <a:avLst/>
          </a:prstGeom>
          <a:noFill/>
        </p:spPr>
        <p:txBody>
          <a:bodyPr wrap="none" rtlCol="0">
            <a:spAutoFit/>
          </a:bodyPr>
          <a:lstStyle/>
          <a:p>
            <a:r>
              <a:rPr lang="fr-FR" dirty="0"/>
              <a:t>Liaison par clé étrangère</a:t>
            </a:r>
          </a:p>
        </p:txBody>
      </p:sp>
      <p:sp>
        <p:nvSpPr>
          <p:cNvPr id="24" name="ZoneTexte 23">
            <a:extLst>
              <a:ext uri="{FF2B5EF4-FFF2-40B4-BE49-F238E27FC236}">
                <a16:creationId xmlns:a16="http://schemas.microsoft.com/office/drawing/2014/main" id="{BA692279-6459-4F24-A84B-74B08AE625DA}"/>
              </a:ext>
            </a:extLst>
          </p:cNvPr>
          <p:cNvSpPr txBox="1"/>
          <p:nvPr/>
        </p:nvSpPr>
        <p:spPr>
          <a:xfrm>
            <a:off x="6613455" y="2016143"/>
            <a:ext cx="1221809" cy="369332"/>
          </a:xfrm>
          <a:prstGeom prst="rect">
            <a:avLst/>
          </a:prstGeom>
          <a:noFill/>
        </p:spPr>
        <p:txBody>
          <a:bodyPr wrap="none" rtlCol="0">
            <a:spAutoFit/>
          </a:bodyPr>
          <a:lstStyle/>
          <a:p>
            <a:r>
              <a:rPr lang="fr-FR" dirty="0"/>
              <a:t>ÉTUDIANT</a:t>
            </a:r>
          </a:p>
        </p:txBody>
      </p:sp>
      <p:sp>
        <p:nvSpPr>
          <p:cNvPr id="25" name="ZoneTexte 24">
            <a:extLst>
              <a:ext uri="{FF2B5EF4-FFF2-40B4-BE49-F238E27FC236}">
                <a16:creationId xmlns:a16="http://schemas.microsoft.com/office/drawing/2014/main" id="{48EDA538-599C-4EF9-AC94-6417DB72746A}"/>
              </a:ext>
            </a:extLst>
          </p:cNvPr>
          <p:cNvSpPr txBox="1"/>
          <p:nvPr/>
        </p:nvSpPr>
        <p:spPr>
          <a:xfrm>
            <a:off x="10160189" y="4630547"/>
            <a:ext cx="923651" cy="369332"/>
          </a:xfrm>
          <a:prstGeom prst="rect">
            <a:avLst/>
          </a:prstGeom>
          <a:noFill/>
        </p:spPr>
        <p:txBody>
          <a:bodyPr wrap="none" rtlCol="0">
            <a:spAutoFit/>
          </a:bodyPr>
          <a:lstStyle/>
          <a:p>
            <a:r>
              <a:rPr lang="fr-FR" dirty="0"/>
              <a:t>CHOIX</a:t>
            </a:r>
          </a:p>
        </p:txBody>
      </p:sp>
      <p:sp>
        <p:nvSpPr>
          <p:cNvPr id="26" name="ZoneTexte 25">
            <a:extLst>
              <a:ext uri="{FF2B5EF4-FFF2-40B4-BE49-F238E27FC236}">
                <a16:creationId xmlns:a16="http://schemas.microsoft.com/office/drawing/2014/main" id="{506B9ACF-9BA1-4651-B147-9B8D8B43CF0D}"/>
              </a:ext>
            </a:extLst>
          </p:cNvPr>
          <p:cNvSpPr txBox="1"/>
          <p:nvPr/>
        </p:nvSpPr>
        <p:spPr>
          <a:xfrm>
            <a:off x="7727387" y="5863362"/>
            <a:ext cx="497252" cy="369332"/>
          </a:xfrm>
          <a:prstGeom prst="rect">
            <a:avLst/>
          </a:prstGeom>
          <a:noFill/>
        </p:spPr>
        <p:txBody>
          <a:bodyPr wrap="none" rtlCol="0">
            <a:spAutoFit/>
          </a:bodyPr>
          <a:lstStyle/>
          <a:p>
            <a:r>
              <a:rPr lang="fr-FR" dirty="0"/>
              <a:t>UV</a:t>
            </a:r>
          </a:p>
        </p:txBody>
      </p:sp>
    </p:spTree>
    <p:extLst>
      <p:ext uri="{BB962C8B-B14F-4D97-AF65-F5344CB8AC3E}">
        <p14:creationId xmlns:p14="http://schemas.microsoft.com/office/powerpoint/2010/main" val="1174272464"/>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A91EA-804A-4E3E-BA28-E29C5DE6CAD6}"/>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F6388246-2019-4896-9D05-5A92828F236B}"/>
              </a:ext>
            </a:extLst>
          </p:cNvPr>
          <p:cNvSpPr>
            <a:spLocks noGrp="1"/>
          </p:cNvSpPr>
          <p:nvPr>
            <p:ph idx="1"/>
          </p:nvPr>
        </p:nvSpPr>
        <p:spPr>
          <a:xfrm>
            <a:off x="818712" y="2222288"/>
            <a:ext cx="10554574" cy="4281062"/>
          </a:xfrm>
        </p:spPr>
        <p:txBody>
          <a:bodyPr anchor="t"/>
          <a:lstStyle/>
          <a:p>
            <a:r>
              <a:rPr lang="fr-FR" dirty="0"/>
              <a:t>Applications</a:t>
            </a:r>
          </a:p>
        </p:txBody>
      </p:sp>
      <p:sp>
        <p:nvSpPr>
          <p:cNvPr id="6" name="Espace réservé du numéro de diapositive 5">
            <a:extLst>
              <a:ext uri="{FF2B5EF4-FFF2-40B4-BE49-F238E27FC236}">
                <a16:creationId xmlns:a16="http://schemas.microsoft.com/office/drawing/2014/main" id="{63788315-9567-47C3-A7EA-92EDE6A299EA}"/>
              </a:ext>
            </a:extLst>
          </p:cNvPr>
          <p:cNvSpPr>
            <a:spLocks noGrp="1"/>
          </p:cNvSpPr>
          <p:nvPr>
            <p:ph type="sldNum" sz="quarter" idx="12"/>
          </p:nvPr>
        </p:nvSpPr>
        <p:spPr/>
        <p:txBody>
          <a:bodyPr/>
          <a:lstStyle/>
          <a:p>
            <a:fld id="{27C6CCC6-2BE5-4E42-96A4-D1E8E81A3D8E}" type="slidenum">
              <a:rPr lang="de-DE" smtClean="0"/>
              <a:t>223</a:t>
            </a:fld>
            <a:endParaRPr lang="de-DE"/>
          </a:p>
        </p:txBody>
      </p:sp>
      <p:sp>
        <p:nvSpPr>
          <p:cNvPr id="4" name="Rectangle 3">
            <a:extLst>
              <a:ext uri="{FF2B5EF4-FFF2-40B4-BE49-F238E27FC236}">
                <a16:creationId xmlns:a16="http://schemas.microsoft.com/office/drawing/2014/main" id="{3C7E0F2C-14FE-4BFF-9A34-48107AD8F648}"/>
              </a:ext>
            </a:extLst>
          </p:cNvPr>
          <p:cNvSpPr/>
          <p:nvPr/>
        </p:nvSpPr>
        <p:spPr>
          <a:xfrm>
            <a:off x="928817" y="3280312"/>
            <a:ext cx="1627465" cy="4425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Médecin</a:t>
            </a:r>
          </a:p>
        </p:txBody>
      </p:sp>
      <p:sp>
        <p:nvSpPr>
          <p:cNvPr id="7" name="Rectangle 6">
            <a:extLst>
              <a:ext uri="{FF2B5EF4-FFF2-40B4-BE49-F238E27FC236}">
                <a16:creationId xmlns:a16="http://schemas.microsoft.com/office/drawing/2014/main" id="{E76C3B3E-CB0A-4A3B-BFE1-4AC6C366913A}"/>
              </a:ext>
            </a:extLst>
          </p:cNvPr>
          <p:cNvSpPr/>
          <p:nvPr/>
        </p:nvSpPr>
        <p:spPr>
          <a:xfrm>
            <a:off x="928815" y="4971814"/>
            <a:ext cx="1627465" cy="4425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Patient</a:t>
            </a:r>
          </a:p>
        </p:txBody>
      </p:sp>
      <p:sp>
        <p:nvSpPr>
          <p:cNvPr id="5" name="Organigramme : Décision 4">
            <a:extLst>
              <a:ext uri="{FF2B5EF4-FFF2-40B4-BE49-F238E27FC236}">
                <a16:creationId xmlns:a16="http://schemas.microsoft.com/office/drawing/2014/main" id="{EBE7F51F-2018-4ADB-A545-186EC967696F}"/>
              </a:ext>
            </a:extLst>
          </p:cNvPr>
          <p:cNvSpPr/>
          <p:nvPr/>
        </p:nvSpPr>
        <p:spPr>
          <a:xfrm>
            <a:off x="865899" y="4048899"/>
            <a:ext cx="1753299" cy="60971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Pratiquer</a:t>
            </a:r>
          </a:p>
        </p:txBody>
      </p:sp>
      <p:cxnSp>
        <p:nvCxnSpPr>
          <p:cNvPr id="9" name="Connecteur droit 8">
            <a:extLst>
              <a:ext uri="{FF2B5EF4-FFF2-40B4-BE49-F238E27FC236}">
                <a16:creationId xmlns:a16="http://schemas.microsoft.com/office/drawing/2014/main" id="{E2EE631D-DE58-428A-BF79-5EC2F975FD20}"/>
              </a:ext>
            </a:extLst>
          </p:cNvPr>
          <p:cNvCxnSpPr>
            <a:stCxn id="4" idx="2"/>
            <a:endCxn id="5" idx="0"/>
          </p:cNvCxnSpPr>
          <p:nvPr/>
        </p:nvCxnSpPr>
        <p:spPr>
          <a:xfrm flipH="1">
            <a:off x="1742549" y="3722831"/>
            <a:ext cx="1" cy="3260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6F46117D-6571-4222-B79A-0E0CE937E2EB}"/>
              </a:ext>
            </a:extLst>
          </p:cNvPr>
          <p:cNvCxnSpPr>
            <a:stCxn id="5" idx="2"/>
            <a:endCxn id="7" idx="0"/>
          </p:cNvCxnSpPr>
          <p:nvPr/>
        </p:nvCxnSpPr>
        <p:spPr>
          <a:xfrm flipH="1">
            <a:off x="1742548" y="4658613"/>
            <a:ext cx="1" cy="313201"/>
          </a:xfrm>
          <a:prstGeom prst="line">
            <a:avLst/>
          </a:prstGeom>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ACAD1ADC-D15A-49C6-A70F-D452FEB418AA}"/>
              </a:ext>
            </a:extLst>
          </p:cNvPr>
          <p:cNvSpPr txBox="1"/>
          <p:nvPr/>
        </p:nvSpPr>
        <p:spPr>
          <a:xfrm>
            <a:off x="1193999" y="4617134"/>
            <a:ext cx="548548" cy="369332"/>
          </a:xfrm>
          <a:prstGeom prst="rect">
            <a:avLst/>
          </a:prstGeom>
          <a:noFill/>
        </p:spPr>
        <p:txBody>
          <a:bodyPr wrap="none" rtlCol="0">
            <a:spAutoFit/>
          </a:bodyPr>
          <a:lstStyle/>
          <a:p>
            <a:r>
              <a:rPr lang="fr-FR" dirty="0"/>
              <a:t>0,N</a:t>
            </a:r>
          </a:p>
        </p:txBody>
      </p:sp>
      <p:sp>
        <p:nvSpPr>
          <p:cNvPr id="15" name="ZoneTexte 14">
            <a:extLst>
              <a:ext uri="{FF2B5EF4-FFF2-40B4-BE49-F238E27FC236}">
                <a16:creationId xmlns:a16="http://schemas.microsoft.com/office/drawing/2014/main" id="{BB44F2A4-2412-4A8C-889B-B7E0BBC84E0A}"/>
              </a:ext>
            </a:extLst>
          </p:cNvPr>
          <p:cNvSpPr txBox="1"/>
          <p:nvPr/>
        </p:nvSpPr>
        <p:spPr>
          <a:xfrm>
            <a:off x="1998601" y="3666700"/>
            <a:ext cx="548548" cy="369332"/>
          </a:xfrm>
          <a:prstGeom prst="rect">
            <a:avLst/>
          </a:prstGeom>
          <a:noFill/>
        </p:spPr>
        <p:txBody>
          <a:bodyPr wrap="none" rtlCol="0">
            <a:spAutoFit/>
          </a:bodyPr>
          <a:lstStyle/>
          <a:p>
            <a:r>
              <a:rPr lang="fr-FR" dirty="0"/>
              <a:t>1,N</a:t>
            </a:r>
          </a:p>
        </p:txBody>
      </p:sp>
      <p:graphicFrame>
        <p:nvGraphicFramePr>
          <p:cNvPr id="16" name="Tableau 16">
            <a:extLst>
              <a:ext uri="{FF2B5EF4-FFF2-40B4-BE49-F238E27FC236}">
                <a16:creationId xmlns:a16="http://schemas.microsoft.com/office/drawing/2014/main" id="{F2AFE4E7-3034-4EDC-A5C5-7B03B3E952C8}"/>
              </a:ext>
            </a:extLst>
          </p:cNvPr>
          <p:cNvGraphicFramePr>
            <a:graphicFrameLocks noGrp="1"/>
          </p:cNvGraphicFramePr>
          <p:nvPr/>
        </p:nvGraphicFramePr>
        <p:xfrm>
          <a:off x="8472103" y="5648598"/>
          <a:ext cx="2653719" cy="735707"/>
        </p:xfrm>
        <a:graphic>
          <a:graphicData uri="http://schemas.openxmlformats.org/drawingml/2006/table">
            <a:tbl>
              <a:tblPr firstRow="1" bandRow="1">
                <a:tableStyleId>{5C22544A-7EE6-4342-B048-85BDC9FD1C3A}</a:tableStyleId>
              </a:tblPr>
              <a:tblGrid>
                <a:gridCol w="1631193">
                  <a:extLst>
                    <a:ext uri="{9D8B030D-6E8A-4147-A177-3AD203B41FA5}">
                      <a16:colId xmlns:a16="http://schemas.microsoft.com/office/drawing/2014/main" val="2584365638"/>
                    </a:ext>
                  </a:extLst>
                </a:gridCol>
                <a:gridCol w="1022526">
                  <a:extLst>
                    <a:ext uri="{9D8B030D-6E8A-4147-A177-3AD203B41FA5}">
                      <a16:colId xmlns:a16="http://schemas.microsoft.com/office/drawing/2014/main" val="254235674"/>
                    </a:ext>
                  </a:extLst>
                </a:gridCol>
              </a:tblGrid>
              <a:tr h="260197">
                <a:tc>
                  <a:txBody>
                    <a:bodyPr/>
                    <a:lstStyle/>
                    <a:p>
                      <a:r>
                        <a:rPr lang="fr-FR" u="sng" dirty="0"/>
                        <a:t>id patient</a:t>
                      </a:r>
                    </a:p>
                  </a:txBody>
                  <a:tcPr/>
                </a:tc>
                <a:tc>
                  <a:txBody>
                    <a:bodyPr/>
                    <a:lstStyle/>
                    <a:p>
                      <a:r>
                        <a:rPr lang="fr-FR" dirty="0"/>
                        <a:t>nom</a:t>
                      </a:r>
                    </a:p>
                  </a:txBody>
                  <a:tcPr/>
                </a:tc>
                <a:extLst>
                  <a:ext uri="{0D108BD9-81ED-4DB2-BD59-A6C34878D82A}">
                    <a16:rowId xmlns:a16="http://schemas.microsoft.com/office/drawing/2014/main" val="2785410924"/>
                  </a:ext>
                </a:extLst>
              </a:tr>
              <a:tr h="369947">
                <a:tc>
                  <a:txBody>
                    <a:bodyPr/>
                    <a:lstStyle/>
                    <a:p>
                      <a:endParaRPr lang="fr-FR" dirty="0"/>
                    </a:p>
                  </a:txBody>
                  <a:tcPr/>
                </a:tc>
                <a:tc>
                  <a:txBody>
                    <a:bodyPr/>
                    <a:lstStyle/>
                    <a:p>
                      <a:endParaRPr lang="fr-FR" dirty="0"/>
                    </a:p>
                  </a:txBody>
                  <a:tcPr/>
                </a:tc>
                <a:extLst>
                  <a:ext uri="{0D108BD9-81ED-4DB2-BD59-A6C34878D82A}">
                    <a16:rowId xmlns:a16="http://schemas.microsoft.com/office/drawing/2014/main" val="359052745"/>
                  </a:ext>
                </a:extLst>
              </a:tr>
            </a:tbl>
          </a:graphicData>
        </a:graphic>
      </p:graphicFrame>
      <p:graphicFrame>
        <p:nvGraphicFramePr>
          <p:cNvPr id="19" name="Tableau 16">
            <a:extLst>
              <a:ext uri="{FF2B5EF4-FFF2-40B4-BE49-F238E27FC236}">
                <a16:creationId xmlns:a16="http://schemas.microsoft.com/office/drawing/2014/main" id="{CB8AA4BE-F3C0-43DC-936B-21F7F308B3EC}"/>
              </a:ext>
            </a:extLst>
          </p:cNvPr>
          <p:cNvGraphicFramePr>
            <a:graphicFrameLocks noGrp="1"/>
          </p:cNvGraphicFramePr>
          <p:nvPr/>
        </p:nvGraphicFramePr>
        <p:xfrm>
          <a:off x="5264687" y="2445914"/>
          <a:ext cx="3919347" cy="1010027"/>
        </p:xfrm>
        <a:graphic>
          <a:graphicData uri="http://schemas.openxmlformats.org/drawingml/2006/table">
            <a:tbl>
              <a:tblPr firstRow="1" bandRow="1">
                <a:tableStyleId>{5C22544A-7EE6-4342-B048-85BDC9FD1C3A}</a:tableStyleId>
              </a:tblPr>
              <a:tblGrid>
                <a:gridCol w="1306449">
                  <a:extLst>
                    <a:ext uri="{9D8B030D-6E8A-4147-A177-3AD203B41FA5}">
                      <a16:colId xmlns:a16="http://schemas.microsoft.com/office/drawing/2014/main" val="2584365638"/>
                    </a:ext>
                  </a:extLst>
                </a:gridCol>
                <a:gridCol w="1306449">
                  <a:extLst>
                    <a:ext uri="{9D8B030D-6E8A-4147-A177-3AD203B41FA5}">
                      <a16:colId xmlns:a16="http://schemas.microsoft.com/office/drawing/2014/main" val="254235674"/>
                    </a:ext>
                  </a:extLst>
                </a:gridCol>
                <a:gridCol w="1306449">
                  <a:extLst>
                    <a:ext uri="{9D8B030D-6E8A-4147-A177-3AD203B41FA5}">
                      <a16:colId xmlns:a16="http://schemas.microsoft.com/office/drawing/2014/main" val="2637630073"/>
                    </a:ext>
                  </a:extLst>
                </a:gridCol>
              </a:tblGrid>
              <a:tr h="369947">
                <a:tc>
                  <a:txBody>
                    <a:bodyPr/>
                    <a:lstStyle/>
                    <a:p>
                      <a:r>
                        <a:rPr lang="fr-FR" u="sng" dirty="0"/>
                        <a:t>id médecin</a:t>
                      </a:r>
                    </a:p>
                  </a:txBody>
                  <a:tcPr/>
                </a:tc>
                <a:tc>
                  <a:txBody>
                    <a:bodyPr/>
                    <a:lstStyle/>
                    <a:p>
                      <a:r>
                        <a:rPr lang="fr-FR" dirty="0"/>
                        <a:t>nom</a:t>
                      </a:r>
                    </a:p>
                  </a:txBody>
                  <a:tcPr/>
                </a:tc>
                <a:tc>
                  <a:txBody>
                    <a:bodyPr/>
                    <a:lstStyle/>
                    <a:p>
                      <a:r>
                        <a:rPr lang="fr-FR" dirty="0"/>
                        <a:t>prénom</a:t>
                      </a:r>
                    </a:p>
                  </a:txBody>
                  <a:tcPr/>
                </a:tc>
                <a:extLst>
                  <a:ext uri="{0D108BD9-81ED-4DB2-BD59-A6C34878D82A}">
                    <a16:rowId xmlns:a16="http://schemas.microsoft.com/office/drawing/2014/main" val="2785410924"/>
                  </a:ext>
                </a:extLst>
              </a:tr>
              <a:tr h="369947">
                <a:tc>
                  <a:txBody>
                    <a:bodyPr/>
                    <a:lstStyle/>
                    <a:p>
                      <a:endParaRPr lang="fr-FR"/>
                    </a:p>
                  </a:txBody>
                  <a:tcPr/>
                </a:tc>
                <a:tc>
                  <a:txBody>
                    <a:bodyPr/>
                    <a:lstStyle/>
                    <a:p>
                      <a:endParaRPr lang="fr-FR" dirty="0"/>
                    </a:p>
                  </a:txBody>
                  <a:tcPr/>
                </a:tc>
                <a:tc>
                  <a:txBody>
                    <a:bodyPr/>
                    <a:lstStyle/>
                    <a:p>
                      <a:endParaRPr lang="fr-FR" dirty="0"/>
                    </a:p>
                  </a:txBody>
                  <a:tcPr/>
                </a:tc>
                <a:extLst>
                  <a:ext uri="{0D108BD9-81ED-4DB2-BD59-A6C34878D82A}">
                    <a16:rowId xmlns:a16="http://schemas.microsoft.com/office/drawing/2014/main" val="359052745"/>
                  </a:ext>
                </a:extLst>
              </a:tr>
            </a:tbl>
          </a:graphicData>
        </a:graphic>
      </p:graphicFrame>
      <p:cxnSp>
        <p:nvCxnSpPr>
          <p:cNvPr id="21" name="Connecteur droit avec flèche 20">
            <a:extLst>
              <a:ext uri="{FF2B5EF4-FFF2-40B4-BE49-F238E27FC236}">
                <a16:creationId xmlns:a16="http://schemas.microsoft.com/office/drawing/2014/main" id="{3E1856F1-2E17-4FC3-BC4E-68FB64E7357B}"/>
              </a:ext>
            </a:extLst>
          </p:cNvPr>
          <p:cNvCxnSpPr>
            <a:cxnSpLocks/>
          </p:cNvCxnSpPr>
          <p:nvPr/>
        </p:nvCxnSpPr>
        <p:spPr>
          <a:xfrm flipV="1">
            <a:off x="5941374" y="3501572"/>
            <a:ext cx="1" cy="1048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Flèche : droite 31">
            <a:extLst>
              <a:ext uri="{FF2B5EF4-FFF2-40B4-BE49-F238E27FC236}">
                <a16:creationId xmlns:a16="http://schemas.microsoft.com/office/drawing/2014/main" id="{8E9334F7-E893-496C-974E-142FDD7388E4}"/>
              </a:ext>
            </a:extLst>
          </p:cNvPr>
          <p:cNvSpPr/>
          <p:nvPr/>
        </p:nvSpPr>
        <p:spPr>
          <a:xfrm>
            <a:off x="4757747" y="4009989"/>
            <a:ext cx="506940" cy="4425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7" name="Tableau 16">
            <a:extLst>
              <a:ext uri="{FF2B5EF4-FFF2-40B4-BE49-F238E27FC236}">
                <a16:creationId xmlns:a16="http://schemas.microsoft.com/office/drawing/2014/main" id="{B7849737-9B8A-464F-BE8B-7E0648EEE30C}"/>
              </a:ext>
            </a:extLst>
          </p:cNvPr>
          <p:cNvGraphicFramePr>
            <a:graphicFrameLocks noGrp="1"/>
          </p:cNvGraphicFramePr>
          <p:nvPr/>
        </p:nvGraphicFramePr>
        <p:xfrm>
          <a:off x="9412448" y="3701235"/>
          <a:ext cx="2653719" cy="735707"/>
        </p:xfrm>
        <a:graphic>
          <a:graphicData uri="http://schemas.openxmlformats.org/drawingml/2006/table">
            <a:tbl>
              <a:tblPr firstRow="1" bandRow="1">
                <a:tableStyleId>{5C22544A-7EE6-4342-B048-85BDC9FD1C3A}</a:tableStyleId>
              </a:tblPr>
              <a:tblGrid>
                <a:gridCol w="1631193">
                  <a:extLst>
                    <a:ext uri="{9D8B030D-6E8A-4147-A177-3AD203B41FA5}">
                      <a16:colId xmlns:a16="http://schemas.microsoft.com/office/drawing/2014/main" val="2584365638"/>
                    </a:ext>
                  </a:extLst>
                </a:gridCol>
                <a:gridCol w="1022526">
                  <a:extLst>
                    <a:ext uri="{9D8B030D-6E8A-4147-A177-3AD203B41FA5}">
                      <a16:colId xmlns:a16="http://schemas.microsoft.com/office/drawing/2014/main" val="254235674"/>
                    </a:ext>
                  </a:extLst>
                </a:gridCol>
              </a:tblGrid>
              <a:tr h="356319">
                <a:tc>
                  <a:txBody>
                    <a:bodyPr/>
                    <a:lstStyle/>
                    <a:p>
                      <a:r>
                        <a:rPr lang="fr-FR" u="sng" dirty="0"/>
                        <a:t>id acte</a:t>
                      </a:r>
                    </a:p>
                  </a:txBody>
                  <a:tcPr/>
                </a:tc>
                <a:tc>
                  <a:txBody>
                    <a:bodyPr/>
                    <a:lstStyle/>
                    <a:p>
                      <a:r>
                        <a:rPr lang="fr-FR" u="none" dirty="0" err="1"/>
                        <a:t>desc</a:t>
                      </a:r>
                      <a:endParaRPr lang="fr-FR" u="none" dirty="0"/>
                    </a:p>
                  </a:txBody>
                  <a:tcPr/>
                </a:tc>
                <a:extLst>
                  <a:ext uri="{0D108BD9-81ED-4DB2-BD59-A6C34878D82A}">
                    <a16:rowId xmlns:a16="http://schemas.microsoft.com/office/drawing/2014/main" val="2785410924"/>
                  </a:ext>
                </a:extLst>
              </a:tr>
              <a:tr h="369947">
                <a:tc>
                  <a:txBody>
                    <a:bodyPr/>
                    <a:lstStyle/>
                    <a:p>
                      <a:endParaRPr lang="fr-FR" dirty="0"/>
                    </a:p>
                  </a:txBody>
                  <a:tcPr/>
                </a:tc>
                <a:tc>
                  <a:txBody>
                    <a:bodyPr/>
                    <a:lstStyle/>
                    <a:p>
                      <a:endParaRPr lang="fr-FR" dirty="0"/>
                    </a:p>
                  </a:txBody>
                  <a:tcPr/>
                </a:tc>
                <a:extLst>
                  <a:ext uri="{0D108BD9-81ED-4DB2-BD59-A6C34878D82A}">
                    <a16:rowId xmlns:a16="http://schemas.microsoft.com/office/drawing/2014/main" val="359052745"/>
                  </a:ext>
                </a:extLst>
              </a:tr>
            </a:tbl>
          </a:graphicData>
        </a:graphic>
      </p:graphicFrame>
      <p:cxnSp>
        <p:nvCxnSpPr>
          <p:cNvPr id="20" name="Connecteur droit avec flèche 19">
            <a:extLst>
              <a:ext uri="{FF2B5EF4-FFF2-40B4-BE49-F238E27FC236}">
                <a16:creationId xmlns:a16="http://schemas.microsoft.com/office/drawing/2014/main" id="{D76536A9-477F-4170-870F-0FE071A0940E}"/>
              </a:ext>
            </a:extLst>
          </p:cNvPr>
          <p:cNvCxnSpPr>
            <a:cxnSpLocks/>
            <a:endCxn id="17" idx="1"/>
          </p:cNvCxnSpPr>
          <p:nvPr/>
        </p:nvCxnSpPr>
        <p:spPr>
          <a:xfrm flipV="1">
            <a:off x="8543124" y="4069088"/>
            <a:ext cx="869324" cy="480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7C1770F0-C33A-45D9-A442-6C0AF85C1ACA}"/>
              </a:ext>
            </a:extLst>
          </p:cNvPr>
          <p:cNvSpPr/>
          <p:nvPr/>
        </p:nvSpPr>
        <p:spPr>
          <a:xfrm>
            <a:off x="2947109" y="4132496"/>
            <a:ext cx="1627465" cy="4425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Acte</a:t>
            </a:r>
          </a:p>
        </p:txBody>
      </p:sp>
      <p:cxnSp>
        <p:nvCxnSpPr>
          <p:cNvPr id="24" name="Connecteur droit 23">
            <a:extLst>
              <a:ext uri="{FF2B5EF4-FFF2-40B4-BE49-F238E27FC236}">
                <a16:creationId xmlns:a16="http://schemas.microsoft.com/office/drawing/2014/main" id="{E549719A-0F1E-435E-8DF8-0B21EA90130C}"/>
              </a:ext>
            </a:extLst>
          </p:cNvPr>
          <p:cNvCxnSpPr>
            <a:cxnSpLocks/>
            <a:stCxn id="22" idx="1"/>
            <a:endCxn id="5" idx="3"/>
          </p:cNvCxnSpPr>
          <p:nvPr/>
        </p:nvCxnSpPr>
        <p:spPr>
          <a:xfrm flipH="1">
            <a:off x="2619198" y="4353756"/>
            <a:ext cx="327911"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ZoneTexte 24">
            <a:extLst>
              <a:ext uri="{FF2B5EF4-FFF2-40B4-BE49-F238E27FC236}">
                <a16:creationId xmlns:a16="http://schemas.microsoft.com/office/drawing/2014/main" id="{94F45A87-4B04-4DE3-9685-78BE8A81AF8A}"/>
              </a:ext>
            </a:extLst>
          </p:cNvPr>
          <p:cNvSpPr txBox="1"/>
          <p:nvPr/>
        </p:nvSpPr>
        <p:spPr>
          <a:xfrm>
            <a:off x="2447256" y="4325492"/>
            <a:ext cx="548548" cy="369332"/>
          </a:xfrm>
          <a:prstGeom prst="rect">
            <a:avLst/>
          </a:prstGeom>
          <a:noFill/>
        </p:spPr>
        <p:txBody>
          <a:bodyPr wrap="none" rtlCol="0">
            <a:spAutoFit/>
          </a:bodyPr>
          <a:lstStyle/>
          <a:p>
            <a:r>
              <a:rPr lang="fr-FR" dirty="0"/>
              <a:t>0,N</a:t>
            </a:r>
          </a:p>
        </p:txBody>
      </p:sp>
      <p:graphicFrame>
        <p:nvGraphicFramePr>
          <p:cNvPr id="26" name="Tableau 16">
            <a:extLst>
              <a:ext uri="{FF2B5EF4-FFF2-40B4-BE49-F238E27FC236}">
                <a16:creationId xmlns:a16="http://schemas.microsoft.com/office/drawing/2014/main" id="{ECA5206A-4EE1-47F4-8443-060740884139}"/>
              </a:ext>
            </a:extLst>
          </p:cNvPr>
          <p:cNvGraphicFramePr>
            <a:graphicFrameLocks noGrp="1"/>
          </p:cNvGraphicFramePr>
          <p:nvPr/>
        </p:nvGraphicFramePr>
        <p:xfrm>
          <a:off x="5325544" y="4549686"/>
          <a:ext cx="3919347" cy="1010027"/>
        </p:xfrm>
        <a:graphic>
          <a:graphicData uri="http://schemas.openxmlformats.org/drawingml/2006/table">
            <a:tbl>
              <a:tblPr firstRow="1" bandRow="1">
                <a:tableStyleId>{5C22544A-7EE6-4342-B048-85BDC9FD1C3A}</a:tableStyleId>
              </a:tblPr>
              <a:tblGrid>
                <a:gridCol w="1306449">
                  <a:extLst>
                    <a:ext uri="{9D8B030D-6E8A-4147-A177-3AD203B41FA5}">
                      <a16:colId xmlns:a16="http://schemas.microsoft.com/office/drawing/2014/main" val="2584365638"/>
                    </a:ext>
                  </a:extLst>
                </a:gridCol>
                <a:gridCol w="1306449">
                  <a:extLst>
                    <a:ext uri="{9D8B030D-6E8A-4147-A177-3AD203B41FA5}">
                      <a16:colId xmlns:a16="http://schemas.microsoft.com/office/drawing/2014/main" val="254235674"/>
                    </a:ext>
                  </a:extLst>
                </a:gridCol>
                <a:gridCol w="1306449">
                  <a:extLst>
                    <a:ext uri="{9D8B030D-6E8A-4147-A177-3AD203B41FA5}">
                      <a16:colId xmlns:a16="http://schemas.microsoft.com/office/drawing/2014/main" val="2637630073"/>
                    </a:ext>
                  </a:extLst>
                </a:gridCol>
              </a:tblGrid>
              <a:tr h="369947">
                <a:tc>
                  <a:txBody>
                    <a:bodyPr/>
                    <a:lstStyle/>
                    <a:p>
                      <a:r>
                        <a:rPr lang="fr-FR" u="sng" dirty="0"/>
                        <a:t>id médecin</a:t>
                      </a:r>
                    </a:p>
                  </a:txBody>
                  <a:tcPr/>
                </a:tc>
                <a:tc>
                  <a:txBody>
                    <a:bodyPr/>
                    <a:lstStyle/>
                    <a:p>
                      <a:r>
                        <a:rPr lang="fr-FR" u="sng" dirty="0"/>
                        <a:t>id patient</a:t>
                      </a:r>
                    </a:p>
                  </a:txBody>
                  <a:tcPr/>
                </a:tc>
                <a:tc>
                  <a:txBody>
                    <a:bodyPr/>
                    <a:lstStyle/>
                    <a:p>
                      <a:r>
                        <a:rPr lang="fr-FR" u="sng" dirty="0"/>
                        <a:t>id acte</a:t>
                      </a:r>
                    </a:p>
                  </a:txBody>
                  <a:tcPr/>
                </a:tc>
                <a:extLst>
                  <a:ext uri="{0D108BD9-81ED-4DB2-BD59-A6C34878D82A}">
                    <a16:rowId xmlns:a16="http://schemas.microsoft.com/office/drawing/2014/main" val="2785410924"/>
                  </a:ext>
                </a:extLst>
              </a:tr>
              <a:tr h="369947">
                <a:tc>
                  <a:txBody>
                    <a:bodyPr/>
                    <a:lstStyle/>
                    <a:p>
                      <a:endParaRPr lang="fr-FR"/>
                    </a:p>
                  </a:txBody>
                  <a:tcPr/>
                </a:tc>
                <a:tc>
                  <a:txBody>
                    <a:bodyPr/>
                    <a:lstStyle/>
                    <a:p>
                      <a:endParaRPr lang="fr-FR" dirty="0"/>
                    </a:p>
                  </a:txBody>
                  <a:tcPr/>
                </a:tc>
                <a:tc>
                  <a:txBody>
                    <a:bodyPr/>
                    <a:lstStyle/>
                    <a:p>
                      <a:endParaRPr lang="fr-FR" dirty="0"/>
                    </a:p>
                  </a:txBody>
                  <a:tcPr/>
                </a:tc>
                <a:extLst>
                  <a:ext uri="{0D108BD9-81ED-4DB2-BD59-A6C34878D82A}">
                    <a16:rowId xmlns:a16="http://schemas.microsoft.com/office/drawing/2014/main" val="359052745"/>
                  </a:ext>
                </a:extLst>
              </a:tr>
            </a:tbl>
          </a:graphicData>
        </a:graphic>
      </p:graphicFrame>
      <p:cxnSp>
        <p:nvCxnSpPr>
          <p:cNvPr id="27" name="Connecteur droit avec flèche 26">
            <a:extLst>
              <a:ext uri="{FF2B5EF4-FFF2-40B4-BE49-F238E27FC236}">
                <a16:creationId xmlns:a16="http://schemas.microsoft.com/office/drawing/2014/main" id="{2C471836-63AA-425D-94F7-9AD83F4DCFE4}"/>
              </a:ext>
            </a:extLst>
          </p:cNvPr>
          <p:cNvCxnSpPr>
            <a:cxnSpLocks/>
            <a:stCxn id="26" idx="2"/>
            <a:endCxn id="16" idx="1"/>
          </p:cNvCxnSpPr>
          <p:nvPr/>
        </p:nvCxnSpPr>
        <p:spPr>
          <a:xfrm>
            <a:off x="7285217" y="5559713"/>
            <a:ext cx="1186886" cy="456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ZoneTexte 29">
            <a:extLst>
              <a:ext uri="{FF2B5EF4-FFF2-40B4-BE49-F238E27FC236}">
                <a16:creationId xmlns:a16="http://schemas.microsoft.com/office/drawing/2014/main" id="{76787E28-1822-47F1-82ED-D38F2C30229A}"/>
              </a:ext>
            </a:extLst>
          </p:cNvPr>
          <p:cNvSpPr txBox="1"/>
          <p:nvPr/>
        </p:nvSpPr>
        <p:spPr>
          <a:xfrm>
            <a:off x="6610192" y="2096420"/>
            <a:ext cx="1226618" cy="369332"/>
          </a:xfrm>
          <a:prstGeom prst="rect">
            <a:avLst/>
          </a:prstGeom>
          <a:noFill/>
        </p:spPr>
        <p:txBody>
          <a:bodyPr wrap="none" rtlCol="0">
            <a:spAutoFit/>
          </a:bodyPr>
          <a:lstStyle/>
          <a:p>
            <a:r>
              <a:rPr lang="fr-FR" dirty="0"/>
              <a:t>MÉDECIN</a:t>
            </a:r>
          </a:p>
        </p:txBody>
      </p:sp>
      <p:sp>
        <p:nvSpPr>
          <p:cNvPr id="34" name="ZoneTexte 33">
            <a:extLst>
              <a:ext uri="{FF2B5EF4-FFF2-40B4-BE49-F238E27FC236}">
                <a16:creationId xmlns:a16="http://schemas.microsoft.com/office/drawing/2014/main" id="{2E83B81D-4A45-45DE-8E31-67BE7DE3AF3C}"/>
              </a:ext>
            </a:extLst>
          </p:cNvPr>
          <p:cNvSpPr txBox="1"/>
          <p:nvPr/>
        </p:nvSpPr>
        <p:spPr>
          <a:xfrm>
            <a:off x="10295854" y="3280312"/>
            <a:ext cx="764953" cy="369332"/>
          </a:xfrm>
          <a:prstGeom prst="rect">
            <a:avLst/>
          </a:prstGeom>
          <a:noFill/>
        </p:spPr>
        <p:txBody>
          <a:bodyPr wrap="none" rtlCol="0">
            <a:spAutoFit/>
          </a:bodyPr>
          <a:lstStyle/>
          <a:p>
            <a:r>
              <a:rPr lang="fr-FR" dirty="0"/>
              <a:t>ACTE</a:t>
            </a:r>
          </a:p>
        </p:txBody>
      </p:sp>
      <p:sp>
        <p:nvSpPr>
          <p:cNvPr id="35" name="ZoneTexte 34">
            <a:extLst>
              <a:ext uri="{FF2B5EF4-FFF2-40B4-BE49-F238E27FC236}">
                <a16:creationId xmlns:a16="http://schemas.microsoft.com/office/drawing/2014/main" id="{C03C9A8E-FE53-4DB4-9BC6-5E72952AF3E4}"/>
              </a:ext>
            </a:extLst>
          </p:cNvPr>
          <p:cNvSpPr txBox="1"/>
          <p:nvPr/>
        </p:nvSpPr>
        <p:spPr>
          <a:xfrm>
            <a:off x="10020173" y="5160221"/>
            <a:ext cx="1035861" cy="369332"/>
          </a:xfrm>
          <a:prstGeom prst="rect">
            <a:avLst/>
          </a:prstGeom>
          <a:noFill/>
        </p:spPr>
        <p:txBody>
          <a:bodyPr wrap="none" rtlCol="0">
            <a:spAutoFit/>
          </a:bodyPr>
          <a:lstStyle/>
          <a:p>
            <a:r>
              <a:rPr lang="fr-FR" dirty="0"/>
              <a:t>PATIENT</a:t>
            </a:r>
          </a:p>
        </p:txBody>
      </p:sp>
      <p:sp>
        <p:nvSpPr>
          <p:cNvPr id="36" name="ZoneTexte 35">
            <a:extLst>
              <a:ext uri="{FF2B5EF4-FFF2-40B4-BE49-F238E27FC236}">
                <a16:creationId xmlns:a16="http://schemas.microsoft.com/office/drawing/2014/main" id="{070D8612-D5A8-4931-B936-B2BEB8D61B7F}"/>
              </a:ext>
            </a:extLst>
          </p:cNvPr>
          <p:cNvSpPr txBox="1"/>
          <p:nvPr/>
        </p:nvSpPr>
        <p:spPr>
          <a:xfrm>
            <a:off x="6767286" y="4086447"/>
            <a:ext cx="1257075" cy="369332"/>
          </a:xfrm>
          <a:prstGeom prst="rect">
            <a:avLst/>
          </a:prstGeom>
          <a:noFill/>
        </p:spPr>
        <p:txBody>
          <a:bodyPr wrap="none" rtlCol="0">
            <a:spAutoFit/>
          </a:bodyPr>
          <a:lstStyle/>
          <a:p>
            <a:r>
              <a:rPr lang="fr-FR" dirty="0"/>
              <a:t>PRATIQUE</a:t>
            </a:r>
          </a:p>
        </p:txBody>
      </p:sp>
    </p:spTree>
    <p:extLst>
      <p:ext uri="{BB962C8B-B14F-4D97-AF65-F5344CB8AC3E}">
        <p14:creationId xmlns:p14="http://schemas.microsoft.com/office/powerpoint/2010/main" val="100162181"/>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D61BD9-E31F-4DF6-853F-222254CEC462}"/>
              </a:ext>
            </a:extLst>
          </p:cNvPr>
          <p:cNvSpPr>
            <a:spLocks noGrp="1"/>
          </p:cNvSpPr>
          <p:nvPr>
            <p:ph type="title"/>
          </p:nvPr>
        </p:nvSpPr>
        <p:spPr/>
        <p:txBody>
          <a:bodyPr/>
          <a:lstStyle/>
          <a:p>
            <a:r>
              <a:rPr lang="fr-FR" dirty="0"/>
              <a:t>Méthodologies de conception d'une BDD</a:t>
            </a:r>
          </a:p>
        </p:txBody>
      </p:sp>
      <p:sp>
        <p:nvSpPr>
          <p:cNvPr id="3" name="Espace réservé du contenu 2">
            <a:extLst>
              <a:ext uri="{FF2B5EF4-FFF2-40B4-BE49-F238E27FC236}">
                <a16:creationId xmlns:a16="http://schemas.microsoft.com/office/drawing/2014/main" id="{061909A4-D2F3-4F96-A658-37673765A571}"/>
              </a:ext>
            </a:extLst>
          </p:cNvPr>
          <p:cNvSpPr>
            <a:spLocks noGrp="1"/>
          </p:cNvSpPr>
          <p:nvPr>
            <p:ph idx="1"/>
          </p:nvPr>
        </p:nvSpPr>
        <p:spPr/>
        <p:txBody>
          <a:bodyPr/>
          <a:lstStyle/>
          <a:p>
            <a:r>
              <a:rPr lang="fr-FR" dirty="0"/>
              <a:t>Remarque : le diagramme EA peut utiliser d’autres représentations que la notation de Chen</a:t>
            </a:r>
          </a:p>
          <a:p>
            <a:r>
              <a:rPr lang="fr-FR" dirty="0"/>
              <a:t>En particulier un diagramme de classe UML (dit UML-relationnel)</a:t>
            </a:r>
          </a:p>
        </p:txBody>
      </p:sp>
      <p:sp>
        <p:nvSpPr>
          <p:cNvPr id="4" name="Espace réservé du numéro de diapositive 3">
            <a:extLst>
              <a:ext uri="{FF2B5EF4-FFF2-40B4-BE49-F238E27FC236}">
                <a16:creationId xmlns:a16="http://schemas.microsoft.com/office/drawing/2014/main" id="{BA36D87A-5EF2-445A-886D-A46E74FD0763}"/>
              </a:ext>
            </a:extLst>
          </p:cNvPr>
          <p:cNvSpPr>
            <a:spLocks noGrp="1"/>
          </p:cNvSpPr>
          <p:nvPr>
            <p:ph type="sldNum" sz="quarter" idx="12"/>
          </p:nvPr>
        </p:nvSpPr>
        <p:spPr/>
        <p:txBody>
          <a:bodyPr/>
          <a:lstStyle/>
          <a:p>
            <a:fld id="{27C6CCC6-2BE5-4E42-96A4-D1E8E81A3D8E}" type="slidenum">
              <a:rPr lang="de-DE" smtClean="0"/>
              <a:t>224</a:t>
            </a:fld>
            <a:endParaRPr lang="de-DE"/>
          </a:p>
        </p:txBody>
      </p:sp>
    </p:spTree>
    <p:extLst>
      <p:ext uri="{BB962C8B-B14F-4D97-AF65-F5344CB8AC3E}">
        <p14:creationId xmlns:p14="http://schemas.microsoft.com/office/powerpoint/2010/main" val="2389818924"/>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D61BD9-E31F-4DF6-853F-222254CEC462}"/>
              </a:ext>
            </a:extLst>
          </p:cNvPr>
          <p:cNvSpPr>
            <a:spLocks noGrp="1"/>
          </p:cNvSpPr>
          <p:nvPr>
            <p:ph type="title"/>
          </p:nvPr>
        </p:nvSpPr>
        <p:spPr/>
        <p:txBody>
          <a:bodyPr/>
          <a:lstStyle/>
          <a:p>
            <a:r>
              <a:rPr lang="fr-FR" dirty="0"/>
              <a:t>Méthodologies de conception d'une BDD</a:t>
            </a:r>
          </a:p>
        </p:txBody>
      </p:sp>
      <p:sp>
        <p:nvSpPr>
          <p:cNvPr id="6" name="Espace réservé du contenu 2">
            <a:extLst>
              <a:ext uri="{FF2B5EF4-FFF2-40B4-BE49-F238E27FC236}">
                <a16:creationId xmlns:a16="http://schemas.microsoft.com/office/drawing/2014/main" id="{9C58F2B0-4A3F-40CD-B7F4-D5A306575693}"/>
              </a:ext>
            </a:extLst>
          </p:cNvPr>
          <p:cNvSpPr>
            <a:spLocks noGrp="1"/>
          </p:cNvSpPr>
          <p:nvPr>
            <p:ph idx="1"/>
          </p:nvPr>
        </p:nvSpPr>
        <p:spPr/>
        <p:txBody>
          <a:bodyPr anchor="t"/>
          <a:lstStyle/>
          <a:p>
            <a:r>
              <a:rPr lang="fr-FR" dirty="0"/>
              <a:t>Format UML</a:t>
            </a:r>
          </a:p>
        </p:txBody>
      </p:sp>
      <p:sp>
        <p:nvSpPr>
          <p:cNvPr id="4" name="Espace réservé du numéro de diapositive 3">
            <a:extLst>
              <a:ext uri="{FF2B5EF4-FFF2-40B4-BE49-F238E27FC236}">
                <a16:creationId xmlns:a16="http://schemas.microsoft.com/office/drawing/2014/main" id="{BA36D87A-5EF2-445A-886D-A46E74FD0763}"/>
              </a:ext>
            </a:extLst>
          </p:cNvPr>
          <p:cNvSpPr>
            <a:spLocks noGrp="1"/>
          </p:cNvSpPr>
          <p:nvPr>
            <p:ph type="sldNum" sz="quarter" idx="12"/>
          </p:nvPr>
        </p:nvSpPr>
        <p:spPr/>
        <p:txBody>
          <a:bodyPr/>
          <a:lstStyle/>
          <a:p>
            <a:fld id="{27C6CCC6-2BE5-4E42-96A4-D1E8E81A3D8E}" type="slidenum">
              <a:rPr lang="de-DE" smtClean="0"/>
              <a:t>225</a:t>
            </a:fld>
            <a:endParaRPr lang="de-DE"/>
          </a:p>
        </p:txBody>
      </p:sp>
      <p:pic>
        <p:nvPicPr>
          <p:cNvPr id="5" name="Image 4">
            <a:extLst>
              <a:ext uri="{FF2B5EF4-FFF2-40B4-BE49-F238E27FC236}">
                <a16:creationId xmlns:a16="http://schemas.microsoft.com/office/drawing/2014/main" id="{CCF9A251-3C46-4D56-92E0-2CF2195ED749}"/>
              </a:ext>
            </a:extLst>
          </p:cNvPr>
          <p:cNvPicPr>
            <a:picLocks noChangeAspect="1"/>
          </p:cNvPicPr>
          <p:nvPr/>
        </p:nvPicPr>
        <p:blipFill>
          <a:blip r:embed="rId2"/>
          <a:stretch>
            <a:fillRect/>
          </a:stretch>
        </p:blipFill>
        <p:spPr>
          <a:xfrm>
            <a:off x="1052511" y="3140918"/>
            <a:ext cx="10086975" cy="2628900"/>
          </a:xfrm>
          <a:prstGeom prst="rect">
            <a:avLst/>
          </a:prstGeom>
        </p:spPr>
      </p:pic>
    </p:spTree>
    <p:extLst>
      <p:ext uri="{BB962C8B-B14F-4D97-AF65-F5344CB8AC3E}">
        <p14:creationId xmlns:p14="http://schemas.microsoft.com/office/powerpoint/2010/main" val="55340583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D61BD9-E31F-4DF6-853F-222254CEC462}"/>
              </a:ext>
            </a:extLst>
          </p:cNvPr>
          <p:cNvSpPr>
            <a:spLocks noGrp="1"/>
          </p:cNvSpPr>
          <p:nvPr>
            <p:ph type="title"/>
          </p:nvPr>
        </p:nvSpPr>
        <p:spPr/>
        <p:txBody>
          <a:bodyPr/>
          <a:lstStyle/>
          <a:p>
            <a:r>
              <a:rPr lang="fr-FR" dirty="0"/>
              <a:t>Méthodologies de conception d'une BDD</a:t>
            </a:r>
          </a:p>
        </p:txBody>
      </p:sp>
      <p:sp>
        <p:nvSpPr>
          <p:cNvPr id="3" name="Espace réservé du contenu 2">
            <a:extLst>
              <a:ext uri="{FF2B5EF4-FFF2-40B4-BE49-F238E27FC236}">
                <a16:creationId xmlns:a16="http://schemas.microsoft.com/office/drawing/2014/main" id="{061909A4-D2F3-4F96-A658-37673765A571}"/>
              </a:ext>
            </a:extLst>
          </p:cNvPr>
          <p:cNvSpPr>
            <a:spLocks noGrp="1"/>
          </p:cNvSpPr>
          <p:nvPr>
            <p:ph idx="1"/>
          </p:nvPr>
        </p:nvSpPr>
        <p:spPr/>
        <p:txBody>
          <a:bodyPr anchor="ctr"/>
          <a:lstStyle/>
          <a:p>
            <a:r>
              <a:rPr lang="fr-FR" dirty="0"/>
              <a:t>Le format UML présente les avantages suivants :</a:t>
            </a:r>
          </a:p>
          <a:p>
            <a:pPr lvl="1"/>
            <a:r>
              <a:rPr lang="fr-FR" dirty="0"/>
              <a:t>Standardisé et universellement compris</a:t>
            </a:r>
          </a:p>
          <a:p>
            <a:pPr lvl="1"/>
            <a:r>
              <a:rPr lang="fr-FR" dirty="0"/>
              <a:t>Expressif</a:t>
            </a:r>
          </a:p>
          <a:p>
            <a:pPr lvl="1"/>
            <a:r>
              <a:rPr lang="fr-FR" dirty="0"/>
              <a:t>Lisible</a:t>
            </a:r>
          </a:p>
          <a:p>
            <a:pPr lvl="1"/>
            <a:r>
              <a:rPr lang="fr-FR" dirty="0"/>
              <a:t>Moderne</a:t>
            </a:r>
          </a:p>
          <a:p>
            <a:pPr lvl="1"/>
            <a:r>
              <a:rPr lang="fr-FR" dirty="0"/>
              <a:t>Beaucoup d’outils pour réaliser des diagrammes</a:t>
            </a:r>
          </a:p>
        </p:txBody>
      </p:sp>
      <p:sp>
        <p:nvSpPr>
          <p:cNvPr id="4" name="Espace réservé du numéro de diapositive 3">
            <a:extLst>
              <a:ext uri="{FF2B5EF4-FFF2-40B4-BE49-F238E27FC236}">
                <a16:creationId xmlns:a16="http://schemas.microsoft.com/office/drawing/2014/main" id="{BA36D87A-5EF2-445A-886D-A46E74FD0763}"/>
              </a:ext>
            </a:extLst>
          </p:cNvPr>
          <p:cNvSpPr>
            <a:spLocks noGrp="1"/>
          </p:cNvSpPr>
          <p:nvPr>
            <p:ph type="sldNum" sz="quarter" idx="12"/>
          </p:nvPr>
        </p:nvSpPr>
        <p:spPr/>
        <p:txBody>
          <a:bodyPr/>
          <a:lstStyle/>
          <a:p>
            <a:fld id="{27C6CCC6-2BE5-4E42-96A4-D1E8E81A3D8E}" type="slidenum">
              <a:rPr lang="de-DE" smtClean="0"/>
              <a:t>226</a:t>
            </a:fld>
            <a:endParaRPr lang="de-DE"/>
          </a:p>
        </p:txBody>
      </p:sp>
    </p:spTree>
    <p:extLst>
      <p:ext uri="{BB962C8B-B14F-4D97-AF65-F5344CB8AC3E}">
        <p14:creationId xmlns:p14="http://schemas.microsoft.com/office/powerpoint/2010/main" val="389812899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D61BD9-E31F-4DF6-853F-222254CEC462}"/>
              </a:ext>
            </a:extLst>
          </p:cNvPr>
          <p:cNvSpPr>
            <a:spLocks noGrp="1"/>
          </p:cNvSpPr>
          <p:nvPr>
            <p:ph type="title"/>
          </p:nvPr>
        </p:nvSpPr>
        <p:spPr/>
        <p:txBody>
          <a:bodyPr/>
          <a:lstStyle/>
          <a:p>
            <a:r>
              <a:rPr lang="fr-FR" dirty="0"/>
              <a:t>Méthodologies de conception d'une BDD</a:t>
            </a:r>
          </a:p>
        </p:txBody>
      </p:sp>
      <p:sp>
        <p:nvSpPr>
          <p:cNvPr id="3" name="Espace réservé du contenu 2">
            <a:extLst>
              <a:ext uri="{FF2B5EF4-FFF2-40B4-BE49-F238E27FC236}">
                <a16:creationId xmlns:a16="http://schemas.microsoft.com/office/drawing/2014/main" id="{061909A4-D2F3-4F96-A658-37673765A571}"/>
              </a:ext>
            </a:extLst>
          </p:cNvPr>
          <p:cNvSpPr>
            <a:spLocks noGrp="1"/>
          </p:cNvSpPr>
          <p:nvPr>
            <p:ph idx="1"/>
          </p:nvPr>
        </p:nvSpPr>
        <p:spPr/>
        <p:txBody>
          <a:bodyPr anchor="ctr">
            <a:normAutofit/>
          </a:bodyPr>
          <a:lstStyle/>
          <a:p>
            <a:r>
              <a:rPr lang="fr-FR" dirty="0"/>
              <a:t>La modélisation sous forme d’UML relationnel un élément conceptuel supplémentaire par rapport au diagramme entité-association : </a:t>
            </a:r>
            <a:r>
              <a:rPr lang="fr-FR" b="1" dirty="0"/>
              <a:t>l’héritage</a:t>
            </a:r>
          </a:p>
          <a:p>
            <a:r>
              <a:rPr lang="fr-FR" dirty="0"/>
              <a:t>L’héritage entre deux entités implique une relation de type « est un » entre elles (exemple : les entités « Animal » et « Chien » peuvent être reliées par une relation d’héritage car un chien est un animal</a:t>
            </a:r>
          </a:p>
          <a:p>
            <a:r>
              <a:rPr lang="fr-FR" dirty="0"/>
              <a:t>Dans cet exemple, on dira que « Animal » est la classe ou table mère (l’entité la plus générale) et « Chien » la classe ou table fille (l’entité la plus spécifique)</a:t>
            </a:r>
          </a:p>
        </p:txBody>
      </p:sp>
      <p:sp>
        <p:nvSpPr>
          <p:cNvPr id="4" name="Espace réservé du numéro de diapositive 3">
            <a:extLst>
              <a:ext uri="{FF2B5EF4-FFF2-40B4-BE49-F238E27FC236}">
                <a16:creationId xmlns:a16="http://schemas.microsoft.com/office/drawing/2014/main" id="{BA36D87A-5EF2-445A-886D-A46E74FD0763}"/>
              </a:ext>
            </a:extLst>
          </p:cNvPr>
          <p:cNvSpPr>
            <a:spLocks noGrp="1"/>
          </p:cNvSpPr>
          <p:nvPr>
            <p:ph type="sldNum" sz="quarter" idx="12"/>
          </p:nvPr>
        </p:nvSpPr>
        <p:spPr/>
        <p:txBody>
          <a:bodyPr/>
          <a:lstStyle/>
          <a:p>
            <a:fld id="{27C6CCC6-2BE5-4E42-96A4-D1E8E81A3D8E}" type="slidenum">
              <a:rPr lang="de-DE" smtClean="0"/>
              <a:t>227</a:t>
            </a:fld>
            <a:endParaRPr lang="de-DE"/>
          </a:p>
        </p:txBody>
      </p:sp>
    </p:spTree>
    <p:extLst>
      <p:ext uri="{BB962C8B-B14F-4D97-AF65-F5344CB8AC3E}">
        <p14:creationId xmlns:p14="http://schemas.microsoft.com/office/powerpoint/2010/main" val="3252975827"/>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D61BD9-E31F-4DF6-853F-222254CEC462}"/>
              </a:ext>
            </a:extLst>
          </p:cNvPr>
          <p:cNvSpPr>
            <a:spLocks noGrp="1"/>
          </p:cNvSpPr>
          <p:nvPr>
            <p:ph type="title"/>
          </p:nvPr>
        </p:nvSpPr>
        <p:spPr/>
        <p:txBody>
          <a:bodyPr>
            <a:normAutofit fontScale="90000"/>
          </a:bodyPr>
          <a:lstStyle/>
          <a:p>
            <a:r>
              <a:rPr lang="fr-FR" dirty="0"/>
              <a:t>Méthodologies de conception d'une BDD</a:t>
            </a:r>
          </a:p>
        </p:txBody>
      </p:sp>
      <p:sp>
        <p:nvSpPr>
          <p:cNvPr id="3" name="Espace réservé du contenu 2">
            <a:extLst>
              <a:ext uri="{FF2B5EF4-FFF2-40B4-BE49-F238E27FC236}">
                <a16:creationId xmlns:a16="http://schemas.microsoft.com/office/drawing/2014/main" id="{061909A4-D2F3-4F96-A658-37673765A571}"/>
              </a:ext>
            </a:extLst>
          </p:cNvPr>
          <p:cNvSpPr>
            <a:spLocks noGrp="1"/>
          </p:cNvSpPr>
          <p:nvPr>
            <p:ph idx="1"/>
          </p:nvPr>
        </p:nvSpPr>
        <p:spPr>
          <a:xfrm>
            <a:off x="818713" y="2413000"/>
            <a:ext cx="7199220" cy="3632200"/>
          </a:xfrm>
        </p:spPr>
        <p:txBody>
          <a:bodyPr>
            <a:normAutofit/>
          </a:bodyPr>
          <a:lstStyle/>
          <a:p>
            <a:r>
              <a:rPr lang="fr-FR" dirty="0"/>
              <a:t>Trois possibilités existent pour représenter l’héritage en base de données :</a:t>
            </a:r>
          </a:p>
          <a:p>
            <a:pPr lvl="1"/>
            <a:r>
              <a:rPr lang="fr-FR" b="1" dirty="0"/>
              <a:t>Par référence :</a:t>
            </a:r>
            <a:r>
              <a:rPr lang="fr-FR" dirty="0"/>
              <a:t> une table mère regroupant les attributs commun et N tables filles possédant leur propres attributs et référençant la table mère</a:t>
            </a:r>
          </a:p>
          <a:p>
            <a:pPr lvl="1"/>
            <a:r>
              <a:rPr lang="fr-FR" b="1" dirty="0"/>
              <a:t>Par les classes filles </a:t>
            </a:r>
            <a:r>
              <a:rPr lang="fr-FR" dirty="0"/>
              <a:t>: une table par classe fille, pas de table mère, les attributs communs sont dupliqués dans chaque table fille</a:t>
            </a:r>
          </a:p>
          <a:p>
            <a:pPr lvl="1"/>
            <a:r>
              <a:rPr lang="fr-FR" b="1" dirty="0"/>
              <a:t>Par la classe mère </a:t>
            </a:r>
            <a:r>
              <a:rPr lang="fr-FR" dirty="0"/>
              <a:t>: une table mère, pas de table filles, la table mère contient tous les attributs des classes filles même si la plupart seront laissés « </a:t>
            </a:r>
            <a:r>
              <a:rPr lang="fr-FR" dirty="0" err="1"/>
              <a:t>null</a:t>
            </a:r>
            <a:r>
              <a:rPr lang="fr-FR" dirty="0"/>
              <a:t> »</a:t>
            </a:r>
          </a:p>
        </p:txBody>
      </p:sp>
      <p:sp>
        <p:nvSpPr>
          <p:cNvPr id="4" name="Espace réservé du numéro de diapositive 3">
            <a:extLst>
              <a:ext uri="{FF2B5EF4-FFF2-40B4-BE49-F238E27FC236}">
                <a16:creationId xmlns:a16="http://schemas.microsoft.com/office/drawing/2014/main" id="{BA36D87A-5EF2-445A-886D-A46E74FD0763}"/>
              </a:ext>
            </a:extLst>
          </p:cNvPr>
          <p:cNvSpPr>
            <a:spLocks noGrp="1"/>
          </p:cNvSpPr>
          <p:nvPr>
            <p:ph type="sldNum" sz="quarter" idx="12"/>
          </p:nvPr>
        </p:nvSpPr>
        <p:spPr/>
        <p:txBody>
          <a:bodyPr>
            <a:normAutofit/>
          </a:bodyPr>
          <a:lstStyle/>
          <a:p>
            <a:pPr>
              <a:spcAft>
                <a:spcPts val="600"/>
              </a:spcAft>
            </a:pPr>
            <a:fld id="{27C6CCC6-2BE5-4E42-96A4-D1E8E81A3D8E}" type="slidenum">
              <a:rPr lang="de-DE" smtClean="0"/>
              <a:pPr>
                <a:spcAft>
                  <a:spcPts val="600"/>
                </a:spcAft>
              </a:pPr>
              <a:t>228</a:t>
            </a:fld>
            <a:endParaRPr lang="de-DE"/>
          </a:p>
        </p:txBody>
      </p:sp>
      <p:pic>
        <p:nvPicPr>
          <p:cNvPr id="6" name="Image 5">
            <a:extLst>
              <a:ext uri="{FF2B5EF4-FFF2-40B4-BE49-F238E27FC236}">
                <a16:creationId xmlns:a16="http://schemas.microsoft.com/office/drawing/2014/main" id="{721FA879-D9A7-4744-AB89-DC781D3A3F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6138" y="2693116"/>
            <a:ext cx="2913062" cy="3156106"/>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2464296395"/>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A91EA-804A-4E3E-BA28-E29C5DE6CAD6}"/>
              </a:ext>
            </a:extLst>
          </p:cNvPr>
          <p:cNvSpPr>
            <a:spLocks noGrp="1"/>
          </p:cNvSpPr>
          <p:nvPr>
            <p:ph type="title"/>
          </p:nvPr>
        </p:nvSpPr>
        <p:spPr/>
        <p:txBody>
          <a:bodyPr/>
          <a:lstStyle/>
          <a:p>
            <a:r>
              <a:rPr lang="fr-FR"/>
              <a:t>Méthodologies de conception d’une BDD</a:t>
            </a:r>
          </a:p>
        </p:txBody>
      </p:sp>
      <p:sp>
        <p:nvSpPr>
          <p:cNvPr id="3" name="Espace réservé du contenu 2">
            <a:extLst>
              <a:ext uri="{FF2B5EF4-FFF2-40B4-BE49-F238E27FC236}">
                <a16:creationId xmlns:a16="http://schemas.microsoft.com/office/drawing/2014/main" id="{F6388246-2019-4896-9D05-5A92828F236B}"/>
              </a:ext>
            </a:extLst>
          </p:cNvPr>
          <p:cNvSpPr>
            <a:spLocks noGrp="1"/>
          </p:cNvSpPr>
          <p:nvPr>
            <p:ph idx="1"/>
          </p:nvPr>
        </p:nvSpPr>
        <p:spPr>
          <a:xfrm>
            <a:off x="818712" y="2222288"/>
            <a:ext cx="10554574" cy="4281062"/>
          </a:xfrm>
        </p:spPr>
        <p:txBody>
          <a:bodyPr anchor="ctr"/>
          <a:lstStyle/>
          <a:p>
            <a:r>
              <a:rPr lang="fr-FR" dirty="0"/>
              <a:t>Exercice : Diagramme Entité Association du système d’UV de l’UTBM</a:t>
            </a:r>
          </a:p>
        </p:txBody>
      </p:sp>
      <p:sp>
        <p:nvSpPr>
          <p:cNvPr id="6" name="Espace réservé du numéro de diapositive 5">
            <a:extLst>
              <a:ext uri="{FF2B5EF4-FFF2-40B4-BE49-F238E27FC236}">
                <a16:creationId xmlns:a16="http://schemas.microsoft.com/office/drawing/2014/main" id="{63788315-9567-47C3-A7EA-92EDE6A299EA}"/>
              </a:ext>
            </a:extLst>
          </p:cNvPr>
          <p:cNvSpPr>
            <a:spLocks noGrp="1"/>
          </p:cNvSpPr>
          <p:nvPr>
            <p:ph type="sldNum" sz="quarter" idx="12"/>
          </p:nvPr>
        </p:nvSpPr>
        <p:spPr/>
        <p:txBody>
          <a:bodyPr/>
          <a:lstStyle/>
          <a:p>
            <a:fld id="{27C6CCC6-2BE5-4E42-96A4-D1E8E81A3D8E}" type="slidenum">
              <a:rPr lang="de-DE" smtClean="0"/>
              <a:t>229</a:t>
            </a:fld>
            <a:endParaRPr lang="de-DE"/>
          </a:p>
        </p:txBody>
      </p:sp>
    </p:spTree>
    <p:extLst>
      <p:ext uri="{BB962C8B-B14F-4D97-AF65-F5344CB8AC3E}">
        <p14:creationId xmlns:p14="http://schemas.microsoft.com/office/powerpoint/2010/main" val="2111276030"/>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3C63BC-A1C9-45CF-81D9-0B80874A7086}"/>
              </a:ext>
            </a:extLst>
          </p:cNvPr>
          <p:cNvSpPr>
            <a:spLocks noGrp="1"/>
          </p:cNvSpPr>
          <p:nvPr>
            <p:ph type="title"/>
          </p:nvPr>
        </p:nvSpPr>
        <p:spPr/>
        <p:txBody>
          <a:bodyPr/>
          <a:lstStyle/>
          <a:p>
            <a:r>
              <a:rPr lang="fr-FR" dirty="0"/>
              <a:t>Méthodologies de conception d’une BDD</a:t>
            </a:r>
          </a:p>
        </p:txBody>
      </p:sp>
      <p:sp>
        <p:nvSpPr>
          <p:cNvPr id="3" name="Espace réservé du contenu 2">
            <a:extLst>
              <a:ext uri="{FF2B5EF4-FFF2-40B4-BE49-F238E27FC236}">
                <a16:creationId xmlns:a16="http://schemas.microsoft.com/office/drawing/2014/main" id="{7EA9826B-BB09-4358-975F-76D6AE9F5A4B}"/>
              </a:ext>
            </a:extLst>
          </p:cNvPr>
          <p:cNvSpPr>
            <a:spLocks noGrp="1"/>
          </p:cNvSpPr>
          <p:nvPr>
            <p:ph idx="1"/>
          </p:nvPr>
        </p:nvSpPr>
        <p:spPr/>
        <p:txBody>
          <a:bodyPr>
            <a:normAutofit lnSpcReduction="10000"/>
          </a:bodyPr>
          <a:lstStyle/>
          <a:p>
            <a:r>
              <a:rPr lang="fr-FR" dirty="0"/>
              <a:t>Rappel du principe des </a:t>
            </a:r>
            <a:r>
              <a:rPr lang="fr-FR" dirty="0" err="1"/>
              <a:t>UEs</a:t>
            </a:r>
            <a:r>
              <a:rPr lang="fr-FR" dirty="0"/>
              <a:t> :</a:t>
            </a:r>
          </a:p>
          <a:p>
            <a:pPr lvl="1"/>
            <a:r>
              <a:rPr lang="fr-FR" dirty="0"/>
              <a:t>L’UTBM propose aux étudiant de s'inscrire aux UE</a:t>
            </a:r>
          </a:p>
          <a:p>
            <a:pPr lvl="1"/>
            <a:r>
              <a:rPr lang="fr-FR" dirty="0"/>
              <a:t>Chaque UE est identifiée par un code, un titre, une description, un nombre de crédits ECTS, son semestre d’ouverture, un nombre de places disponibles, son type (CS, TM, EC, CG), son département (TC, INFO, ENERGIE, etc.) </a:t>
            </a:r>
          </a:p>
          <a:p>
            <a:pPr lvl="1"/>
            <a:r>
              <a:rPr lang="fr-FR" dirty="0"/>
              <a:t>Une UE est associée à un emploi du temps, c’est-à-dire une liste de séances (CM, TD, TP) affectée à un horaire dans la semaine (jour, heure de début, heure de fin)</a:t>
            </a:r>
          </a:p>
          <a:p>
            <a:pPr lvl="1"/>
            <a:r>
              <a:rPr lang="fr-FR" dirty="0"/>
              <a:t>Un étudiant est caractérisé par son nom, son prénom, sa date de naissance, son département et éventuellement sa filière</a:t>
            </a:r>
          </a:p>
          <a:p>
            <a:pPr lvl="1"/>
            <a:r>
              <a:rPr lang="fr-FR" dirty="0"/>
              <a:t>Un étudiant peut s’inscrire à au plus 7 UE pour un semestre</a:t>
            </a:r>
          </a:p>
        </p:txBody>
      </p:sp>
      <p:sp>
        <p:nvSpPr>
          <p:cNvPr id="4" name="Espace réservé du numéro de diapositive 3">
            <a:extLst>
              <a:ext uri="{FF2B5EF4-FFF2-40B4-BE49-F238E27FC236}">
                <a16:creationId xmlns:a16="http://schemas.microsoft.com/office/drawing/2014/main" id="{95DA1D3B-767E-410D-859F-ABD0AE97568F}"/>
              </a:ext>
            </a:extLst>
          </p:cNvPr>
          <p:cNvSpPr>
            <a:spLocks noGrp="1"/>
          </p:cNvSpPr>
          <p:nvPr>
            <p:ph type="sldNum" sz="quarter" idx="12"/>
          </p:nvPr>
        </p:nvSpPr>
        <p:spPr/>
        <p:txBody>
          <a:bodyPr/>
          <a:lstStyle/>
          <a:p>
            <a:fld id="{27C6CCC6-2BE5-4E42-96A4-D1E8E81A3D8E}" type="slidenum">
              <a:rPr lang="de-DE" smtClean="0"/>
              <a:t>230</a:t>
            </a:fld>
            <a:endParaRPr lang="de-DE"/>
          </a:p>
        </p:txBody>
      </p:sp>
    </p:spTree>
    <p:extLst>
      <p:ext uri="{BB962C8B-B14F-4D97-AF65-F5344CB8AC3E}">
        <p14:creationId xmlns:p14="http://schemas.microsoft.com/office/powerpoint/2010/main" val="3876010119"/>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94ADFC-3096-42E5-AE3F-CA1BB399F8BA}"/>
              </a:ext>
            </a:extLst>
          </p:cNvPr>
          <p:cNvSpPr>
            <a:spLocks noGrp="1"/>
          </p:cNvSpPr>
          <p:nvPr>
            <p:ph type="title"/>
          </p:nvPr>
        </p:nvSpPr>
        <p:spPr/>
        <p:txBody>
          <a:bodyPr/>
          <a:lstStyle/>
          <a:p>
            <a:r>
              <a:rPr lang="fr-FR" dirty="0"/>
              <a:t>Méthodologies de conception d’une BDD</a:t>
            </a:r>
          </a:p>
        </p:txBody>
      </p:sp>
      <p:sp>
        <p:nvSpPr>
          <p:cNvPr id="3" name="Espace réservé du contenu 2">
            <a:extLst>
              <a:ext uri="{FF2B5EF4-FFF2-40B4-BE49-F238E27FC236}">
                <a16:creationId xmlns:a16="http://schemas.microsoft.com/office/drawing/2014/main" id="{0524614B-5656-4145-BE5E-38884CDAD5FB}"/>
              </a:ext>
            </a:extLst>
          </p:cNvPr>
          <p:cNvSpPr>
            <a:spLocks noGrp="1"/>
          </p:cNvSpPr>
          <p:nvPr>
            <p:ph idx="1"/>
          </p:nvPr>
        </p:nvSpPr>
        <p:spPr/>
        <p:txBody>
          <a:bodyPr>
            <a:normAutofit fontScale="62500" lnSpcReduction="20000"/>
          </a:bodyPr>
          <a:lstStyle/>
          <a:p>
            <a:r>
              <a:rPr lang="fr-FR" dirty="0"/>
              <a:t>Fonctionnalités attendues à l’inscription :</a:t>
            </a:r>
          </a:p>
          <a:p>
            <a:pPr lvl="1"/>
            <a:r>
              <a:rPr lang="fr-FR" dirty="0"/>
              <a:t>L’étudiant doit pouvoir s’inscrire à ses </a:t>
            </a:r>
            <a:r>
              <a:rPr lang="fr-FR" dirty="0" err="1"/>
              <a:t>UVs</a:t>
            </a:r>
            <a:r>
              <a:rPr lang="fr-FR" dirty="0"/>
              <a:t> : l'étudiant saisit le nom de l’UV à laquelle il veut s’inscrire, puis son choix est vérifié</a:t>
            </a:r>
          </a:p>
          <a:p>
            <a:pPr lvl="1"/>
            <a:r>
              <a:rPr lang="fr-FR" dirty="0"/>
              <a:t>Un étudiant peut également modifier un choix préalablement saisi (échanger une UV contre une autre) ou supprimer une UV</a:t>
            </a:r>
          </a:p>
          <a:p>
            <a:pPr lvl="1"/>
            <a:r>
              <a:rPr lang="fr-FR" dirty="0"/>
              <a:t>Un étudiant peut s'inscrire à n’importe quelle UV de son département ou n’importe quelle EC/CG</a:t>
            </a:r>
          </a:p>
          <a:p>
            <a:pPr lvl="1"/>
            <a:r>
              <a:rPr lang="fr-FR" dirty="0"/>
              <a:t>Si le nombre de places d’une UV est épuisé pour le semestre en cours, l’étudiant ne peut plus s’inscrire</a:t>
            </a:r>
          </a:p>
          <a:p>
            <a:pPr lvl="1"/>
            <a:r>
              <a:rPr lang="fr-FR" dirty="0"/>
              <a:t>S’il y a conflit d’emploi du temps, un étudiant ne peut pas s’inscrire à une UV </a:t>
            </a:r>
          </a:p>
          <a:p>
            <a:pPr lvl="1"/>
            <a:r>
              <a:rPr lang="fr-FR" dirty="0"/>
              <a:t>À tout moment, l’étudiant peut choisir de consulter la liste des </a:t>
            </a:r>
            <a:r>
              <a:rPr lang="fr-FR" dirty="0" err="1"/>
              <a:t>UVs</a:t>
            </a:r>
            <a:r>
              <a:rPr lang="fr-FR" dirty="0"/>
              <a:t> auxquelles il peut s’inscrire (compte tenu des places disponibles, et des contraintes avec son emploi du temps actuel). Il peut alors directement sélectionner une UV pour l’ajouter.</a:t>
            </a:r>
          </a:p>
          <a:p>
            <a:r>
              <a:rPr lang="fr-FR" dirty="0"/>
              <a:t>Fonctionnalités attendues après l’inscription :</a:t>
            </a:r>
          </a:p>
          <a:p>
            <a:pPr lvl="1"/>
            <a:r>
              <a:rPr lang="fr-FR" dirty="0"/>
              <a:t>Fournir l’emploi du temps de l’étudiant pour un semestre</a:t>
            </a:r>
          </a:p>
          <a:p>
            <a:pPr lvl="1"/>
            <a:r>
              <a:rPr lang="fr-FR" dirty="0"/>
              <a:t>Afficher l’ensemble des UV suivies par un étudiant au cours de son cursus</a:t>
            </a:r>
          </a:p>
          <a:p>
            <a:pPr lvl="1"/>
            <a:r>
              <a:rPr lang="fr-FR" dirty="0"/>
              <a:t>Afficher le taux de remplissage pour chaque UV</a:t>
            </a:r>
          </a:p>
        </p:txBody>
      </p:sp>
      <p:sp>
        <p:nvSpPr>
          <p:cNvPr id="4" name="Espace réservé du numéro de diapositive 3">
            <a:extLst>
              <a:ext uri="{FF2B5EF4-FFF2-40B4-BE49-F238E27FC236}">
                <a16:creationId xmlns:a16="http://schemas.microsoft.com/office/drawing/2014/main" id="{57772830-DEFC-4936-BA50-253023B99A06}"/>
              </a:ext>
            </a:extLst>
          </p:cNvPr>
          <p:cNvSpPr>
            <a:spLocks noGrp="1"/>
          </p:cNvSpPr>
          <p:nvPr>
            <p:ph type="sldNum" sz="quarter" idx="12"/>
          </p:nvPr>
        </p:nvSpPr>
        <p:spPr/>
        <p:txBody>
          <a:bodyPr/>
          <a:lstStyle/>
          <a:p>
            <a:fld id="{27C6CCC6-2BE5-4E42-96A4-D1E8E81A3D8E}" type="slidenum">
              <a:rPr lang="de-DE" smtClean="0"/>
              <a:t>231</a:t>
            </a:fld>
            <a:endParaRPr lang="de-DE"/>
          </a:p>
        </p:txBody>
      </p:sp>
    </p:spTree>
    <p:extLst>
      <p:ext uri="{BB962C8B-B14F-4D97-AF65-F5344CB8AC3E}">
        <p14:creationId xmlns:p14="http://schemas.microsoft.com/office/powerpoint/2010/main" val="2677968288"/>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F1A98-3E7C-C411-A670-E5962A38102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CEFD8D5-AF02-52F7-2563-24F8F9EDC10E}"/>
              </a:ext>
            </a:extLst>
          </p:cNvPr>
          <p:cNvSpPr>
            <a:spLocks noGrp="1"/>
          </p:cNvSpPr>
          <p:nvPr>
            <p:ph type="title"/>
          </p:nvPr>
        </p:nvSpPr>
        <p:spPr/>
        <p:txBody>
          <a:bodyPr/>
          <a:lstStyle/>
          <a:p>
            <a:r>
              <a:rPr lang="fr-FR" dirty="0"/>
              <a:t>Méthodologies de conception d’une BDD</a:t>
            </a:r>
          </a:p>
        </p:txBody>
      </p:sp>
      <p:sp>
        <p:nvSpPr>
          <p:cNvPr id="3" name="Espace réservé du contenu 2">
            <a:extLst>
              <a:ext uri="{FF2B5EF4-FFF2-40B4-BE49-F238E27FC236}">
                <a16:creationId xmlns:a16="http://schemas.microsoft.com/office/drawing/2014/main" id="{FC5D7811-B630-81BC-E001-267158147F8D}"/>
              </a:ext>
            </a:extLst>
          </p:cNvPr>
          <p:cNvSpPr>
            <a:spLocks noGrp="1"/>
          </p:cNvSpPr>
          <p:nvPr>
            <p:ph idx="1"/>
          </p:nvPr>
        </p:nvSpPr>
        <p:spPr/>
        <p:txBody>
          <a:bodyPr>
            <a:normAutofit lnSpcReduction="10000"/>
          </a:bodyPr>
          <a:lstStyle/>
          <a:p>
            <a:r>
              <a:rPr lang="fr-FR" dirty="0"/>
              <a:t>Rappel du principe des </a:t>
            </a:r>
            <a:r>
              <a:rPr lang="fr-FR" dirty="0" err="1"/>
              <a:t>UEs</a:t>
            </a:r>
            <a:r>
              <a:rPr lang="fr-FR" dirty="0"/>
              <a:t> :</a:t>
            </a:r>
          </a:p>
          <a:p>
            <a:pPr lvl="1"/>
            <a:r>
              <a:rPr lang="fr-FR" dirty="0"/>
              <a:t>L’UTBM propose aux </a:t>
            </a:r>
            <a:r>
              <a:rPr lang="fr-FR" dirty="0">
                <a:highlight>
                  <a:srgbClr val="00FF00"/>
                </a:highlight>
              </a:rPr>
              <a:t>étudiant</a:t>
            </a:r>
            <a:r>
              <a:rPr lang="fr-FR" dirty="0"/>
              <a:t> de s'</a:t>
            </a:r>
            <a:r>
              <a:rPr lang="fr-FR" dirty="0">
                <a:highlight>
                  <a:srgbClr val="FFFF00"/>
                </a:highlight>
              </a:rPr>
              <a:t>inscrire</a:t>
            </a:r>
            <a:r>
              <a:rPr lang="fr-FR" dirty="0"/>
              <a:t> aux </a:t>
            </a:r>
            <a:r>
              <a:rPr lang="fr-FR" dirty="0">
                <a:highlight>
                  <a:srgbClr val="00FF00"/>
                </a:highlight>
              </a:rPr>
              <a:t>UE</a:t>
            </a:r>
          </a:p>
          <a:p>
            <a:pPr lvl="1"/>
            <a:r>
              <a:rPr lang="fr-FR" dirty="0"/>
              <a:t>Chaque UE est identifiée par un </a:t>
            </a:r>
            <a:r>
              <a:rPr lang="fr-FR" dirty="0">
                <a:highlight>
                  <a:srgbClr val="00FFFF"/>
                </a:highlight>
              </a:rPr>
              <a:t>code</a:t>
            </a:r>
            <a:r>
              <a:rPr lang="fr-FR" dirty="0"/>
              <a:t>, un </a:t>
            </a:r>
            <a:r>
              <a:rPr lang="fr-FR" dirty="0">
                <a:highlight>
                  <a:srgbClr val="00FFFF"/>
                </a:highlight>
              </a:rPr>
              <a:t>titre</a:t>
            </a:r>
            <a:r>
              <a:rPr lang="fr-FR" dirty="0"/>
              <a:t>, une </a:t>
            </a:r>
            <a:r>
              <a:rPr lang="fr-FR" dirty="0">
                <a:highlight>
                  <a:srgbClr val="00FFFF"/>
                </a:highlight>
              </a:rPr>
              <a:t>description</a:t>
            </a:r>
            <a:r>
              <a:rPr lang="fr-FR" dirty="0"/>
              <a:t>, un </a:t>
            </a:r>
            <a:r>
              <a:rPr lang="fr-FR" dirty="0">
                <a:highlight>
                  <a:srgbClr val="00FFFF"/>
                </a:highlight>
              </a:rPr>
              <a:t>nombre de crédits ECTS</a:t>
            </a:r>
            <a:r>
              <a:rPr lang="fr-FR" dirty="0"/>
              <a:t>, son </a:t>
            </a:r>
            <a:r>
              <a:rPr lang="fr-FR" dirty="0">
                <a:highlight>
                  <a:srgbClr val="00FFFF"/>
                </a:highlight>
              </a:rPr>
              <a:t>semestre d’ouverture</a:t>
            </a:r>
            <a:r>
              <a:rPr lang="fr-FR" dirty="0"/>
              <a:t>, un </a:t>
            </a:r>
            <a:r>
              <a:rPr lang="fr-FR" dirty="0">
                <a:highlight>
                  <a:srgbClr val="00FFFF"/>
                </a:highlight>
              </a:rPr>
              <a:t>nombre de places disponibles</a:t>
            </a:r>
            <a:r>
              <a:rPr lang="fr-FR" dirty="0"/>
              <a:t>, son </a:t>
            </a:r>
            <a:r>
              <a:rPr lang="fr-FR" dirty="0">
                <a:highlight>
                  <a:srgbClr val="00FFFF"/>
                </a:highlight>
              </a:rPr>
              <a:t>type</a:t>
            </a:r>
            <a:r>
              <a:rPr lang="fr-FR" dirty="0"/>
              <a:t> (CS, TM, EC, CG), </a:t>
            </a:r>
            <a:r>
              <a:rPr lang="fr-FR" dirty="0">
                <a:highlight>
                  <a:srgbClr val="FFFF00"/>
                </a:highlight>
              </a:rPr>
              <a:t>son</a:t>
            </a:r>
            <a:r>
              <a:rPr lang="fr-FR" dirty="0"/>
              <a:t> </a:t>
            </a:r>
            <a:r>
              <a:rPr lang="fr-FR" dirty="0">
                <a:highlight>
                  <a:srgbClr val="00FF00"/>
                </a:highlight>
              </a:rPr>
              <a:t>département</a:t>
            </a:r>
            <a:r>
              <a:rPr lang="fr-FR" dirty="0"/>
              <a:t> (TC, INFO, ENERGIE, etc.) </a:t>
            </a:r>
          </a:p>
          <a:p>
            <a:pPr lvl="1"/>
            <a:r>
              <a:rPr lang="fr-FR" dirty="0"/>
              <a:t>Une UE est </a:t>
            </a:r>
            <a:r>
              <a:rPr lang="fr-FR" dirty="0">
                <a:highlight>
                  <a:srgbClr val="FFFF00"/>
                </a:highlight>
              </a:rPr>
              <a:t>associée</a:t>
            </a:r>
            <a:r>
              <a:rPr lang="fr-FR" dirty="0"/>
              <a:t> à un emploi du temps, c’est-à-dire une liste de </a:t>
            </a:r>
            <a:r>
              <a:rPr lang="fr-FR" dirty="0">
                <a:highlight>
                  <a:srgbClr val="00FF00"/>
                </a:highlight>
              </a:rPr>
              <a:t>séances</a:t>
            </a:r>
            <a:r>
              <a:rPr lang="fr-FR" dirty="0"/>
              <a:t> (</a:t>
            </a:r>
            <a:r>
              <a:rPr lang="fr-FR" dirty="0">
                <a:highlight>
                  <a:srgbClr val="00FFFF"/>
                </a:highlight>
              </a:rPr>
              <a:t>CM, TD, TP</a:t>
            </a:r>
            <a:r>
              <a:rPr lang="fr-FR" dirty="0"/>
              <a:t>) affectée à un horaire dans la semaine (</a:t>
            </a:r>
            <a:r>
              <a:rPr lang="fr-FR" dirty="0">
                <a:highlight>
                  <a:srgbClr val="00FFFF"/>
                </a:highlight>
              </a:rPr>
              <a:t>jour</a:t>
            </a:r>
            <a:r>
              <a:rPr lang="fr-FR" dirty="0"/>
              <a:t>, </a:t>
            </a:r>
            <a:r>
              <a:rPr lang="fr-FR" dirty="0">
                <a:highlight>
                  <a:srgbClr val="00FFFF"/>
                </a:highlight>
              </a:rPr>
              <a:t>heure de début</a:t>
            </a:r>
            <a:r>
              <a:rPr lang="fr-FR" dirty="0"/>
              <a:t>, </a:t>
            </a:r>
            <a:r>
              <a:rPr lang="fr-FR" dirty="0">
                <a:highlight>
                  <a:srgbClr val="00FFFF"/>
                </a:highlight>
              </a:rPr>
              <a:t>heure de fin</a:t>
            </a:r>
            <a:r>
              <a:rPr lang="fr-FR" dirty="0"/>
              <a:t>)</a:t>
            </a:r>
          </a:p>
          <a:p>
            <a:pPr lvl="1"/>
            <a:r>
              <a:rPr lang="fr-FR" dirty="0"/>
              <a:t>Un étudiant est caractérisé par son nom, son </a:t>
            </a:r>
            <a:r>
              <a:rPr lang="fr-FR" dirty="0">
                <a:highlight>
                  <a:srgbClr val="00FFFF"/>
                </a:highlight>
              </a:rPr>
              <a:t>prénom</a:t>
            </a:r>
            <a:r>
              <a:rPr lang="fr-FR" dirty="0"/>
              <a:t>, sa </a:t>
            </a:r>
            <a:r>
              <a:rPr lang="fr-FR" dirty="0">
                <a:highlight>
                  <a:srgbClr val="00FFFF"/>
                </a:highlight>
              </a:rPr>
              <a:t>date de naissance</a:t>
            </a:r>
            <a:r>
              <a:rPr lang="fr-FR" dirty="0"/>
              <a:t>, </a:t>
            </a:r>
            <a:r>
              <a:rPr lang="fr-FR" dirty="0">
                <a:highlight>
                  <a:srgbClr val="FFFF00"/>
                </a:highlight>
              </a:rPr>
              <a:t>son</a:t>
            </a:r>
            <a:r>
              <a:rPr lang="fr-FR" dirty="0"/>
              <a:t> département et éventuellement sa </a:t>
            </a:r>
            <a:r>
              <a:rPr lang="fr-FR" dirty="0">
                <a:highlight>
                  <a:srgbClr val="00FFFF"/>
                </a:highlight>
              </a:rPr>
              <a:t>filière</a:t>
            </a:r>
          </a:p>
          <a:p>
            <a:pPr lvl="1"/>
            <a:r>
              <a:rPr lang="fr-FR" dirty="0"/>
              <a:t>Un étudiant peut s’inscrire à au plus 7 UE pour un semestre</a:t>
            </a:r>
          </a:p>
        </p:txBody>
      </p:sp>
      <p:sp>
        <p:nvSpPr>
          <p:cNvPr id="4" name="Espace réservé du numéro de diapositive 3">
            <a:extLst>
              <a:ext uri="{FF2B5EF4-FFF2-40B4-BE49-F238E27FC236}">
                <a16:creationId xmlns:a16="http://schemas.microsoft.com/office/drawing/2014/main" id="{27E241EE-4DAC-76E6-A959-6708C72F75CD}"/>
              </a:ext>
            </a:extLst>
          </p:cNvPr>
          <p:cNvSpPr>
            <a:spLocks noGrp="1"/>
          </p:cNvSpPr>
          <p:nvPr>
            <p:ph type="sldNum" sz="quarter" idx="12"/>
          </p:nvPr>
        </p:nvSpPr>
        <p:spPr/>
        <p:txBody>
          <a:bodyPr/>
          <a:lstStyle/>
          <a:p>
            <a:fld id="{27C6CCC6-2BE5-4E42-96A4-D1E8E81A3D8E}" type="slidenum">
              <a:rPr lang="de-DE" smtClean="0"/>
              <a:t>232</a:t>
            </a:fld>
            <a:endParaRPr lang="de-DE"/>
          </a:p>
        </p:txBody>
      </p:sp>
    </p:spTree>
    <p:extLst>
      <p:ext uri="{BB962C8B-B14F-4D97-AF65-F5344CB8AC3E}">
        <p14:creationId xmlns:p14="http://schemas.microsoft.com/office/powerpoint/2010/main" val="2687708276"/>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9719AC-6BC5-4C46-9A30-D1EC45A3A24B}"/>
              </a:ext>
            </a:extLst>
          </p:cNvPr>
          <p:cNvSpPr>
            <a:spLocks noGrp="1"/>
          </p:cNvSpPr>
          <p:nvPr>
            <p:ph type="ctrTitle"/>
          </p:nvPr>
        </p:nvSpPr>
        <p:spPr/>
        <p:txBody>
          <a:bodyPr/>
          <a:lstStyle/>
          <a:p>
            <a:r>
              <a:rPr lang="fr-FR" dirty="0"/>
              <a:t>Administration des bases de données</a:t>
            </a:r>
          </a:p>
        </p:txBody>
      </p:sp>
      <p:sp>
        <p:nvSpPr>
          <p:cNvPr id="3" name="Sous-titre 2">
            <a:extLst>
              <a:ext uri="{FF2B5EF4-FFF2-40B4-BE49-F238E27FC236}">
                <a16:creationId xmlns:a16="http://schemas.microsoft.com/office/drawing/2014/main" id="{E4A75711-5F50-4AF2-AF43-D4E86C63E265}"/>
              </a:ext>
            </a:extLst>
          </p:cNvPr>
          <p:cNvSpPr>
            <a:spLocks noGrp="1"/>
          </p:cNvSpPr>
          <p:nvPr>
            <p:ph type="subTitle" idx="1"/>
          </p:nvPr>
        </p:nvSpPr>
        <p:spPr/>
        <p:txBody>
          <a:bodyPr/>
          <a:lstStyle/>
          <a:p>
            <a:r>
              <a:rPr lang="fr-FR" dirty="0"/>
              <a:t>Manipulation de bases, sécurité des accès, optimisation</a:t>
            </a:r>
          </a:p>
        </p:txBody>
      </p:sp>
    </p:spTree>
    <p:extLst>
      <p:ext uri="{BB962C8B-B14F-4D97-AF65-F5344CB8AC3E}">
        <p14:creationId xmlns:p14="http://schemas.microsoft.com/office/powerpoint/2010/main" val="243644480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582CC5-2FF4-49A8-863F-E8A55FD708E7}"/>
              </a:ext>
            </a:extLst>
          </p:cNvPr>
          <p:cNvSpPr>
            <a:spLocks noGrp="1"/>
          </p:cNvSpPr>
          <p:nvPr>
            <p:ph type="title"/>
          </p:nvPr>
        </p:nvSpPr>
        <p:spPr/>
        <p:txBody>
          <a:bodyPr/>
          <a:lstStyle/>
          <a:p>
            <a:r>
              <a:rPr lang="fr-FR" dirty="0"/>
              <a:t>Administration des bases de données</a:t>
            </a:r>
          </a:p>
        </p:txBody>
      </p:sp>
      <p:sp>
        <p:nvSpPr>
          <p:cNvPr id="3" name="Espace réservé du contenu 2">
            <a:extLst>
              <a:ext uri="{FF2B5EF4-FFF2-40B4-BE49-F238E27FC236}">
                <a16:creationId xmlns:a16="http://schemas.microsoft.com/office/drawing/2014/main" id="{72B4E00A-5509-4AB6-BA51-63C3425D25BF}"/>
              </a:ext>
            </a:extLst>
          </p:cNvPr>
          <p:cNvSpPr>
            <a:spLocks noGrp="1"/>
          </p:cNvSpPr>
          <p:nvPr>
            <p:ph idx="1"/>
          </p:nvPr>
        </p:nvSpPr>
        <p:spPr/>
        <p:txBody>
          <a:bodyPr>
            <a:normAutofit fontScale="92500" lnSpcReduction="10000"/>
          </a:bodyPr>
          <a:lstStyle/>
          <a:p>
            <a:r>
              <a:rPr lang="fr-FR" dirty="0"/>
              <a:t>Nous avons déjà vu comment créer, éditer et supprimer une base de données, mais l’administration d’une BDD inclus d’autres tâches :</a:t>
            </a:r>
          </a:p>
          <a:p>
            <a:pPr lvl="1"/>
            <a:r>
              <a:rPr lang="fr-FR" dirty="0"/>
              <a:t>Installation et déploiement du serveur de BDD</a:t>
            </a:r>
          </a:p>
          <a:p>
            <a:pPr lvl="1"/>
            <a:r>
              <a:rPr lang="fr-FR" dirty="0"/>
              <a:t>Gestion des utilisateurs et de la sécurité de la base</a:t>
            </a:r>
          </a:p>
          <a:p>
            <a:pPr lvl="1"/>
            <a:r>
              <a:rPr lang="fr-FR" dirty="0"/>
              <a:t>Assurer la sécurité des données (sauvegarde, redondance, etc.)</a:t>
            </a:r>
          </a:p>
          <a:p>
            <a:pPr lvl="1"/>
            <a:r>
              <a:rPr lang="fr-FR" dirty="0"/>
              <a:t>Garantir la disponibilité et les performances (équilibrage de charge, optimisation)</a:t>
            </a:r>
          </a:p>
          <a:p>
            <a:pPr lvl="1"/>
            <a:r>
              <a:rPr lang="fr-FR" dirty="0"/>
              <a:t>Monitorer l’état de la base de données, identifier et prévenir les pannes (journalisation)</a:t>
            </a:r>
          </a:p>
          <a:p>
            <a:r>
              <a:rPr lang="fr-FR" dirty="0"/>
              <a:t>L’administration est dépendante du SGBD qu’on utilise, nous verrons ici les règles générales à suivre ; nous verrons plus tard en pratique avec MySQL comment administrer concrètement une BDD</a:t>
            </a:r>
          </a:p>
        </p:txBody>
      </p:sp>
      <p:sp>
        <p:nvSpPr>
          <p:cNvPr id="4" name="Espace réservé du numéro de diapositive 3">
            <a:extLst>
              <a:ext uri="{FF2B5EF4-FFF2-40B4-BE49-F238E27FC236}">
                <a16:creationId xmlns:a16="http://schemas.microsoft.com/office/drawing/2014/main" id="{956C55FD-8ED8-47C9-9C8B-AD91AF864BFB}"/>
              </a:ext>
            </a:extLst>
          </p:cNvPr>
          <p:cNvSpPr>
            <a:spLocks noGrp="1"/>
          </p:cNvSpPr>
          <p:nvPr>
            <p:ph type="sldNum" sz="quarter" idx="12"/>
          </p:nvPr>
        </p:nvSpPr>
        <p:spPr/>
        <p:txBody>
          <a:bodyPr/>
          <a:lstStyle/>
          <a:p>
            <a:fld id="{27C6CCC6-2BE5-4E42-96A4-D1E8E81A3D8E}" type="slidenum">
              <a:rPr lang="de-DE" smtClean="0"/>
              <a:t>234</a:t>
            </a:fld>
            <a:endParaRPr lang="de-DE"/>
          </a:p>
        </p:txBody>
      </p:sp>
    </p:spTree>
    <p:extLst>
      <p:ext uri="{BB962C8B-B14F-4D97-AF65-F5344CB8AC3E}">
        <p14:creationId xmlns:p14="http://schemas.microsoft.com/office/powerpoint/2010/main" val="3560762947"/>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252A79-992A-40FF-BEEE-F4D200C8A497}"/>
              </a:ext>
            </a:extLst>
          </p:cNvPr>
          <p:cNvSpPr>
            <a:spLocks noGrp="1"/>
          </p:cNvSpPr>
          <p:nvPr>
            <p:ph type="title"/>
          </p:nvPr>
        </p:nvSpPr>
        <p:spPr/>
        <p:txBody>
          <a:bodyPr/>
          <a:lstStyle/>
          <a:p>
            <a:r>
              <a:rPr lang="fr-FR" dirty="0"/>
              <a:t>Administration des bases de données</a:t>
            </a:r>
          </a:p>
        </p:txBody>
      </p:sp>
      <p:sp>
        <p:nvSpPr>
          <p:cNvPr id="3" name="Espace réservé du contenu 2">
            <a:extLst>
              <a:ext uri="{FF2B5EF4-FFF2-40B4-BE49-F238E27FC236}">
                <a16:creationId xmlns:a16="http://schemas.microsoft.com/office/drawing/2014/main" id="{708C90B2-74EB-4F14-8781-309AEF2820F1}"/>
              </a:ext>
            </a:extLst>
          </p:cNvPr>
          <p:cNvSpPr>
            <a:spLocks noGrp="1"/>
          </p:cNvSpPr>
          <p:nvPr>
            <p:ph idx="1"/>
          </p:nvPr>
        </p:nvSpPr>
        <p:spPr/>
        <p:txBody>
          <a:bodyPr/>
          <a:lstStyle/>
          <a:p>
            <a:r>
              <a:rPr lang="fr-FR" dirty="0"/>
              <a:t>Sécurité des accès :</a:t>
            </a:r>
          </a:p>
          <a:p>
            <a:pPr lvl="1"/>
            <a:r>
              <a:rPr lang="fr-FR" dirty="0"/>
              <a:t>La plupart des SGBD proposent un système de gestion des utilisateurs et des rôles/privilèges</a:t>
            </a:r>
          </a:p>
          <a:p>
            <a:pPr lvl="1"/>
            <a:r>
              <a:rPr lang="fr-FR" dirty="0"/>
              <a:t>Dans ce cas la connexion à une BDD se fait en spécifiant un nom d’utilisateur et un mot de passe, seuls les utilisateurs autorisés peuvent se connecter à la base</a:t>
            </a:r>
          </a:p>
          <a:p>
            <a:pPr lvl="1"/>
            <a:r>
              <a:rPr lang="fr-FR" dirty="0"/>
              <a:t>Chaque utilisateur est associé à une liste de rôle ou privilèges décrivant de façon très précise les opérations que peut effectuer un utilisateur : on peut par exemple permettre la consultation, mais pas la mise à jour des données – ou bien permettre consultation et mise à jour mais pas de modifier la structure</a:t>
            </a:r>
          </a:p>
        </p:txBody>
      </p:sp>
      <p:sp>
        <p:nvSpPr>
          <p:cNvPr id="4" name="Espace réservé du numéro de diapositive 3">
            <a:extLst>
              <a:ext uri="{FF2B5EF4-FFF2-40B4-BE49-F238E27FC236}">
                <a16:creationId xmlns:a16="http://schemas.microsoft.com/office/drawing/2014/main" id="{C6A72A2F-9C94-4CF9-91AC-7DDACFA5F96D}"/>
              </a:ext>
            </a:extLst>
          </p:cNvPr>
          <p:cNvSpPr>
            <a:spLocks noGrp="1"/>
          </p:cNvSpPr>
          <p:nvPr>
            <p:ph type="sldNum" sz="quarter" idx="12"/>
          </p:nvPr>
        </p:nvSpPr>
        <p:spPr/>
        <p:txBody>
          <a:bodyPr/>
          <a:lstStyle/>
          <a:p>
            <a:fld id="{27C6CCC6-2BE5-4E42-96A4-D1E8E81A3D8E}" type="slidenum">
              <a:rPr lang="de-DE" smtClean="0"/>
              <a:t>235</a:t>
            </a:fld>
            <a:endParaRPr lang="de-DE"/>
          </a:p>
        </p:txBody>
      </p:sp>
    </p:spTree>
    <p:extLst>
      <p:ext uri="{BB962C8B-B14F-4D97-AF65-F5344CB8AC3E}">
        <p14:creationId xmlns:p14="http://schemas.microsoft.com/office/powerpoint/2010/main" val="3471938364"/>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252A79-992A-40FF-BEEE-F4D200C8A497}"/>
              </a:ext>
            </a:extLst>
          </p:cNvPr>
          <p:cNvSpPr>
            <a:spLocks noGrp="1"/>
          </p:cNvSpPr>
          <p:nvPr>
            <p:ph type="title"/>
          </p:nvPr>
        </p:nvSpPr>
        <p:spPr/>
        <p:txBody>
          <a:bodyPr/>
          <a:lstStyle/>
          <a:p>
            <a:r>
              <a:rPr lang="fr-FR" dirty="0"/>
              <a:t>Sécurité des accès</a:t>
            </a:r>
          </a:p>
        </p:txBody>
      </p:sp>
      <p:sp>
        <p:nvSpPr>
          <p:cNvPr id="3" name="Espace réservé du contenu 2">
            <a:extLst>
              <a:ext uri="{FF2B5EF4-FFF2-40B4-BE49-F238E27FC236}">
                <a16:creationId xmlns:a16="http://schemas.microsoft.com/office/drawing/2014/main" id="{708C90B2-74EB-4F14-8781-309AEF2820F1}"/>
              </a:ext>
            </a:extLst>
          </p:cNvPr>
          <p:cNvSpPr>
            <a:spLocks noGrp="1"/>
          </p:cNvSpPr>
          <p:nvPr>
            <p:ph idx="1"/>
          </p:nvPr>
        </p:nvSpPr>
        <p:spPr/>
        <p:txBody>
          <a:bodyPr/>
          <a:lstStyle/>
          <a:p>
            <a:r>
              <a:rPr lang="fr-FR" dirty="0"/>
              <a:t>Sécurité des accès :</a:t>
            </a:r>
          </a:p>
          <a:p>
            <a:pPr lvl="1"/>
            <a:r>
              <a:rPr lang="fr-FR" dirty="0"/>
              <a:t>La plupart des SGBD proposent un système de gestion des utilisateurs et des rôles/privilèges</a:t>
            </a:r>
          </a:p>
          <a:p>
            <a:pPr lvl="1"/>
            <a:r>
              <a:rPr lang="fr-FR" dirty="0"/>
              <a:t>Dans ce cas la connexion à une BDD se fait en spécifiant un nom d’utilisateur et un mot de passe, seuls les utilisateurs autorisés peuvent se connecter à la base</a:t>
            </a:r>
          </a:p>
          <a:p>
            <a:pPr lvl="1"/>
            <a:r>
              <a:rPr lang="fr-FR" dirty="0"/>
              <a:t>Chaque utilisateur est associé à une liste de rôle ou privilèges décrivant de façon très précise les opérations que peut effectuer un utilisateur : on peut par exemple permettre la consultation, mais pas la mise à jour des données – ou bien permettre consultation et mise à jour mais pas de modifier la structure</a:t>
            </a:r>
          </a:p>
        </p:txBody>
      </p:sp>
      <p:sp>
        <p:nvSpPr>
          <p:cNvPr id="4" name="Espace réservé du numéro de diapositive 3">
            <a:extLst>
              <a:ext uri="{FF2B5EF4-FFF2-40B4-BE49-F238E27FC236}">
                <a16:creationId xmlns:a16="http://schemas.microsoft.com/office/drawing/2014/main" id="{C6A72A2F-9C94-4CF9-91AC-7DDACFA5F96D}"/>
              </a:ext>
            </a:extLst>
          </p:cNvPr>
          <p:cNvSpPr>
            <a:spLocks noGrp="1"/>
          </p:cNvSpPr>
          <p:nvPr>
            <p:ph type="sldNum" sz="quarter" idx="12"/>
          </p:nvPr>
        </p:nvSpPr>
        <p:spPr/>
        <p:txBody>
          <a:bodyPr/>
          <a:lstStyle/>
          <a:p>
            <a:fld id="{27C6CCC6-2BE5-4E42-96A4-D1E8E81A3D8E}" type="slidenum">
              <a:rPr lang="de-DE" smtClean="0"/>
              <a:t>236</a:t>
            </a:fld>
            <a:endParaRPr lang="de-DE"/>
          </a:p>
        </p:txBody>
      </p:sp>
    </p:spTree>
    <p:extLst>
      <p:ext uri="{BB962C8B-B14F-4D97-AF65-F5344CB8AC3E}">
        <p14:creationId xmlns:p14="http://schemas.microsoft.com/office/powerpoint/2010/main" val="2490801203"/>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B4397A-554A-4BC9-979A-1FB0BEA273CF}"/>
              </a:ext>
            </a:extLst>
          </p:cNvPr>
          <p:cNvSpPr>
            <a:spLocks noGrp="1"/>
          </p:cNvSpPr>
          <p:nvPr>
            <p:ph type="title"/>
          </p:nvPr>
        </p:nvSpPr>
        <p:spPr/>
        <p:txBody>
          <a:bodyPr/>
          <a:lstStyle/>
          <a:p>
            <a:r>
              <a:rPr lang="fr-FR" dirty="0"/>
              <a:t>Configuration des privilèges dans MySQL</a:t>
            </a:r>
          </a:p>
        </p:txBody>
      </p:sp>
      <p:pic>
        <p:nvPicPr>
          <p:cNvPr id="5" name="Espace réservé du contenu 4">
            <a:extLst>
              <a:ext uri="{FF2B5EF4-FFF2-40B4-BE49-F238E27FC236}">
                <a16:creationId xmlns:a16="http://schemas.microsoft.com/office/drawing/2014/main" id="{DB474E2D-A71F-4C72-AECC-222E9C09AC33}"/>
              </a:ext>
            </a:extLst>
          </p:cNvPr>
          <p:cNvPicPr>
            <a:picLocks noGrp="1" noChangeAspect="1"/>
          </p:cNvPicPr>
          <p:nvPr>
            <p:ph idx="1"/>
          </p:nvPr>
        </p:nvPicPr>
        <p:blipFill>
          <a:blip r:embed="rId2"/>
          <a:stretch>
            <a:fillRect/>
          </a:stretch>
        </p:blipFill>
        <p:spPr>
          <a:xfrm>
            <a:off x="2177635" y="2603500"/>
            <a:ext cx="6717542" cy="3416300"/>
          </a:xfrm>
          <a:prstGeom prst="rect">
            <a:avLst/>
          </a:prstGeom>
        </p:spPr>
      </p:pic>
      <p:sp>
        <p:nvSpPr>
          <p:cNvPr id="4" name="Espace réservé du numéro de diapositive 3">
            <a:extLst>
              <a:ext uri="{FF2B5EF4-FFF2-40B4-BE49-F238E27FC236}">
                <a16:creationId xmlns:a16="http://schemas.microsoft.com/office/drawing/2014/main" id="{9BF9075C-3EE3-4C7F-A8E3-DF4637DA86CA}"/>
              </a:ext>
            </a:extLst>
          </p:cNvPr>
          <p:cNvSpPr>
            <a:spLocks noGrp="1"/>
          </p:cNvSpPr>
          <p:nvPr>
            <p:ph type="sldNum" sz="quarter" idx="12"/>
          </p:nvPr>
        </p:nvSpPr>
        <p:spPr/>
        <p:txBody>
          <a:bodyPr/>
          <a:lstStyle/>
          <a:p>
            <a:fld id="{27C6CCC6-2BE5-4E42-96A4-D1E8E81A3D8E}" type="slidenum">
              <a:rPr lang="de-DE" smtClean="0"/>
              <a:t>237</a:t>
            </a:fld>
            <a:endParaRPr lang="de-DE"/>
          </a:p>
        </p:txBody>
      </p:sp>
    </p:spTree>
    <p:extLst>
      <p:ext uri="{BB962C8B-B14F-4D97-AF65-F5344CB8AC3E}">
        <p14:creationId xmlns:p14="http://schemas.microsoft.com/office/powerpoint/2010/main" val="459419911"/>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0CB69-6B0A-4E1E-8E35-052A5C8EBA88}"/>
              </a:ext>
            </a:extLst>
          </p:cNvPr>
          <p:cNvSpPr>
            <a:spLocks noGrp="1"/>
          </p:cNvSpPr>
          <p:nvPr>
            <p:ph type="title"/>
          </p:nvPr>
        </p:nvSpPr>
        <p:spPr/>
        <p:txBody>
          <a:bodyPr/>
          <a:lstStyle/>
          <a:p>
            <a:r>
              <a:rPr lang="fr-FR" dirty="0"/>
              <a:t>Sécurité des accès</a:t>
            </a:r>
          </a:p>
        </p:txBody>
      </p:sp>
      <p:sp>
        <p:nvSpPr>
          <p:cNvPr id="3" name="Espace réservé du contenu 2">
            <a:extLst>
              <a:ext uri="{FF2B5EF4-FFF2-40B4-BE49-F238E27FC236}">
                <a16:creationId xmlns:a16="http://schemas.microsoft.com/office/drawing/2014/main" id="{A1BCFC58-082B-4967-AFC2-5CF78E27691B}"/>
              </a:ext>
            </a:extLst>
          </p:cNvPr>
          <p:cNvSpPr>
            <a:spLocks noGrp="1"/>
          </p:cNvSpPr>
          <p:nvPr>
            <p:ph idx="1"/>
          </p:nvPr>
        </p:nvSpPr>
        <p:spPr/>
        <p:txBody>
          <a:bodyPr/>
          <a:lstStyle/>
          <a:p>
            <a:r>
              <a:rPr lang="fr-FR" dirty="0"/>
              <a:t>Les SGBD permettent aussi d’empêcher la connexion en fonction de l’IP source de la connexion</a:t>
            </a:r>
          </a:p>
          <a:p>
            <a:r>
              <a:rPr lang="fr-FR" dirty="0"/>
              <a:t>Il est commun de ne permettre que les connexions provenant de localhost ou bien d’une liste prédéfinie d’IP (politique </a:t>
            </a:r>
            <a:r>
              <a:rPr lang="fr-FR" i="1" dirty="0"/>
              <a:t>white </a:t>
            </a:r>
            <a:r>
              <a:rPr lang="fr-FR" i="1" dirty="0" err="1"/>
              <a:t>list</a:t>
            </a:r>
            <a:r>
              <a:rPr lang="fr-FR" dirty="0"/>
              <a:t>), cela permet de mieux contrôler les habilitations</a:t>
            </a:r>
          </a:p>
        </p:txBody>
      </p:sp>
      <p:sp>
        <p:nvSpPr>
          <p:cNvPr id="4" name="Espace réservé du numéro de diapositive 3">
            <a:extLst>
              <a:ext uri="{FF2B5EF4-FFF2-40B4-BE49-F238E27FC236}">
                <a16:creationId xmlns:a16="http://schemas.microsoft.com/office/drawing/2014/main" id="{6211A8C3-E011-40AD-8E6D-2E010F1DA410}"/>
              </a:ext>
            </a:extLst>
          </p:cNvPr>
          <p:cNvSpPr>
            <a:spLocks noGrp="1"/>
          </p:cNvSpPr>
          <p:nvPr>
            <p:ph type="sldNum" sz="quarter" idx="12"/>
          </p:nvPr>
        </p:nvSpPr>
        <p:spPr/>
        <p:txBody>
          <a:bodyPr/>
          <a:lstStyle/>
          <a:p>
            <a:fld id="{27C6CCC6-2BE5-4E42-96A4-D1E8E81A3D8E}" type="slidenum">
              <a:rPr lang="de-DE" smtClean="0"/>
              <a:t>238</a:t>
            </a:fld>
            <a:endParaRPr lang="de-DE"/>
          </a:p>
        </p:txBody>
      </p:sp>
    </p:spTree>
    <p:extLst>
      <p:ext uri="{BB962C8B-B14F-4D97-AF65-F5344CB8AC3E}">
        <p14:creationId xmlns:p14="http://schemas.microsoft.com/office/powerpoint/2010/main" val="583480448"/>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0CB69-6B0A-4E1E-8E35-052A5C8EBA88}"/>
              </a:ext>
            </a:extLst>
          </p:cNvPr>
          <p:cNvSpPr>
            <a:spLocks noGrp="1"/>
          </p:cNvSpPr>
          <p:nvPr>
            <p:ph type="title"/>
          </p:nvPr>
        </p:nvSpPr>
        <p:spPr/>
        <p:txBody>
          <a:bodyPr/>
          <a:lstStyle/>
          <a:p>
            <a:r>
              <a:rPr lang="fr-FR" dirty="0"/>
              <a:t>Sécurité des accès</a:t>
            </a:r>
          </a:p>
        </p:txBody>
      </p:sp>
      <p:sp>
        <p:nvSpPr>
          <p:cNvPr id="3" name="Espace réservé du contenu 2">
            <a:extLst>
              <a:ext uri="{FF2B5EF4-FFF2-40B4-BE49-F238E27FC236}">
                <a16:creationId xmlns:a16="http://schemas.microsoft.com/office/drawing/2014/main" id="{A1BCFC58-082B-4967-AFC2-5CF78E27691B}"/>
              </a:ext>
            </a:extLst>
          </p:cNvPr>
          <p:cNvSpPr>
            <a:spLocks noGrp="1"/>
          </p:cNvSpPr>
          <p:nvPr>
            <p:ph idx="1"/>
          </p:nvPr>
        </p:nvSpPr>
        <p:spPr/>
        <p:txBody>
          <a:bodyPr>
            <a:normAutofit fontScale="92500" lnSpcReduction="20000"/>
          </a:bodyPr>
          <a:lstStyle/>
          <a:p>
            <a:r>
              <a:rPr lang="fr-FR" dirty="0"/>
              <a:t>Une base de données contient généralement des informations personnelles et sensibles (notamment le nom des utilisateurs, leurs emails, leurs adresses personnelles, etc.)</a:t>
            </a:r>
          </a:p>
          <a:p>
            <a:r>
              <a:rPr lang="fr-FR" dirty="0"/>
              <a:t>La sécurisation des accès à la base est critique : choisissez toujours la politique la plus stricte possible mais suffisante pour permettre de manipuler la base</a:t>
            </a:r>
          </a:p>
          <a:p>
            <a:r>
              <a:rPr lang="fr-FR" dirty="0"/>
              <a:t>De manière générale :</a:t>
            </a:r>
          </a:p>
          <a:p>
            <a:pPr lvl="1"/>
            <a:r>
              <a:rPr lang="fr-FR" dirty="0"/>
              <a:t>Seul l’administrateur de la base doit pouvoir en modifier la structure</a:t>
            </a:r>
          </a:p>
          <a:p>
            <a:pPr lvl="1"/>
            <a:r>
              <a:rPr lang="fr-FR" dirty="0"/>
              <a:t>L’application qui se connecte à la base doit être autorisée sur la base de son IP, elle possède un nom d’utilisateur propre avec un mot de passe qu’elle est la seule à connaître (</a:t>
            </a:r>
            <a:r>
              <a:rPr lang="fr-FR" b="1" dirty="0"/>
              <a:t>jamais de transmission du mot de passe de la BDD sur le réseau</a:t>
            </a:r>
            <a:r>
              <a:rPr lang="fr-FR" dirty="0"/>
              <a:t>), elle doit avoir le droit de consulter et modifier les données des bases nécessaires à son fonctionnement (et uniquement de ces bases)</a:t>
            </a:r>
          </a:p>
          <a:p>
            <a:pPr lvl="1"/>
            <a:r>
              <a:rPr lang="fr-FR" dirty="0"/>
              <a:t>Tous les autres accès à la base sont interdits</a:t>
            </a:r>
          </a:p>
        </p:txBody>
      </p:sp>
      <p:sp>
        <p:nvSpPr>
          <p:cNvPr id="4" name="Espace réservé du numéro de diapositive 3">
            <a:extLst>
              <a:ext uri="{FF2B5EF4-FFF2-40B4-BE49-F238E27FC236}">
                <a16:creationId xmlns:a16="http://schemas.microsoft.com/office/drawing/2014/main" id="{6211A8C3-E011-40AD-8E6D-2E010F1DA410}"/>
              </a:ext>
            </a:extLst>
          </p:cNvPr>
          <p:cNvSpPr>
            <a:spLocks noGrp="1"/>
          </p:cNvSpPr>
          <p:nvPr>
            <p:ph type="sldNum" sz="quarter" idx="12"/>
          </p:nvPr>
        </p:nvSpPr>
        <p:spPr/>
        <p:txBody>
          <a:bodyPr/>
          <a:lstStyle/>
          <a:p>
            <a:fld id="{27C6CCC6-2BE5-4E42-96A4-D1E8E81A3D8E}" type="slidenum">
              <a:rPr lang="de-DE" smtClean="0"/>
              <a:t>239</a:t>
            </a:fld>
            <a:endParaRPr lang="de-DE"/>
          </a:p>
        </p:txBody>
      </p:sp>
    </p:spTree>
    <p:extLst>
      <p:ext uri="{BB962C8B-B14F-4D97-AF65-F5344CB8AC3E}">
        <p14:creationId xmlns:p14="http://schemas.microsoft.com/office/powerpoint/2010/main" val="2976609035"/>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0CB69-6B0A-4E1E-8E35-052A5C8EBA88}"/>
              </a:ext>
            </a:extLst>
          </p:cNvPr>
          <p:cNvSpPr>
            <a:spLocks noGrp="1"/>
          </p:cNvSpPr>
          <p:nvPr>
            <p:ph type="title"/>
          </p:nvPr>
        </p:nvSpPr>
        <p:spPr/>
        <p:txBody>
          <a:bodyPr/>
          <a:lstStyle/>
          <a:p>
            <a:r>
              <a:rPr lang="fr-FR" dirty="0"/>
              <a:t>Sécurité des accès</a:t>
            </a:r>
          </a:p>
        </p:txBody>
      </p:sp>
      <p:sp>
        <p:nvSpPr>
          <p:cNvPr id="3" name="Espace réservé du contenu 2">
            <a:extLst>
              <a:ext uri="{FF2B5EF4-FFF2-40B4-BE49-F238E27FC236}">
                <a16:creationId xmlns:a16="http://schemas.microsoft.com/office/drawing/2014/main" id="{A1BCFC58-082B-4967-AFC2-5CF78E27691B}"/>
              </a:ext>
            </a:extLst>
          </p:cNvPr>
          <p:cNvSpPr>
            <a:spLocks noGrp="1"/>
          </p:cNvSpPr>
          <p:nvPr>
            <p:ph idx="1"/>
          </p:nvPr>
        </p:nvSpPr>
        <p:spPr/>
        <p:txBody>
          <a:bodyPr/>
          <a:lstStyle/>
          <a:p>
            <a:r>
              <a:rPr lang="fr-FR" dirty="0"/>
              <a:t>Règle fondamentale n°1 : attribution du moindre privilège</a:t>
            </a:r>
          </a:p>
          <a:p>
            <a:r>
              <a:rPr lang="fr-FR" dirty="0"/>
              <a:t>Règle n°2 : contrôle de la population</a:t>
            </a:r>
          </a:p>
          <a:p>
            <a:r>
              <a:rPr lang="fr-FR" dirty="0"/>
              <a:t>Règle n°3 : supervision de la délégation des tâches d’administration</a:t>
            </a:r>
          </a:p>
          <a:p>
            <a:r>
              <a:rPr lang="fr-FR" dirty="0"/>
              <a:t>Règle n°4 : contrôle physique des connexion</a:t>
            </a:r>
          </a:p>
          <a:p>
            <a:r>
              <a:rPr lang="fr-FR" dirty="0"/>
              <a:t>Règle n°5 : limitation des ressources utilisées</a:t>
            </a:r>
          </a:p>
          <a:p>
            <a:r>
              <a:rPr lang="fr-FR" dirty="0"/>
              <a:t>Règle n°6 : journalisation des comportements suspects</a:t>
            </a:r>
          </a:p>
          <a:p>
            <a:r>
              <a:rPr lang="fr-FR" dirty="0"/>
              <a:t>Règle n°7 : restrictions de l’application en fonction du public</a:t>
            </a:r>
          </a:p>
        </p:txBody>
      </p:sp>
      <p:sp>
        <p:nvSpPr>
          <p:cNvPr id="4" name="Espace réservé du numéro de diapositive 3">
            <a:extLst>
              <a:ext uri="{FF2B5EF4-FFF2-40B4-BE49-F238E27FC236}">
                <a16:creationId xmlns:a16="http://schemas.microsoft.com/office/drawing/2014/main" id="{6211A8C3-E011-40AD-8E6D-2E010F1DA410}"/>
              </a:ext>
            </a:extLst>
          </p:cNvPr>
          <p:cNvSpPr>
            <a:spLocks noGrp="1"/>
          </p:cNvSpPr>
          <p:nvPr>
            <p:ph type="sldNum" sz="quarter" idx="12"/>
          </p:nvPr>
        </p:nvSpPr>
        <p:spPr/>
        <p:txBody>
          <a:bodyPr/>
          <a:lstStyle/>
          <a:p>
            <a:fld id="{27C6CCC6-2BE5-4E42-96A4-D1E8E81A3D8E}" type="slidenum">
              <a:rPr lang="de-DE" smtClean="0"/>
              <a:t>240</a:t>
            </a:fld>
            <a:endParaRPr lang="de-DE"/>
          </a:p>
        </p:txBody>
      </p:sp>
    </p:spTree>
    <p:extLst>
      <p:ext uri="{BB962C8B-B14F-4D97-AF65-F5344CB8AC3E}">
        <p14:creationId xmlns:p14="http://schemas.microsoft.com/office/powerpoint/2010/main" val="938339441"/>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0CB69-6B0A-4E1E-8E35-052A5C8EBA88}"/>
              </a:ext>
            </a:extLst>
          </p:cNvPr>
          <p:cNvSpPr>
            <a:spLocks noGrp="1"/>
          </p:cNvSpPr>
          <p:nvPr>
            <p:ph type="title"/>
          </p:nvPr>
        </p:nvSpPr>
        <p:spPr/>
        <p:txBody>
          <a:bodyPr/>
          <a:lstStyle/>
          <a:p>
            <a:r>
              <a:rPr lang="fr-FR" dirty="0"/>
              <a:t>Sauvegarde et redondance</a:t>
            </a:r>
          </a:p>
        </p:txBody>
      </p:sp>
      <p:sp>
        <p:nvSpPr>
          <p:cNvPr id="3" name="Espace réservé du contenu 2">
            <a:extLst>
              <a:ext uri="{FF2B5EF4-FFF2-40B4-BE49-F238E27FC236}">
                <a16:creationId xmlns:a16="http://schemas.microsoft.com/office/drawing/2014/main" id="{A1BCFC58-082B-4967-AFC2-5CF78E27691B}"/>
              </a:ext>
            </a:extLst>
          </p:cNvPr>
          <p:cNvSpPr>
            <a:spLocks noGrp="1"/>
          </p:cNvSpPr>
          <p:nvPr>
            <p:ph idx="1"/>
          </p:nvPr>
        </p:nvSpPr>
        <p:spPr/>
        <p:txBody>
          <a:bodyPr/>
          <a:lstStyle/>
          <a:p>
            <a:r>
              <a:rPr lang="fr-FR" dirty="0"/>
              <a:t>Sauvegarde et redondance :</a:t>
            </a:r>
          </a:p>
          <a:p>
            <a:pPr lvl="1"/>
            <a:r>
              <a:rPr lang="fr-FR" dirty="0"/>
              <a:t>Une base de données n’est pas un système infaillible</a:t>
            </a:r>
          </a:p>
          <a:p>
            <a:pPr lvl="1"/>
            <a:r>
              <a:rPr lang="fr-FR" dirty="0"/>
              <a:t>Les données sont stockées sur le disque et toute défaillance de la machine hôte peut causer une perte de données</a:t>
            </a:r>
          </a:p>
          <a:p>
            <a:pPr lvl="1"/>
            <a:r>
              <a:rPr lang="fr-FR" dirty="0"/>
              <a:t>En dehors des stratégies de redondances physiques (RAID 1, 5) il faut utiliser le SGBD pour sécuriser les données</a:t>
            </a:r>
          </a:p>
        </p:txBody>
      </p:sp>
      <p:sp>
        <p:nvSpPr>
          <p:cNvPr id="4" name="Espace réservé du numéro de diapositive 3">
            <a:extLst>
              <a:ext uri="{FF2B5EF4-FFF2-40B4-BE49-F238E27FC236}">
                <a16:creationId xmlns:a16="http://schemas.microsoft.com/office/drawing/2014/main" id="{6211A8C3-E011-40AD-8E6D-2E010F1DA410}"/>
              </a:ext>
            </a:extLst>
          </p:cNvPr>
          <p:cNvSpPr>
            <a:spLocks noGrp="1"/>
          </p:cNvSpPr>
          <p:nvPr>
            <p:ph type="sldNum" sz="quarter" idx="12"/>
          </p:nvPr>
        </p:nvSpPr>
        <p:spPr/>
        <p:txBody>
          <a:bodyPr/>
          <a:lstStyle/>
          <a:p>
            <a:fld id="{27C6CCC6-2BE5-4E42-96A4-D1E8E81A3D8E}" type="slidenum">
              <a:rPr lang="de-DE" smtClean="0"/>
              <a:t>241</a:t>
            </a:fld>
            <a:endParaRPr lang="de-DE"/>
          </a:p>
        </p:txBody>
      </p:sp>
    </p:spTree>
    <p:extLst>
      <p:ext uri="{BB962C8B-B14F-4D97-AF65-F5344CB8AC3E}">
        <p14:creationId xmlns:p14="http://schemas.microsoft.com/office/powerpoint/2010/main" val="2709443011"/>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0CB69-6B0A-4E1E-8E35-052A5C8EBA88}"/>
              </a:ext>
            </a:extLst>
          </p:cNvPr>
          <p:cNvSpPr>
            <a:spLocks noGrp="1"/>
          </p:cNvSpPr>
          <p:nvPr>
            <p:ph type="title"/>
          </p:nvPr>
        </p:nvSpPr>
        <p:spPr/>
        <p:txBody>
          <a:bodyPr/>
          <a:lstStyle/>
          <a:p>
            <a:r>
              <a:rPr lang="fr-FR" dirty="0"/>
              <a:t>Sauvegarde et redondance</a:t>
            </a:r>
          </a:p>
        </p:txBody>
      </p:sp>
      <p:sp>
        <p:nvSpPr>
          <p:cNvPr id="3" name="Espace réservé du contenu 2">
            <a:extLst>
              <a:ext uri="{FF2B5EF4-FFF2-40B4-BE49-F238E27FC236}">
                <a16:creationId xmlns:a16="http://schemas.microsoft.com/office/drawing/2014/main" id="{A1BCFC58-082B-4967-AFC2-5CF78E27691B}"/>
              </a:ext>
            </a:extLst>
          </p:cNvPr>
          <p:cNvSpPr>
            <a:spLocks noGrp="1"/>
          </p:cNvSpPr>
          <p:nvPr>
            <p:ph idx="1"/>
          </p:nvPr>
        </p:nvSpPr>
        <p:spPr/>
        <p:txBody>
          <a:bodyPr/>
          <a:lstStyle/>
          <a:p>
            <a:r>
              <a:rPr lang="fr-FR" dirty="0"/>
              <a:t>Sauvegarde :</a:t>
            </a:r>
          </a:p>
          <a:p>
            <a:pPr lvl="1"/>
            <a:r>
              <a:rPr lang="fr-FR" dirty="0"/>
              <a:t>Le contenu de la base doit être sauvegardé à intervalles réguliers afin de pouvoir éventuellement consulter ou restaurer un état antérieur : il s’agit d’un export des données dans un fichier SQL (éventuellement une fois par jour, lors des périodes de creux de l’activité de la BDD)</a:t>
            </a:r>
          </a:p>
          <a:p>
            <a:r>
              <a:rPr lang="fr-FR" dirty="0"/>
              <a:t>Redondance :</a:t>
            </a:r>
          </a:p>
          <a:p>
            <a:pPr lvl="1"/>
            <a:r>
              <a:rPr lang="fr-FR" dirty="0"/>
              <a:t>La sauvegarde n’est pas toujours suffisante : par exemple, si un site de e-commerce perd trace des commandes passées dans les dernières 24h les conséquences peuvent être dommageables pour les clients</a:t>
            </a:r>
          </a:p>
          <a:p>
            <a:pPr lvl="1"/>
            <a:r>
              <a:rPr lang="fr-FR" dirty="0"/>
              <a:t>Une stratégie de redondance permet de dupliquer la base sur N serveurs distincts afin de pallier les défaillances d’un des serveurs</a:t>
            </a:r>
          </a:p>
        </p:txBody>
      </p:sp>
      <p:sp>
        <p:nvSpPr>
          <p:cNvPr id="4" name="Espace réservé du numéro de diapositive 3">
            <a:extLst>
              <a:ext uri="{FF2B5EF4-FFF2-40B4-BE49-F238E27FC236}">
                <a16:creationId xmlns:a16="http://schemas.microsoft.com/office/drawing/2014/main" id="{6211A8C3-E011-40AD-8E6D-2E010F1DA410}"/>
              </a:ext>
            </a:extLst>
          </p:cNvPr>
          <p:cNvSpPr>
            <a:spLocks noGrp="1"/>
          </p:cNvSpPr>
          <p:nvPr>
            <p:ph type="sldNum" sz="quarter" idx="12"/>
          </p:nvPr>
        </p:nvSpPr>
        <p:spPr/>
        <p:txBody>
          <a:bodyPr/>
          <a:lstStyle/>
          <a:p>
            <a:fld id="{27C6CCC6-2BE5-4E42-96A4-D1E8E81A3D8E}" type="slidenum">
              <a:rPr lang="de-DE" smtClean="0"/>
              <a:t>242</a:t>
            </a:fld>
            <a:endParaRPr lang="de-DE"/>
          </a:p>
        </p:txBody>
      </p:sp>
    </p:spTree>
    <p:extLst>
      <p:ext uri="{BB962C8B-B14F-4D97-AF65-F5344CB8AC3E}">
        <p14:creationId xmlns:p14="http://schemas.microsoft.com/office/powerpoint/2010/main" val="1912726115"/>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0CB69-6B0A-4E1E-8E35-052A5C8EBA88}"/>
              </a:ext>
            </a:extLst>
          </p:cNvPr>
          <p:cNvSpPr>
            <a:spLocks noGrp="1"/>
          </p:cNvSpPr>
          <p:nvPr>
            <p:ph type="title"/>
          </p:nvPr>
        </p:nvSpPr>
        <p:spPr/>
        <p:txBody>
          <a:bodyPr/>
          <a:lstStyle/>
          <a:p>
            <a:r>
              <a:rPr lang="fr-FR" dirty="0"/>
              <a:t>Performances</a:t>
            </a:r>
          </a:p>
        </p:txBody>
      </p:sp>
      <p:sp>
        <p:nvSpPr>
          <p:cNvPr id="3" name="Espace réservé du contenu 2">
            <a:extLst>
              <a:ext uri="{FF2B5EF4-FFF2-40B4-BE49-F238E27FC236}">
                <a16:creationId xmlns:a16="http://schemas.microsoft.com/office/drawing/2014/main" id="{A1BCFC58-082B-4967-AFC2-5CF78E27691B}"/>
              </a:ext>
            </a:extLst>
          </p:cNvPr>
          <p:cNvSpPr>
            <a:spLocks noGrp="1"/>
          </p:cNvSpPr>
          <p:nvPr>
            <p:ph idx="1"/>
          </p:nvPr>
        </p:nvSpPr>
        <p:spPr/>
        <p:txBody>
          <a:bodyPr/>
          <a:lstStyle/>
          <a:p>
            <a:r>
              <a:rPr lang="fr-FR" dirty="0"/>
              <a:t>La question de la performance est critique pour une base de données : lorsque le nombre d’accès et de requête augmentent, les temps de traitement et de réponse vont augmenter, ce qui peut avoir des conséquences sur la réactivité de l’application</a:t>
            </a:r>
          </a:p>
          <a:p>
            <a:r>
              <a:rPr lang="fr-FR" dirty="0"/>
              <a:t>Optimiser la base de données est nécessaire quand la base est anormalement lente</a:t>
            </a:r>
          </a:p>
        </p:txBody>
      </p:sp>
      <p:sp>
        <p:nvSpPr>
          <p:cNvPr id="4" name="Espace réservé du numéro de diapositive 3">
            <a:extLst>
              <a:ext uri="{FF2B5EF4-FFF2-40B4-BE49-F238E27FC236}">
                <a16:creationId xmlns:a16="http://schemas.microsoft.com/office/drawing/2014/main" id="{6211A8C3-E011-40AD-8E6D-2E010F1DA410}"/>
              </a:ext>
            </a:extLst>
          </p:cNvPr>
          <p:cNvSpPr>
            <a:spLocks noGrp="1"/>
          </p:cNvSpPr>
          <p:nvPr>
            <p:ph type="sldNum" sz="quarter" idx="12"/>
          </p:nvPr>
        </p:nvSpPr>
        <p:spPr/>
        <p:txBody>
          <a:bodyPr/>
          <a:lstStyle/>
          <a:p>
            <a:fld id="{27C6CCC6-2BE5-4E42-96A4-D1E8E81A3D8E}" type="slidenum">
              <a:rPr lang="de-DE" smtClean="0"/>
              <a:t>243</a:t>
            </a:fld>
            <a:endParaRPr lang="de-DE"/>
          </a:p>
        </p:txBody>
      </p:sp>
    </p:spTree>
    <p:extLst>
      <p:ext uri="{BB962C8B-B14F-4D97-AF65-F5344CB8AC3E}">
        <p14:creationId xmlns:p14="http://schemas.microsoft.com/office/powerpoint/2010/main" val="1190209222"/>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0CB69-6B0A-4E1E-8E35-052A5C8EBA88}"/>
              </a:ext>
            </a:extLst>
          </p:cNvPr>
          <p:cNvSpPr>
            <a:spLocks noGrp="1"/>
          </p:cNvSpPr>
          <p:nvPr>
            <p:ph type="title"/>
          </p:nvPr>
        </p:nvSpPr>
        <p:spPr/>
        <p:txBody>
          <a:bodyPr/>
          <a:lstStyle/>
          <a:p>
            <a:r>
              <a:rPr lang="fr-FR" dirty="0"/>
              <a:t>Performances</a:t>
            </a:r>
          </a:p>
        </p:txBody>
      </p:sp>
      <p:sp>
        <p:nvSpPr>
          <p:cNvPr id="3" name="Espace réservé du contenu 2">
            <a:extLst>
              <a:ext uri="{FF2B5EF4-FFF2-40B4-BE49-F238E27FC236}">
                <a16:creationId xmlns:a16="http://schemas.microsoft.com/office/drawing/2014/main" id="{A1BCFC58-082B-4967-AFC2-5CF78E27691B}"/>
              </a:ext>
            </a:extLst>
          </p:cNvPr>
          <p:cNvSpPr>
            <a:spLocks noGrp="1"/>
          </p:cNvSpPr>
          <p:nvPr>
            <p:ph idx="1"/>
          </p:nvPr>
        </p:nvSpPr>
        <p:spPr/>
        <p:txBody>
          <a:bodyPr>
            <a:normAutofit fontScale="92500" lnSpcReduction="20000"/>
          </a:bodyPr>
          <a:lstStyle/>
          <a:p>
            <a:r>
              <a:rPr lang="fr-FR" dirty="0"/>
              <a:t>Procédure d’optimisation (dans cet ordre) :</a:t>
            </a:r>
          </a:p>
          <a:p>
            <a:pPr lvl="1"/>
            <a:r>
              <a:rPr lang="fr-FR" dirty="0"/>
              <a:t>Trouver les goulots d'étranglements (processeur, RAM, I/O, requêtes)</a:t>
            </a:r>
          </a:p>
          <a:p>
            <a:pPr lvl="1"/>
            <a:r>
              <a:rPr lang="fr-FR" dirty="0"/>
              <a:t>Chercher à simplifier les requêtes gourmandes. Généralement on effectue les opérations suivantes dans cet ordre pour éliminer un maximum de données inutiles des résultats rapidement : projection, sélection, jointure.</a:t>
            </a:r>
          </a:p>
          <a:p>
            <a:pPr lvl="1"/>
            <a:r>
              <a:rPr lang="fr-FR" dirty="0"/>
              <a:t>Optimiser l'application en mettant en cache </a:t>
            </a:r>
            <a:r>
              <a:rPr lang="fr-FR"/>
              <a:t>les résultats.</a:t>
            </a:r>
            <a:endParaRPr lang="fr-FR" dirty="0"/>
          </a:p>
          <a:p>
            <a:pPr lvl="1"/>
            <a:r>
              <a:rPr lang="fr-FR" dirty="0"/>
              <a:t>Optimiser les requêtes (ajouter des index, des tables temporaires ou changer de jointure).</a:t>
            </a:r>
          </a:p>
          <a:p>
            <a:pPr lvl="1"/>
            <a:r>
              <a:rPr lang="fr-FR" dirty="0"/>
              <a:t>Optimiser la base du serveur (taille du cache, etc.).</a:t>
            </a:r>
          </a:p>
          <a:p>
            <a:pPr lvl="1"/>
            <a:r>
              <a:rPr lang="fr-FR" dirty="0"/>
              <a:t>Optimiser le système (les différents systèmes de fichier, le swap (mémoire virtuelle) et les versions du noyau).</a:t>
            </a:r>
          </a:p>
          <a:p>
            <a:pPr lvl="1"/>
            <a:r>
              <a:rPr lang="fr-FR" dirty="0"/>
              <a:t>Optimiser le hardware.</a:t>
            </a:r>
          </a:p>
        </p:txBody>
      </p:sp>
      <p:sp>
        <p:nvSpPr>
          <p:cNvPr id="4" name="Espace réservé du numéro de diapositive 3">
            <a:extLst>
              <a:ext uri="{FF2B5EF4-FFF2-40B4-BE49-F238E27FC236}">
                <a16:creationId xmlns:a16="http://schemas.microsoft.com/office/drawing/2014/main" id="{6211A8C3-E011-40AD-8E6D-2E010F1DA410}"/>
              </a:ext>
            </a:extLst>
          </p:cNvPr>
          <p:cNvSpPr>
            <a:spLocks noGrp="1"/>
          </p:cNvSpPr>
          <p:nvPr>
            <p:ph type="sldNum" sz="quarter" idx="12"/>
          </p:nvPr>
        </p:nvSpPr>
        <p:spPr/>
        <p:txBody>
          <a:bodyPr/>
          <a:lstStyle/>
          <a:p>
            <a:fld id="{27C6CCC6-2BE5-4E42-96A4-D1E8E81A3D8E}" type="slidenum">
              <a:rPr lang="de-DE" smtClean="0"/>
              <a:t>244</a:t>
            </a:fld>
            <a:endParaRPr lang="de-DE"/>
          </a:p>
        </p:txBody>
      </p:sp>
    </p:spTree>
    <p:extLst>
      <p:ext uri="{BB962C8B-B14F-4D97-AF65-F5344CB8AC3E}">
        <p14:creationId xmlns:p14="http://schemas.microsoft.com/office/powerpoint/2010/main" val="3941142584"/>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0CB69-6B0A-4E1E-8E35-052A5C8EBA88}"/>
              </a:ext>
            </a:extLst>
          </p:cNvPr>
          <p:cNvSpPr>
            <a:spLocks noGrp="1"/>
          </p:cNvSpPr>
          <p:nvPr>
            <p:ph type="title"/>
          </p:nvPr>
        </p:nvSpPr>
        <p:spPr/>
        <p:txBody>
          <a:bodyPr/>
          <a:lstStyle/>
          <a:p>
            <a:r>
              <a:rPr lang="fr-FR" dirty="0"/>
              <a:t>Performances</a:t>
            </a:r>
          </a:p>
        </p:txBody>
      </p:sp>
      <p:sp>
        <p:nvSpPr>
          <p:cNvPr id="3" name="Espace réservé du contenu 2">
            <a:extLst>
              <a:ext uri="{FF2B5EF4-FFF2-40B4-BE49-F238E27FC236}">
                <a16:creationId xmlns:a16="http://schemas.microsoft.com/office/drawing/2014/main" id="{A1BCFC58-082B-4967-AFC2-5CF78E27691B}"/>
              </a:ext>
            </a:extLst>
          </p:cNvPr>
          <p:cNvSpPr>
            <a:spLocks noGrp="1"/>
          </p:cNvSpPr>
          <p:nvPr>
            <p:ph idx="1"/>
          </p:nvPr>
        </p:nvSpPr>
        <p:spPr/>
        <p:txBody>
          <a:bodyPr>
            <a:normAutofit/>
          </a:bodyPr>
          <a:lstStyle/>
          <a:p>
            <a:r>
              <a:rPr lang="fr-FR" dirty="0"/>
              <a:t>Outils logiciels (pour MySQL/</a:t>
            </a:r>
            <a:r>
              <a:rPr lang="fr-FR" dirty="0" err="1"/>
              <a:t>MariaDB</a:t>
            </a:r>
            <a:r>
              <a:rPr lang="fr-FR" dirty="0"/>
              <a:t>) :</a:t>
            </a:r>
          </a:p>
          <a:p>
            <a:pPr lvl="1"/>
            <a:r>
              <a:rPr lang="fr-FR" dirty="0" err="1"/>
              <a:t>vmstat</a:t>
            </a:r>
            <a:r>
              <a:rPr lang="fr-FR" dirty="0"/>
              <a:t> : monitoring de l’utilisation des ressources matérielles</a:t>
            </a:r>
          </a:p>
          <a:p>
            <a:pPr lvl="1"/>
            <a:r>
              <a:rPr lang="fr-FR" dirty="0" err="1"/>
              <a:t>mytop</a:t>
            </a:r>
            <a:r>
              <a:rPr lang="fr-FR" dirty="0"/>
              <a:t> : identification des requêtes lourdes</a:t>
            </a:r>
          </a:p>
          <a:p>
            <a:pPr lvl="1"/>
            <a:r>
              <a:rPr lang="fr-FR" dirty="0" err="1"/>
              <a:t>mysqlreport</a:t>
            </a:r>
            <a:r>
              <a:rPr lang="fr-FR" dirty="0"/>
              <a:t> : checklist pas à pas</a:t>
            </a:r>
          </a:p>
          <a:p>
            <a:pPr lvl="1"/>
            <a:r>
              <a:rPr lang="fr-FR" dirty="0"/>
              <a:t>MySQL Workbench : monitoring et administration de MySQL</a:t>
            </a:r>
          </a:p>
        </p:txBody>
      </p:sp>
      <p:sp>
        <p:nvSpPr>
          <p:cNvPr id="4" name="Espace réservé du numéro de diapositive 3">
            <a:extLst>
              <a:ext uri="{FF2B5EF4-FFF2-40B4-BE49-F238E27FC236}">
                <a16:creationId xmlns:a16="http://schemas.microsoft.com/office/drawing/2014/main" id="{6211A8C3-E011-40AD-8E6D-2E010F1DA410}"/>
              </a:ext>
            </a:extLst>
          </p:cNvPr>
          <p:cNvSpPr>
            <a:spLocks noGrp="1"/>
          </p:cNvSpPr>
          <p:nvPr>
            <p:ph type="sldNum" sz="quarter" idx="12"/>
          </p:nvPr>
        </p:nvSpPr>
        <p:spPr/>
        <p:txBody>
          <a:bodyPr/>
          <a:lstStyle/>
          <a:p>
            <a:fld id="{27C6CCC6-2BE5-4E42-96A4-D1E8E81A3D8E}" type="slidenum">
              <a:rPr lang="de-DE" smtClean="0"/>
              <a:t>245</a:t>
            </a:fld>
            <a:endParaRPr lang="de-DE"/>
          </a:p>
        </p:txBody>
      </p:sp>
    </p:spTree>
    <p:extLst>
      <p:ext uri="{BB962C8B-B14F-4D97-AF65-F5344CB8AC3E}">
        <p14:creationId xmlns:p14="http://schemas.microsoft.com/office/powerpoint/2010/main" val="1123161120"/>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0CB69-6B0A-4E1E-8E35-052A5C8EBA88}"/>
              </a:ext>
            </a:extLst>
          </p:cNvPr>
          <p:cNvSpPr>
            <a:spLocks noGrp="1"/>
          </p:cNvSpPr>
          <p:nvPr>
            <p:ph type="title"/>
          </p:nvPr>
        </p:nvSpPr>
        <p:spPr/>
        <p:txBody>
          <a:bodyPr/>
          <a:lstStyle/>
          <a:p>
            <a:r>
              <a:rPr lang="fr-FR" dirty="0"/>
              <a:t>Performances</a:t>
            </a:r>
          </a:p>
        </p:txBody>
      </p:sp>
      <p:sp>
        <p:nvSpPr>
          <p:cNvPr id="3" name="Espace réservé du contenu 2">
            <a:extLst>
              <a:ext uri="{FF2B5EF4-FFF2-40B4-BE49-F238E27FC236}">
                <a16:creationId xmlns:a16="http://schemas.microsoft.com/office/drawing/2014/main" id="{A1BCFC58-082B-4967-AFC2-5CF78E27691B}"/>
              </a:ext>
            </a:extLst>
          </p:cNvPr>
          <p:cNvSpPr>
            <a:spLocks noGrp="1"/>
          </p:cNvSpPr>
          <p:nvPr>
            <p:ph idx="1"/>
          </p:nvPr>
        </p:nvSpPr>
        <p:spPr/>
        <p:txBody>
          <a:bodyPr>
            <a:normAutofit fontScale="92500" lnSpcReduction="20000"/>
          </a:bodyPr>
          <a:lstStyle/>
          <a:p>
            <a:r>
              <a:rPr lang="fr-FR" dirty="0"/>
              <a:t>Optimisation de la base :</a:t>
            </a:r>
          </a:p>
          <a:p>
            <a:pPr lvl="1"/>
            <a:r>
              <a:rPr lang="fr-FR" dirty="0"/>
              <a:t>La base doit être normalisée</a:t>
            </a:r>
          </a:p>
          <a:p>
            <a:pPr lvl="1"/>
            <a:r>
              <a:rPr lang="fr-FR" dirty="0"/>
              <a:t>Les index doivent être clairement définis (clés primaires, clés étrangères, ou tout autre champ sur lequel des requêtes sont fréquemment faites)</a:t>
            </a:r>
          </a:p>
          <a:p>
            <a:pPr lvl="1"/>
            <a:r>
              <a:rPr lang="fr-FR" dirty="0"/>
              <a:t>Les déclencheurs/triggers doivent être utilisés avec parcimonie</a:t>
            </a:r>
          </a:p>
          <a:p>
            <a:r>
              <a:rPr lang="fr-FR" dirty="0"/>
              <a:t>Optimisation des requêtes :</a:t>
            </a:r>
          </a:p>
          <a:p>
            <a:pPr lvl="1"/>
            <a:r>
              <a:rPr lang="fr-FR" dirty="0"/>
              <a:t>Ne récupérer que les champs nécessaires</a:t>
            </a:r>
          </a:p>
          <a:p>
            <a:pPr lvl="1"/>
            <a:r>
              <a:rPr lang="fr-FR" dirty="0"/>
              <a:t>Limiter le nombre d’enregistrements récupérés (il n’est pas toujours nécessaire de récupérer tous les enregistrements d’une table, on peut aussi les récupérer 10 par 10 au fur et à mesure)</a:t>
            </a:r>
          </a:p>
          <a:p>
            <a:pPr lvl="1"/>
            <a:r>
              <a:rPr lang="fr-FR" dirty="0"/>
              <a:t>Eviter les sous-requêtes, les jointures de type CROSS JOIN</a:t>
            </a:r>
          </a:p>
          <a:p>
            <a:pPr lvl="1"/>
            <a:r>
              <a:rPr lang="fr-FR" dirty="0"/>
              <a:t>Ne pas effectuer des traitements qui enchaînent les requêtes dans des boucles</a:t>
            </a:r>
          </a:p>
        </p:txBody>
      </p:sp>
      <p:sp>
        <p:nvSpPr>
          <p:cNvPr id="4" name="Espace réservé du numéro de diapositive 3">
            <a:extLst>
              <a:ext uri="{FF2B5EF4-FFF2-40B4-BE49-F238E27FC236}">
                <a16:creationId xmlns:a16="http://schemas.microsoft.com/office/drawing/2014/main" id="{6211A8C3-E011-40AD-8E6D-2E010F1DA410}"/>
              </a:ext>
            </a:extLst>
          </p:cNvPr>
          <p:cNvSpPr>
            <a:spLocks noGrp="1"/>
          </p:cNvSpPr>
          <p:nvPr>
            <p:ph type="sldNum" sz="quarter" idx="12"/>
          </p:nvPr>
        </p:nvSpPr>
        <p:spPr/>
        <p:txBody>
          <a:bodyPr/>
          <a:lstStyle/>
          <a:p>
            <a:fld id="{27C6CCC6-2BE5-4E42-96A4-D1E8E81A3D8E}" type="slidenum">
              <a:rPr lang="de-DE" smtClean="0"/>
              <a:t>246</a:t>
            </a:fld>
            <a:endParaRPr lang="de-DE"/>
          </a:p>
        </p:txBody>
      </p:sp>
    </p:spTree>
    <p:extLst>
      <p:ext uri="{BB962C8B-B14F-4D97-AF65-F5344CB8AC3E}">
        <p14:creationId xmlns:p14="http://schemas.microsoft.com/office/powerpoint/2010/main" val="493486275"/>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0CB69-6B0A-4E1E-8E35-052A5C8EBA88}"/>
              </a:ext>
            </a:extLst>
          </p:cNvPr>
          <p:cNvSpPr>
            <a:spLocks noGrp="1"/>
          </p:cNvSpPr>
          <p:nvPr>
            <p:ph type="title"/>
          </p:nvPr>
        </p:nvSpPr>
        <p:spPr/>
        <p:txBody>
          <a:bodyPr/>
          <a:lstStyle/>
          <a:p>
            <a:r>
              <a:rPr lang="fr-FR" dirty="0"/>
              <a:t>Performances</a:t>
            </a:r>
          </a:p>
        </p:txBody>
      </p:sp>
      <p:sp>
        <p:nvSpPr>
          <p:cNvPr id="3" name="Espace réservé du contenu 2">
            <a:extLst>
              <a:ext uri="{FF2B5EF4-FFF2-40B4-BE49-F238E27FC236}">
                <a16:creationId xmlns:a16="http://schemas.microsoft.com/office/drawing/2014/main" id="{A1BCFC58-082B-4967-AFC2-5CF78E27691B}"/>
              </a:ext>
            </a:extLst>
          </p:cNvPr>
          <p:cNvSpPr>
            <a:spLocks noGrp="1"/>
          </p:cNvSpPr>
          <p:nvPr>
            <p:ph idx="1"/>
          </p:nvPr>
        </p:nvSpPr>
        <p:spPr/>
        <p:txBody>
          <a:bodyPr>
            <a:normAutofit/>
          </a:bodyPr>
          <a:lstStyle/>
          <a:p>
            <a:r>
              <a:rPr lang="fr-FR" dirty="0"/>
              <a:t>Équilibrage de charge (</a:t>
            </a:r>
            <a:r>
              <a:rPr lang="fr-FR" dirty="0" err="1"/>
              <a:t>load</a:t>
            </a:r>
            <a:r>
              <a:rPr lang="fr-FR" dirty="0"/>
              <a:t>-balancing) : lorsque la réplication d’une base de données est mise en place, il est possible de mettre en place une stratégie d’équilibrage de charge</a:t>
            </a:r>
          </a:p>
          <a:p>
            <a:r>
              <a:rPr lang="fr-FR" dirty="0"/>
              <a:t>Dans ce cas, il n’y a pas un seul serveur pour traiter les requêtes (de lecture) : les requêtes sont réparties entre les différents serveurs appartenant à la stratégie de réplication (à tour de rôle chaque serveur prend en charge une requête) – les requêtes d’écriture quant à elle sont toujours traitées par le serveur maître</a:t>
            </a:r>
          </a:p>
        </p:txBody>
      </p:sp>
      <p:sp>
        <p:nvSpPr>
          <p:cNvPr id="4" name="Espace réservé du numéro de diapositive 3">
            <a:extLst>
              <a:ext uri="{FF2B5EF4-FFF2-40B4-BE49-F238E27FC236}">
                <a16:creationId xmlns:a16="http://schemas.microsoft.com/office/drawing/2014/main" id="{6211A8C3-E011-40AD-8E6D-2E010F1DA410}"/>
              </a:ext>
            </a:extLst>
          </p:cNvPr>
          <p:cNvSpPr>
            <a:spLocks noGrp="1"/>
          </p:cNvSpPr>
          <p:nvPr>
            <p:ph type="sldNum" sz="quarter" idx="12"/>
          </p:nvPr>
        </p:nvSpPr>
        <p:spPr/>
        <p:txBody>
          <a:bodyPr/>
          <a:lstStyle/>
          <a:p>
            <a:fld id="{27C6CCC6-2BE5-4E42-96A4-D1E8E81A3D8E}" type="slidenum">
              <a:rPr lang="de-DE" smtClean="0"/>
              <a:t>247</a:t>
            </a:fld>
            <a:endParaRPr lang="de-DE"/>
          </a:p>
        </p:txBody>
      </p:sp>
    </p:spTree>
    <p:extLst>
      <p:ext uri="{BB962C8B-B14F-4D97-AF65-F5344CB8AC3E}">
        <p14:creationId xmlns:p14="http://schemas.microsoft.com/office/powerpoint/2010/main" val="1446175545"/>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0CB69-6B0A-4E1E-8E35-052A5C8EBA88}"/>
              </a:ext>
            </a:extLst>
          </p:cNvPr>
          <p:cNvSpPr>
            <a:spLocks noGrp="1"/>
          </p:cNvSpPr>
          <p:nvPr>
            <p:ph type="title"/>
          </p:nvPr>
        </p:nvSpPr>
        <p:spPr/>
        <p:txBody>
          <a:bodyPr/>
          <a:lstStyle/>
          <a:p>
            <a:r>
              <a:rPr lang="fr-FR" dirty="0"/>
              <a:t>Suivi de l’état de la base de données</a:t>
            </a:r>
          </a:p>
        </p:txBody>
      </p:sp>
      <p:sp>
        <p:nvSpPr>
          <p:cNvPr id="3" name="Espace réservé du contenu 2">
            <a:extLst>
              <a:ext uri="{FF2B5EF4-FFF2-40B4-BE49-F238E27FC236}">
                <a16:creationId xmlns:a16="http://schemas.microsoft.com/office/drawing/2014/main" id="{A1BCFC58-082B-4967-AFC2-5CF78E27691B}"/>
              </a:ext>
            </a:extLst>
          </p:cNvPr>
          <p:cNvSpPr>
            <a:spLocks noGrp="1"/>
          </p:cNvSpPr>
          <p:nvPr>
            <p:ph idx="1"/>
          </p:nvPr>
        </p:nvSpPr>
        <p:spPr/>
        <p:txBody>
          <a:bodyPr>
            <a:normAutofit/>
          </a:bodyPr>
          <a:lstStyle/>
          <a:p>
            <a:r>
              <a:rPr lang="fr-FR" dirty="0"/>
              <a:t>Une panne est toujours possible (panne matérielle ou logicielle)</a:t>
            </a:r>
          </a:p>
          <a:p>
            <a:r>
              <a:rPr lang="fr-FR" dirty="0"/>
              <a:t>Une erreur humaine aussi (requête mal formulée)</a:t>
            </a:r>
          </a:p>
          <a:p>
            <a:r>
              <a:rPr lang="fr-FR" dirty="0"/>
              <a:t>Il faut pouvoir suivre l’état de la base de données, pouvoir détecter les incidents afin d’y remédier dès que possible, et pouvoir consulter l’historique des actions effectuées sur la base afin de garder trace des problèmes étant survenus</a:t>
            </a:r>
          </a:p>
        </p:txBody>
      </p:sp>
      <p:sp>
        <p:nvSpPr>
          <p:cNvPr id="4" name="Espace réservé du numéro de diapositive 3">
            <a:extLst>
              <a:ext uri="{FF2B5EF4-FFF2-40B4-BE49-F238E27FC236}">
                <a16:creationId xmlns:a16="http://schemas.microsoft.com/office/drawing/2014/main" id="{6211A8C3-E011-40AD-8E6D-2E010F1DA410}"/>
              </a:ext>
            </a:extLst>
          </p:cNvPr>
          <p:cNvSpPr>
            <a:spLocks noGrp="1"/>
          </p:cNvSpPr>
          <p:nvPr>
            <p:ph type="sldNum" sz="quarter" idx="12"/>
          </p:nvPr>
        </p:nvSpPr>
        <p:spPr/>
        <p:txBody>
          <a:bodyPr/>
          <a:lstStyle/>
          <a:p>
            <a:fld id="{27C6CCC6-2BE5-4E42-96A4-D1E8E81A3D8E}" type="slidenum">
              <a:rPr lang="de-DE" smtClean="0"/>
              <a:t>248</a:t>
            </a:fld>
            <a:endParaRPr lang="de-DE"/>
          </a:p>
        </p:txBody>
      </p:sp>
    </p:spTree>
    <p:extLst>
      <p:ext uri="{BB962C8B-B14F-4D97-AF65-F5344CB8AC3E}">
        <p14:creationId xmlns:p14="http://schemas.microsoft.com/office/powerpoint/2010/main" val="3344505919"/>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0CB69-6B0A-4E1E-8E35-052A5C8EBA88}"/>
              </a:ext>
            </a:extLst>
          </p:cNvPr>
          <p:cNvSpPr>
            <a:spLocks noGrp="1"/>
          </p:cNvSpPr>
          <p:nvPr>
            <p:ph type="title"/>
          </p:nvPr>
        </p:nvSpPr>
        <p:spPr/>
        <p:txBody>
          <a:bodyPr/>
          <a:lstStyle/>
          <a:p>
            <a:r>
              <a:rPr lang="fr-FR" dirty="0"/>
              <a:t>Suivi de l’état de la base de données</a:t>
            </a:r>
          </a:p>
        </p:txBody>
      </p:sp>
      <p:sp>
        <p:nvSpPr>
          <p:cNvPr id="3" name="Espace réservé du contenu 2">
            <a:extLst>
              <a:ext uri="{FF2B5EF4-FFF2-40B4-BE49-F238E27FC236}">
                <a16:creationId xmlns:a16="http://schemas.microsoft.com/office/drawing/2014/main" id="{A1BCFC58-082B-4967-AFC2-5CF78E27691B}"/>
              </a:ext>
            </a:extLst>
          </p:cNvPr>
          <p:cNvSpPr>
            <a:spLocks noGrp="1"/>
          </p:cNvSpPr>
          <p:nvPr>
            <p:ph idx="1"/>
          </p:nvPr>
        </p:nvSpPr>
        <p:spPr/>
        <p:txBody>
          <a:bodyPr>
            <a:normAutofit/>
          </a:bodyPr>
          <a:lstStyle/>
          <a:p>
            <a:r>
              <a:rPr lang="fr-FR" dirty="0"/>
              <a:t>Le monitoring et la journalisation de la base sont souvent réalisés par des outils dédiés (et généralement payant) – on peut citer </a:t>
            </a:r>
            <a:r>
              <a:rPr lang="fr-FR" b="1" dirty="0"/>
              <a:t>MySQL Enterprise Monitor </a:t>
            </a:r>
            <a:r>
              <a:rPr lang="fr-FR" dirty="0"/>
              <a:t>pour MySQL</a:t>
            </a:r>
          </a:p>
        </p:txBody>
      </p:sp>
      <p:sp>
        <p:nvSpPr>
          <p:cNvPr id="4" name="Espace réservé du numéro de diapositive 3">
            <a:extLst>
              <a:ext uri="{FF2B5EF4-FFF2-40B4-BE49-F238E27FC236}">
                <a16:creationId xmlns:a16="http://schemas.microsoft.com/office/drawing/2014/main" id="{6211A8C3-E011-40AD-8E6D-2E010F1DA410}"/>
              </a:ext>
            </a:extLst>
          </p:cNvPr>
          <p:cNvSpPr>
            <a:spLocks noGrp="1"/>
          </p:cNvSpPr>
          <p:nvPr>
            <p:ph type="sldNum" sz="quarter" idx="12"/>
          </p:nvPr>
        </p:nvSpPr>
        <p:spPr/>
        <p:txBody>
          <a:bodyPr/>
          <a:lstStyle/>
          <a:p>
            <a:fld id="{27C6CCC6-2BE5-4E42-96A4-D1E8E81A3D8E}" type="slidenum">
              <a:rPr lang="de-DE" smtClean="0"/>
              <a:t>249</a:t>
            </a:fld>
            <a:endParaRPr lang="de-DE"/>
          </a:p>
        </p:txBody>
      </p:sp>
    </p:spTree>
    <p:extLst>
      <p:ext uri="{BB962C8B-B14F-4D97-AF65-F5344CB8AC3E}">
        <p14:creationId xmlns:p14="http://schemas.microsoft.com/office/powerpoint/2010/main" val="2571701810"/>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0CB69-6B0A-4E1E-8E35-052A5C8EBA88}"/>
              </a:ext>
            </a:extLst>
          </p:cNvPr>
          <p:cNvSpPr>
            <a:spLocks noGrp="1"/>
          </p:cNvSpPr>
          <p:nvPr>
            <p:ph type="title"/>
          </p:nvPr>
        </p:nvSpPr>
        <p:spPr/>
        <p:txBody>
          <a:bodyPr/>
          <a:lstStyle/>
          <a:p>
            <a:r>
              <a:rPr lang="fr-FR" dirty="0"/>
              <a:t>Suivi de l’état de la base de données</a:t>
            </a:r>
          </a:p>
        </p:txBody>
      </p:sp>
      <p:sp>
        <p:nvSpPr>
          <p:cNvPr id="3" name="Espace réservé du contenu 2">
            <a:extLst>
              <a:ext uri="{FF2B5EF4-FFF2-40B4-BE49-F238E27FC236}">
                <a16:creationId xmlns:a16="http://schemas.microsoft.com/office/drawing/2014/main" id="{A1BCFC58-082B-4967-AFC2-5CF78E27691B}"/>
              </a:ext>
            </a:extLst>
          </p:cNvPr>
          <p:cNvSpPr>
            <a:spLocks noGrp="1"/>
          </p:cNvSpPr>
          <p:nvPr>
            <p:ph idx="1"/>
          </p:nvPr>
        </p:nvSpPr>
        <p:spPr/>
        <p:txBody>
          <a:bodyPr>
            <a:normAutofit/>
          </a:bodyPr>
          <a:lstStyle/>
          <a:p>
            <a:r>
              <a:rPr lang="fr-FR" dirty="0"/>
              <a:t>Du côté de l’application qui manipule la base il est également nécessaire d’assurer un suivi et une journalisation</a:t>
            </a:r>
          </a:p>
          <a:p>
            <a:r>
              <a:rPr lang="fr-FR" dirty="0"/>
              <a:t>Il ne faut jamais partir du principe qu’une requête s’est exécutée avec succès : il faut contrôler les valeurs de retour et les </a:t>
            </a:r>
            <a:r>
              <a:rPr lang="fr-FR"/>
              <a:t>éventuels codes d’erreur</a:t>
            </a:r>
            <a:endParaRPr lang="fr-FR" dirty="0"/>
          </a:p>
          <a:p>
            <a:r>
              <a:rPr lang="fr-FR" dirty="0"/>
              <a:t>Toute erreur de connexion à la base doit être enregistrée (et une alerte doit être levée)</a:t>
            </a:r>
          </a:p>
          <a:p>
            <a:r>
              <a:rPr lang="fr-FR" dirty="0"/>
              <a:t>Toute erreur lors de l’exécution d’une requête de lecture ou d’écriture également</a:t>
            </a:r>
          </a:p>
        </p:txBody>
      </p:sp>
      <p:sp>
        <p:nvSpPr>
          <p:cNvPr id="4" name="Espace réservé du numéro de diapositive 3">
            <a:extLst>
              <a:ext uri="{FF2B5EF4-FFF2-40B4-BE49-F238E27FC236}">
                <a16:creationId xmlns:a16="http://schemas.microsoft.com/office/drawing/2014/main" id="{6211A8C3-E011-40AD-8E6D-2E010F1DA410}"/>
              </a:ext>
            </a:extLst>
          </p:cNvPr>
          <p:cNvSpPr>
            <a:spLocks noGrp="1"/>
          </p:cNvSpPr>
          <p:nvPr>
            <p:ph type="sldNum" sz="quarter" idx="12"/>
          </p:nvPr>
        </p:nvSpPr>
        <p:spPr/>
        <p:txBody>
          <a:bodyPr/>
          <a:lstStyle/>
          <a:p>
            <a:fld id="{27C6CCC6-2BE5-4E42-96A4-D1E8E81A3D8E}" type="slidenum">
              <a:rPr lang="de-DE" smtClean="0"/>
              <a:t>250</a:t>
            </a:fld>
            <a:endParaRPr lang="de-DE"/>
          </a:p>
        </p:txBody>
      </p:sp>
    </p:spTree>
    <p:extLst>
      <p:ext uri="{BB962C8B-B14F-4D97-AF65-F5344CB8AC3E}">
        <p14:creationId xmlns:p14="http://schemas.microsoft.com/office/powerpoint/2010/main" val="3482573981"/>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8052AA-FDCC-456E-A11D-B69365997845}"/>
              </a:ext>
            </a:extLst>
          </p:cNvPr>
          <p:cNvSpPr>
            <a:spLocks noGrp="1"/>
          </p:cNvSpPr>
          <p:nvPr>
            <p:ph type="title"/>
          </p:nvPr>
        </p:nvSpPr>
        <p:spPr/>
        <p:txBody>
          <a:bodyPr/>
          <a:lstStyle/>
          <a:p>
            <a:r>
              <a:rPr lang="fr-FR" dirty="0" err="1"/>
              <a:t>Frameworks</a:t>
            </a:r>
            <a:r>
              <a:rPr lang="fr-FR" dirty="0"/>
              <a:t> modernes pour les systèmes d’information</a:t>
            </a:r>
          </a:p>
        </p:txBody>
      </p:sp>
      <p:sp>
        <p:nvSpPr>
          <p:cNvPr id="3" name="Espace réservé du texte 2">
            <a:extLst>
              <a:ext uri="{FF2B5EF4-FFF2-40B4-BE49-F238E27FC236}">
                <a16:creationId xmlns:a16="http://schemas.microsoft.com/office/drawing/2014/main" id="{BB314811-7587-4B3F-A3D4-BA924F197452}"/>
              </a:ext>
            </a:extLst>
          </p:cNvPr>
          <p:cNvSpPr>
            <a:spLocks noGrp="1"/>
          </p:cNvSpPr>
          <p:nvPr>
            <p:ph type="body" idx="1"/>
          </p:nvPr>
        </p:nvSpPr>
        <p:spPr/>
        <p:txBody>
          <a:bodyPr/>
          <a:lstStyle/>
          <a:p>
            <a:r>
              <a:rPr lang="fr-FR" dirty="0"/>
              <a:t>Quels sont les outils utilisés de nos jours pour implémenter un système d’information ?</a:t>
            </a:r>
          </a:p>
        </p:txBody>
      </p:sp>
      <p:sp>
        <p:nvSpPr>
          <p:cNvPr id="4" name="Espace réservé du numéro de diapositive 3">
            <a:extLst>
              <a:ext uri="{FF2B5EF4-FFF2-40B4-BE49-F238E27FC236}">
                <a16:creationId xmlns:a16="http://schemas.microsoft.com/office/drawing/2014/main" id="{FC9C0DA5-EB85-495B-A540-C840B144A70A}"/>
              </a:ext>
            </a:extLst>
          </p:cNvPr>
          <p:cNvSpPr>
            <a:spLocks noGrp="1"/>
          </p:cNvSpPr>
          <p:nvPr>
            <p:ph type="sldNum" sz="quarter" idx="12"/>
          </p:nvPr>
        </p:nvSpPr>
        <p:spPr/>
        <p:txBody>
          <a:bodyPr/>
          <a:lstStyle/>
          <a:p>
            <a:fld id="{27C6CCC6-2BE5-4E42-96A4-D1E8E81A3D8E}" type="slidenum">
              <a:rPr lang="de-DE" smtClean="0"/>
              <a:t>251</a:t>
            </a:fld>
            <a:endParaRPr lang="de-DE"/>
          </a:p>
        </p:txBody>
      </p:sp>
    </p:spTree>
    <p:extLst>
      <p:ext uri="{BB962C8B-B14F-4D97-AF65-F5344CB8AC3E}">
        <p14:creationId xmlns:p14="http://schemas.microsoft.com/office/powerpoint/2010/main" val="3007454404"/>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499B40-933E-4E33-B89A-9E1C6762E96E}"/>
              </a:ext>
            </a:extLst>
          </p:cNvPr>
          <p:cNvSpPr>
            <a:spLocks noGrp="1"/>
          </p:cNvSpPr>
          <p:nvPr>
            <p:ph type="title"/>
          </p:nvPr>
        </p:nvSpPr>
        <p:spPr/>
        <p:txBody>
          <a:bodyPr/>
          <a:lstStyle/>
          <a:p>
            <a:r>
              <a:rPr lang="fr-FR" dirty="0"/>
              <a:t>Types de logiciels SI</a:t>
            </a:r>
          </a:p>
        </p:txBody>
      </p:sp>
      <p:sp>
        <p:nvSpPr>
          <p:cNvPr id="3" name="Espace réservé du contenu 2">
            <a:extLst>
              <a:ext uri="{FF2B5EF4-FFF2-40B4-BE49-F238E27FC236}">
                <a16:creationId xmlns:a16="http://schemas.microsoft.com/office/drawing/2014/main" id="{2BF12D7A-F4CC-46E9-BE2D-FE1D588CBD87}"/>
              </a:ext>
            </a:extLst>
          </p:cNvPr>
          <p:cNvSpPr>
            <a:spLocks noGrp="1"/>
          </p:cNvSpPr>
          <p:nvPr>
            <p:ph idx="1"/>
          </p:nvPr>
        </p:nvSpPr>
        <p:spPr/>
        <p:txBody>
          <a:bodyPr/>
          <a:lstStyle/>
          <a:p>
            <a:r>
              <a:rPr lang="fr-FR" dirty="0"/>
              <a:t>Client lourd (logiciel installé sur le poste)</a:t>
            </a:r>
          </a:p>
          <a:p>
            <a:r>
              <a:rPr lang="fr-FR" u="sng" dirty="0"/>
              <a:t>Client léger (connexion et accès via navigateur)</a:t>
            </a:r>
          </a:p>
        </p:txBody>
      </p:sp>
      <p:sp>
        <p:nvSpPr>
          <p:cNvPr id="4" name="Espace réservé du numéro de diapositive 3">
            <a:extLst>
              <a:ext uri="{FF2B5EF4-FFF2-40B4-BE49-F238E27FC236}">
                <a16:creationId xmlns:a16="http://schemas.microsoft.com/office/drawing/2014/main" id="{34FFE7BB-70C8-4AAE-80C1-B4221907E9E8}"/>
              </a:ext>
            </a:extLst>
          </p:cNvPr>
          <p:cNvSpPr>
            <a:spLocks noGrp="1"/>
          </p:cNvSpPr>
          <p:nvPr>
            <p:ph type="sldNum" sz="quarter" idx="12"/>
          </p:nvPr>
        </p:nvSpPr>
        <p:spPr/>
        <p:txBody>
          <a:bodyPr/>
          <a:lstStyle/>
          <a:p>
            <a:fld id="{27C6CCC6-2BE5-4E42-96A4-D1E8E81A3D8E}" type="slidenum">
              <a:rPr lang="de-DE" smtClean="0"/>
              <a:t>252</a:t>
            </a:fld>
            <a:endParaRPr lang="de-DE"/>
          </a:p>
        </p:txBody>
      </p:sp>
    </p:spTree>
    <p:extLst>
      <p:ext uri="{BB962C8B-B14F-4D97-AF65-F5344CB8AC3E}">
        <p14:creationId xmlns:p14="http://schemas.microsoft.com/office/powerpoint/2010/main" val="2679932620"/>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499B40-933E-4E33-B89A-9E1C6762E96E}"/>
              </a:ext>
            </a:extLst>
          </p:cNvPr>
          <p:cNvSpPr>
            <a:spLocks noGrp="1"/>
          </p:cNvSpPr>
          <p:nvPr>
            <p:ph type="title"/>
          </p:nvPr>
        </p:nvSpPr>
        <p:spPr/>
        <p:txBody>
          <a:bodyPr/>
          <a:lstStyle/>
          <a:p>
            <a:r>
              <a:rPr lang="fr-FR" dirty="0"/>
              <a:t>Architecture du système</a:t>
            </a:r>
          </a:p>
        </p:txBody>
      </p:sp>
      <p:sp>
        <p:nvSpPr>
          <p:cNvPr id="3" name="Espace réservé du contenu 2">
            <a:extLst>
              <a:ext uri="{FF2B5EF4-FFF2-40B4-BE49-F238E27FC236}">
                <a16:creationId xmlns:a16="http://schemas.microsoft.com/office/drawing/2014/main" id="{2BF12D7A-F4CC-46E9-BE2D-FE1D588CBD87}"/>
              </a:ext>
            </a:extLst>
          </p:cNvPr>
          <p:cNvSpPr>
            <a:spLocks noGrp="1"/>
          </p:cNvSpPr>
          <p:nvPr>
            <p:ph idx="1"/>
          </p:nvPr>
        </p:nvSpPr>
        <p:spPr>
          <a:xfrm>
            <a:off x="1154955" y="2364828"/>
            <a:ext cx="8761412" cy="3654972"/>
          </a:xfrm>
        </p:spPr>
        <p:txBody>
          <a:bodyPr anchor="t"/>
          <a:lstStyle/>
          <a:p>
            <a:r>
              <a:rPr lang="fr-FR" dirty="0"/>
              <a:t>Architecture 3 tiers</a:t>
            </a:r>
            <a:endParaRPr lang="fr-FR" u="sng" dirty="0"/>
          </a:p>
        </p:txBody>
      </p:sp>
      <p:sp>
        <p:nvSpPr>
          <p:cNvPr id="4" name="Espace réservé du numéro de diapositive 3">
            <a:extLst>
              <a:ext uri="{FF2B5EF4-FFF2-40B4-BE49-F238E27FC236}">
                <a16:creationId xmlns:a16="http://schemas.microsoft.com/office/drawing/2014/main" id="{34FFE7BB-70C8-4AAE-80C1-B4221907E9E8}"/>
              </a:ext>
            </a:extLst>
          </p:cNvPr>
          <p:cNvSpPr>
            <a:spLocks noGrp="1"/>
          </p:cNvSpPr>
          <p:nvPr>
            <p:ph type="sldNum" sz="quarter" idx="12"/>
          </p:nvPr>
        </p:nvSpPr>
        <p:spPr/>
        <p:txBody>
          <a:bodyPr/>
          <a:lstStyle/>
          <a:p>
            <a:fld id="{27C6CCC6-2BE5-4E42-96A4-D1E8E81A3D8E}" type="slidenum">
              <a:rPr lang="de-DE" smtClean="0"/>
              <a:t>253</a:t>
            </a:fld>
            <a:endParaRPr lang="de-DE"/>
          </a:p>
        </p:txBody>
      </p:sp>
      <p:graphicFrame>
        <p:nvGraphicFramePr>
          <p:cNvPr id="6" name="Diagramme 5">
            <a:extLst>
              <a:ext uri="{FF2B5EF4-FFF2-40B4-BE49-F238E27FC236}">
                <a16:creationId xmlns:a16="http://schemas.microsoft.com/office/drawing/2014/main" id="{BEF2E243-FDA9-44DF-9499-B76A41AAA5FD}"/>
              </a:ext>
            </a:extLst>
          </p:cNvPr>
          <p:cNvGraphicFramePr/>
          <p:nvPr/>
        </p:nvGraphicFramePr>
        <p:xfrm>
          <a:off x="2459839" y="2701255"/>
          <a:ext cx="7036499" cy="35713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Flèche : double flèche verticale 6">
            <a:extLst>
              <a:ext uri="{FF2B5EF4-FFF2-40B4-BE49-F238E27FC236}">
                <a16:creationId xmlns:a16="http://schemas.microsoft.com/office/drawing/2014/main" id="{527F24E7-BD25-41BD-8123-5B1347C25722}"/>
              </a:ext>
            </a:extLst>
          </p:cNvPr>
          <p:cNvSpPr/>
          <p:nvPr/>
        </p:nvSpPr>
        <p:spPr>
          <a:xfrm>
            <a:off x="1959760" y="3545246"/>
            <a:ext cx="377505" cy="892185"/>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lèche : double flèche verticale 7">
            <a:extLst>
              <a:ext uri="{FF2B5EF4-FFF2-40B4-BE49-F238E27FC236}">
                <a16:creationId xmlns:a16="http://schemas.microsoft.com/office/drawing/2014/main" id="{6F09C5B4-1517-466D-B7CD-C773B8E3ABDF}"/>
              </a:ext>
            </a:extLst>
          </p:cNvPr>
          <p:cNvSpPr/>
          <p:nvPr/>
        </p:nvSpPr>
        <p:spPr>
          <a:xfrm>
            <a:off x="1959759" y="4791273"/>
            <a:ext cx="377505" cy="901613"/>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56987440"/>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3108C9-FA66-4FD3-9ACE-DFEEEE552D91}"/>
              </a:ext>
            </a:extLst>
          </p:cNvPr>
          <p:cNvSpPr>
            <a:spLocks noGrp="1"/>
          </p:cNvSpPr>
          <p:nvPr>
            <p:ph type="title"/>
          </p:nvPr>
        </p:nvSpPr>
        <p:spPr/>
        <p:txBody>
          <a:bodyPr/>
          <a:lstStyle/>
          <a:p>
            <a:r>
              <a:rPr lang="fr-FR" dirty="0"/>
              <a:t>Concepts de bases HTTP/HTML</a:t>
            </a:r>
          </a:p>
        </p:txBody>
      </p:sp>
      <p:sp>
        <p:nvSpPr>
          <p:cNvPr id="3" name="Espace réservé du contenu 2">
            <a:extLst>
              <a:ext uri="{FF2B5EF4-FFF2-40B4-BE49-F238E27FC236}">
                <a16:creationId xmlns:a16="http://schemas.microsoft.com/office/drawing/2014/main" id="{5499FD02-0BA1-4525-8A74-8B5A7FF01800}"/>
              </a:ext>
            </a:extLst>
          </p:cNvPr>
          <p:cNvSpPr>
            <a:spLocks noGrp="1"/>
          </p:cNvSpPr>
          <p:nvPr>
            <p:ph idx="1"/>
          </p:nvPr>
        </p:nvSpPr>
        <p:spPr/>
        <p:txBody>
          <a:bodyPr>
            <a:normAutofit lnSpcReduction="10000"/>
          </a:bodyPr>
          <a:lstStyle/>
          <a:p>
            <a:r>
              <a:rPr lang="fr-FR" dirty="0"/>
              <a:t>Lorsqu’on souhaite afficher une page Web, le navigateur envoie une requête HTTP au serveur</a:t>
            </a:r>
          </a:p>
          <a:p>
            <a:r>
              <a:rPr lang="fr-FR" dirty="0"/>
              <a:t>Cette requête est de type GET et elle contient en information l’URL que l’utilisateur cherche à atteindre et éventuellement des paramètres saisis dans l’URL sous la forme « ?nomDuParam1=valeurDuParam1&amp;nomDuParam2=valeurDuParam2 »</a:t>
            </a:r>
          </a:p>
          <a:p>
            <a:r>
              <a:rPr lang="fr-FR" dirty="0"/>
              <a:t>Le serveur interprète cette requête et retourne la page demandée à l’utilisateur</a:t>
            </a:r>
          </a:p>
          <a:p>
            <a:r>
              <a:rPr lang="fr-FR" dirty="0"/>
              <a:t>Lorsqu’on envoie un formulaire, le navigateur envoie (généralement) une requête de type POST avec les valeurs du formulaires en paramètre (le traitement effectué par le serveur est identique à celui de la requête GET)</a:t>
            </a:r>
          </a:p>
        </p:txBody>
      </p:sp>
      <p:sp>
        <p:nvSpPr>
          <p:cNvPr id="4" name="Espace réservé du numéro de diapositive 3">
            <a:extLst>
              <a:ext uri="{FF2B5EF4-FFF2-40B4-BE49-F238E27FC236}">
                <a16:creationId xmlns:a16="http://schemas.microsoft.com/office/drawing/2014/main" id="{539E442D-E23B-43BB-BEEC-FDCC9853996B}"/>
              </a:ext>
            </a:extLst>
          </p:cNvPr>
          <p:cNvSpPr>
            <a:spLocks noGrp="1"/>
          </p:cNvSpPr>
          <p:nvPr>
            <p:ph type="sldNum" sz="quarter" idx="12"/>
          </p:nvPr>
        </p:nvSpPr>
        <p:spPr/>
        <p:txBody>
          <a:bodyPr/>
          <a:lstStyle/>
          <a:p>
            <a:fld id="{27C6CCC6-2BE5-4E42-96A4-D1E8E81A3D8E}" type="slidenum">
              <a:rPr lang="de-DE" smtClean="0"/>
              <a:t>254</a:t>
            </a:fld>
            <a:endParaRPr lang="de-DE"/>
          </a:p>
        </p:txBody>
      </p:sp>
    </p:spTree>
    <p:extLst>
      <p:ext uri="{BB962C8B-B14F-4D97-AF65-F5344CB8AC3E}">
        <p14:creationId xmlns:p14="http://schemas.microsoft.com/office/powerpoint/2010/main" val="1417508680"/>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499B40-933E-4E33-B89A-9E1C6762E96E}"/>
              </a:ext>
            </a:extLst>
          </p:cNvPr>
          <p:cNvSpPr>
            <a:spLocks noGrp="1"/>
          </p:cNvSpPr>
          <p:nvPr>
            <p:ph type="title"/>
          </p:nvPr>
        </p:nvSpPr>
        <p:spPr/>
        <p:txBody>
          <a:bodyPr/>
          <a:lstStyle/>
          <a:p>
            <a:r>
              <a:rPr lang="fr-FR" dirty="0"/>
              <a:t>Framework Spring</a:t>
            </a:r>
          </a:p>
        </p:txBody>
      </p:sp>
      <p:sp>
        <p:nvSpPr>
          <p:cNvPr id="3" name="Espace réservé du contenu 2">
            <a:extLst>
              <a:ext uri="{FF2B5EF4-FFF2-40B4-BE49-F238E27FC236}">
                <a16:creationId xmlns:a16="http://schemas.microsoft.com/office/drawing/2014/main" id="{2BF12D7A-F4CC-46E9-BE2D-FE1D588CBD87}"/>
              </a:ext>
            </a:extLst>
          </p:cNvPr>
          <p:cNvSpPr>
            <a:spLocks noGrp="1"/>
          </p:cNvSpPr>
          <p:nvPr>
            <p:ph idx="1"/>
          </p:nvPr>
        </p:nvSpPr>
        <p:spPr/>
        <p:txBody>
          <a:bodyPr anchor="ctr"/>
          <a:lstStyle/>
          <a:p>
            <a:r>
              <a:rPr lang="fr-FR" dirty="0"/>
              <a:t>Spring (et plus particulièrement Spring Boot) est un </a:t>
            </a:r>
            <a:r>
              <a:rPr lang="fr-FR" dirty="0" err="1"/>
              <a:t>framework</a:t>
            </a:r>
            <a:r>
              <a:rPr lang="fr-FR" dirty="0"/>
              <a:t> Java couvrant l’application et fournissant les outils pour se connecter à la base de données et fournir un affichage au client</a:t>
            </a:r>
            <a:endParaRPr lang="fr-FR" u="sng" dirty="0"/>
          </a:p>
        </p:txBody>
      </p:sp>
      <p:sp>
        <p:nvSpPr>
          <p:cNvPr id="4" name="Espace réservé du numéro de diapositive 3">
            <a:extLst>
              <a:ext uri="{FF2B5EF4-FFF2-40B4-BE49-F238E27FC236}">
                <a16:creationId xmlns:a16="http://schemas.microsoft.com/office/drawing/2014/main" id="{34FFE7BB-70C8-4AAE-80C1-B4221907E9E8}"/>
              </a:ext>
            </a:extLst>
          </p:cNvPr>
          <p:cNvSpPr>
            <a:spLocks noGrp="1"/>
          </p:cNvSpPr>
          <p:nvPr>
            <p:ph type="sldNum" sz="quarter" idx="12"/>
          </p:nvPr>
        </p:nvSpPr>
        <p:spPr/>
        <p:txBody>
          <a:bodyPr/>
          <a:lstStyle/>
          <a:p>
            <a:fld id="{27C6CCC6-2BE5-4E42-96A4-D1E8E81A3D8E}" type="slidenum">
              <a:rPr lang="de-DE" smtClean="0"/>
              <a:t>255</a:t>
            </a:fld>
            <a:endParaRPr lang="de-DE"/>
          </a:p>
        </p:txBody>
      </p:sp>
    </p:spTree>
    <p:extLst>
      <p:ext uri="{BB962C8B-B14F-4D97-AF65-F5344CB8AC3E}">
        <p14:creationId xmlns:p14="http://schemas.microsoft.com/office/powerpoint/2010/main" val="2997088118"/>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499B40-933E-4E33-B89A-9E1C6762E96E}"/>
              </a:ext>
            </a:extLst>
          </p:cNvPr>
          <p:cNvSpPr>
            <a:spLocks noGrp="1"/>
          </p:cNvSpPr>
          <p:nvPr>
            <p:ph type="title"/>
          </p:nvPr>
        </p:nvSpPr>
        <p:spPr/>
        <p:txBody>
          <a:bodyPr/>
          <a:lstStyle/>
          <a:p>
            <a:r>
              <a:rPr lang="fr-FR" dirty="0"/>
              <a:t>Framework Spring</a:t>
            </a:r>
          </a:p>
        </p:txBody>
      </p:sp>
      <p:sp>
        <p:nvSpPr>
          <p:cNvPr id="3" name="Espace réservé du contenu 2">
            <a:extLst>
              <a:ext uri="{FF2B5EF4-FFF2-40B4-BE49-F238E27FC236}">
                <a16:creationId xmlns:a16="http://schemas.microsoft.com/office/drawing/2014/main" id="{2BF12D7A-F4CC-46E9-BE2D-FE1D588CBD87}"/>
              </a:ext>
            </a:extLst>
          </p:cNvPr>
          <p:cNvSpPr>
            <a:spLocks noGrp="1"/>
          </p:cNvSpPr>
          <p:nvPr>
            <p:ph idx="1"/>
          </p:nvPr>
        </p:nvSpPr>
        <p:spPr/>
        <p:txBody>
          <a:bodyPr anchor="ctr"/>
          <a:lstStyle/>
          <a:p>
            <a:r>
              <a:rPr lang="fr-FR" dirty="0"/>
              <a:t>Le framework automatise/simplifie certaines opérations de conception de la partie informatique du SI que nous avons pu voir jusqu’à présent, notamment :</a:t>
            </a:r>
          </a:p>
          <a:p>
            <a:pPr lvl="1"/>
            <a:r>
              <a:rPr lang="fr-FR" dirty="0"/>
              <a:t>Automatisation de l’écriture des requêtes SQL </a:t>
            </a:r>
            <a:r>
              <a:rPr lang="fr-FR" b="1" dirty="0"/>
              <a:t>(abstraction de la solution SGBD utilisée)</a:t>
            </a:r>
          </a:p>
          <a:p>
            <a:pPr lvl="1"/>
            <a:r>
              <a:rPr lang="fr-FR" dirty="0"/>
              <a:t>Système de </a:t>
            </a:r>
            <a:r>
              <a:rPr lang="fr-FR" dirty="0" err="1"/>
              <a:t>template</a:t>
            </a:r>
            <a:r>
              <a:rPr lang="fr-FR" dirty="0"/>
              <a:t> pour la génération des pages HTML (composition de la vue standardisée)</a:t>
            </a:r>
          </a:p>
          <a:p>
            <a:pPr lvl="1"/>
            <a:r>
              <a:rPr lang="fr-FR" dirty="0"/>
              <a:t>Serveur web et/ou de BDD embarqué (déploiement facilité)</a:t>
            </a:r>
          </a:p>
          <a:p>
            <a:pPr lvl="1"/>
            <a:r>
              <a:rPr lang="fr-FR" dirty="0"/>
              <a:t>Architecture MVC pour la réalisation de la logique application (meilleure maintenabilité et évolutivité du code)</a:t>
            </a:r>
          </a:p>
        </p:txBody>
      </p:sp>
      <p:sp>
        <p:nvSpPr>
          <p:cNvPr id="4" name="Espace réservé du numéro de diapositive 3">
            <a:extLst>
              <a:ext uri="{FF2B5EF4-FFF2-40B4-BE49-F238E27FC236}">
                <a16:creationId xmlns:a16="http://schemas.microsoft.com/office/drawing/2014/main" id="{34FFE7BB-70C8-4AAE-80C1-B4221907E9E8}"/>
              </a:ext>
            </a:extLst>
          </p:cNvPr>
          <p:cNvSpPr>
            <a:spLocks noGrp="1"/>
          </p:cNvSpPr>
          <p:nvPr>
            <p:ph type="sldNum" sz="quarter" idx="12"/>
          </p:nvPr>
        </p:nvSpPr>
        <p:spPr/>
        <p:txBody>
          <a:bodyPr/>
          <a:lstStyle/>
          <a:p>
            <a:fld id="{27C6CCC6-2BE5-4E42-96A4-D1E8E81A3D8E}" type="slidenum">
              <a:rPr lang="de-DE" smtClean="0"/>
              <a:t>256</a:t>
            </a:fld>
            <a:endParaRPr lang="de-DE"/>
          </a:p>
        </p:txBody>
      </p:sp>
    </p:spTree>
    <p:extLst>
      <p:ext uri="{BB962C8B-B14F-4D97-AF65-F5344CB8AC3E}">
        <p14:creationId xmlns:p14="http://schemas.microsoft.com/office/powerpoint/2010/main" val="2163046681"/>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499B40-933E-4E33-B89A-9E1C6762E96E}"/>
              </a:ext>
            </a:extLst>
          </p:cNvPr>
          <p:cNvSpPr>
            <a:spLocks noGrp="1"/>
          </p:cNvSpPr>
          <p:nvPr>
            <p:ph type="title"/>
          </p:nvPr>
        </p:nvSpPr>
        <p:spPr/>
        <p:txBody>
          <a:bodyPr/>
          <a:lstStyle/>
          <a:p>
            <a:r>
              <a:rPr lang="fr-FR" dirty="0"/>
              <a:t>Framework Spring</a:t>
            </a:r>
          </a:p>
        </p:txBody>
      </p:sp>
      <p:sp>
        <p:nvSpPr>
          <p:cNvPr id="3" name="Espace réservé du contenu 2">
            <a:extLst>
              <a:ext uri="{FF2B5EF4-FFF2-40B4-BE49-F238E27FC236}">
                <a16:creationId xmlns:a16="http://schemas.microsoft.com/office/drawing/2014/main" id="{2BF12D7A-F4CC-46E9-BE2D-FE1D588CBD87}"/>
              </a:ext>
            </a:extLst>
          </p:cNvPr>
          <p:cNvSpPr>
            <a:spLocks noGrp="1"/>
          </p:cNvSpPr>
          <p:nvPr>
            <p:ph idx="1"/>
          </p:nvPr>
        </p:nvSpPr>
        <p:spPr>
          <a:xfrm>
            <a:off x="818712" y="2222287"/>
            <a:ext cx="10554574" cy="490599"/>
          </a:xfrm>
        </p:spPr>
        <p:txBody>
          <a:bodyPr anchor="t"/>
          <a:lstStyle/>
          <a:p>
            <a:r>
              <a:rPr lang="fr-FR" dirty="0"/>
              <a:t>Principe de fonctionnement d’une application Spring</a:t>
            </a:r>
          </a:p>
          <a:p>
            <a:endParaRPr lang="fr-FR" u="sng" dirty="0"/>
          </a:p>
          <a:p>
            <a:endParaRPr lang="fr-FR" u="sng" dirty="0"/>
          </a:p>
        </p:txBody>
      </p:sp>
      <p:sp>
        <p:nvSpPr>
          <p:cNvPr id="4" name="Espace réservé du numéro de diapositive 3">
            <a:extLst>
              <a:ext uri="{FF2B5EF4-FFF2-40B4-BE49-F238E27FC236}">
                <a16:creationId xmlns:a16="http://schemas.microsoft.com/office/drawing/2014/main" id="{34FFE7BB-70C8-4AAE-80C1-B4221907E9E8}"/>
              </a:ext>
            </a:extLst>
          </p:cNvPr>
          <p:cNvSpPr>
            <a:spLocks noGrp="1"/>
          </p:cNvSpPr>
          <p:nvPr>
            <p:ph type="sldNum" sz="quarter" idx="12"/>
          </p:nvPr>
        </p:nvSpPr>
        <p:spPr/>
        <p:txBody>
          <a:bodyPr/>
          <a:lstStyle/>
          <a:p>
            <a:fld id="{27C6CCC6-2BE5-4E42-96A4-D1E8E81A3D8E}" type="slidenum">
              <a:rPr lang="de-DE" smtClean="0"/>
              <a:t>257</a:t>
            </a:fld>
            <a:endParaRPr lang="de-DE"/>
          </a:p>
        </p:txBody>
      </p:sp>
      <p:sp>
        <p:nvSpPr>
          <p:cNvPr id="5" name="Émoticône 4">
            <a:extLst>
              <a:ext uri="{FF2B5EF4-FFF2-40B4-BE49-F238E27FC236}">
                <a16:creationId xmlns:a16="http://schemas.microsoft.com/office/drawing/2014/main" id="{13185AA2-6EE4-48F7-8A7C-94D1BED56687}"/>
              </a:ext>
            </a:extLst>
          </p:cNvPr>
          <p:cNvSpPr/>
          <p:nvPr/>
        </p:nvSpPr>
        <p:spPr>
          <a:xfrm>
            <a:off x="1234036" y="3859888"/>
            <a:ext cx="612397" cy="570451"/>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Rectangle 5">
            <a:extLst>
              <a:ext uri="{FF2B5EF4-FFF2-40B4-BE49-F238E27FC236}">
                <a16:creationId xmlns:a16="http://schemas.microsoft.com/office/drawing/2014/main" id="{046D886C-C56D-4369-A630-D08AC5FF93D6}"/>
              </a:ext>
            </a:extLst>
          </p:cNvPr>
          <p:cNvSpPr/>
          <p:nvPr/>
        </p:nvSpPr>
        <p:spPr>
          <a:xfrm>
            <a:off x="4819711" y="3830526"/>
            <a:ext cx="1786855" cy="6291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Controller</a:t>
            </a:r>
          </a:p>
        </p:txBody>
      </p:sp>
      <p:sp>
        <p:nvSpPr>
          <p:cNvPr id="7" name="Rectangle 6">
            <a:extLst>
              <a:ext uri="{FF2B5EF4-FFF2-40B4-BE49-F238E27FC236}">
                <a16:creationId xmlns:a16="http://schemas.microsoft.com/office/drawing/2014/main" id="{32B165AB-0BC3-45F7-B6F0-2C25DDD2D4AD}"/>
              </a:ext>
            </a:extLst>
          </p:cNvPr>
          <p:cNvSpPr/>
          <p:nvPr/>
        </p:nvSpPr>
        <p:spPr>
          <a:xfrm>
            <a:off x="7228830" y="3830528"/>
            <a:ext cx="1786855" cy="6291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Repository</a:t>
            </a:r>
          </a:p>
        </p:txBody>
      </p:sp>
      <p:cxnSp>
        <p:nvCxnSpPr>
          <p:cNvPr id="9" name="Connecteur droit avec flèche 8">
            <a:extLst>
              <a:ext uri="{FF2B5EF4-FFF2-40B4-BE49-F238E27FC236}">
                <a16:creationId xmlns:a16="http://schemas.microsoft.com/office/drawing/2014/main" id="{B2029549-EA81-406A-B477-A966599D7D3E}"/>
              </a:ext>
            </a:extLst>
          </p:cNvPr>
          <p:cNvCxnSpPr>
            <a:stCxn id="6" idx="3"/>
            <a:endCxn id="7" idx="1"/>
          </p:cNvCxnSpPr>
          <p:nvPr/>
        </p:nvCxnSpPr>
        <p:spPr>
          <a:xfrm>
            <a:off x="6606566" y="4145113"/>
            <a:ext cx="622264" cy="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Ellipse 9">
            <a:extLst>
              <a:ext uri="{FF2B5EF4-FFF2-40B4-BE49-F238E27FC236}">
                <a16:creationId xmlns:a16="http://schemas.microsoft.com/office/drawing/2014/main" id="{E5D16469-867B-4705-BBA3-4492662D31FE}"/>
              </a:ext>
            </a:extLst>
          </p:cNvPr>
          <p:cNvSpPr/>
          <p:nvPr/>
        </p:nvSpPr>
        <p:spPr>
          <a:xfrm>
            <a:off x="9579844" y="3830528"/>
            <a:ext cx="1694576" cy="6291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Base de données</a:t>
            </a:r>
          </a:p>
        </p:txBody>
      </p:sp>
      <p:sp>
        <p:nvSpPr>
          <p:cNvPr id="14" name="Rectangle : coins arrondis 13">
            <a:extLst>
              <a:ext uri="{FF2B5EF4-FFF2-40B4-BE49-F238E27FC236}">
                <a16:creationId xmlns:a16="http://schemas.microsoft.com/office/drawing/2014/main" id="{D55A2E0C-1B37-49F2-9B1E-B39FDA1D3DC1}"/>
              </a:ext>
            </a:extLst>
          </p:cNvPr>
          <p:cNvSpPr/>
          <p:nvPr/>
        </p:nvSpPr>
        <p:spPr>
          <a:xfrm>
            <a:off x="2410592" y="3859889"/>
            <a:ext cx="1786855" cy="5704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Navigateur</a:t>
            </a:r>
          </a:p>
        </p:txBody>
      </p:sp>
      <p:cxnSp>
        <p:nvCxnSpPr>
          <p:cNvPr id="17" name="Connecteur droit avec flèche 16">
            <a:extLst>
              <a:ext uri="{FF2B5EF4-FFF2-40B4-BE49-F238E27FC236}">
                <a16:creationId xmlns:a16="http://schemas.microsoft.com/office/drawing/2014/main" id="{1B45B00E-C14A-44E3-A16A-7DC68A65173C}"/>
              </a:ext>
            </a:extLst>
          </p:cNvPr>
          <p:cNvCxnSpPr>
            <a:stCxn id="5" idx="6"/>
            <a:endCxn id="14" idx="1"/>
          </p:cNvCxnSpPr>
          <p:nvPr/>
        </p:nvCxnSpPr>
        <p:spPr>
          <a:xfrm>
            <a:off x="1846433" y="4145114"/>
            <a:ext cx="564159" cy="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a:extLst>
              <a:ext uri="{FF2B5EF4-FFF2-40B4-BE49-F238E27FC236}">
                <a16:creationId xmlns:a16="http://schemas.microsoft.com/office/drawing/2014/main" id="{6D9591C1-1309-49A4-A9FD-67019A53666D}"/>
              </a:ext>
            </a:extLst>
          </p:cNvPr>
          <p:cNvCxnSpPr>
            <a:stCxn id="14" idx="3"/>
            <a:endCxn id="6" idx="1"/>
          </p:cNvCxnSpPr>
          <p:nvPr/>
        </p:nvCxnSpPr>
        <p:spPr>
          <a:xfrm flipV="1">
            <a:off x="4197447" y="4145113"/>
            <a:ext cx="622264" cy="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CF4A2289-62C8-4BE3-AF9D-BEB741617CD8}"/>
              </a:ext>
            </a:extLst>
          </p:cNvPr>
          <p:cNvCxnSpPr>
            <a:stCxn id="7" idx="3"/>
            <a:endCxn id="10" idx="2"/>
          </p:cNvCxnSpPr>
          <p:nvPr/>
        </p:nvCxnSpPr>
        <p:spPr>
          <a:xfrm>
            <a:off x="9015685" y="4145115"/>
            <a:ext cx="564159"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ZoneTexte 32">
            <a:extLst>
              <a:ext uri="{FF2B5EF4-FFF2-40B4-BE49-F238E27FC236}">
                <a16:creationId xmlns:a16="http://schemas.microsoft.com/office/drawing/2014/main" id="{CBD8CAF3-E06B-4649-8E0A-6C2C48AB5FE5}"/>
              </a:ext>
            </a:extLst>
          </p:cNvPr>
          <p:cNvSpPr txBox="1"/>
          <p:nvPr/>
        </p:nvSpPr>
        <p:spPr>
          <a:xfrm>
            <a:off x="1435548" y="3001352"/>
            <a:ext cx="1874231" cy="646331"/>
          </a:xfrm>
          <a:prstGeom prst="rect">
            <a:avLst/>
          </a:prstGeom>
          <a:noFill/>
        </p:spPr>
        <p:txBody>
          <a:bodyPr wrap="none" rtlCol="0">
            <a:spAutoFit/>
          </a:bodyPr>
          <a:lstStyle/>
          <a:p>
            <a:r>
              <a:rPr lang="fr-FR" dirty="0"/>
              <a:t>Le client clique</a:t>
            </a:r>
          </a:p>
          <a:p>
            <a:r>
              <a:rPr lang="fr-FR" dirty="0"/>
              <a:t>sur un lien</a:t>
            </a:r>
          </a:p>
        </p:txBody>
      </p:sp>
      <p:sp>
        <p:nvSpPr>
          <p:cNvPr id="34" name="ZoneTexte 33">
            <a:extLst>
              <a:ext uri="{FF2B5EF4-FFF2-40B4-BE49-F238E27FC236}">
                <a16:creationId xmlns:a16="http://schemas.microsoft.com/office/drawing/2014/main" id="{0256C2C0-DB59-448B-93F3-FCF04C30AF10}"/>
              </a:ext>
            </a:extLst>
          </p:cNvPr>
          <p:cNvSpPr txBox="1"/>
          <p:nvPr/>
        </p:nvSpPr>
        <p:spPr>
          <a:xfrm>
            <a:off x="3704603" y="2861494"/>
            <a:ext cx="1731564" cy="923330"/>
          </a:xfrm>
          <a:prstGeom prst="rect">
            <a:avLst/>
          </a:prstGeom>
          <a:noFill/>
        </p:spPr>
        <p:txBody>
          <a:bodyPr wrap="none" rtlCol="0">
            <a:spAutoFit/>
          </a:bodyPr>
          <a:lstStyle/>
          <a:p>
            <a:r>
              <a:rPr lang="fr-FR" dirty="0"/>
              <a:t>Le navigateur</a:t>
            </a:r>
          </a:p>
          <a:p>
            <a:r>
              <a:rPr lang="fr-FR" dirty="0"/>
              <a:t>transmet une </a:t>
            </a:r>
          </a:p>
          <a:p>
            <a:r>
              <a:rPr lang="fr-FR" dirty="0"/>
              <a:t>requête HTTP</a:t>
            </a:r>
          </a:p>
        </p:txBody>
      </p:sp>
      <p:sp>
        <p:nvSpPr>
          <p:cNvPr id="35" name="ZoneTexte 34">
            <a:extLst>
              <a:ext uri="{FF2B5EF4-FFF2-40B4-BE49-F238E27FC236}">
                <a16:creationId xmlns:a16="http://schemas.microsoft.com/office/drawing/2014/main" id="{EA6B55F6-E542-48FE-9F22-38C960BA274F}"/>
              </a:ext>
            </a:extLst>
          </p:cNvPr>
          <p:cNvSpPr txBox="1"/>
          <p:nvPr/>
        </p:nvSpPr>
        <p:spPr>
          <a:xfrm>
            <a:off x="5919932" y="2861494"/>
            <a:ext cx="2297424" cy="923330"/>
          </a:xfrm>
          <a:prstGeom prst="rect">
            <a:avLst/>
          </a:prstGeom>
          <a:noFill/>
        </p:spPr>
        <p:txBody>
          <a:bodyPr wrap="none" rtlCol="0">
            <a:spAutoFit/>
          </a:bodyPr>
          <a:lstStyle/>
          <a:p>
            <a:r>
              <a:rPr lang="fr-FR" dirty="0"/>
              <a:t>Le contrôleur traite</a:t>
            </a:r>
          </a:p>
          <a:p>
            <a:r>
              <a:rPr lang="fr-FR" dirty="0"/>
              <a:t>et interroge le</a:t>
            </a:r>
          </a:p>
          <a:p>
            <a:r>
              <a:rPr lang="fr-FR" dirty="0"/>
              <a:t>Repository (DAO)</a:t>
            </a:r>
          </a:p>
        </p:txBody>
      </p:sp>
      <p:sp>
        <p:nvSpPr>
          <p:cNvPr id="36" name="ZoneTexte 35">
            <a:extLst>
              <a:ext uri="{FF2B5EF4-FFF2-40B4-BE49-F238E27FC236}">
                <a16:creationId xmlns:a16="http://schemas.microsoft.com/office/drawing/2014/main" id="{CAA0F300-FA70-4731-B56E-019D6062AEA6}"/>
              </a:ext>
            </a:extLst>
          </p:cNvPr>
          <p:cNvSpPr txBox="1"/>
          <p:nvPr/>
        </p:nvSpPr>
        <p:spPr>
          <a:xfrm>
            <a:off x="8473186" y="3026903"/>
            <a:ext cx="2667718" cy="646331"/>
          </a:xfrm>
          <a:prstGeom prst="rect">
            <a:avLst/>
          </a:prstGeom>
          <a:noFill/>
        </p:spPr>
        <p:txBody>
          <a:bodyPr wrap="none" rtlCol="0">
            <a:spAutoFit/>
          </a:bodyPr>
          <a:lstStyle/>
          <a:p>
            <a:r>
              <a:rPr lang="fr-FR" dirty="0"/>
              <a:t>Le repository interroge</a:t>
            </a:r>
          </a:p>
          <a:p>
            <a:r>
              <a:rPr lang="fr-FR" dirty="0"/>
              <a:t>la BDD</a:t>
            </a:r>
          </a:p>
        </p:txBody>
      </p:sp>
      <p:sp>
        <p:nvSpPr>
          <p:cNvPr id="37" name="ZoneTexte 36">
            <a:extLst>
              <a:ext uri="{FF2B5EF4-FFF2-40B4-BE49-F238E27FC236}">
                <a16:creationId xmlns:a16="http://schemas.microsoft.com/office/drawing/2014/main" id="{F1418034-B1C4-49EB-B74B-00B57A197189}"/>
              </a:ext>
            </a:extLst>
          </p:cNvPr>
          <p:cNvSpPr txBox="1"/>
          <p:nvPr/>
        </p:nvSpPr>
        <p:spPr>
          <a:xfrm>
            <a:off x="8473186" y="4743784"/>
            <a:ext cx="2103461" cy="646331"/>
          </a:xfrm>
          <a:prstGeom prst="rect">
            <a:avLst/>
          </a:prstGeom>
          <a:noFill/>
        </p:spPr>
        <p:txBody>
          <a:bodyPr wrap="none" rtlCol="0">
            <a:spAutoFit/>
          </a:bodyPr>
          <a:lstStyle/>
          <a:p>
            <a:r>
              <a:rPr lang="fr-FR" dirty="0"/>
              <a:t>La BDD fournit les</a:t>
            </a:r>
          </a:p>
          <a:p>
            <a:r>
              <a:rPr lang="fr-FR" dirty="0"/>
              <a:t>résultats</a:t>
            </a:r>
          </a:p>
        </p:txBody>
      </p:sp>
      <p:sp>
        <p:nvSpPr>
          <p:cNvPr id="38" name="ZoneTexte 37">
            <a:extLst>
              <a:ext uri="{FF2B5EF4-FFF2-40B4-BE49-F238E27FC236}">
                <a16:creationId xmlns:a16="http://schemas.microsoft.com/office/drawing/2014/main" id="{FACC4138-06A8-4801-8604-B3F2ED7152A8}"/>
              </a:ext>
            </a:extLst>
          </p:cNvPr>
          <p:cNvSpPr txBox="1"/>
          <p:nvPr/>
        </p:nvSpPr>
        <p:spPr>
          <a:xfrm>
            <a:off x="6141466" y="4743784"/>
            <a:ext cx="2255746" cy="923330"/>
          </a:xfrm>
          <a:prstGeom prst="rect">
            <a:avLst/>
          </a:prstGeom>
          <a:noFill/>
        </p:spPr>
        <p:txBody>
          <a:bodyPr wrap="none" rtlCol="0">
            <a:spAutoFit/>
          </a:bodyPr>
          <a:lstStyle/>
          <a:p>
            <a:r>
              <a:rPr lang="fr-FR" dirty="0"/>
              <a:t>Le repository </a:t>
            </a:r>
          </a:p>
          <a:p>
            <a:r>
              <a:rPr lang="fr-FR" dirty="0"/>
              <a:t>donne les résultats</a:t>
            </a:r>
          </a:p>
          <a:p>
            <a:r>
              <a:rPr lang="fr-FR" dirty="0"/>
              <a:t>au contrôleur</a:t>
            </a:r>
          </a:p>
        </p:txBody>
      </p:sp>
      <p:sp>
        <p:nvSpPr>
          <p:cNvPr id="39" name="ZoneTexte 38">
            <a:extLst>
              <a:ext uri="{FF2B5EF4-FFF2-40B4-BE49-F238E27FC236}">
                <a16:creationId xmlns:a16="http://schemas.microsoft.com/office/drawing/2014/main" id="{7670AD52-A2EB-4CC2-A74F-231F6CF4ED8E}"/>
              </a:ext>
            </a:extLst>
          </p:cNvPr>
          <p:cNvSpPr txBox="1"/>
          <p:nvPr/>
        </p:nvSpPr>
        <p:spPr>
          <a:xfrm>
            <a:off x="3688219" y="4605284"/>
            <a:ext cx="2340705" cy="1477328"/>
          </a:xfrm>
          <a:prstGeom prst="rect">
            <a:avLst/>
          </a:prstGeom>
          <a:noFill/>
        </p:spPr>
        <p:txBody>
          <a:bodyPr wrap="none" rtlCol="0">
            <a:spAutoFit/>
          </a:bodyPr>
          <a:lstStyle/>
          <a:p>
            <a:r>
              <a:rPr lang="fr-FR" dirty="0"/>
              <a:t>Le contrôleur</a:t>
            </a:r>
          </a:p>
          <a:p>
            <a:r>
              <a:rPr lang="fr-FR" dirty="0"/>
              <a:t>génère et transmet</a:t>
            </a:r>
          </a:p>
          <a:p>
            <a:r>
              <a:rPr lang="fr-FR" dirty="0"/>
              <a:t>une page</a:t>
            </a:r>
          </a:p>
          <a:p>
            <a:r>
              <a:rPr lang="fr-FR" dirty="0"/>
              <a:t>Web à partir des</a:t>
            </a:r>
          </a:p>
          <a:p>
            <a:r>
              <a:rPr lang="fr-FR" dirty="0"/>
              <a:t>résultats</a:t>
            </a:r>
          </a:p>
        </p:txBody>
      </p:sp>
      <p:sp>
        <p:nvSpPr>
          <p:cNvPr id="40" name="ZoneTexte 39">
            <a:extLst>
              <a:ext uri="{FF2B5EF4-FFF2-40B4-BE49-F238E27FC236}">
                <a16:creationId xmlns:a16="http://schemas.microsoft.com/office/drawing/2014/main" id="{51DFE985-D66C-40C1-9AA3-A941B923AFA0}"/>
              </a:ext>
            </a:extLst>
          </p:cNvPr>
          <p:cNvSpPr txBox="1"/>
          <p:nvPr/>
        </p:nvSpPr>
        <p:spPr>
          <a:xfrm>
            <a:off x="1435548" y="4575923"/>
            <a:ext cx="1939955" cy="923330"/>
          </a:xfrm>
          <a:prstGeom prst="rect">
            <a:avLst/>
          </a:prstGeom>
          <a:noFill/>
        </p:spPr>
        <p:txBody>
          <a:bodyPr wrap="none" rtlCol="0">
            <a:spAutoFit/>
          </a:bodyPr>
          <a:lstStyle/>
          <a:p>
            <a:r>
              <a:rPr lang="fr-FR" dirty="0"/>
              <a:t>Le navigateur</a:t>
            </a:r>
          </a:p>
          <a:p>
            <a:r>
              <a:rPr lang="fr-FR" dirty="0"/>
              <a:t>affiche la page</a:t>
            </a:r>
          </a:p>
          <a:p>
            <a:r>
              <a:rPr lang="fr-FR" dirty="0"/>
              <a:t>web</a:t>
            </a:r>
          </a:p>
        </p:txBody>
      </p:sp>
      <p:cxnSp>
        <p:nvCxnSpPr>
          <p:cNvPr id="42" name="Connecteur droit avec flèche 41">
            <a:extLst>
              <a:ext uri="{FF2B5EF4-FFF2-40B4-BE49-F238E27FC236}">
                <a16:creationId xmlns:a16="http://schemas.microsoft.com/office/drawing/2014/main" id="{EBEEE414-2322-41AA-A957-7FCCD61AD99A}"/>
              </a:ext>
            </a:extLst>
          </p:cNvPr>
          <p:cNvCxnSpPr>
            <a:cxnSpLocks/>
            <a:stCxn id="33" idx="3"/>
            <a:endCxn id="34" idx="1"/>
          </p:cNvCxnSpPr>
          <p:nvPr/>
        </p:nvCxnSpPr>
        <p:spPr>
          <a:xfrm flipV="1">
            <a:off x="3309779" y="3323159"/>
            <a:ext cx="394824" cy="1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2D1C6F26-5672-43E1-9701-C62D51E59E95}"/>
              </a:ext>
            </a:extLst>
          </p:cNvPr>
          <p:cNvCxnSpPr>
            <a:cxnSpLocks/>
          </p:cNvCxnSpPr>
          <p:nvPr/>
        </p:nvCxnSpPr>
        <p:spPr>
          <a:xfrm flipV="1">
            <a:off x="5436167" y="3323159"/>
            <a:ext cx="394824" cy="1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C9A227C4-0671-4E0F-90FA-996707187A4B}"/>
              </a:ext>
            </a:extLst>
          </p:cNvPr>
          <p:cNvCxnSpPr>
            <a:cxnSpLocks/>
          </p:cNvCxnSpPr>
          <p:nvPr/>
        </p:nvCxnSpPr>
        <p:spPr>
          <a:xfrm flipV="1">
            <a:off x="8100592" y="3323159"/>
            <a:ext cx="394824" cy="1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054B7E1A-F9D1-4C0F-A036-207BCFC4EB46}"/>
              </a:ext>
            </a:extLst>
          </p:cNvPr>
          <p:cNvCxnSpPr>
            <a:cxnSpLocks/>
          </p:cNvCxnSpPr>
          <p:nvPr/>
        </p:nvCxnSpPr>
        <p:spPr>
          <a:xfrm flipH="1" flipV="1">
            <a:off x="8217356" y="5066949"/>
            <a:ext cx="31415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D628DE64-269F-450E-82A6-267F1E4F2D71}"/>
              </a:ext>
            </a:extLst>
          </p:cNvPr>
          <p:cNvCxnSpPr>
            <a:cxnSpLocks/>
          </p:cNvCxnSpPr>
          <p:nvPr/>
        </p:nvCxnSpPr>
        <p:spPr>
          <a:xfrm flipH="1" flipV="1">
            <a:off x="5899370" y="5066949"/>
            <a:ext cx="31415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Connecteur droit avec flèche 49">
            <a:extLst>
              <a:ext uri="{FF2B5EF4-FFF2-40B4-BE49-F238E27FC236}">
                <a16:creationId xmlns:a16="http://schemas.microsoft.com/office/drawing/2014/main" id="{90DEC610-3385-4670-9EF1-0417C83E8876}"/>
              </a:ext>
            </a:extLst>
          </p:cNvPr>
          <p:cNvCxnSpPr>
            <a:cxnSpLocks/>
          </p:cNvCxnSpPr>
          <p:nvPr/>
        </p:nvCxnSpPr>
        <p:spPr>
          <a:xfrm flipH="1" flipV="1">
            <a:off x="3390444" y="5066949"/>
            <a:ext cx="31415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8818363"/>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7572B3-FF0F-428A-8A9F-89F5C8F630BB}"/>
              </a:ext>
            </a:extLst>
          </p:cNvPr>
          <p:cNvSpPr>
            <a:spLocks noGrp="1"/>
          </p:cNvSpPr>
          <p:nvPr>
            <p:ph type="title"/>
          </p:nvPr>
        </p:nvSpPr>
        <p:spPr/>
        <p:txBody>
          <a:bodyPr/>
          <a:lstStyle/>
          <a:p>
            <a:r>
              <a:rPr lang="fr-FR" dirty="0"/>
              <a:t>Framework Spring</a:t>
            </a:r>
          </a:p>
        </p:txBody>
      </p:sp>
      <p:sp>
        <p:nvSpPr>
          <p:cNvPr id="3" name="Espace réservé du contenu 2">
            <a:extLst>
              <a:ext uri="{FF2B5EF4-FFF2-40B4-BE49-F238E27FC236}">
                <a16:creationId xmlns:a16="http://schemas.microsoft.com/office/drawing/2014/main" id="{00A7CD9E-BCB1-4762-8C1F-AF1981CC82A1}"/>
              </a:ext>
            </a:extLst>
          </p:cNvPr>
          <p:cNvSpPr>
            <a:spLocks noGrp="1"/>
          </p:cNvSpPr>
          <p:nvPr>
            <p:ph idx="1"/>
          </p:nvPr>
        </p:nvSpPr>
        <p:spPr/>
        <p:txBody>
          <a:bodyPr/>
          <a:lstStyle/>
          <a:p>
            <a:r>
              <a:rPr lang="fr-FR" dirty="0"/>
              <a:t>Le </a:t>
            </a:r>
            <a:r>
              <a:rPr lang="fr-FR" dirty="0" err="1"/>
              <a:t>framework</a:t>
            </a:r>
            <a:r>
              <a:rPr lang="fr-FR" dirty="0"/>
              <a:t> Spring (et Spring Boot) est un </a:t>
            </a:r>
            <a:r>
              <a:rPr lang="fr-FR" dirty="0" err="1"/>
              <a:t>framework</a:t>
            </a:r>
            <a:r>
              <a:rPr lang="fr-FR" dirty="0"/>
              <a:t> Java orienté objet</a:t>
            </a:r>
          </a:p>
          <a:p>
            <a:r>
              <a:rPr lang="fr-FR" dirty="0"/>
              <a:t>Le contrôleur est une « classe »</a:t>
            </a:r>
          </a:p>
          <a:p>
            <a:r>
              <a:rPr lang="fr-FR" dirty="0"/>
              <a:t>Le repository est une « interface »</a:t>
            </a:r>
          </a:p>
        </p:txBody>
      </p:sp>
      <p:sp>
        <p:nvSpPr>
          <p:cNvPr id="4" name="Espace réservé du numéro de diapositive 3">
            <a:extLst>
              <a:ext uri="{FF2B5EF4-FFF2-40B4-BE49-F238E27FC236}">
                <a16:creationId xmlns:a16="http://schemas.microsoft.com/office/drawing/2014/main" id="{5C4D9922-B1F6-46D3-9863-B8333216A103}"/>
              </a:ext>
            </a:extLst>
          </p:cNvPr>
          <p:cNvSpPr>
            <a:spLocks noGrp="1"/>
          </p:cNvSpPr>
          <p:nvPr>
            <p:ph type="sldNum" sz="quarter" idx="12"/>
          </p:nvPr>
        </p:nvSpPr>
        <p:spPr/>
        <p:txBody>
          <a:bodyPr/>
          <a:lstStyle/>
          <a:p>
            <a:fld id="{27C6CCC6-2BE5-4E42-96A4-D1E8E81A3D8E}" type="slidenum">
              <a:rPr lang="de-DE" smtClean="0"/>
              <a:t>258</a:t>
            </a:fld>
            <a:endParaRPr lang="de-DE"/>
          </a:p>
        </p:txBody>
      </p:sp>
    </p:spTree>
    <p:extLst>
      <p:ext uri="{BB962C8B-B14F-4D97-AF65-F5344CB8AC3E}">
        <p14:creationId xmlns:p14="http://schemas.microsoft.com/office/powerpoint/2010/main" val="831139569"/>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7572B3-FF0F-428A-8A9F-89F5C8F630BB}"/>
              </a:ext>
            </a:extLst>
          </p:cNvPr>
          <p:cNvSpPr>
            <a:spLocks noGrp="1"/>
          </p:cNvSpPr>
          <p:nvPr>
            <p:ph type="title"/>
          </p:nvPr>
        </p:nvSpPr>
        <p:spPr/>
        <p:txBody>
          <a:bodyPr/>
          <a:lstStyle/>
          <a:p>
            <a:r>
              <a:rPr lang="fr-FR" dirty="0"/>
              <a:t>Framework Spring</a:t>
            </a:r>
          </a:p>
        </p:txBody>
      </p:sp>
      <p:sp>
        <p:nvSpPr>
          <p:cNvPr id="3" name="Espace réservé du contenu 2">
            <a:extLst>
              <a:ext uri="{FF2B5EF4-FFF2-40B4-BE49-F238E27FC236}">
                <a16:creationId xmlns:a16="http://schemas.microsoft.com/office/drawing/2014/main" id="{00A7CD9E-BCB1-4762-8C1F-AF1981CC82A1}"/>
              </a:ext>
            </a:extLst>
          </p:cNvPr>
          <p:cNvSpPr>
            <a:spLocks noGrp="1"/>
          </p:cNvSpPr>
          <p:nvPr>
            <p:ph idx="1"/>
          </p:nvPr>
        </p:nvSpPr>
        <p:spPr/>
        <p:txBody>
          <a:bodyPr/>
          <a:lstStyle/>
          <a:p>
            <a:r>
              <a:rPr lang="fr-FR" dirty="0"/>
              <a:t>Les pages </a:t>
            </a:r>
            <a:r>
              <a:rPr lang="fr-FR" dirty="0" err="1"/>
              <a:t>webs</a:t>
            </a:r>
            <a:r>
              <a:rPr lang="fr-FR" dirty="0"/>
              <a:t> affichées sont des pages HTML (légèrement modifiées pour permettre au contrôleur d’injecter des données dans les pages)</a:t>
            </a:r>
          </a:p>
        </p:txBody>
      </p:sp>
      <p:sp>
        <p:nvSpPr>
          <p:cNvPr id="4" name="Espace réservé du numéro de diapositive 3">
            <a:extLst>
              <a:ext uri="{FF2B5EF4-FFF2-40B4-BE49-F238E27FC236}">
                <a16:creationId xmlns:a16="http://schemas.microsoft.com/office/drawing/2014/main" id="{5C4D9922-B1F6-46D3-9863-B8333216A103}"/>
              </a:ext>
            </a:extLst>
          </p:cNvPr>
          <p:cNvSpPr>
            <a:spLocks noGrp="1"/>
          </p:cNvSpPr>
          <p:nvPr>
            <p:ph type="sldNum" sz="quarter" idx="12"/>
          </p:nvPr>
        </p:nvSpPr>
        <p:spPr/>
        <p:txBody>
          <a:bodyPr/>
          <a:lstStyle/>
          <a:p>
            <a:fld id="{27C6CCC6-2BE5-4E42-96A4-D1E8E81A3D8E}" type="slidenum">
              <a:rPr lang="de-DE" smtClean="0"/>
              <a:t>259</a:t>
            </a:fld>
            <a:endParaRPr lang="de-DE"/>
          </a:p>
        </p:txBody>
      </p:sp>
    </p:spTree>
    <p:extLst>
      <p:ext uri="{BB962C8B-B14F-4D97-AF65-F5344CB8AC3E}">
        <p14:creationId xmlns:p14="http://schemas.microsoft.com/office/powerpoint/2010/main" val="1771567695"/>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7572B3-FF0F-428A-8A9F-89F5C8F630BB}"/>
              </a:ext>
            </a:extLst>
          </p:cNvPr>
          <p:cNvSpPr>
            <a:spLocks noGrp="1"/>
          </p:cNvSpPr>
          <p:nvPr>
            <p:ph type="title"/>
          </p:nvPr>
        </p:nvSpPr>
        <p:spPr/>
        <p:txBody>
          <a:bodyPr/>
          <a:lstStyle/>
          <a:p>
            <a:r>
              <a:rPr lang="fr-FR" dirty="0"/>
              <a:t>Framework Spring</a:t>
            </a:r>
          </a:p>
        </p:txBody>
      </p:sp>
      <p:sp>
        <p:nvSpPr>
          <p:cNvPr id="3" name="Espace réservé du contenu 2">
            <a:extLst>
              <a:ext uri="{FF2B5EF4-FFF2-40B4-BE49-F238E27FC236}">
                <a16:creationId xmlns:a16="http://schemas.microsoft.com/office/drawing/2014/main" id="{00A7CD9E-BCB1-4762-8C1F-AF1981CC82A1}"/>
              </a:ext>
            </a:extLst>
          </p:cNvPr>
          <p:cNvSpPr>
            <a:spLocks noGrp="1"/>
          </p:cNvSpPr>
          <p:nvPr>
            <p:ph idx="1"/>
          </p:nvPr>
        </p:nvSpPr>
        <p:spPr/>
        <p:txBody>
          <a:bodyPr/>
          <a:lstStyle/>
          <a:p>
            <a:r>
              <a:rPr lang="fr-FR" dirty="0"/>
              <a:t>Beaucoup d’outils sont inclus permettant d’automatiser le travail du développeur</a:t>
            </a:r>
          </a:p>
          <a:p>
            <a:r>
              <a:rPr lang="fr-FR" dirty="0"/>
              <a:t>Spring embarque un serveur web (pas besoin d’en installer un sur la machine)</a:t>
            </a:r>
          </a:p>
          <a:p>
            <a:r>
              <a:rPr lang="fr-FR" dirty="0"/>
              <a:t>Il peut également embarquer son propre serveur de base de données</a:t>
            </a:r>
          </a:p>
        </p:txBody>
      </p:sp>
      <p:sp>
        <p:nvSpPr>
          <p:cNvPr id="4" name="Espace réservé du numéro de diapositive 3">
            <a:extLst>
              <a:ext uri="{FF2B5EF4-FFF2-40B4-BE49-F238E27FC236}">
                <a16:creationId xmlns:a16="http://schemas.microsoft.com/office/drawing/2014/main" id="{5C4D9922-B1F6-46D3-9863-B8333216A103}"/>
              </a:ext>
            </a:extLst>
          </p:cNvPr>
          <p:cNvSpPr>
            <a:spLocks noGrp="1"/>
          </p:cNvSpPr>
          <p:nvPr>
            <p:ph type="sldNum" sz="quarter" idx="12"/>
          </p:nvPr>
        </p:nvSpPr>
        <p:spPr/>
        <p:txBody>
          <a:bodyPr/>
          <a:lstStyle/>
          <a:p>
            <a:fld id="{27C6CCC6-2BE5-4E42-96A4-D1E8E81A3D8E}" type="slidenum">
              <a:rPr lang="de-DE" smtClean="0"/>
              <a:t>260</a:t>
            </a:fld>
            <a:endParaRPr lang="de-DE"/>
          </a:p>
        </p:txBody>
      </p:sp>
    </p:spTree>
    <p:extLst>
      <p:ext uri="{BB962C8B-B14F-4D97-AF65-F5344CB8AC3E}">
        <p14:creationId xmlns:p14="http://schemas.microsoft.com/office/powerpoint/2010/main" val="2034198497"/>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D7C7DB-E8F1-4D2B-B1B2-536FEAA0E69A}"/>
              </a:ext>
            </a:extLst>
          </p:cNvPr>
          <p:cNvSpPr>
            <a:spLocks noGrp="1"/>
          </p:cNvSpPr>
          <p:nvPr>
            <p:ph type="title"/>
          </p:nvPr>
        </p:nvSpPr>
        <p:spPr/>
        <p:txBody>
          <a:bodyPr/>
          <a:lstStyle/>
          <a:p>
            <a:r>
              <a:rPr lang="fr-FR" dirty="0"/>
              <a:t>Framework Spring</a:t>
            </a:r>
          </a:p>
        </p:txBody>
      </p:sp>
      <p:sp>
        <p:nvSpPr>
          <p:cNvPr id="3" name="Espace réservé du contenu 2">
            <a:extLst>
              <a:ext uri="{FF2B5EF4-FFF2-40B4-BE49-F238E27FC236}">
                <a16:creationId xmlns:a16="http://schemas.microsoft.com/office/drawing/2014/main" id="{74A3DE8E-500B-464B-A314-13D895959AAC}"/>
              </a:ext>
            </a:extLst>
          </p:cNvPr>
          <p:cNvSpPr>
            <a:spLocks noGrp="1"/>
          </p:cNvSpPr>
          <p:nvPr>
            <p:ph idx="1"/>
          </p:nvPr>
        </p:nvSpPr>
        <p:spPr/>
        <p:txBody>
          <a:bodyPr>
            <a:normAutofit/>
          </a:bodyPr>
          <a:lstStyle/>
          <a:p>
            <a:r>
              <a:rPr lang="fr-FR" dirty="0"/>
              <a:t>Pour faciliter l’intégration entre Java et la base de données, des outils sont proposés</a:t>
            </a:r>
          </a:p>
          <a:p>
            <a:r>
              <a:rPr lang="fr-FR" dirty="0"/>
              <a:t>Il est notamment possible d’inclure l’Object </a:t>
            </a:r>
            <a:r>
              <a:rPr lang="fr-FR" dirty="0" err="1"/>
              <a:t>Relationnal</a:t>
            </a:r>
            <a:r>
              <a:rPr lang="fr-FR" dirty="0"/>
              <a:t> Mapping (ORM) qui permet de convertir directement des objets Java en tables (en ajoutant l’annotation @</a:t>
            </a:r>
            <a:r>
              <a:rPr lang="fr-FR" dirty="0" err="1"/>
              <a:t>Entity</a:t>
            </a:r>
            <a:r>
              <a:rPr lang="fr-FR" dirty="0"/>
              <a:t> sur les objets) – le standard Java pour l’ORM est JPA (Java </a:t>
            </a:r>
            <a:r>
              <a:rPr lang="fr-FR" dirty="0" err="1"/>
              <a:t>Persistence</a:t>
            </a:r>
            <a:r>
              <a:rPr lang="fr-FR" dirty="0"/>
              <a:t> API)*</a:t>
            </a:r>
          </a:p>
          <a:p>
            <a:r>
              <a:rPr lang="fr-FR" dirty="0"/>
              <a:t>Ensuite les </a:t>
            </a:r>
            <a:r>
              <a:rPr lang="fr-FR" i="1" dirty="0"/>
              <a:t>Repository</a:t>
            </a:r>
            <a:r>
              <a:rPr lang="fr-FR" dirty="0"/>
              <a:t> sont capables de générer automatiquement les requêtes SQL à partir des opérations sur les objets Java</a:t>
            </a:r>
          </a:p>
          <a:p>
            <a:endParaRPr lang="fr-FR" dirty="0"/>
          </a:p>
          <a:p>
            <a:pPr marL="0" indent="0">
              <a:buNone/>
            </a:pPr>
            <a:r>
              <a:rPr lang="fr-FR" i="1" dirty="0"/>
              <a:t>* Les principaux framework ORM pour PHP sont Doctrine et Eloquent</a:t>
            </a:r>
          </a:p>
        </p:txBody>
      </p:sp>
      <p:sp>
        <p:nvSpPr>
          <p:cNvPr id="4" name="Espace réservé du numéro de diapositive 3">
            <a:extLst>
              <a:ext uri="{FF2B5EF4-FFF2-40B4-BE49-F238E27FC236}">
                <a16:creationId xmlns:a16="http://schemas.microsoft.com/office/drawing/2014/main" id="{D2B36B18-4261-4828-9E03-F6CA803C7BF5}"/>
              </a:ext>
            </a:extLst>
          </p:cNvPr>
          <p:cNvSpPr>
            <a:spLocks noGrp="1"/>
          </p:cNvSpPr>
          <p:nvPr>
            <p:ph type="sldNum" sz="quarter" idx="12"/>
          </p:nvPr>
        </p:nvSpPr>
        <p:spPr/>
        <p:txBody>
          <a:bodyPr/>
          <a:lstStyle/>
          <a:p>
            <a:fld id="{27C6CCC6-2BE5-4E42-96A4-D1E8E81A3D8E}" type="slidenum">
              <a:rPr lang="de-DE" smtClean="0"/>
              <a:t>261</a:t>
            </a:fld>
            <a:endParaRPr lang="de-DE"/>
          </a:p>
        </p:txBody>
      </p:sp>
    </p:spTree>
    <p:extLst>
      <p:ext uri="{BB962C8B-B14F-4D97-AF65-F5344CB8AC3E}">
        <p14:creationId xmlns:p14="http://schemas.microsoft.com/office/powerpoint/2010/main" val="13925711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lle d’ions">
  <a:themeElements>
    <a:clrScheme name="Salle d’ions">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Salle d’ions">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lle d’ions">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DA5D84F0788D3418F415AD54E7B0751" ma:contentTypeVersion="13" ma:contentTypeDescription="Crée un document." ma:contentTypeScope="" ma:versionID="25b7a93dbdc1f7a6587aeba05c841f68">
  <xsd:schema xmlns:xsd="http://www.w3.org/2001/XMLSchema" xmlns:xs="http://www.w3.org/2001/XMLSchema" xmlns:p="http://schemas.microsoft.com/office/2006/metadata/properties" xmlns:ns3="a10a3927-54dd-407e-8c64-f2a9abc489e9" xmlns:ns4="ae5029cc-1ba4-45c9-af5a-d507c2691054" targetNamespace="http://schemas.microsoft.com/office/2006/metadata/properties" ma:root="true" ma:fieldsID="94edec89835a27467c3c7e6e8867ff4e" ns3:_="" ns4:_="">
    <xsd:import namespace="a10a3927-54dd-407e-8c64-f2a9abc489e9"/>
    <xsd:import namespace="ae5029cc-1ba4-45c9-af5a-d507c2691054"/>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0a3927-54dd-407e-8c64-f2a9abc489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e5029cc-1ba4-45c9-af5a-d507c2691054"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SharingHintHash" ma:index="12"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429066-31BD-4911-B121-4C6E2D12C685}">
  <ds:schemaRefs>
    <ds:schemaRef ds:uri="http://schemas.microsoft.com/sharepoint/v3/contenttype/forms"/>
  </ds:schemaRefs>
</ds:datastoreItem>
</file>

<file path=customXml/itemProps2.xml><?xml version="1.0" encoding="utf-8"?>
<ds:datastoreItem xmlns:ds="http://schemas.openxmlformats.org/officeDocument/2006/customXml" ds:itemID="{A757679D-97EA-4CEC-AA9D-A26D2EECB1C4}">
  <ds:schemaRefs>
    <ds:schemaRef ds:uri="http://www.w3.org/XML/1998/namespace"/>
    <ds:schemaRef ds:uri="http://schemas.microsoft.com/office/infopath/2007/PartnerControls"/>
    <ds:schemaRef ds:uri="a10a3927-54dd-407e-8c64-f2a9abc489e9"/>
    <ds:schemaRef ds:uri="http://schemas.microsoft.com/office/2006/documentManagement/types"/>
    <ds:schemaRef ds:uri="http://purl.org/dc/dcmitype/"/>
    <ds:schemaRef ds:uri="http://purl.org/dc/elements/1.1/"/>
    <ds:schemaRef ds:uri="http://schemas.openxmlformats.org/package/2006/metadata/core-properties"/>
    <ds:schemaRef ds:uri="ae5029cc-1ba4-45c9-af5a-d507c2691054"/>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02D3849B-A0FB-42B6-976C-BA2BA1A330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0a3927-54dd-407e-8c64-f2a9abc489e9"/>
    <ds:schemaRef ds:uri="ae5029cc-1ba4-45c9-af5a-d507c26910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53378</TotalTime>
  <Words>15787</Words>
  <Application>Microsoft Office PowerPoint</Application>
  <PresentationFormat>Grand écran</PresentationFormat>
  <Paragraphs>2858</Paragraphs>
  <Slides>261</Slides>
  <Notes>4</Notes>
  <HiddenSlides>1</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261</vt:i4>
      </vt:variant>
    </vt:vector>
  </HeadingPairs>
  <TitlesOfParts>
    <vt:vector size="267" baseType="lpstr">
      <vt:lpstr>Calibri</vt:lpstr>
      <vt:lpstr>Calibri Light</vt:lpstr>
      <vt:lpstr>Century Gothic</vt:lpstr>
      <vt:lpstr>Courier New</vt:lpstr>
      <vt:lpstr>Wingdings 3</vt:lpstr>
      <vt:lpstr>Salle d’ions</vt:lpstr>
      <vt:lpstr>BD70 – Conception et Administration des Bases de Données</vt:lpstr>
      <vt:lpstr>Objectifs de l’UV</vt:lpstr>
      <vt:lpstr>Objectifs de l’UV</vt:lpstr>
      <vt:lpstr>Plan de l’UV</vt:lpstr>
      <vt:lpstr>Modalités d'évaluation</vt:lpstr>
      <vt:lpstr>Projets</vt:lpstr>
      <vt:lpstr>Projets</vt:lpstr>
      <vt:lpstr>Projets</vt:lpstr>
      <vt:lpstr>Projets</vt:lpstr>
      <vt:lpstr>Projet « Agence de voyage »</vt:lpstr>
      <vt:lpstr>Projet « Recommandation de recettes »</vt:lpstr>
      <vt:lpstr>Introduction aux systèmes d'information</vt:lpstr>
      <vt:lpstr>Définitions</vt:lpstr>
      <vt:lpstr>Définitions</vt:lpstr>
      <vt:lpstr>Définitions</vt:lpstr>
      <vt:lpstr>Définitions</vt:lpstr>
      <vt:lpstr>Définitions</vt:lpstr>
      <vt:lpstr>Définitions</vt:lpstr>
      <vt:lpstr>Introduction aux bases de données</vt:lpstr>
      <vt:lpstr>Introduction</vt:lpstr>
      <vt:lpstr>Introduction</vt:lpstr>
      <vt:lpstr>Introduction</vt:lpstr>
      <vt:lpstr>Introduction</vt:lpstr>
      <vt:lpstr>Introduction</vt:lpstr>
      <vt:lpstr>Introduction</vt:lpstr>
      <vt:lpstr>Principes des bases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Base de données relationnelles</vt:lpstr>
      <vt:lpstr>Architecture d’un SGBDR</vt:lpstr>
      <vt:lpstr>Description</vt:lpstr>
      <vt:lpstr>Gestionnaire de données</vt:lpstr>
      <vt:lpstr>Analyseur de requêtes</vt:lpstr>
      <vt:lpstr>Optimiseur de requêtes</vt:lpstr>
      <vt:lpstr>Plan d’exécution</vt:lpstr>
      <vt:lpstr>Gestionnaire de transactions</vt:lpstr>
      <vt:lpstr>Transaction</vt:lpstr>
      <vt:lpstr>Exécuteur</vt:lpstr>
      <vt:lpstr>Langage SQL</vt:lpstr>
      <vt:lpstr>Langage SQL</vt:lpstr>
      <vt:lpstr>Langage SQL</vt:lpstr>
      <vt:lpstr>Langage SQL</vt:lpstr>
      <vt:lpstr>Data Manipulation Language</vt:lpstr>
      <vt:lpstr>Data Manipulation Language (DML)</vt:lpstr>
      <vt:lpstr>Langage SQL (SELECT)</vt:lpstr>
      <vt:lpstr>Langage SQL (SELECT)</vt:lpstr>
      <vt:lpstr>Langage SQL (SELECT)</vt:lpstr>
      <vt:lpstr>Langage SQL (SELECT)</vt:lpstr>
      <vt:lpstr>Langage SQL (SELECT)</vt:lpstr>
      <vt:lpstr>Langage SQL (SELECT)</vt:lpstr>
      <vt:lpstr>Langage SQL (SELECT)</vt:lpstr>
      <vt:lpstr>Langage SQL (SELECT)</vt:lpstr>
      <vt:lpstr>Langage SQL (SELECT)</vt:lpstr>
      <vt:lpstr>Langage SQL (SELECT)</vt:lpstr>
      <vt:lpstr>Langage SQL (SELECT)</vt:lpstr>
      <vt:lpstr>Langage SQL (SELECT)</vt:lpstr>
      <vt:lpstr>Langage SQL (SELECT)</vt:lpstr>
      <vt:lpstr>Langage SQL (SELECT)</vt:lpstr>
      <vt:lpstr>Langage SQL (SELECT)</vt:lpstr>
      <vt:lpstr>Langage SQL (INSERT)</vt:lpstr>
      <vt:lpstr>Langage SQL (INSERT)</vt:lpstr>
      <vt:lpstr>Langage SQL (INSERT)</vt:lpstr>
      <vt:lpstr>Langage SQL (UPDATE)</vt:lpstr>
      <vt:lpstr>Langage SQL (UPDATE)</vt:lpstr>
      <vt:lpstr>Langage SQL (DELETE)</vt:lpstr>
      <vt:lpstr>Langage SQL (fonctions)</vt:lpstr>
      <vt:lpstr>Langage SQL (fonctions)</vt:lpstr>
      <vt:lpstr>Langage SQL (fonctions)</vt:lpstr>
      <vt:lpstr>Langage SQL (jointures)</vt:lpstr>
      <vt:lpstr>Langage SQL (jointures)</vt:lpstr>
      <vt:lpstr>Langage SQL (jointures)</vt:lpstr>
      <vt:lpstr>Langage SQL (jointures)</vt:lpstr>
      <vt:lpstr>Langage SQL (jointures)</vt:lpstr>
      <vt:lpstr>Langage SQL (jointures)</vt:lpstr>
      <vt:lpstr>Langage SQL (jointures)</vt:lpstr>
      <vt:lpstr>Exercices DML</vt:lpstr>
      <vt:lpstr>Exercices DML</vt:lpstr>
      <vt:lpstr>Exercices DML</vt:lpstr>
      <vt:lpstr>Exercices DML</vt:lpstr>
      <vt:lpstr>Exercices DML</vt:lpstr>
      <vt:lpstr>Data Definition Language</vt:lpstr>
      <vt:lpstr>Data Definition Language (DDL)</vt:lpstr>
      <vt:lpstr>Data Definition Language (DDL)</vt:lpstr>
      <vt:lpstr>Langage SQL (CREATE)</vt:lpstr>
      <vt:lpstr>Langage SQL (ALTER)</vt:lpstr>
      <vt:lpstr>Langage SQL (DROP)</vt:lpstr>
      <vt:lpstr>Data Definition Language (DDL)</vt:lpstr>
      <vt:lpstr>Pour manipuler les bases</vt:lpstr>
      <vt:lpstr>Création de vues</vt:lpstr>
      <vt:lpstr>Création de tables temporaires</vt:lpstr>
      <vt:lpstr>Contraintes d’intégrité</vt:lpstr>
      <vt:lpstr>Contraintes d’intégrité</vt:lpstr>
      <vt:lpstr>Contraintes d’intégrité</vt:lpstr>
      <vt:lpstr>Contraintes d’intégrité</vt:lpstr>
      <vt:lpstr>Contraintes d’intégrité </vt:lpstr>
      <vt:lpstr>Contraintes d’intégrité </vt:lpstr>
      <vt:lpstr>Contraintes d’intégrité </vt:lpstr>
      <vt:lpstr>Contraintes d’intégrité </vt:lpstr>
      <vt:lpstr>Contraintes d’intégrité </vt:lpstr>
      <vt:lpstr>Fonctions avancées</vt:lpstr>
      <vt:lpstr>Index</vt:lpstr>
      <vt:lpstr>Index</vt:lpstr>
      <vt:lpstr>Index</vt:lpstr>
      <vt:lpstr>Index</vt:lpstr>
      <vt:lpstr>Index</vt:lpstr>
      <vt:lpstr>Index</vt:lpstr>
      <vt:lpstr>Full-text Index</vt:lpstr>
      <vt:lpstr>Partitionnement</vt:lpstr>
      <vt:lpstr>Partitionnement</vt:lpstr>
      <vt:lpstr>Partitionnement</vt:lpstr>
      <vt:lpstr>Partitionnement</vt:lpstr>
      <vt:lpstr>Automatisation de la base</vt:lpstr>
      <vt:lpstr>Typologie des fonctions</vt:lpstr>
      <vt:lpstr>Fonctions personnalisées</vt:lpstr>
      <vt:lpstr>Fonctions personnalisées</vt:lpstr>
      <vt:lpstr>Fonctions personnalisées</vt:lpstr>
      <vt:lpstr>Fonctions personnalisées</vt:lpstr>
      <vt:lpstr>Fonctions personnalisées</vt:lpstr>
      <vt:lpstr>Déclencheurs</vt:lpstr>
      <vt:lpstr>Déclencheurs (syntaxe)</vt:lpstr>
      <vt:lpstr>Déclencheurs (syntaxe)</vt:lpstr>
      <vt:lpstr>Déclencheurs - Historisation</vt:lpstr>
      <vt:lpstr>Évènements</vt:lpstr>
      <vt:lpstr>Évènements</vt:lpstr>
      <vt:lpstr>Évènements (syntaxe)</vt:lpstr>
      <vt:lpstr>Précautions</vt:lpstr>
      <vt:lpstr>Procédures, fonctions, déclencheurs</vt:lpstr>
      <vt:lpstr>Procédures, fonctions, déclencheurs</vt:lpstr>
      <vt:lpstr>Procédures, fonctions, déclencheurs</vt:lpstr>
      <vt:lpstr>Exercice</vt:lpstr>
      <vt:lpstr>Exercice</vt:lpstr>
      <vt:lpstr>Gestion des accès (DCL)</vt:lpstr>
      <vt:lpstr>Data Control Language</vt:lpstr>
      <vt:lpstr>GRANT (octroi des droits)</vt:lpstr>
      <vt:lpstr>REVOKE (suppression des droits)</vt:lpstr>
      <vt:lpstr>Gestion des transactions (TCL)</vt:lpstr>
      <vt:lpstr>Transaction Control Language</vt:lpstr>
      <vt:lpstr>Propriétés des transactions</vt:lpstr>
      <vt:lpstr>Transaction Control Language</vt:lpstr>
      <vt:lpstr>Transaction Control Language</vt:lpstr>
      <vt:lpstr>Transaction Control Language</vt:lpstr>
      <vt:lpstr>Transaction Control Language</vt:lpstr>
      <vt:lpstr>Règles de conception d’une base de données</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Règles de conception</vt:lpstr>
      <vt:lpstr>Normalisation d’une base existante</vt:lpstr>
      <vt:lpstr>Exemple de normalisation</vt:lpstr>
      <vt:lpstr>Exemple de normalisation</vt:lpstr>
      <vt:lpstr>Exemple de normalisation</vt:lpstr>
      <vt:lpstr>Exemple de normalisation</vt:lpstr>
      <vt:lpstr>Exemple de normalisation</vt:lpstr>
      <vt:lpstr>Exemple de normalisation</vt:lpstr>
      <vt:lpstr>Exemple de normalisation</vt:lpstr>
      <vt:lpstr>Méthodologie de conception d’une base de données relationnelle</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Méthodologies de conception d’une BDD</vt:lpstr>
      <vt:lpstr>Administration des bases de données</vt:lpstr>
      <vt:lpstr>Administration des bases de données</vt:lpstr>
      <vt:lpstr>Administration des bases de données</vt:lpstr>
      <vt:lpstr>Sécurité des accès</vt:lpstr>
      <vt:lpstr>Configuration des privilèges dans MySQL</vt:lpstr>
      <vt:lpstr>Sécurité des accès</vt:lpstr>
      <vt:lpstr>Sécurité des accès</vt:lpstr>
      <vt:lpstr>Sécurité des accès</vt:lpstr>
      <vt:lpstr>Sauvegarde et redondance</vt:lpstr>
      <vt:lpstr>Sauvegarde et redondance</vt:lpstr>
      <vt:lpstr>Performances</vt:lpstr>
      <vt:lpstr>Performances</vt:lpstr>
      <vt:lpstr>Performances</vt:lpstr>
      <vt:lpstr>Performances</vt:lpstr>
      <vt:lpstr>Performances</vt:lpstr>
      <vt:lpstr>Suivi de l’état de la base de données</vt:lpstr>
      <vt:lpstr>Suivi de l’état de la base de données</vt:lpstr>
      <vt:lpstr>Suivi de l’état de la base de données</vt:lpstr>
      <vt:lpstr>Frameworks modernes pour les systèmes d’information</vt:lpstr>
      <vt:lpstr>Types de logiciels SI</vt:lpstr>
      <vt:lpstr>Architecture du système</vt:lpstr>
      <vt:lpstr>Concepts de bases HTTP/HTML</vt:lpstr>
      <vt:lpstr>Framework Spring</vt:lpstr>
      <vt:lpstr>Framework Spring</vt:lpstr>
      <vt:lpstr>Framework Spring</vt:lpstr>
      <vt:lpstr>Framework Spring</vt:lpstr>
      <vt:lpstr>Framework Spring</vt:lpstr>
      <vt:lpstr>Framework Spring</vt:lpstr>
      <vt:lpstr>Framework Spring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BD70 – Conception et Administration des Bases de Données</dc:title>
  <dc:creator>Alexandre LOMBARD</dc:creator>
  <cp:lastModifiedBy>Alexandre LOMBARD</cp:lastModifiedBy>
  <cp:revision>3</cp:revision>
  <dcterms:created xsi:type="dcterms:W3CDTF">2023-09-28T13:57:31Z</dcterms:created>
  <dcterms:modified xsi:type="dcterms:W3CDTF">2025-10-23T06:35:16Z</dcterms:modified>
</cp:coreProperties>
</file>